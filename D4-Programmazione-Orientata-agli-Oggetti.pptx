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64" r:id="rId3"/>
    <p:sldId id="268" r:id="rId4"/>
    <p:sldId id="266" r:id="rId5"/>
    <p:sldId id="26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6" r:id="rId23"/>
    <p:sldId id="287" r:id="rId24"/>
    <p:sldId id="285" r:id="rId25"/>
    <p:sldId id="294" r:id="rId26"/>
    <p:sldId id="288" r:id="rId27"/>
    <p:sldId id="289" r:id="rId28"/>
    <p:sldId id="290" r:id="rId29"/>
    <p:sldId id="291" r:id="rId30"/>
    <p:sldId id="292" r:id="rId31"/>
    <p:sldId id="293" r:id="rId32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412467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12/01/2026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28600" y="19050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28600" y="3886200"/>
            <a:ext cx="86106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12/01/2026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it-IT"/>
              <a:t>Fare clic per modificare lo stile del titolo</a:t>
            </a:r>
            <a:endParaRPr lang="it-IT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12/01/2026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055F8-1D02-4417-9241-55C834FD9970}" type="datetimeFigureOut">
              <a:rPr lang="it-IT" smtClean="0"/>
              <a:pPr/>
              <a:t>12/01/2026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609600" y="1219200"/>
            <a:ext cx="784860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dirty="0"/>
              <a:t>Fare clic per modificare lo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340768"/>
            <a:ext cx="8229600" cy="4785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marL="742950" lvl="1" indent="-28575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Secondo livello</a:t>
            </a:r>
          </a:p>
          <a:p>
            <a:pPr marL="1143000" lvl="2" indent="-22860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Terzo livello</a:t>
            </a:r>
          </a:p>
          <a:p>
            <a:pPr marL="1600200" lvl="3" indent="-228600" algn="l" rt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6055F8-1D02-4417-9241-55C834FD9970}" type="datetimeFigureOut">
              <a:rPr lang="it-IT" smtClean="0"/>
              <a:pPr/>
              <a:t>12/01/2026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7B441-5312-499D-93C3-6E37886527FA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</p:sldLayoutIdLst>
  <p:txStyles>
    <p:titleStyle>
      <a:lvl1pPr algn="l" defTabSz="914400" rtl="0" eaLnBrk="1" latinLnBrk="0" hangingPunct="1">
        <a:spcBef>
          <a:spcPct val="0"/>
        </a:spcBef>
        <a:buNone/>
        <a:defRPr lang="it-IT" sz="4400" kern="1200" dirty="0" smtClean="0">
          <a:solidFill>
            <a:srgbClr val="99000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8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9144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Calibri" pitchFamily="34" charset="0"/>
        <a:buChar char="‒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3716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Wingdings" pitchFamily="2" charset="2"/>
        <a:buChar char="§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828800" indent="-4572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286000" indent="-230400" algn="l" defTabSz="914400" rtl="0" eaLnBrk="1" fontAlgn="base" latinLnBrk="0" hangingPunct="1">
        <a:spcBef>
          <a:spcPct val="20000"/>
        </a:spcBef>
        <a:spcAft>
          <a:spcPct val="0"/>
        </a:spcAft>
        <a:buFont typeface="Arial" pitchFamily="34" charset="0"/>
        <a:buChar char="•"/>
        <a:defRPr lang="it-IT" sz="2400" kern="1200" dirty="0" smtClean="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Programmazione Orientata agli Oggetti</a:t>
            </a:r>
          </a:p>
        </p:txBody>
      </p:sp>
      <p:sp>
        <p:nvSpPr>
          <p:cNvPr id="5" name="Sottotitolo 4">
            <a:extLst>
              <a:ext uri="{FF2B5EF4-FFF2-40B4-BE49-F238E27FC236}">
                <a16:creationId xmlns:a16="http://schemas.microsoft.com/office/drawing/2014/main" id="{F25619C0-9750-0507-AC86-F2ED952768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Classi e oggetti: primo sguardo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Un programma è la definizione di un certo numero di </a:t>
            </a:r>
            <a:r>
              <a:rPr lang="it-IT" u="sng" dirty="0">
                <a:solidFill>
                  <a:schemeClr val="accent1"/>
                </a:solidFill>
              </a:rPr>
              <a:t>classi</a:t>
            </a:r>
          </a:p>
          <a:p>
            <a:r>
              <a:rPr lang="it-IT" dirty="0"/>
              <a:t>Ogni classe ha un </a:t>
            </a:r>
            <a:r>
              <a:rPr lang="it-IT" i="1" dirty="0">
                <a:solidFill>
                  <a:schemeClr val="accent2"/>
                </a:solidFill>
              </a:rPr>
              <a:t>nome</a:t>
            </a:r>
            <a:r>
              <a:rPr lang="it-IT" dirty="0"/>
              <a:t> e descrive le caratteristiche di una tipologia di </a:t>
            </a:r>
            <a:r>
              <a:rPr lang="it-IT" u="sng" dirty="0">
                <a:solidFill>
                  <a:schemeClr val="accent1"/>
                </a:solidFill>
              </a:rPr>
              <a:t>oggetti</a:t>
            </a:r>
            <a:r>
              <a:rPr lang="it-IT" dirty="0"/>
              <a:t>, cioè: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come</a:t>
            </a:r>
            <a:r>
              <a:rPr lang="it-IT" dirty="0"/>
              <a:t> gli oggetti sono fatti: </a:t>
            </a:r>
            <a:r>
              <a:rPr lang="it-IT" u="sng" dirty="0">
                <a:solidFill>
                  <a:schemeClr val="accent1"/>
                </a:solidFill>
              </a:rPr>
              <a:t>attributi</a:t>
            </a:r>
            <a:r>
              <a:rPr lang="it-IT" dirty="0"/>
              <a:t> (o </a:t>
            </a:r>
            <a:r>
              <a:rPr lang="it-IT" u="sng" dirty="0">
                <a:solidFill>
                  <a:schemeClr val="accent1"/>
                </a:solidFill>
              </a:rPr>
              <a:t>proprietà</a:t>
            </a:r>
            <a:r>
              <a:rPr lang="it-IT" dirty="0"/>
              <a:t> o </a:t>
            </a:r>
            <a:r>
              <a:rPr lang="it-IT" u="sng" dirty="0">
                <a:solidFill>
                  <a:schemeClr val="accent1"/>
                </a:solidFill>
              </a:rPr>
              <a:t>campi</a:t>
            </a:r>
            <a:r>
              <a:rPr lang="it-IT" dirty="0"/>
              <a:t>)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cosa</a:t>
            </a:r>
            <a:r>
              <a:rPr lang="it-IT" dirty="0"/>
              <a:t> gli oggetti sanno fare (quali servizi offrono a chi li vuole usare): </a:t>
            </a:r>
            <a:r>
              <a:rPr lang="it-IT" u="sng" dirty="0">
                <a:solidFill>
                  <a:schemeClr val="accent1"/>
                </a:solidFill>
              </a:rPr>
              <a:t>metodi</a:t>
            </a:r>
            <a:r>
              <a:rPr lang="it-IT" dirty="0"/>
              <a:t> (l’insieme dei metodi di un oggetto costituisce il suo </a:t>
            </a:r>
            <a:r>
              <a:rPr lang="it-IT" u="sng" dirty="0">
                <a:solidFill>
                  <a:schemeClr val="accent1"/>
                </a:solidFill>
              </a:rPr>
              <a:t>comportamento</a:t>
            </a:r>
            <a:r>
              <a:rPr lang="it-IT" dirty="0"/>
              <a:t>)</a:t>
            </a:r>
            <a:endParaRPr lang="it-IT" u="sng" dirty="0">
              <a:solidFill>
                <a:schemeClr val="accent1"/>
              </a:solidFill>
            </a:endParaRPr>
          </a:p>
          <a:p>
            <a:r>
              <a:rPr lang="it-IT" dirty="0"/>
              <a:t>Un oggetto è sempre l’</a:t>
            </a:r>
            <a:r>
              <a:rPr lang="it-IT" u="sng" dirty="0">
                <a:solidFill>
                  <a:schemeClr val="accent1"/>
                </a:solidFill>
              </a:rPr>
              <a:t>istanza</a:t>
            </a:r>
            <a:r>
              <a:rPr lang="it-IT" dirty="0"/>
              <a:t> di un classe</a:t>
            </a:r>
          </a:p>
          <a:p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Stato di un oggetto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Due oggetti (istanze) di una stessa classe sono: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simili</a:t>
            </a:r>
            <a:r>
              <a:rPr lang="it-IT" dirty="0"/>
              <a:t>, perché hanno gli stessi attributi e lo stesso comportamento;</a:t>
            </a: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diversi</a:t>
            </a:r>
            <a:r>
              <a:rPr lang="it-IT" dirty="0"/>
              <a:t>, perché hanno cicli di vita indipendenti, cioè si possono usare in modo diverso e i loro attributi assumono in generale valori diversi nel tempo</a:t>
            </a:r>
          </a:p>
          <a:p>
            <a:r>
              <a:rPr lang="it-IT" dirty="0"/>
              <a:t>Lo </a:t>
            </a:r>
            <a:r>
              <a:rPr lang="it-IT" u="sng" dirty="0">
                <a:solidFill>
                  <a:schemeClr val="accent1"/>
                </a:solidFill>
              </a:rPr>
              <a:t>stato</a:t>
            </a:r>
            <a:r>
              <a:rPr lang="it-IT" dirty="0"/>
              <a:t> di un oggetto è l’insieme dei valori assunti dai suoi attributi in un determinato istante di tempo (fotografia istantanea)</a:t>
            </a:r>
          </a:p>
          <a:p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Struttura di una classe</a:t>
            </a:r>
          </a:p>
        </p:txBody>
      </p:sp>
      <p:sp>
        <p:nvSpPr>
          <p:cNvPr id="6" name="Rettangolo 5"/>
          <p:cNvSpPr/>
          <p:nvPr/>
        </p:nvSpPr>
        <p:spPr>
          <a:xfrm>
            <a:off x="683568" y="1700808"/>
            <a:ext cx="4104456" cy="43924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1 7"/>
          <p:cNvCxnSpPr/>
          <p:nvPr/>
        </p:nvCxnSpPr>
        <p:spPr>
          <a:xfrm>
            <a:off x="683568" y="2348880"/>
            <a:ext cx="41044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/>
          <p:cNvCxnSpPr/>
          <p:nvPr/>
        </p:nvCxnSpPr>
        <p:spPr>
          <a:xfrm>
            <a:off x="683568" y="4077072"/>
            <a:ext cx="41044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/>
          <p:cNvSpPr txBox="1"/>
          <p:nvPr/>
        </p:nvSpPr>
        <p:spPr>
          <a:xfrm>
            <a:off x="1475656" y="1772816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i="1" dirty="0">
                <a:solidFill>
                  <a:schemeClr val="accent2"/>
                </a:solidFill>
              </a:rPr>
              <a:t>nome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1475656" y="2996952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i="1" dirty="0">
                <a:solidFill>
                  <a:schemeClr val="accent2"/>
                </a:solidFill>
              </a:rPr>
              <a:t>attributi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1475656" y="4797152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i="1" dirty="0">
                <a:solidFill>
                  <a:schemeClr val="accent2"/>
                </a:solidFill>
              </a:rPr>
              <a:t>metodi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5076056" y="1700808"/>
            <a:ext cx="38884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nel corso useremo una rappresentazione grafica delle classi simile a quella definita da </a:t>
            </a:r>
            <a:r>
              <a:rPr lang="it-IT" sz="2400" u="sng" dirty="0">
                <a:solidFill>
                  <a:schemeClr val="accent1"/>
                </a:solidFill>
              </a:rPr>
              <a:t>UML</a:t>
            </a:r>
            <a:r>
              <a:rPr lang="it-IT" sz="2400" dirty="0"/>
              <a:t> </a:t>
            </a:r>
            <a:r>
              <a:rPr lang="it-IT" sz="2400" dirty="0">
                <a:solidFill>
                  <a:schemeClr val="accent1"/>
                </a:solidFill>
              </a:rPr>
              <a:t>(</a:t>
            </a:r>
            <a:r>
              <a:rPr lang="it-IT" sz="2400" u="sng" dirty="0" err="1">
                <a:solidFill>
                  <a:schemeClr val="accent1"/>
                </a:solidFill>
              </a:rPr>
              <a:t>Unified</a:t>
            </a:r>
            <a:r>
              <a:rPr lang="it-IT" sz="2400" u="sng" dirty="0">
                <a:solidFill>
                  <a:schemeClr val="accent1"/>
                </a:solidFill>
              </a:rPr>
              <a:t> </a:t>
            </a:r>
            <a:r>
              <a:rPr lang="it-IT" sz="2400" u="sng" dirty="0" err="1">
                <a:solidFill>
                  <a:schemeClr val="accent1"/>
                </a:solidFill>
              </a:rPr>
              <a:t>Modeling</a:t>
            </a:r>
            <a:r>
              <a:rPr lang="it-IT" sz="2400" u="sng" dirty="0">
                <a:solidFill>
                  <a:schemeClr val="accent1"/>
                </a:solidFill>
              </a:rPr>
              <a:t> </a:t>
            </a:r>
            <a:r>
              <a:rPr lang="it-IT" sz="2400" u="sng" dirty="0" err="1">
                <a:solidFill>
                  <a:schemeClr val="accent1"/>
                </a:solidFill>
              </a:rPr>
              <a:t>Language</a:t>
            </a:r>
            <a:r>
              <a:rPr lang="it-IT" sz="2400" dirty="0">
                <a:solidFill>
                  <a:schemeClr val="accent1"/>
                </a:solidFill>
              </a:rPr>
              <a:t>)</a:t>
            </a:r>
            <a:r>
              <a:rPr lang="it-IT" sz="2400" dirty="0"/>
              <a:t> -  standard introdotto nel 1996 per la documentazione del software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Nome di una classe: regole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 programmi Java sono scritti utilizzando un alfabeto di caratteri chiamato </a:t>
            </a:r>
            <a:r>
              <a:rPr lang="it-IT" u="sng" dirty="0" err="1">
                <a:solidFill>
                  <a:schemeClr val="accent1"/>
                </a:solidFill>
              </a:rPr>
              <a:t>Unicode</a:t>
            </a:r>
            <a:endParaRPr lang="it-IT" u="sng" dirty="0">
              <a:solidFill>
                <a:schemeClr val="accent1"/>
              </a:solidFill>
            </a:endParaRPr>
          </a:p>
          <a:p>
            <a:pPr lvl="1"/>
            <a:r>
              <a:rPr lang="it-IT" i="1" dirty="0">
                <a:solidFill>
                  <a:schemeClr val="accent2"/>
                </a:solidFill>
              </a:rPr>
              <a:t>caratteri speciali:</a:t>
            </a:r>
            <a:r>
              <a:rPr lang="it-IT" i="1" dirty="0"/>
              <a:t> </a:t>
            </a:r>
            <a:r>
              <a:rPr lang="it-IT" dirty="0"/>
              <a:t>simboli di punteggiatura, spazi bianchi, operatori aritmetici, parentesi, …</a:t>
            </a:r>
          </a:p>
          <a:p>
            <a:pPr lvl="1"/>
            <a:r>
              <a:rPr lang="it-IT" dirty="0"/>
              <a:t>ai caratteri speciali viene riservata una particolare interpretazione; </a:t>
            </a:r>
          </a:p>
          <a:p>
            <a:r>
              <a:rPr lang="it-IT" dirty="0"/>
              <a:t>Il nome di una classe non può contenere caratteri speciali</a:t>
            </a:r>
          </a:p>
          <a:p>
            <a:r>
              <a:rPr lang="it-IT" dirty="0"/>
              <a:t>Il primo carattere del nome di una classe non può essere una cifra {0, 1, 2, …, 9}</a:t>
            </a:r>
          </a:p>
          <a:p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200" dirty="0"/>
              <a:t>Nome di una classe: convenzioni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9"/>
            <a:ext cx="8229600" cy="3096344"/>
          </a:xfrm>
        </p:spPr>
        <p:txBody>
          <a:bodyPr/>
          <a:lstStyle/>
          <a:p>
            <a:r>
              <a:rPr lang="it-IT" dirty="0"/>
              <a:t>Oltre alle regole Java, esistono convenzioni diffuse per definire il nome di una classe:</a:t>
            </a:r>
          </a:p>
          <a:p>
            <a:pPr lvl="1"/>
            <a:r>
              <a:rPr lang="it-IT" dirty="0"/>
              <a:t>se il nome è composto da una sola parola, il primo carattere è maiuscolo e gli altri sono in minuscolo</a:t>
            </a:r>
          </a:p>
          <a:p>
            <a:pPr lvl="1"/>
            <a:r>
              <a:rPr lang="it-IT" dirty="0"/>
              <a:t>se il nome è composto da più parole, il primo carattere di ogni parola è maiuscolo e gli altri sono in minuscolo; le parole sono concatenate tra loro</a:t>
            </a:r>
          </a:p>
          <a:p>
            <a:endParaRPr lang="it-IT" u="sng" dirty="0">
              <a:solidFill>
                <a:schemeClr val="accent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4957911"/>
            <a:ext cx="7296150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sellaDiTesto 5"/>
          <p:cNvSpPr txBox="1"/>
          <p:nvPr/>
        </p:nvSpPr>
        <p:spPr>
          <a:xfrm>
            <a:off x="899592" y="4509120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i="1" dirty="0">
                <a:solidFill>
                  <a:schemeClr val="accent2"/>
                </a:solidFill>
              </a:rPr>
              <a:t>Esempi</a:t>
            </a:r>
            <a:endParaRPr lang="it-IT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Attributi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Un </a:t>
            </a:r>
            <a:r>
              <a:rPr lang="it-IT" u="sng" dirty="0">
                <a:solidFill>
                  <a:schemeClr val="accent1"/>
                </a:solidFill>
              </a:rPr>
              <a:t>attributo</a:t>
            </a:r>
            <a:r>
              <a:rPr lang="it-IT" dirty="0"/>
              <a:t> è una sorta di contenitore che può assumere (memorizzare) valori di un certo tipo:</a:t>
            </a:r>
          </a:p>
          <a:p>
            <a:pPr lvl="1"/>
            <a:r>
              <a:rPr lang="it-IT" dirty="0"/>
              <a:t>l’attributo può assumere un solo valore alla volta, ma tale valore può variare molte volte nel tempo, cioè durante il ciclo di vita di un oggetto</a:t>
            </a:r>
          </a:p>
          <a:p>
            <a:pPr lvl="1"/>
            <a:endParaRPr lang="it-IT" dirty="0"/>
          </a:p>
          <a:p>
            <a:r>
              <a:rPr lang="it-IT" dirty="0"/>
              <a:t>Un attributo è descritto da due specifiche:</a:t>
            </a:r>
          </a:p>
          <a:p>
            <a:pPr lvl="1"/>
            <a:r>
              <a:rPr lang="it-IT" dirty="0"/>
              <a:t>il tipo di valori che può assumere, detto </a:t>
            </a:r>
            <a:r>
              <a:rPr lang="it-IT" u="sng" dirty="0">
                <a:solidFill>
                  <a:schemeClr val="accent1"/>
                </a:solidFill>
              </a:rPr>
              <a:t>tipo</a:t>
            </a:r>
            <a:r>
              <a:rPr lang="it-IT" dirty="0"/>
              <a:t> (o </a:t>
            </a:r>
            <a:r>
              <a:rPr lang="it-IT" u="sng" dirty="0">
                <a:solidFill>
                  <a:schemeClr val="accent1"/>
                </a:solidFill>
              </a:rPr>
              <a:t>dominio</a:t>
            </a:r>
            <a:r>
              <a:rPr lang="it-IT" dirty="0"/>
              <a:t>) dell’attributo</a:t>
            </a:r>
          </a:p>
          <a:p>
            <a:pPr lvl="1"/>
            <a:r>
              <a:rPr lang="it-IT" dirty="0"/>
              <a:t>un </a:t>
            </a:r>
            <a:r>
              <a:rPr lang="it-IT" u="sng" dirty="0">
                <a:solidFill>
                  <a:schemeClr val="accent1"/>
                </a:solidFill>
              </a:rPr>
              <a:t>nome</a:t>
            </a:r>
            <a:r>
              <a:rPr lang="it-IT" dirty="0"/>
              <a:t> che lo identifica</a:t>
            </a:r>
          </a:p>
          <a:p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Tipi di attributi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/>
          </a:bodyPr>
          <a:lstStyle/>
          <a:p>
            <a:r>
              <a:rPr lang="it-IT" dirty="0"/>
              <a:t>Esistono due principali categorie di tipi di attributi:</a:t>
            </a:r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primitivi</a:t>
            </a:r>
            <a:r>
              <a:rPr lang="it-IT" dirty="0"/>
              <a:t>: numeri interi, numeri reali, caratteri e un tipo chiamato </a:t>
            </a:r>
            <a:r>
              <a:rPr lang="it-IT" i="1" dirty="0" err="1">
                <a:solidFill>
                  <a:schemeClr val="accent2"/>
                </a:solidFill>
              </a:rPr>
              <a:t>boolean</a:t>
            </a:r>
            <a:r>
              <a:rPr lang="it-IT" dirty="0"/>
              <a:t>, con due soli possibili valori {</a:t>
            </a:r>
            <a:r>
              <a:rPr lang="it-IT" i="1" dirty="0" err="1">
                <a:solidFill>
                  <a:schemeClr val="accent2"/>
                </a:solidFill>
              </a:rPr>
              <a:t>true</a:t>
            </a:r>
            <a:r>
              <a:rPr lang="it-IT" i="1" dirty="0">
                <a:solidFill>
                  <a:schemeClr val="accent2"/>
                </a:solidFill>
              </a:rPr>
              <a:t>, false</a:t>
            </a:r>
            <a:r>
              <a:rPr lang="it-IT" dirty="0"/>
              <a:t>}</a:t>
            </a:r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riferimento:</a:t>
            </a:r>
            <a:r>
              <a:rPr lang="it-IT" dirty="0"/>
              <a:t> per ogni classe di nome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esiste un tipo di attributo di nome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; un attributo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  <a:r>
              <a:rPr lang="it-IT" dirty="0"/>
              <a:t> può memorizzare solo riferimenti ad oggetti di tipo </a:t>
            </a:r>
            <a:r>
              <a:rPr lang="it-IT" i="1" dirty="0">
                <a:solidFill>
                  <a:schemeClr val="accent2"/>
                </a:solidFill>
              </a:rPr>
              <a:t>C</a:t>
            </a:r>
          </a:p>
          <a:p>
            <a:pPr>
              <a:buNone/>
            </a:pPr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Tipi di attributi: esempi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/>
          </a:bodyPr>
          <a:lstStyle/>
          <a:p>
            <a:r>
              <a:rPr lang="it-IT" sz="2600" dirty="0"/>
              <a:t>Ad esempio in Java: </a:t>
            </a:r>
          </a:p>
          <a:p>
            <a:pPr lvl="1"/>
            <a:r>
              <a:rPr lang="it-IT" sz="2200" dirty="0"/>
              <a:t>il tipo primitivo </a:t>
            </a:r>
            <a:r>
              <a:rPr lang="it-IT" sz="2200" i="1" dirty="0" err="1">
                <a:solidFill>
                  <a:schemeClr val="accent2"/>
                </a:solidFill>
              </a:rPr>
              <a:t>int</a:t>
            </a:r>
            <a:r>
              <a:rPr lang="it-IT" sz="2200" i="1" dirty="0">
                <a:solidFill>
                  <a:schemeClr val="accent2"/>
                </a:solidFill>
              </a:rPr>
              <a:t> </a:t>
            </a:r>
            <a:r>
              <a:rPr lang="it-IT" sz="2200" dirty="0"/>
              <a:t>indica numeri interi nell’intervallo </a:t>
            </a:r>
            <a:br>
              <a:rPr lang="it-IT" sz="2200" dirty="0"/>
            </a:br>
            <a:r>
              <a:rPr lang="it-IT" sz="2200" dirty="0"/>
              <a:t>[-2</a:t>
            </a:r>
            <a:r>
              <a:rPr lang="it-IT" sz="2200" baseline="30000" dirty="0"/>
              <a:t>31</a:t>
            </a:r>
            <a:r>
              <a:rPr lang="it-IT" sz="2200" dirty="0"/>
              <a:t>, 2</a:t>
            </a:r>
            <a:r>
              <a:rPr lang="it-IT" sz="2200" baseline="30000" dirty="0"/>
              <a:t>31</a:t>
            </a:r>
            <a:r>
              <a:rPr lang="it-IT" sz="2200" dirty="0"/>
              <a:t>-1] (codificabili con 32 bit); un attributo di tipo </a:t>
            </a:r>
            <a:r>
              <a:rPr lang="it-IT" sz="2200" i="1" dirty="0" err="1">
                <a:solidFill>
                  <a:schemeClr val="accent2"/>
                </a:solidFill>
              </a:rPr>
              <a:t>int</a:t>
            </a:r>
            <a:r>
              <a:rPr lang="it-IT" sz="2200" i="1" dirty="0"/>
              <a:t> </a:t>
            </a:r>
            <a:r>
              <a:rPr lang="it-IT" sz="2200" dirty="0"/>
              <a:t>può assumere (solo) valori in questo intervallo</a:t>
            </a:r>
          </a:p>
          <a:p>
            <a:pPr lvl="1"/>
            <a:r>
              <a:rPr lang="it-IT" sz="2200" dirty="0"/>
              <a:t>Il tipo primitivo </a:t>
            </a:r>
            <a:r>
              <a:rPr lang="it-IT" sz="2200" i="1" dirty="0" err="1">
                <a:solidFill>
                  <a:schemeClr val="accent2"/>
                </a:solidFill>
              </a:rPr>
              <a:t>double</a:t>
            </a:r>
            <a:r>
              <a:rPr lang="it-IT" sz="2200" i="1" dirty="0"/>
              <a:t> </a:t>
            </a:r>
            <a:r>
              <a:rPr lang="it-IT" sz="2200" dirty="0"/>
              <a:t>indica numeri reali codificabili con 64 bit</a:t>
            </a:r>
            <a:endParaRPr lang="it-IT" sz="2600" dirty="0"/>
          </a:p>
          <a:p>
            <a:pPr lvl="1"/>
            <a:r>
              <a:rPr lang="it-IT" sz="2200" dirty="0"/>
              <a:t>la classe </a:t>
            </a:r>
            <a:r>
              <a:rPr lang="it-IT" sz="2200" i="1" dirty="0" err="1">
                <a:solidFill>
                  <a:schemeClr val="accent2"/>
                </a:solidFill>
              </a:rPr>
              <a:t>String</a:t>
            </a:r>
            <a:r>
              <a:rPr lang="it-IT" sz="2200" dirty="0"/>
              <a:t> modella qualunque stringa (sequenza finita di caratteri); un attributo di tipo </a:t>
            </a:r>
            <a:r>
              <a:rPr lang="it-IT" sz="2200" i="1" dirty="0" err="1">
                <a:solidFill>
                  <a:schemeClr val="accent2"/>
                </a:solidFill>
              </a:rPr>
              <a:t>String</a:t>
            </a:r>
            <a:r>
              <a:rPr lang="it-IT" sz="2200" dirty="0"/>
              <a:t> può memorizzare (solo) riferimenti ad oggetti della classe </a:t>
            </a:r>
            <a:r>
              <a:rPr lang="it-IT" sz="2200" i="1" dirty="0" err="1">
                <a:solidFill>
                  <a:schemeClr val="accent2"/>
                </a:solidFill>
              </a:rPr>
              <a:t>String</a:t>
            </a:r>
            <a:endParaRPr lang="it-IT" sz="2200" i="1" dirty="0">
              <a:solidFill>
                <a:schemeClr val="accent2"/>
              </a:solidFill>
            </a:endParaRPr>
          </a:p>
          <a:p>
            <a:r>
              <a:rPr lang="it-IT" sz="2600" dirty="0"/>
              <a:t>Una trattazione sistematica dei tipi di attributo, con riferimento a Java, sarà svolta più avanti nel corso</a:t>
            </a:r>
          </a:p>
          <a:p>
            <a:pPr>
              <a:buNone/>
            </a:pPr>
            <a:endParaRPr lang="it-IT" sz="2600" dirty="0"/>
          </a:p>
          <a:p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Nome di un attributo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/>
          </a:bodyPr>
          <a:lstStyle/>
          <a:p>
            <a:r>
              <a:rPr lang="it-IT" sz="2600" dirty="0"/>
              <a:t>Il nome di un attributo può essere definito con le stesse regole del nome di una classe</a:t>
            </a:r>
          </a:p>
          <a:p>
            <a:r>
              <a:rPr lang="it-IT" sz="2600" dirty="0"/>
              <a:t>anche le convenzioni sono analoghe, ma il primo carattere è in minuscolo anziché in maiuscolo</a:t>
            </a:r>
          </a:p>
          <a:p>
            <a:pPr>
              <a:buNone/>
            </a:pPr>
            <a:endParaRPr lang="it-IT" sz="2600" dirty="0"/>
          </a:p>
          <a:p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di classe e attributi</a:t>
            </a:r>
          </a:p>
        </p:txBody>
      </p:sp>
      <p:grpSp>
        <p:nvGrpSpPr>
          <p:cNvPr id="13" name="Gruppo 12"/>
          <p:cNvGrpSpPr/>
          <p:nvPr/>
        </p:nvGrpSpPr>
        <p:grpSpPr>
          <a:xfrm>
            <a:off x="683568" y="1772816"/>
            <a:ext cx="3024336" cy="2592288"/>
            <a:chOff x="683568" y="1772816"/>
            <a:chExt cx="3024336" cy="2592288"/>
          </a:xfrm>
        </p:grpSpPr>
        <p:sp>
          <p:nvSpPr>
            <p:cNvPr id="14" name="Rettangolo 13"/>
            <p:cNvSpPr/>
            <p:nvPr/>
          </p:nvSpPr>
          <p:spPr>
            <a:xfrm>
              <a:off x="683568" y="1772816"/>
              <a:ext cx="3024336" cy="57606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Rettangolo 4"/>
            <p:cNvSpPr/>
            <p:nvPr/>
          </p:nvSpPr>
          <p:spPr>
            <a:xfrm>
              <a:off x="683568" y="2348880"/>
              <a:ext cx="3024336" cy="201622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8" name="Connettore 1 7"/>
            <p:cNvCxnSpPr/>
            <p:nvPr/>
          </p:nvCxnSpPr>
          <p:spPr>
            <a:xfrm>
              <a:off x="683568" y="3501008"/>
              <a:ext cx="30243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sellaDiTesto 8"/>
            <p:cNvSpPr txBox="1"/>
            <p:nvPr/>
          </p:nvSpPr>
          <p:spPr>
            <a:xfrm>
              <a:off x="827584" y="1844824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dirty="0">
                  <a:latin typeface="Courier New" pitchFamily="49" charset="0"/>
                  <a:cs typeface="Courier New" pitchFamily="49" charset="0"/>
                </a:rPr>
                <a:t>Rettangolo</a:t>
              </a:r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827584" y="2492896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 base</a:t>
              </a:r>
            </a:p>
          </p:txBody>
        </p:sp>
        <p:sp>
          <p:nvSpPr>
            <p:cNvPr id="11" name="CasellaDiTesto 10"/>
            <p:cNvSpPr txBox="1"/>
            <p:nvPr/>
          </p:nvSpPr>
          <p:spPr>
            <a:xfrm>
              <a:off x="827584" y="2852936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 altezza</a:t>
              </a:r>
            </a:p>
          </p:txBody>
        </p:sp>
        <p:sp>
          <p:nvSpPr>
            <p:cNvPr id="12" name="CasellaDiTesto 11"/>
            <p:cNvSpPr txBox="1"/>
            <p:nvPr/>
          </p:nvSpPr>
          <p:spPr>
            <a:xfrm>
              <a:off x="827584" y="3717032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</p:grpSp>
      <p:sp>
        <p:nvSpPr>
          <p:cNvPr id="18" name="CasellaDiTesto 17"/>
          <p:cNvSpPr txBox="1"/>
          <p:nvPr/>
        </p:nvSpPr>
        <p:spPr>
          <a:xfrm>
            <a:off x="4427984" y="1772816"/>
            <a:ext cx="403244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/>
              <a:t>Esempio di classe che modella rettangoli nel piano; ogni oggetto </a:t>
            </a:r>
            <a:r>
              <a:rPr lang="it-IT" sz="2800" i="1" dirty="0">
                <a:solidFill>
                  <a:schemeClr val="accent2"/>
                </a:solidFill>
              </a:rPr>
              <a:t>Rettangolo</a:t>
            </a:r>
            <a:r>
              <a:rPr lang="it-IT" sz="2800" dirty="0"/>
              <a:t> ha due attributi di tipo </a:t>
            </a:r>
            <a:r>
              <a:rPr lang="it-IT" sz="2800" i="1" dirty="0" err="1">
                <a:solidFill>
                  <a:schemeClr val="accent2"/>
                </a:solidFill>
              </a:rPr>
              <a:t>int</a:t>
            </a:r>
            <a:r>
              <a:rPr lang="it-IT" sz="2800" dirty="0"/>
              <a:t>, che memorizzano i valori della base e dell’altezza</a:t>
            </a:r>
          </a:p>
          <a:p>
            <a:r>
              <a:rPr lang="it-IT" sz="2800" dirty="0"/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di istanze</a:t>
            </a:r>
          </a:p>
        </p:txBody>
      </p:sp>
      <p:sp>
        <p:nvSpPr>
          <p:cNvPr id="18" name="CasellaDiTesto 17"/>
          <p:cNvSpPr txBox="1"/>
          <p:nvPr/>
        </p:nvSpPr>
        <p:spPr>
          <a:xfrm>
            <a:off x="72008" y="4581128"/>
            <a:ext cx="47880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La rappresentazione UML degli oggetti è simile a quella della classe; si può usare una etichetta per l’oggetto (es. r1) e il nome è sottolineato; è possibile specificare il valore degli attributi</a:t>
            </a:r>
          </a:p>
          <a:p>
            <a:r>
              <a:rPr lang="it-IT" sz="2000" dirty="0"/>
              <a:t> </a:t>
            </a:r>
          </a:p>
        </p:txBody>
      </p:sp>
      <p:grpSp>
        <p:nvGrpSpPr>
          <p:cNvPr id="41" name="Gruppo 40"/>
          <p:cNvGrpSpPr/>
          <p:nvPr/>
        </p:nvGrpSpPr>
        <p:grpSpPr>
          <a:xfrm>
            <a:off x="683568" y="1700808"/>
            <a:ext cx="3024336" cy="2592288"/>
            <a:chOff x="683568" y="2276872"/>
            <a:chExt cx="3024336" cy="2592288"/>
          </a:xfrm>
        </p:grpSpPr>
        <p:sp>
          <p:nvSpPr>
            <p:cNvPr id="13" name="Rettangolo 12"/>
            <p:cNvSpPr/>
            <p:nvPr/>
          </p:nvSpPr>
          <p:spPr>
            <a:xfrm>
              <a:off x="683568" y="2276872"/>
              <a:ext cx="3024336" cy="57606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Rettangolo 14"/>
            <p:cNvSpPr/>
            <p:nvPr/>
          </p:nvSpPr>
          <p:spPr>
            <a:xfrm>
              <a:off x="683568" y="2852936"/>
              <a:ext cx="3024336" cy="201622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16" name="Connettore 1 15"/>
            <p:cNvCxnSpPr/>
            <p:nvPr/>
          </p:nvCxnSpPr>
          <p:spPr>
            <a:xfrm>
              <a:off x="683568" y="4005064"/>
              <a:ext cx="30243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CasellaDiTesto 16"/>
            <p:cNvSpPr txBox="1"/>
            <p:nvPr/>
          </p:nvSpPr>
          <p:spPr>
            <a:xfrm>
              <a:off x="827584" y="2348880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dirty="0">
                  <a:latin typeface="Courier New" pitchFamily="49" charset="0"/>
                  <a:cs typeface="Courier New" pitchFamily="49" charset="0"/>
                </a:rPr>
                <a:t>Rettangolo</a:t>
              </a:r>
            </a:p>
          </p:txBody>
        </p:sp>
        <p:sp>
          <p:nvSpPr>
            <p:cNvPr id="19" name="CasellaDiTesto 18"/>
            <p:cNvSpPr txBox="1"/>
            <p:nvPr/>
          </p:nvSpPr>
          <p:spPr>
            <a:xfrm>
              <a:off x="827584" y="2996952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 base</a:t>
              </a:r>
            </a:p>
          </p:txBody>
        </p:sp>
        <p:sp>
          <p:nvSpPr>
            <p:cNvPr id="20" name="CasellaDiTesto 19"/>
            <p:cNvSpPr txBox="1"/>
            <p:nvPr/>
          </p:nvSpPr>
          <p:spPr>
            <a:xfrm>
              <a:off x="827584" y="3356992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 altezza</a:t>
              </a:r>
            </a:p>
          </p:txBody>
        </p:sp>
        <p:sp>
          <p:nvSpPr>
            <p:cNvPr id="21" name="CasellaDiTesto 20"/>
            <p:cNvSpPr txBox="1"/>
            <p:nvPr/>
          </p:nvSpPr>
          <p:spPr>
            <a:xfrm>
              <a:off x="827584" y="4221088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</p:grpSp>
      <p:sp>
        <p:nvSpPr>
          <p:cNvPr id="22" name="Rettangolo 21"/>
          <p:cNvSpPr/>
          <p:nvPr/>
        </p:nvSpPr>
        <p:spPr>
          <a:xfrm>
            <a:off x="5004048" y="1340768"/>
            <a:ext cx="3024336" cy="576064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/>
          <p:cNvSpPr/>
          <p:nvPr/>
        </p:nvSpPr>
        <p:spPr>
          <a:xfrm>
            <a:off x="5004048" y="1916832"/>
            <a:ext cx="3024336" cy="20162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4" name="Connettore 1 23"/>
          <p:cNvCxnSpPr/>
          <p:nvPr/>
        </p:nvCxnSpPr>
        <p:spPr>
          <a:xfrm>
            <a:off x="5004048" y="3068960"/>
            <a:ext cx="30243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/>
          <p:cNvSpPr txBox="1"/>
          <p:nvPr/>
        </p:nvSpPr>
        <p:spPr>
          <a:xfrm>
            <a:off x="5148064" y="1412776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u="sng" dirty="0">
                <a:latin typeface="Courier New" pitchFamily="49" charset="0"/>
                <a:cs typeface="Courier New" pitchFamily="49" charset="0"/>
              </a:rPr>
              <a:t>r1: Rettangolo</a:t>
            </a:r>
          </a:p>
        </p:txBody>
      </p:sp>
      <p:sp>
        <p:nvSpPr>
          <p:cNvPr id="26" name="CasellaDiTesto 25"/>
          <p:cNvSpPr txBox="1"/>
          <p:nvPr/>
        </p:nvSpPr>
        <p:spPr>
          <a:xfrm>
            <a:off x="5148064" y="2060848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Courier New" pitchFamily="49" charset="0"/>
                <a:cs typeface="Courier New" pitchFamily="49" charset="0"/>
              </a:rPr>
              <a:t>base = 10</a:t>
            </a:r>
          </a:p>
        </p:txBody>
      </p:sp>
      <p:sp>
        <p:nvSpPr>
          <p:cNvPr id="27" name="CasellaDiTesto 26"/>
          <p:cNvSpPr txBox="1"/>
          <p:nvPr/>
        </p:nvSpPr>
        <p:spPr>
          <a:xfrm>
            <a:off x="5148064" y="2420888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Courier New" pitchFamily="49" charset="0"/>
                <a:cs typeface="Courier New" pitchFamily="49" charset="0"/>
              </a:rPr>
              <a:t>altezza = 7</a:t>
            </a:r>
          </a:p>
        </p:txBody>
      </p:sp>
      <p:sp>
        <p:nvSpPr>
          <p:cNvPr id="28" name="CasellaDiTesto 27"/>
          <p:cNvSpPr txBox="1"/>
          <p:nvPr/>
        </p:nvSpPr>
        <p:spPr>
          <a:xfrm>
            <a:off x="5148064" y="3284984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Courier New" pitchFamily="49" charset="0"/>
                <a:cs typeface="Courier New" pitchFamily="49" charset="0"/>
              </a:rPr>
              <a:t>...</a:t>
            </a:r>
          </a:p>
        </p:txBody>
      </p:sp>
      <p:sp>
        <p:nvSpPr>
          <p:cNvPr id="29" name="Rettangolo 28"/>
          <p:cNvSpPr/>
          <p:nvPr/>
        </p:nvSpPr>
        <p:spPr>
          <a:xfrm>
            <a:off x="5004048" y="4077072"/>
            <a:ext cx="3024336" cy="576064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Rettangolo 29"/>
          <p:cNvSpPr/>
          <p:nvPr/>
        </p:nvSpPr>
        <p:spPr>
          <a:xfrm>
            <a:off x="5004048" y="4653136"/>
            <a:ext cx="3024336" cy="201622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1" name="Connettore 1 30"/>
          <p:cNvCxnSpPr/>
          <p:nvPr/>
        </p:nvCxnSpPr>
        <p:spPr>
          <a:xfrm>
            <a:off x="5004048" y="5805264"/>
            <a:ext cx="30243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/>
          <p:cNvSpPr txBox="1"/>
          <p:nvPr/>
        </p:nvSpPr>
        <p:spPr>
          <a:xfrm>
            <a:off x="5148064" y="4149080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u="sng" dirty="0">
                <a:latin typeface="Courier New" pitchFamily="49" charset="0"/>
                <a:cs typeface="Courier New" pitchFamily="49" charset="0"/>
              </a:rPr>
              <a:t>r2: Rettangolo</a:t>
            </a:r>
          </a:p>
        </p:txBody>
      </p:sp>
      <p:sp>
        <p:nvSpPr>
          <p:cNvPr id="33" name="CasellaDiTesto 32"/>
          <p:cNvSpPr txBox="1"/>
          <p:nvPr/>
        </p:nvSpPr>
        <p:spPr>
          <a:xfrm>
            <a:off x="5148064" y="4797152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Courier New" pitchFamily="49" charset="0"/>
                <a:cs typeface="Courier New" pitchFamily="49" charset="0"/>
              </a:rPr>
              <a:t>base = 5</a:t>
            </a:r>
          </a:p>
        </p:txBody>
      </p:sp>
      <p:sp>
        <p:nvSpPr>
          <p:cNvPr id="34" name="CasellaDiTesto 33"/>
          <p:cNvSpPr txBox="1"/>
          <p:nvPr/>
        </p:nvSpPr>
        <p:spPr>
          <a:xfrm>
            <a:off x="5148064" y="5157192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Courier New" pitchFamily="49" charset="0"/>
                <a:cs typeface="Courier New" pitchFamily="49" charset="0"/>
              </a:rPr>
              <a:t>altezza = 24 </a:t>
            </a:r>
          </a:p>
        </p:txBody>
      </p:sp>
      <p:sp>
        <p:nvSpPr>
          <p:cNvPr id="35" name="CasellaDiTesto 34"/>
          <p:cNvSpPr txBox="1"/>
          <p:nvPr/>
        </p:nvSpPr>
        <p:spPr>
          <a:xfrm>
            <a:off x="5148064" y="6021288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Courier New" pitchFamily="49" charset="0"/>
                <a:cs typeface="Courier New" pitchFamily="49" charset="0"/>
              </a:rPr>
              <a:t>...</a:t>
            </a:r>
          </a:p>
        </p:txBody>
      </p:sp>
      <p:cxnSp>
        <p:nvCxnSpPr>
          <p:cNvPr id="37" name="Connettore 2 36"/>
          <p:cNvCxnSpPr/>
          <p:nvPr/>
        </p:nvCxnSpPr>
        <p:spPr>
          <a:xfrm flipV="1">
            <a:off x="3707904" y="2420888"/>
            <a:ext cx="1224136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37"/>
          <p:cNvCxnSpPr/>
          <p:nvPr/>
        </p:nvCxnSpPr>
        <p:spPr>
          <a:xfrm>
            <a:off x="3707904" y="2924944"/>
            <a:ext cx="1296144" cy="19442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Un </a:t>
            </a:r>
            <a:r>
              <a:rPr lang="it-IT" u="sng" dirty="0">
                <a:solidFill>
                  <a:schemeClr val="accent1"/>
                </a:solidFill>
              </a:rPr>
              <a:t>metodo</a:t>
            </a:r>
            <a:r>
              <a:rPr lang="it-IT" dirty="0"/>
              <a:t> definisce un servizio che un oggetto può offrire, cioè una procedura che l’oggetto può svolgere su richiesta</a:t>
            </a:r>
          </a:p>
          <a:p>
            <a:r>
              <a:rPr lang="it-IT" dirty="0"/>
              <a:t>Ogni metodo è definito da:</a:t>
            </a:r>
          </a:p>
          <a:p>
            <a:pPr lvl="1"/>
            <a:r>
              <a:rPr lang="it-IT" dirty="0"/>
              <a:t>una </a:t>
            </a:r>
            <a:r>
              <a:rPr lang="it-IT" u="sng" dirty="0">
                <a:solidFill>
                  <a:schemeClr val="accent1"/>
                </a:solidFill>
              </a:rPr>
              <a:t>intestazione</a:t>
            </a:r>
            <a:r>
              <a:rPr lang="it-IT" dirty="0"/>
              <a:t>: specifica il nome del metodo, cosa il metodo sa fare, in che modo si può chiedere ad un oggetto di eseguirlo, ed eventuali restrizioni su chi può effettuare queste richieste.</a:t>
            </a:r>
          </a:p>
          <a:p>
            <a:pPr lvl="1"/>
            <a:r>
              <a:rPr lang="it-IT" dirty="0"/>
              <a:t>un </a:t>
            </a:r>
            <a:r>
              <a:rPr lang="it-IT" u="sng" dirty="0">
                <a:solidFill>
                  <a:schemeClr val="accent1"/>
                </a:solidFill>
              </a:rPr>
              <a:t>corpo</a:t>
            </a:r>
            <a:r>
              <a:rPr lang="it-IT" dirty="0"/>
              <a:t>: descrive la sequenza di istruzioni che l’oggetto deve svolgere per eseguire il metodo; il corpo di un metodo è anche detto </a:t>
            </a:r>
            <a:r>
              <a:rPr lang="it-IT" u="sng" dirty="0">
                <a:solidFill>
                  <a:schemeClr val="accent1"/>
                </a:solidFill>
              </a:rPr>
              <a:t>implementazione</a:t>
            </a:r>
            <a:r>
              <a:rPr lang="it-IT" dirty="0"/>
              <a:t> del metodo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Metodi: intestazione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L’intestazione di un metodo contiene obbligatoriamente le seguenti informazioni:</a:t>
            </a:r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nome</a:t>
            </a:r>
            <a:r>
              <a:rPr lang="it-IT" dirty="0"/>
              <a:t> del metodo: definito con le stesse regole e convenzioni degli attributi</a:t>
            </a:r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parametri formali</a:t>
            </a:r>
            <a:r>
              <a:rPr lang="it-IT" dirty="0"/>
              <a:t>: contenitori usati per passare dati di input al metodo; similmente agli attributi, ogni parametro ha un tipo e un nome</a:t>
            </a:r>
          </a:p>
          <a:p>
            <a:pPr lvl="1"/>
            <a:r>
              <a:rPr lang="it-IT" u="sng" dirty="0">
                <a:solidFill>
                  <a:schemeClr val="accent1"/>
                </a:solidFill>
              </a:rPr>
              <a:t>tipo di ritorno</a:t>
            </a:r>
            <a:r>
              <a:rPr lang="it-IT" dirty="0"/>
              <a:t>: il tipo di valore eventualmente restituito dal metodo al termine della sua esecuzione; se un metodo non restituisce valori, il suo tipo di ritorno si indica con </a:t>
            </a:r>
            <a:r>
              <a:rPr lang="it-IT" i="1" dirty="0" err="1">
                <a:solidFill>
                  <a:schemeClr val="accent2"/>
                </a:solidFill>
              </a:rPr>
              <a:t>void</a:t>
            </a:r>
            <a:endParaRPr lang="it-IT" i="1" dirty="0">
              <a:solidFill>
                <a:schemeClr val="accent2"/>
              </a:solidFill>
            </a:endParaRPr>
          </a:p>
          <a:p>
            <a:endParaRPr lang="it-IT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Metodi: prototipo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Le informazioni obbligatorie nell’intestazione di un metodo (nome + parametri formali + tipo di ritorno) si chiamano </a:t>
            </a:r>
            <a:r>
              <a:rPr lang="it-IT" u="sng" dirty="0">
                <a:solidFill>
                  <a:schemeClr val="accent1"/>
                </a:solidFill>
              </a:rPr>
              <a:t>prototipo</a:t>
            </a:r>
            <a:r>
              <a:rPr lang="it-IT" dirty="0"/>
              <a:t> del metodo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La sintassi è la seguente:</a:t>
            </a:r>
          </a:p>
          <a:p>
            <a:endParaRPr lang="it-IT" dirty="0"/>
          </a:p>
          <a:p>
            <a:pPr>
              <a:buNone/>
            </a:pPr>
            <a:r>
              <a:rPr lang="it-IT" sz="2400" i="1" dirty="0">
                <a:solidFill>
                  <a:schemeClr val="accent2"/>
                </a:solidFill>
              </a:rPr>
              <a:t>&lt;tipo ritorno&gt; &lt;nome metodo&gt; </a:t>
            </a:r>
            <a:r>
              <a:rPr lang="it-IT" sz="2400" b="1" dirty="0">
                <a:solidFill>
                  <a:schemeClr val="accent2"/>
                </a:solidFill>
              </a:rPr>
              <a:t>(</a:t>
            </a:r>
            <a:r>
              <a:rPr lang="it-IT" sz="2400" dirty="0">
                <a:solidFill>
                  <a:schemeClr val="accent2"/>
                </a:solidFill>
              </a:rPr>
              <a:t>&lt;</a:t>
            </a:r>
            <a:r>
              <a:rPr lang="it-IT" sz="2400" i="1" dirty="0">
                <a:solidFill>
                  <a:schemeClr val="accent2"/>
                </a:solidFill>
              </a:rPr>
              <a:t>elenco parametri formali</a:t>
            </a:r>
            <a:r>
              <a:rPr lang="it-IT" sz="2400" dirty="0">
                <a:solidFill>
                  <a:schemeClr val="accent2"/>
                </a:solidFill>
              </a:rPr>
              <a:t>&gt;</a:t>
            </a:r>
            <a:r>
              <a:rPr lang="it-IT" sz="2400" b="1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4" name="CasellaDiTesto 3"/>
          <p:cNvSpPr txBox="1"/>
          <p:nvPr/>
        </p:nvSpPr>
        <p:spPr>
          <a:xfrm>
            <a:off x="2195736" y="4869160"/>
            <a:ext cx="63367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/>
              <a:t>nell’elenco, i parametri formali vanno separati da una virgola; ogni parametro è descritto dal tipo e dal nome (in questo ordine); se il metodo non prevede parametri, l’elenco va lasciato vuoto</a:t>
            </a:r>
          </a:p>
        </p:txBody>
      </p:sp>
      <p:sp>
        <p:nvSpPr>
          <p:cNvPr id="5" name="Figura a mano libera 4"/>
          <p:cNvSpPr/>
          <p:nvPr/>
        </p:nvSpPr>
        <p:spPr>
          <a:xfrm>
            <a:off x="4781862" y="4152275"/>
            <a:ext cx="1693889" cy="719528"/>
          </a:xfrm>
          <a:custGeom>
            <a:avLst/>
            <a:gdLst>
              <a:gd name="connsiteX0" fmla="*/ 0 w 1693889"/>
              <a:gd name="connsiteY0" fmla="*/ 719528 h 719528"/>
              <a:gd name="connsiteX1" fmla="*/ 254833 w 1693889"/>
              <a:gd name="connsiteY1" fmla="*/ 434715 h 719528"/>
              <a:gd name="connsiteX2" fmla="*/ 1454046 w 1693889"/>
              <a:gd name="connsiteY2" fmla="*/ 239843 h 719528"/>
              <a:gd name="connsiteX3" fmla="*/ 1693889 w 1693889"/>
              <a:gd name="connsiteY3" fmla="*/ 0 h 719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3889" h="719528">
                <a:moveTo>
                  <a:pt x="0" y="719528"/>
                </a:moveTo>
                <a:cubicBezTo>
                  <a:pt x="6246" y="617095"/>
                  <a:pt x="12492" y="514662"/>
                  <a:pt x="254833" y="434715"/>
                </a:cubicBezTo>
                <a:cubicBezTo>
                  <a:pt x="497174" y="354768"/>
                  <a:pt x="1214203" y="312295"/>
                  <a:pt x="1454046" y="239843"/>
                </a:cubicBezTo>
                <a:cubicBezTo>
                  <a:pt x="1693889" y="167391"/>
                  <a:pt x="1693889" y="83695"/>
                  <a:pt x="1693889" y="0"/>
                </a:cubicBezTo>
              </a:path>
            </a:pathLst>
          </a:custGeom>
          <a:ln w="28575">
            <a:headEnd type="non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di classe e metodi</a:t>
            </a:r>
          </a:p>
        </p:txBody>
      </p:sp>
      <p:grpSp>
        <p:nvGrpSpPr>
          <p:cNvPr id="12" name="Gruppo 11"/>
          <p:cNvGrpSpPr/>
          <p:nvPr/>
        </p:nvGrpSpPr>
        <p:grpSpPr>
          <a:xfrm>
            <a:off x="683568" y="1772816"/>
            <a:ext cx="5904656" cy="3672408"/>
            <a:chOff x="683568" y="1772816"/>
            <a:chExt cx="5904656" cy="3672408"/>
          </a:xfrm>
        </p:grpSpPr>
        <p:sp>
          <p:nvSpPr>
            <p:cNvPr id="14" name="Rettangolo 13"/>
            <p:cNvSpPr/>
            <p:nvPr/>
          </p:nvSpPr>
          <p:spPr>
            <a:xfrm>
              <a:off x="683568" y="1772816"/>
              <a:ext cx="5904656" cy="57606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" name="Rettangolo 4"/>
            <p:cNvSpPr/>
            <p:nvPr/>
          </p:nvSpPr>
          <p:spPr>
            <a:xfrm>
              <a:off x="683568" y="2348880"/>
              <a:ext cx="5904656" cy="309634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8" name="Connettore 1 7"/>
            <p:cNvCxnSpPr/>
            <p:nvPr/>
          </p:nvCxnSpPr>
          <p:spPr>
            <a:xfrm>
              <a:off x="683568" y="3501008"/>
              <a:ext cx="59046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asellaDiTesto 8"/>
            <p:cNvSpPr txBox="1"/>
            <p:nvPr/>
          </p:nvSpPr>
          <p:spPr>
            <a:xfrm>
              <a:off x="2339752" y="1844824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dirty="0">
                  <a:latin typeface="Courier New" pitchFamily="49" charset="0"/>
                  <a:cs typeface="Courier New" pitchFamily="49" charset="0"/>
                </a:rPr>
                <a:t>Rettangolo</a:t>
              </a:r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827584" y="2492896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 base</a:t>
              </a:r>
            </a:p>
          </p:txBody>
        </p:sp>
        <p:sp>
          <p:nvSpPr>
            <p:cNvPr id="11" name="CasellaDiTesto 10"/>
            <p:cNvSpPr txBox="1"/>
            <p:nvPr/>
          </p:nvSpPr>
          <p:spPr>
            <a:xfrm>
              <a:off x="827584" y="2852936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 altezza</a:t>
              </a:r>
            </a:p>
          </p:txBody>
        </p:sp>
        <p:sp>
          <p:nvSpPr>
            <p:cNvPr id="15" name="CasellaDiTesto 14"/>
            <p:cNvSpPr txBox="1"/>
            <p:nvPr/>
          </p:nvSpPr>
          <p:spPr>
            <a:xfrm>
              <a:off x="827584" y="4293096"/>
              <a:ext cx="51125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double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frazioneDiArea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double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 f)</a:t>
              </a:r>
            </a:p>
          </p:txBody>
        </p:sp>
        <p:sp>
          <p:nvSpPr>
            <p:cNvPr id="16" name="CasellaDiTesto 15"/>
            <p:cNvSpPr txBox="1"/>
            <p:nvPr/>
          </p:nvSpPr>
          <p:spPr>
            <a:xfrm>
              <a:off x="827584" y="3717032"/>
              <a:ext cx="27363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 perimetro()</a:t>
              </a:r>
            </a:p>
          </p:txBody>
        </p:sp>
        <p:sp>
          <p:nvSpPr>
            <p:cNvPr id="19" name="CasellaDiTesto 18"/>
            <p:cNvSpPr txBox="1"/>
            <p:nvPr/>
          </p:nvSpPr>
          <p:spPr>
            <a:xfrm>
              <a:off x="827584" y="4869160"/>
              <a:ext cx="57606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cambiaDimensioni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 b, </a:t>
              </a:r>
              <a:r>
                <a:rPr lang="it-IT" sz="20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 a)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13"/>
          <p:cNvSpPr/>
          <p:nvPr/>
        </p:nvSpPr>
        <p:spPr>
          <a:xfrm>
            <a:off x="683568" y="1772816"/>
            <a:ext cx="5904656" cy="576064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di classe e metodi</a:t>
            </a:r>
          </a:p>
        </p:txBody>
      </p:sp>
      <p:sp>
        <p:nvSpPr>
          <p:cNvPr id="5" name="Rettangolo 4"/>
          <p:cNvSpPr/>
          <p:nvPr/>
        </p:nvSpPr>
        <p:spPr>
          <a:xfrm>
            <a:off x="683568" y="2348880"/>
            <a:ext cx="5904656" cy="309634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1 7"/>
          <p:cNvCxnSpPr/>
          <p:nvPr/>
        </p:nvCxnSpPr>
        <p:spPr>
          <a:xfrm>
            <a:off x="683568" y="3501008"/>
            <a:ext cx="59046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/>
          <p:cNvSpPr txBox="1"/>
          <p:nvPr/>
        </p:nvSpPr>
        <p:spPr>
          <a:xfrm>
            <a:off x="2339752" y="1844824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Courier New" pitchFamily="49" charset="0"/>
                <a:cs typeface="Courier New" pitchFamily="49" charset="0"/>
              </a:rPr>
              <a:t>Rettangolo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827584" y="2492896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base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827584" y="2852936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altezza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827584" y="4293096"/>
            <a:ext cx="5112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frazioneDiArea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f)</a:t>
            </a:r>
          </a:p>
        </p:txBody>
      </p:sp>
      <p:sp>
        <p:nvSpPr>
          <p:cNvPr id="16" name="CasellaDiTesto 15"/>
          <p:cNvSpPr txBox="1"/>
          <p:nvPr/>
        </p:nvSpPr>
        <p:spPr>
          <a:xfrm>
            <a:off x="827584" y="3717032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perimetro()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827584" y="4869160"/>
            <a:ext cx="5760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cambiaDimensioni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b,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a)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5724128" y="1628800"/>
            <a:ext cx="3204864" cy="22467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dirty="0"/>
              <a:t>calcola il perimetro dell’oggetto </a:t>
            </a:r>
            <a:r>
              <a:rPr lang="it-IT" sz="2000" i="1" dirty="0">
                <a:solidFill>
                  <a:schemeClr val="accent2"/>
                </a:solidFill>
              </a:rPr>
              <a:t>Rettangolo</a:t>
            </a:r>
            <a:r>
              <a:rPr lang="it-IT" sz="2000" dirty="0"/>
              <a:t>; non ha parametri formali e restituisce il valore del perimetro (un valore intero, poiché le dimensioni sono intere)</a:t>
            </a:r>
          </a:p>
        </p:txBody>
      </p:sp>
      <p:cxnSp>
        <p:nvCxnSpPr>
          <p:cNvPr id="17" name="Connettore 1 16"/>
          <p:cNvCxnSpPr>
            <a:stCxn id="12" idx="1"/>
            <a:endCxn id="16" idx="3"/>
          </p:cNvCxnSpPr>
          <p:nvPr/>
        </p:nvCxnSpPr>
        <p:spPr>
          <a:xfrm flipH="1">
            <a:off x="3563888" y="2752185"/>
            <a:ext cx="2160240" cy="1164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13"/>
          <p:cNvSpPr/>
          <p:nvPr/>
        </p:nvSpPr>
        <p:spPr>
          <a:xfrm>
            <a:off x="683568" y="1772816"/>
            <a:ext cx="5904656" cy="576064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di classe e metodi</a:t>
            </a:r>
          </a:p>
        </p:txBody>
      </p:sp>
      <p:sp>
        <p:nvSpPr>
          <p:cNvPr id="5" name="Rettangolo 4"/>
          <p:cNvSpPr/>
          <p:nvPr/>
        </p:nvSpPr>
        <p:spPr>
          <a:xfrm>
            <a:off x="683568" y="2348880"/>
            <a:ext cx="5904656" cy="309634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1 7"/>
          <p:cNvCxnSpPr/>
          <p:nvPr/>
        </p:nvCxnSpPr>
        <p:spPr>
          <a:xfrm>
            <a:off x="683568" y="3501008"/>
            <a:ext cx="59046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/>
          <p:cNvSpPr txBox="1"/>
          <p:nvPr/>
        </p:nvSpPr>
        <p:spPr>
          <a:xfrm>
            <a:off x="2339752" y="1844824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Courier New" pitchFamily="49" charset="0"/>
                <a:cs typeface="Courier New" pitchFamily="49" charset="0"/>
              </a:rPr>
              <a:t>Rettangolo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827584" y="2492896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base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827584" y="2852936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altezza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827584" y="4293096"/>
            <a:ext cx="5112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frazioneDiArea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f)</a:t>
            </a:r>
          </a:p>
        </p:txBody>
      </p:sp>
      <p:sp>
        <p:nvSpPr>
          <p:cNvPr id="16" name="CasellaDiTesto 15"/>
          <p:cNvSpPr txBox="1"/>
          <p:nvPr/>
        </p:nvSpPr>
        <p:spPr>
          <a:xfrm>
            <a:off x="827584" y="3717032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perimetro()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827584" y="4869160"/>
            <a:ext cx="5760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cambiaDimensioni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b,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a)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5724128" y="1916832"/>
            <a:ext cx="3204864" cy="19389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dirty="0"/>
              <a:t>calcola una frazione </a:t>
            </a:r>
            <a:br>
              <a:rPr lang="it-IT" sz="2000" dirty="0"/>
            </a:br>
            <a:r>
              <a:rPr lang="it-IT" sz="2000" dirty="0"/>
              <a:t>f </a:t>
            </a:r>
            <a:r>
              <a:rPr lang="it-IT" sz="2000" dirty="0">
                <a:sym typeface="Symbol"/>
              </a:rPr>
              <a:t> [0,1]</a:t>
            </a:r>
            <a:r>
              <a:rPr lang="it-IT" sz="2000" dirty="0"/>
              <a:t> dell’area del </a:t>
            </a:r>
            <a:r>
              <a:rPr lang="it-IT" sz="2000" i="1" dirty="0">
                <a:solidFill>
                  <a:schemeClr val="accent2"/>
                </a:solidFill>
              </a:rPr>
              <a:t>Rettangolo</a:t>
            </a:r>
            <a:r>
              <a:rPr lang="it-IT" sz="2000" dirty="0"/>
              <a:t>; riceve un solo parametro formale (la frazione f); restituisce il risultato del calcolo</a:t>
            </a:r>
          </a:p>
        </p:txBody>
      </p:sp>
      <p:cxnSp>
        <p:nvCxnSpPr>
          <p:cNvPr id="17" name="Connettore 1 16"/>
          <p:cNvCxnSpPr>
            <a:stCxn id="12" idx="2"/>
            <a:endCxn id="15" idx="3"/>
          </p:cNvCxnSpPr>
          <p:nvPr/>
        </p:nvCxnSpPr>
        <p:spPr>
          <a:xfrm flipH="1">
            <a:off x="5940152" y="3855824"/>
            <a:ext cx="1386408" cy="637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tangolo 13"/>
          <p:cNvSpPr/>
          <p:nvPr/>
        </p:nvSpPr>
        <p:spPr>
          <a:xfrm>
            <a:off x="683568" y="1772816"/>
            <a:ext cx="5904656" cy="576064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di classe e metodi</a:t>
            </a:r>
          </a:p>
        </p:txBody>
      </p:sp>
      <p:sp>
        <p:nvSpPr>
          <p:cNvPr id="5" name="Rettangolo 4"/>
          <p:cNvSpPr/>
          <p:nvPr/>
        </p:nvSpPr>
        <p:spPr>
          <a:xfrm>
            <a:off x="683568" y="2348880"/>
            <a:ext cx="5904656" cy="309634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" name="Connettore 1 7"/>
          <p:cNvCxnSpPr/>
          <p:nvPr/>
        </p:nvCxnSpPr>
        <p:spPr>
          <a:xfrm>
            <a:off x="683568" y="3501008"/>
            <a:ext cx="59046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/>
          <p:cNvSpPr txBox="1"/>
          <p:nvPr/>
        </p:nvSpPr>
        <p:spPr>
          <a:xfrm>
            <a:off x="2339752" y="1844824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>
                <a:latin typeface="Courier New" pitchFamily="49" charset="0"/>
                <a:cs typeface="Courier New" pitchFamily="49" charset="0"/>
              </a:rPr>
              <a:t>Rettangolo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827584" y="2492896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base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827584" y="2852936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altezza</a:t>
            </a:r>
          </a:p>
        </p:txBody>
      </p:sp>
      <p:sp>
        <p:nvSpPr>
          <p:cNvPr id="15" name="CasellaDiTesto 14"/>
          <p:cNvSpPr txBox="1"/>
          <p:nvPr/>
        </p:nvSpPr>
        <p:spPr>
          <a:xfrm>
            <a:off x="827584" y="4293096"/>
            <a:ext cx="5112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frazioneDiArea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f)</a:t>
            </a:r>
          </a:p>
        </p:txBody>
      </p:sp>
      <p:sp>
        <p:nvSpPr>
          <p:cNvPr id="16" name="CasellaDiTesto 15"/>
          <p:cNvSpPr txBox="1"/>
          <p:nvPr/>
        </p:nvSpPr>
        <p:spPr>
          <a:xfrm>
            <a:off x="827584" y="3717032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dirty="0">
                <a:latin typeface="Courier New" pitchFamily="49" charset="0"/>
                <a:cs typeface="Courier New" pitchFamily="49" charset="0"/>
              </a:rPr>
              <a:t> perimetro()</a:t>
            </a:r>
          </a:p>
        </p:txBody>
      </p:sp>
      <p:sp>
        <p:nvSpPr>
          <p:cNvPr id="19" name="CasellaDiTesto 18"/>
          <p:cNvSpPr txBox="1"/>
          <p:nvPr/>
        </p:nvSpPr>
        <p:spPr>
          <a:xfrm>
            <a:off x="827584" y="4869160"/>
            <a:ext cx="5760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cambiaDimensioni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b, </a:t>
            </a:r>
            <a:r>
              <a:rPr lang="it-IT" sz="2000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2000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a)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5652120" y="2132856"/>
            <a:ext cx="3204864" cy="25545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dirty="0"/>
              <a:t>Reimposta le dimensioni dell’oggetto </a:t>
            </a:r>
            <a:r>
              <a:rPr lang="it-IT" sz="2000" i="1" dirty="0">
                <a:solidFill>
                  <a:schemeClr val="accent2"/>
                </a:solidFill>
              </a:rPr>
              <a:t>Rettangolo</a:t>
            </a:r>
            <a:r>
              <a:rPr lang="it-IT" sz="2000" dirty="0"/>
              <a:t>, con quelle specificate dai parametri formali (</a:t>
            </a:r>
            <a:r>
              <a:rPr lang="it-IT" sz="2000" i="1" dirty="0">
                <a:solidFill>
                  <a:schemeClr val="accent2"/>
                </a:solidFill>
              </a:rPr>
              <a:t>b</a:t>
            </a:r>
            <a:r>
              <a:rPr lang="it-IT" sz="2000" dirty="0"/>
              <a:t> per la base e </a:t>
            </a:r>
            <a:r>
              <a:rPr lang="it-IT" sz="2000" i="1" dirty="0">
                <a:solidFill>
                  <a:schemeClr val="accent2"/>
                </a:solidFill>
              </a:rPr>
              <a:t>a</a:t>
            </a:r>
            <a:r>
              <a:rPr lang="it-IT" sz="2000" dirty="0"/>
              <a:t> per l’altezza); il metodo </a:t>
            </a:r>
            <a:r>
              <a:rPr lang="it-IT" sz="2000" i="1" dirty="0">
                <a:solidFill>
                  <a:schemeClr val="accent2"/>
                </a:solidFill>
              </a:rPr>
              <a:t>cambia lo stato dell’oggetto</a:t>
            </a:r>
            <a:r>
              <a:rPr lang="it-IT" sz="2000" dirty="0"/>
              <a:t>, ma non restituisce alcun valore</a:t>
            </a:r>
          </a:p>
        </p:txBody>
      </p:sp>
      <p:cxnSp>
        <p:nvCxnSpPr>
          <p:cNvPr id="17" name="Connettore 1 16"/>
          <p:cNvCxnSpPr>
            <a:stCxn id="12" idx="2"/>
          </p:cNvCxnSpPr>
          <p:nvPr/>
        </p:nvCxnSpPr>
        <p:spPr>
          <a:xfrm flipH="1">
            <a:off x="6300192" y="4687401"/>
            <a:ext cx="954360" cy="3257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Metodi: invocazione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Chiedere ad un oggetto di eseguire un suo metodo equivale ad </a:t>
            </a:r>
            <a:r>
              <a:rPr lang="it-IT" i="1" dirty="0">
                <a:solidFill>
                  <a:schemeClr val="accent2"/>
                </a:solidFill>
              </a:rPr>
              <a:t>inviargli un messaggio</a:t>
            </a:r>
            <a:r>
              <a:rPr lang="it-IT" dirty="0"/>
              <a:t>; si dice anche che viene </a:t>
            </a:r>
            <a:r>
              <a:rPr lang="it-IT" u="sng" dirty="0">
                <a:solidFill>
                  <a:schemeClr val="accent1"/>
                </a:solidFill>
              </a:rPr>
              <a:t>invocato</a:t>
            </a:r>
            <a:r>
              <a:rPr lang="it-IT" dirty="0"/>
              <a:t> un metodo sull’oggetto</a:t>
            </a:r>
          </a:p>
          <a:p>
            <a:pPr lvl="1"/>
            <a:r>
              <a:rPr lang="it-IT" dirty="0"/>
              <a:t>per invocare un metodo serve solo conoscere la sua intestazione (non la sua implementazione)</a:t>
            </a:r>
          </a:p>
          <a:p>
            <a:pPr lvl="1"/>
            <a:r>
              <a:rPr lang="it-IT" dirty="0"/>
              <a:t>così come per usare correttamente le funzioni del giocattolo </a:t>
            </a:r>
            <a:r>
              <a:rPr lang="it-IT" i="1" dirty="0" err="1">
                <a:solidFill>
                  <a:schemeClr val="accent2"/>
                </a:solidFill>
              </a:rPr>
              <a:t>ImparaISuoni</a:t>
            </a:r>
            <a:r>
              <a:rPr lang="it-IT" dirty="0">
                <a:solidFill>
                  <a:schemeClr val="accent2"/>
                </a:solidFill>
              </a:rPr>
              <a:t> </a:t>
            </a:r>
            <a:r>
              <a:rPr lang="it-IT" dirty="0"/>
              <a:t>serve solo sapere cosa esse fanno e quali tasti premere per richiederle (non serve sapere come sono eseguite dal giocattolo)</a:t>
            </a:r>
            <a:endParaRPr lang="it-IT" i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Oggetti chiamanti e riceventi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Chi invoca i metodi sugli oggetti?</a:t>
            </a:r>
          </a:p>
          <a:p>
            <a:r>
              <a:rPr lang="it-IT" sz="2400" dirty="0"/>
              <a:t>Nel corpo di un suo metodo, un oggetto </a:t>
            </a:r>
            <a:r>
              <a:rPr lang="it-IT" sz="2400" i="1" dirty="0">
                <a:solidFill>
                  <a:schemeClr val="accent2"/>
                </a:solidFill>
              </a:rPr>
              <a:t>ogg1</a:t>
            </a:r>
            <a:r>
              <a:rPr lang="it-IT" sz="2400" dirty="0"/>
              <a:t> può invocare un altro metodo su un oggetto </a:t>
            </a:r>
            <a:r>
              <a:rPr lang="it-IT" sz="2400" i="1" dirty="0">
                <a:solidFill>
                  <a:schemeClr val="accent2"/>
                </a:solidFill>
              </a:rPr>
              <a:t>ogg2</a:t>
            </a:r>
            <a:r>
              <a:rPr lang="it-IT" sz="2400" dirty="0"/>
              <a:t>, attraverso una apposita </a:t>
            </a:r>
            <a:r>
              <a:rPr lang="it-IT" sz="2400" u="sng" dirty="0">
                <a:solidFill>
                  <a:schemeClr val="accent1"/>
                </a:solidFill>
              </a:rPr>
              <a:t>istruzione di invocazione</a:t>
            </a:r>
          </a:p>
          <a:p>
            <a:pPr lvl="1"/>
            <a:r>
              <a:rPr lang="it-IT" sz="2000" i="1" dirty="0">
                <a:solidFill>
                  <a:schemeClr val="accent2"/>
                </a:solidFill>
              </a:rPr>
              <a:t>ogg1</a:t>
            </a:r>
            <a:r>
              <a:rPr lang="it-IT" sz="2000" dirty="0"/>
              <a:t> è detto </a:t>
            </a:r>
            <a:r>
              <a:rPr lang="it-IT" sz="2000" u="sng" dirty="0">
                <a:solidFill>
                  <a:schemeClr val="accent1"/>
                </a:solidFill>
              </a:rPr>
              <a:t>oggetto chiamante</a:t>
            </a:r>
          </a:p>
          <a:p>
            <a:pPr lvl="1"/>
            <a:r>
              <a:rPr lang="it-IT" sz="2000" i="1" dirty="0">
                <a:solidFill>
                  <a:schemeClr val="accent2"/>
                </a:solidFill>
              </a:rPr>
              <a:t>ogg2</a:t>
            </a:r>
            <a:r>
              <a:rPr lang="it-IT" sz="2000" dirty="0"/>
              <a:t> è detto </a:t>
            </a:r>
            <a:r>
              <a:rPr lang="it-IT" sz="2000" u="sng" dirty="0">
                <a:solidFill>
                  <a:schemeClr val="accent1"/>
                </a:solidFill>
              </a:rPr>
              <a:t>oggetto ricevente</a:t>
            </a:r>
          </a:p>
          <a:p>
            <a:pPr lvl="1"/>
            <a:endParaRPr lang="it-IT" sz="2000" dirty="0"/>
          </a:p>
        </p:txBody>
      </p:sp>
      <p:grpSp>
        <p:nvGrpSpPr>
          <p:cNvPr id="22" name="Gruppo 21"/>
          <p:cNvGrpSpPr/>
          <p:nvPr/>
        </p:nvGrpSpPr>
        <p:grpSpPr>
          <a:xfrm>
            <a:off x="5175102" y="4437112"/>
            <a:ext cx="2736304" cy="1872208"/>
            <a:chOff x="5148064" y="4694283"/>
            <a:chExt cx="2664296" cy="1975077"/>
          </a:xfrm>
        </p:grpSpPr>
        <p:sp>
          <p:nvSpPr>
            <p:cNvPr id="5" name="Rettangolo 4"/>
            <p:cNvSpPr/>
            <p:nvPr/>
          </p:nvSpPr>
          <p:spPr>
            <a:xfrm>
              <a:off x="5148064" y="4694283"/>
              <a:ext cx="2664296" cy="43890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Rettangolo 5"/>
            <p:cNvSpPr/>
            <p:nvPr/>
          </p:nvSpPr>
          <p:spPr>
            <a:xfrm>
              <a:off x="5148064" y="5133189"/>
              <a:ext cx="2664296" cy="153617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7" name="Connettore 1 6"/>
            <p:cNvCxnSpPr/>
            <p:nvPr/>
          </p:nvCxnSpPr>
          <p:spPr>
            <a:xfrm>
              <a:off x="5148064" y="6011001"/>
              <a:ext cx="26642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sellaDiTesto 7"/>
            <p:cNvSpPr txBox="1"/>
            <p:nvPr/>
          </p:nvSpPr>
          <p:spPr>
            <a:xfrm>
              <a:off x="5257790" y="4733333"/>
              <a:ext cx="25545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u="sng" dirty="0">
                  <a:latin typeface="Courier New" pitchFamily="49" charset="0"/>
                  <a:cs typeface="Courier New" pitchFamily="49" charset="0"/>
                </a:rPr>
                <a:t>ogg2:Rettangolo</a:t>
              </a:r>
            </a:p>
          </p:txBody>
        </p:sp>
        <p:sp>
          <p:nvSpPr>
            <p:cNvPr id="9" name="CasellaDiTesto 8"/>
            <p:cNvSpPr txBox="1"/>
            <p:nvPr/>
          </p:nvSpPr>
          <p:spPr>
            <a:xfrm>
              <a:off x="5257790" y="5242916"/>
              <a:ext cx="2084803" cy="422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base = 10</a:t>
              </a:r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5257790" y="5517232"/>
              <a:ext cx="2084803" cy="422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altezza = 5</a:t>
              </a:r>
            </a:p>
          </p:txBody>
        </p:sp>
        <p:sp>
          <p:nvSpPr>
            <p:cNvPr id="11" name="CasellaDiTesto 10"/>
            <p:cNvSpPr txBox="1"/>
            <p:nvPr/>
          </p:nvSpPr>
          <p:spPr>
            <a:xfrm>
              <a:off x="5257790" y="6175591"/>
              <a:ext cx="2084803" cy="304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</p:grpSp>
      <p:grpSp>
        <p:nvGrpSpPr>
          <p:cNvPr id="27" name="Gruppo 26"/>
          <p:cNvGrpSpPr/>
          <p:nvPr/>
        </p:nvGrpSpPr>
        <p:grpSpPr>
          <a:xfrm>
            <a:off x="755576" y="4489426"/>
            <a:ext cx="2088232" cy="1789914"/>
            <a:chOff x="755576" y="4879446"/>
            <a:chExt cx="2088232" cy="1789914"/>
          </a:xfrm>
        </p:grpSpPr>
        <p:sp>
          <p:nvSpPr>
            <p:cNvPr id="13" name="Rettangolo 12"/>
            <p:cNvSpPr/>
            <p:nvPr/>
          </p:nvSpPr>
          <p:spPr>
            <a:xfrm>
              <a:off x="755576" y="4879446"/>
              <a:ext cx="2088232" cy="39775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Rettangolo 13"/>
            <p:cNvSpPr/>
            <p:nvPr/>
          </p:nvSpPr>
          <p:spPr>
            <a:xfrm>
              <a:off x="755576" y="5277205"/>
              <a:ext cx="2088232" cy="139215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15" name="Connettore 1 14"/>
            <p:cNvCxnSpPr/>
            <p:nvPr/>
          </p:nvCxnSpPr>
          <p:spPr>
            <a:xfrm>
              <a:off x="755576" y="6072722"/>
              <a:ext cx="20882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sellaDiTesto 15"/>
            <p:cNvSpPr txBox="1"/>
            <p:nvPr/>
          </p:nvSpPr>
          <p:spPr>
            <a:xfrm>
              <a:off x="855015" y="4899186"/>
              <a:ext cx="18893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u="sng" dirty="0">
                  <a:latin typeface="Courier New" pitchFamily="49" charset="0"/>
                  <a:cs typeface="Courier New" pitchFamily="49" charset="0"/>
                </a:rPr>
                <a:t>ogg1</a:t>
              </a:r>
            </a:p>
          </p:txBody>
        </p:sp>
        <p:sp>
          <p:nvSpPr>
            <p:cNvPr id="19" name="CasellaDiTesto 18"/>
            <p:cNvSpPr txBox="1"/>
            <p:nvPr/>
          </p:nvSpPr>
          <p:spPr>
            <a:xfrm>
              <a:off x="855016" y="6221882"/>
              <a:ext cx="1889353" cy="276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  <p:sp>
          <p:nvSpPr>
            <p:cNvPr id="21" name="CasellaDiTesto 20"/>
            <p:cNvSpPr txBox="1"/>
            <p:nvPr/>
          </p:nvSpPr>
          <p:spPr>
            <a:xfrm>
              <a:off x="855015" y="5559987"/>
              <a:ext cx="1889353" cy="276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</p:grpSp>
      <p:cxnSp>
        <p:nvCxnSpPr>
          <p:cNvPr id="24" name="Connettore 2 23"/>
          <p:cNvCxnSpPr/>
          <p:nvPr/>
        </p:nvCxnSpPr>
        <p:spPr>
          <a:xfrm>
            <a:off x="2843808" y="5199220"/>
            <a:ext cx="23042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/>
          <p:cNvSpPr txBox="1"/>
          <p:nvPr/>
        </p:nvSpPr>
        <p:spPr>
          <a:xfrm>
            <a:off x="2771800" y="4839180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frazioneDiArea</a:t>
            </a:r>
            <a:r>
              <a:rPr lang="it-IT" dirty="0"/>
              <a:t>(0.25)</a:t>
            </a:r>
          </a:p>
        </p:txBody>
      </p:sp>
      <p:cxnSp>
        <p:nvCxnSpPr>
          <p:cNvPr id="29" name="Connettore 2 28"/>
          <p:cNvCxnSpPr>
            <a:stCxn id="6" idx="1"/>
            <a:endCxn id="14" idx="3"/>
          </p:cNvCxnSpPr>
          <p:nvPr/>
        </p:nvCxnSpPr>
        <p:spPr>
          <a:xfrm flipH="1">
            <a:off x="2843808" y="5581239"/>
            <a:ext cx="2331294" cy="202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/>
          <p:cNvSpPr txBox="1"/>
          <p:nvPr/>
        </p:nvSpPr>
        <p:spPr>
          <a:xfrm>
            <a:off x="3707904" y="563126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12.5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Signature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9"/>
            <a:ext cx="8229600" cy="2664295"/>
          </a:xfrm>
        </p:spPr>
        <p:txBody>
          <a:bodyPr>
            <a:normAutofit lnSpcReduction="10000"/>
          </a:bodyPr>
          <a:lstStyle/>
          <a:p>
            <a:r>
              <a:rPr lang="it-IT" dirty="0"/>
              <a:t>Un’istruzione di invocazione di un metodo su un oggetto ricevente deve specificare:</a:t>
            </a:r>
          </a:p>
          <a:p>
            <a:pPr lvl="1"/>
            <a:r>
              <a:rPr lang="it-IT" dirty="0"/>
              <a:t>il nome del metodo che esso deve eseguire</a:t>
            </a:r>
          </a:p>
          <a:p>
            <a:pPr lvl="1"/>
            <a:r>
              <a:rPr lang="it-IT" dirty="0"/>
              <a:t>il valore dei parametri formali del metodo</a:t>
            </a:r>
          </a:p>
          <a:p>
            <a:r>
              <a:rPr lang="it-IT" dirty="0"/>
              <a:t>Il nome del metodo e la lista dei suoi parametri si chiama anche </a:t>
            </a:r>
            <a:r>
              <a:rPr lang="it-IT" u="sng" dirty="0" err="1">
                <a:solidFill>
                  <a:schemeClr val="accent1"/>
                </a:solidFill>
              </a:rPr>
              <a:t>signature</a:t>
            </a:r>
            <a:r>
              <a:rPr lang="it-IT" dirty="0"/>
              <a:t> (</a:t>
            </a:r>
            <a:r>
              <a:rPr lang="it-IT" u="sng" dirty="0">
                <a:solidFill>
                  <a:schemeClr val="accent1"/>
                </a:solidFill>
              </a:rPr>
              <a:t>firma</a:t>
            </a:r>
            <a:r>
              <a:rPr lang="it-IT" dirty="0"/>
              <a:t>) del metodo</a:t>
            </a:r>
          </a:p>
          <a:p>
            <a:pPr lvl="1"/>
            <a:endParaRPr lang="it-IT" dirty="0"/>
          </a:p>
        </p:txBody>
      </p:sp>
      <p:grpSp>
        <p:nvGrpSpPr>
          <p:cNvPr id="4" name="Gruppo 21"/>
          <p:cNvGrpSpPr/>
          <p:nvPr/>
        </p:nvGrpSpPr>
        <p:grpSpPr>
          <a:xfrm>
            <a:off x="5175102" y="4437112"/>
            <a:ext cx="2736304" cy="1872208"/>
            <a:chOff x="5148064" y="4694283"/>
            <a:chExt cx="2664296" cy="1975077"/>
          </a:xfrm>
        </p:grpSpPr>
        <p:sp>
          <p:nvSpPr>
            <p:cNvPr id="5" name="Rettangolo 4"/>
            <p:cNvSpPr/>
            <p:nvPr/>
          </p:nvSpPr>
          <p:spPr>
            <a:xfrm>
              <a:off x="5148064" y="4694283"/>
              <a:ext cx="2664296" cy="43890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Rettangolo 5"/>
            <p:cNvSpPr/>
            <p:nvPr/>
          </p:nvSpPr>
          <p:spPr>
            <a:xfrm>
              <a:off x="5148064" y="5133189"/>
              <a:ext cx="2664296" cy="153617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7" name="Connettore 1 6"/>
            <p:cNvCxnSpPr/>
            <p:nvPr/>
          </p:nvCxnSpPr>
          <p:spPr>
            <a:xfrm>
              <a:off x="5148064" y="6011001"/>
              <a:ext cx="26642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sellaDiTesto 7"/>
            <p:cNvSpPr txBox="1"/>
            <p:nvPr/>
          </p:nvSpPr>
          <p:spPr>
            <a:xfrm>
              <a:off x="5257790" y="4733333"/>
              <a:ext cx="25545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u="sng" dirty="0">
                  <a:latin typeface="Courier New" pitchFamily="49" charset="0"/>
                  <a:cs typeface="Courier New" pitchFamily="49" charset="0"/>
                </a:rPr>
                <a:t>ogg2:Rettangolo</a:t>
              </a:r>
            </a:p>
          </p:txBody>
        </p:sp>
        <p:sp>
          <p:nvSpPr>
            <p:cNvPr id="9" name="CasellaDiTesto 8"/>
            <p:cNvSpPr txBox="1"/>
            <p:nvPr/>
          </p:nvSpPr>
          <p:spPr>
            <a:xfrm>
              <a:off x="5257790" y="5242916"/>
              <a:ext cx="2084803" cy="422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base = 10</a:t>
              </a:r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5257790" y="5517232"/>
              <a:ext cx="2084803" cy="422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altezza = 5</a:t>
              </a:r>
            </a:p>
          </p:txBody>
        </p:sp>
        <p:sp>
          <p:nvSpPr>
            <p:cNvPr id="11" name="CasellaDiTesto 10"/>
            <p:cNvSpPr txBox="1"/>
            <p:nvPr/>
          </p:nvSpPr>
          <p:spPr>
            <a:xfrm>
              <a:off x="5257790" y="6175591"/>
              <a:ext cx="2084803" cy="304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</p:grpSp>
      <p:grpSp>
        <p:nvGrpSpPr>
          <p:cNvPr id="12" name="Gruppo 26"/>
          <p:cNvGrpSpPr/>
          <p:nvPr/>
        </p:nvGrpSpPr>
        <p:grpSpPr>
          <a:xfrm>
            <a:off x="755576" y="4489426"/>
            <a:ext cx="2088232" cy="1789914"/>
            <a:chOff x="755576" y="4879446"/>
            <a:chExt cx="2088232" cy="1789914"/>
          </a:xfrm>
        </p:grpSpPr>
        <p:sp>
          <p:nvSpPr>
            <p:cNvPr id="13" name="Rettangolo 12"/>
            <p:cNvSpPr/>
            <p:nvPr/>
          </p:nvSpPr>
          <p:spPr>
            <a:xfrm>
              <a:off x="755576" y="4879446"/>
              <a:ext cx="2088232" cy="39775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Rettangolo 13"/>
            <p:cNvSpPr/>
            <p:nvPr/>
          </p:nvSpPr>
          <p:spPr>
            <a:xfrm>
              <a:off x="755576" y="5277205"/>
              <a:ext cx="2088232" cy="139215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15" name="Connettore 1 14"/>
            <p:cNvCxnSpPr/>
            <p:nvPr/>
          </p:nvCxnSpPr>
          <p:spPr>
            <a:xfrm>
              <a:off x="755576" y="6072722"/>
              <a:ext cx="20882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sellaDiTesto 15"/>
            <p:cNvSpPr txBox="1"/>
            <p:nvPr/>
          </p:nvSpPr>
          <p:spPr>
            <a:xfrm>
              <a:off x="855015" y="4899186"/>
              <a:ext cx="18893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u="sng" dirty="0">
                  <a:latin typeface="Courier New" pitchFamily="49" charset="0"/>
                  <a:cs typeface="Courier New" pitchFamily="49" charset="0"/>
                </a:rPr>
                <a:t>ogg1</a:t>
              </a:r>
            </a:p>
          </p:txBody>
        </p:sp>
        <p:sp>
          <p:nvSpPr>
            <p:cNvPr id="19" name="CasellaDiTesto 18"/>
            <p:cNvSpPr txBox="1"/>
            <p:nvPr/>
          </p:nvSpPr>
          <p:spPr>
            <a:xfrm>
              <a:off x="855016" y="6221882"/>
              <a:ext cx="1889353" cy="276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  <p:sp>
          <p:nvSpPr>
            <p:cNvPr id="21" name="CasellaDiTesto 20"/>
            <p:cNvSpPr txBox="1"/>
            <p:nvPr/>
          </p:nvSpPr>
          <p:spPr>
            <a:xfrm>
              <a:off x="855015" y="5559987"/>
              <a:ext cx="1889353" cy="276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</p:grpSp>
      <p:cxnSp>
        <p:nvCxnSpPr>
          <p:cNvPr id="24" name="Connettore 2 23"/>
          <p:cNvCxnSpPr/>
          <p:nvPr/>
        </p:nvCxnSpPr>
        <p:spPr>
          <a:xfrm>
            <a:off x="2843808" y="5199220"/>
            <a:ext cx="23042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/>
          <p:cNvSpPr txBox="1"/>
          <p:nvPr/>
        </p:nvSpPr>
        <p:spPr>
          <a:xfrm>
            <a:off x="2771800" y="4839180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frazioneDiArea</a:t>
            </a:r>
            <a:r>
              <a:rPr lang="it-IT" dirty="0"/>
              <a:t>(0.25)</a:t>
            </a:r>
          </a:p>
        </p:txBody>
      </p:sp>
      <p:cxnSp>
        <p:nvCxnSpPr>
          <p:cNvPr id="29" name="Connettore 2 28"/>
          <p:cNvCxnSpPr>
            <a:stCxn id="6" idx="1"/>
            <a:endCxn id="14" idx="3"/>
          </p:cNvCxnSpPr>
          <p:nvPr/>
        </p:nvCxnSpPr>
        <p:spPr>
          <a:xfrm flipH="1">
            <a:off x="2843808" y="5581239"/>
            <a:ext cx="2331294" cy="202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/>
          <p:cNvSpPr txBox="1"/>
          <p:nvPr/>
        </p:nvSpPr>
        <p:spPr>
          <a:xfrm>
            <a:off x="3707904" y="563126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12.5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Unicità della </a:t>
            </a:r>
            <a:r>
              <a:rPr lang="it-IT" dirty="0" err="1"/>
              <a:t>signature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9"/>
            <a:ext cx="8229600" cy="2376263"/>
          </a:xfrm>
        </p:spPr>
        <p:txBody>
          <a:bodyPr>
            <a:normAutofit/>
          </a:bodyPr>
          <a:lstStyle/>
          <a:p>
            <a:r>
              <a:rPr lang="it-IT" dirty="0"/>
              <a:t>La </a:t>
            </a:r>
            <a:r>
              <a:rPr lang="it-IT" dirty="0" err="1"/>
              <a:t>signature</a:t>
            </a:r>
            <a:r>
              <a:rPr lang="it-IT" dirty="0"/>
              <a:t> è dunque una parte del prototipo (che esclude il tipo di ritorno)</a:t>
            </a:r>
          </a:p>
          <a:p>
            <a:r>
              <a:rPr lang="it-IT" dirty="0"/>
              <a:t>In una classe non possono esserci due metodi con la stessa </a:t>
            </a:r>
            <a:r>
              <a:rPr lang="it-IT" dirty="0" err="1"/>
              <a:t>signature</a:t>
            </a:r>
            <a:r>
              <a:rPr lang="it-IT" dirty="0"/>
              <a:t>, poiché si genererebbe ambiguità all’atto della chiamata</a:t>
            </a:r>
          </a:p>
          <a:p>
            <a:pPr lvl="1"/>
            <a:endParaRPr lang="it-IT" dirty="0"/>
          </a:p>
        </p:txBody>
      </p:sp>
      <p:grpSp>
        <p:nvGrpSpPr>
          <p:cNvPr id="4" name="Gruppo 21"/>
          <p:cNvGrpSpPr/>
          <p:nvPr/>
        </p:nvGrpSpPr>
        <p:grpSpPr>
          <a:xfrm>
            <a:off x="5175102" y="4437112"/>
            <a:ext cx="2736304" cy="1872208"/>
            <a:chOff x="5148064" y="4694283"/>
            <a:chExt cx="2664296" cy="1975077"/>
          </a:xfrm>
        </p:grpSpPr>
        <p:sp>
          <p:nvSpPr>
            <p:cNvPr id="5" name="Rettangolo 4"/>
            <p:cNvSpPr/>
            <p:nvPr/>
          </p:nvSpPr>
          <p:spPr>
            <a:xfrm>
              <a:off x="5148064" y="4694283"/>
              <a:ext cx="2664296" cy="43890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Rettangolo 5"/>
            <p:cNvSpPr/>
            <p:nvPr/>
          </p:nvSpPr>
          <p:spPr>
            <a:xfrm>
              <a:off x="5148064" y="5133189"/>
              <a:ext cx="2664296" cy="153617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7" name="Connettore 1 6"/>
            <p:cNvCxnSpPr/>
            <p:nvPr/>
          </p:nvCxnSpPr>
          <p:spPr>
            <a:xfrm>
              <a:off x="5148064" y="6011001"/>
              <a:ext cx="266429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sellaDiTesto 7"/>
            <p:cNvSpPr txBox="1"/>
            <p:nvPr/>
          </p:nvSpPr>
          <p:spPr>
            <a:xfrm>
              <a:off x="5257790" y="4733333"/>
              <a:ext cx="25545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u="sng" dirty="0">
                  <a:latin typeface="Courier New" pitchFamily="49" charset="0"/>
                  <a:cs typeface="Courier New" pitchFamily="49" charset="0"/>
                </a:rPr>
                <a:t>ogg2:Rettangolo</a:t>
              </a:r>
            </a:p>
          </p:txBody>
        </p:sp>
        <p:sp>
          <p:nvSpPr>
            <p:cNvPr id="9" name="CasellaDiTesto 8"/>
            <p:cNvSpPr txBox="1"/>
            <p:nvPr/>
          </p:nvSpPr>
          <p:spPr>
            <a:xfrm>
              <a:off x="5257790" y="5242916"/>
              <a:ext cx="2084803" cy="422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base = 10</a:t>
              </a:r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5257790" y="5517232"/>
              <a:ext cx="2084803" cy="422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altezza = 5</a:t>
              </a:r>
            </a:p>
          </p:txBody>
        </p:sp>
        <p:sp>
          <p:nvSpPr>
            <p:cNvPr id="11" name="CasellaDiTesto 10"/>
            <p:cNvSpPr txBox="1"/>
            <p:nvPr/>
          </p:nvSpPr>
          <p:spPr>
            <a:xfrm>
              <a:off x="5257790" y="6175591"/>
              <a:ext cx="2084803" cy="3048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</p:grpSp>
      <p:grpSp>
        <p:nvGrpSpPr>
          <p:cNvPr id="12" name="Gruppo 26"/>
          <p:cNvGrpSpPr/>
          <p:nvPr/>
        </p:nvGrpSpPr>
        <p:grpSpPr>
          <a:xfrm>
            <a:off x="755576" y="4489426"/>
            <a:ext cx="2088232" cy="1789914"/>
            <a:chOff x="755576" y="4879446"/>
            <a:chExt cx="2088232" cy="1789914"/>
          </a:xfrm>
        </p:grpSpPr>
        <p:sp>
          <p:nvSpPr>
            <p:cNvPr id="13" name="Rettangolo 12"/>
            <p:cNvSpPr/>
            <p:nvPr/>
          </p:nvSpPr>
          <p:spPr>
            <a:xfrm>
              <a:off x="755576" y="4879446"/>
              <a:ext cx="2088232" cy="39775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4" name="Rettangolo 13"/>
            <p:cNvSpPr/>
            <p:nvPr/>
          </p:nvSpPr>
          <p:spPr>
            <a:xfrm>
              <a:off x="755576" y="5277205"/>
              <a:ext cx="2088232" cy="139215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15" name="Connettore 1 14"/>
            <p:cNvCxnSpPr/>
            <p:nvPr/>
          </p:nvCxnSpPr>
          <p:spPr>
            <a:xfrm>
              <a:off x="755576" y="6072722"/>
              <a:ext cx="208823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asellaDiTesto 15"/>
            <p:cNvSpPr txBox="1"/>
            <p:nvPr/>
          </p:nvSpPr>
          <p:spPr>
            <a:xfrm>
              <a:off x="855015" y="4899186"/>
              <a:ext cx="18893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u="sng" dirty="0">
                  <a:latin typeface="Courier New" pitchFamily="49" charset="0"/>
                  <a:cs typeface="Courier New" pitchFamily="49" charset="0"/>
                </a:rPr>
                <a:t>ogg1</a:t>
              </a:r>
            </a:p>
          </p:txBody>
        </p:sp>
        <p:sp>
          <p:nvSpPr>
            <p:cNvPr id="19" name="CasellaDiTesto 18"/>
            <p:cNvSpPr txBox="1"/>
            <p:nvPr/>
          </p:nvSpPr>
          <p:spPr>
            <a:xfrm>
              <a:off x="855016" y="6221882"/>
              <a:ext cx="1889353" cy="276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  <p:sp>
          <p:nvSpPr>
            <p:cNvPr id="21" name="CasellaDiTesto 20"/>
            <p:cNvSpPr txBox="1"/>
            <p:nvPr/>
          </p:nvSpPr>
          <p:spPr>
            <a:xfrm>
              <a:off x="855015" y="5559987"/>
              <a:ext cx="1889353" cy="276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latin typeface="Courier New" pitchFamily="49" charset="0"/>
                  <a:cs typeface="Courier New" pitchFamily="49" charset="0"/>
                </a:rPr>
                <a:t>...</a:t>
              </a:r>
            </a:p>
          </p:txBody>
        </p:sp>
      </p:grpSp>
      <p:cxnSp>
        <p:nvCxnSpPr>
          <p:cNvPr id="24" name="Connettore 2 23"/>
          <p:cNvCxnSpPr/>
          <p:nvPr/>
        </p:nvCxnSpPr>
        <p:spPr>
          <a:xfrm>
            <a:off x="2843808" y="5199220"/>
            <a:ext cx="230425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/>
          <p:cNvSpPr txBox="1"/>
          <p:nvPr/>
        </p:nvSpPr>
        <p:spPr>
          <a:xfrm>
            <a:off x="2771800" y="4839180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frazioneDiArea</a:t>
            </a:r>
            <a:r>
              <a:rPr lang="it-IT" dirty="0"/>
              <a:t>(0.25)</a:t>
            </a:r>
          </a:p>
        </p:txBody>
      </p:sp>
      <p:cxnSp>
        <p:nvCxnSpPr>
          <p:cNvPr id="29" name="Connettore 2 28"/>
          <p:cNvCxnSpPr>
            <a:stCxn id="6" idx="1"/>
            <a:endCxn id="14" idx="3"/>
          </p:cNvCxnSpPr>
          <p:nvPr/>
        </p:nvCxnSpPr>
        <p:spPr>
          <a:xfrm flipH="1">
            <a:off x="2843808" y="5581239"/>
            <a:ext cx="2331294" cy="202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/>
          <p:cNvSpPr txBox="1"/>
          <p:nvPr/>
        </p:nvSpPr>
        <p:spPr>
          <a:xfrm>
            <a:off x="3707904" y="563126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12.5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Dettaglio invocazione metodi</a:t>
            </a:r>
          </a:p>
        </p:txBody>
      </p:sp>
      <p:grpSp>
        <p:nvGrpSpPr>
          <p:cNvPr id="46" name="Gruppo 45"/>
          <p:cNvGrpSpPr/>
          <p:nvPr/>
        </p:nvGrpSpPr>
        <p:grpSpPr>
          <a:xfrm>
            <a:off x="755576" y="1340768"/>
            <a:ext cx="8136904" cy="4156770"/>
            <a:chOff x="755576" y="1484784"/>
            <a:chExt cx="8136904" cy="4156770"/>
          </a:xfrm>
        </p:grpSpPr>
        <p:sp>
          <p:nvSpPr>
            <p:cNvPr id="5" name="Rettangolo 4"/>
            <p:cNvSpPr/>
            <p:nvPr/>
          </p:nvSpPr>
          <p:spPr>
            <a:xfrm>
              <a:off x="5175102" y="1484784"/>
              <a:ext cx="3213322" cy="4160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Rettangolo 5"/>
            <p:cNvSpPr/>
            <p:nvPr/>
          </p:nvSpPr>
          <p:spPr>
            <a:xfrm>
              <a:off x="5175102" y="1900830"/>
              <a:ext cx="3213322" cy="374072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7" name="Connettore 1 6"/>
            <p:cNvCxnSpPr/>
            <p:nvPr/>
          </p:nvCxnSpPr>
          <p:spPr>
            <a:xfrm>
              <a:off x="5175102" y="2732923"/>
              <a:ext cx="32133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CasellaDiTesto 7"/>
            <p:cNvSpPr txBox="1"/>
            <p:nvPr/>
          </p:nvSpPr>
          <p:spPr>
            <a:xfrm>
              <a:off x="5287794" y="1521800"/>
              <a:ext cx="31006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u="sng" dirty="0">
                  <a:latin typeface="Courier New" pitchFamily="49" charset="0"/>
                  <a:cs typeface="Courier New" pitchFamily="49" charset="0"/>
                </a:rPr>
                <a:t>ogg2:Rettangolo</a:t>
              </a:r>
            </a:p>
          </p:txBody>
        </p:sp>
        <p:sp>
          <p:nvSpPr>
            <p:cNvPr id="9" name="CasellaDiTesto 8"/>
            <p:cNvSpPr txBox="1"/>
            <p:nvPr/>
          </p:nvSpPr>
          <p:spPr>
            <a:xfrm>
              <a:off x="5287794" y="2004842"/>
              <a:ext cx="2141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latin typeface="Courier New" pitchFamily="49" charset="0"/>
                  <a:cs typeface="Courier New" pitchFamily="49" charset="0"/>
                </a:rPr>
                <a:t>base = 10</a:t>
              </a:r>
            </a:p>
          </p:txBody>
        </p:sp>
        <p:sp>
          <p:nvSpPr>
            <p:cNvPr id="10" name="CasellaDiTesto 9"/>
            <p:cNvSpPr txBox="1"/>
            <p:nvPr/>
          </p:nvSpPr>
          <p:spPr>
            <a:xfrm>
              <a:off x="5287794" y="2264871"/>
              <a:ext cx="21411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>
                  <a:latin typeface="Courier New" pitchFamily="49" charset="0"/>
                  <a:cs typeface="Courier New" pitchFamily="49" charset="0"/>
                </a:rPr>
                <a:t>altezza = 5</a:t>
              </a:r>
            </a:p>
          </p:txBody>
        </p:sp>
        <p:grpSp>
          <p:nvGrpSpPr>
            <p:cNvPr id="12" name="Gruppo 26"/>
            <p:cNvGrpSpPr/>
            <p:nvPr/>
          </p:nvGrpSpPr>
          <p:grpSpPr>
            <a:xfrm>
              <a:off x="755576" y="2684522"/>
              <a:ext cx="2088232" cy="1789914"/>
              <a:chOff x="755576" y="4879446"/>
              <a:chExt cx="2088232" cy="1789914"/>
            </a:xfrm>
          </p:grpSpPr>
          <p:sp>
            <p:nvSpPr>
              <p:cNvPr id="13" name="Rettangolo 12"/>
              <p:cNvSpPr/>
              <p:nvPr/>
            </p:nvSpPr>
            <p:spPr>
              <a:xfrm>
                <a:off x="755576" y="4879446"/>
                <a:ext cx="2088232" cy="39775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4" name="Rettangolo 13"/>
              <p:cNvSpPr/>
              <p:nvPr/>
            </p:nvSpPr>
            <p:spPr>
              <a:xfrm>
                <a:off x="755576" y="5277205"/>
                <a:ext cx="2088232" cy="1392155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15" name="Connettore 1 14"/>
              <p:cNvCxnSpPr/>
              <p:nvPr/>
            </p:nvCxnSpPr>
            <p:spPr>
              <a:xfrm>
                <a:off x="755576" y="6072722"/>
                <a:ext cx="2088232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CasellaDiTesto 15"/>
              <p:cNvSpPr txBox="1"/>
              <p:nvPr/>
            </p:nvSpPr>
            <p:spPr>
              <a:xfrm>
                <a:off x="855015" y="4899186"/>
                <a:ext cx="18893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2000" b="1" u="sng" dirty="0">
                    <a:latin typeface="Courier New" pitchFamily="49" charset="0"/>
                    <a:cs typeface="Courier New" pitchFamily="49" charset="0"/>
                  </a:rPr>
                  <a:t>ogg1</a:t>
                </a:r>
              </a:p>
            </p:txBody>
          </p:sp>
          <p:sp>
            <p:nvSpPr>
              <p:cNvPr id="19" name="CasellaDiTesto 18"/>
              <p:cNvSpPr txBox="1"/>
              <p:nvPr/>
            </p:nvSpPr>
            <p:spPr>
              <a:xfrm>
                <a:off x="855016" y="6221882"/>
                <a:ext cx="1889353" cy="276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>
                    <a:latin typeface="Courier New" pitchFamily="49" charset="0"/>
                    <a:cs typeface="Courier New" pitchFamily="49" charset="0"/>
                  </a:rPr>
                  <a:t>...</a:t>
                </a:r>
              </a:p>
            </p:txBody>
          </p:sp>
          <p:sp>
            <p:nvSpPr>
              <p:cNvPr id="21" name="CasellaDiTesto 20"/>
              <p:cNvSpPr txBox="1"/>
              <p:nvPr/>
            </p:nvSpPr>
            <p:spPr>
              <a:xfrm>
                <a:off x="855015" y="5559987"/>
                <a:ext cx="1889353" cy="276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>
                    <a:latin typeface="Courier New" pitchFamily="49" charset="0"/>
                    <a:cs typeface="Courier New" pitchFamily="49" charset="0"/>
                  </a:rPr>
                  <a:t>...</a:t>
                </a:r>
              </a:p>
            </p:txBody>
          </p:sp>
        </p:grpSp>
        <p:cxnSp>
          <p:nvCxnSpPr>
            <p:cNvPr id="24" name="Connettore 2 23"/>
            <p:cNvCxnSpPr/>
            <p:nvPr/>
          </p:nvCxnSpPr>
          <p:spPr>
            <a:xfrm>
              <a:off x="2843808" y="3400014"/>
              <a:ext cx="230425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CasellaDiTesto 24"/>
            <p:cNvSpPr txBox="1"/>
            <p:nvPr/>
          </p:nvSpPr>
          <p:spPr>
            <a:xfrm>
              <a:off x="2771800" y="3039974"/>
              <a:ext cx="2448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0.25 </a:t>
              </a:r>
              <a:r>
                <a:rPr lang="it-IT" dirty="0">
                  <a:sym typeface="Symbol"/>
                </a:rPr>
                <a:t> f</a:t>
              </a:r>
              <a:endParaRPr lang="it-IT" dirty="0"/>
            </a:p>
          </p:txBody>
        </p:sp>
        <p:cxnSp>
          <p:nvCxnSpPr>
            <p:cNvPr id="29" name="Connettore 2 28"/>
            <p:cNvCxnSpPr>
              <a:stCxn id="6" idx="1"/>
              <a:endCxn id="14" idx="3"/>
            </p:cNvCxnSpPr>
            <p:nvPr/>
          </p:nvCxnSpPr>
          <p:spPr>
            <a:xfrm flipH="1">
              <a:off x="2843808" y="3771192"/>
              <a:ext cx="2331294" cy="7167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CasellaDiTesto 29"/>
            <p:cNvSpPr txBox="1"/>
            <p:nvPr/>
          </p:nvSpPr>
          <p:spPr>
            <a:xfrm>
              <a:off x="5220072" y="3121274"/>
              <a:ext cx="31683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dirty="0" err="1">
                  <a:latin typeface="Courier New" pitchFamily="49" charset="0"/>
                  <a:cs typeface="Courier New" pitchFamily="49" charset="0"/>
                </a:rPr>
                <a:t>frazioneDiArea</a:t>
              </a:r>
              <a:r>
                <a:rPr lang="it-IT" sz="1600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it-IT" sz="1600" dirty="0" err="1">
                  <a:latin typeface="Courier New" pitchFamily="49" charset="0"/>
                  <a:cs typeface="Courier New" pitchFamily="49" charset="0"/>
                </a:rPr>
                <a:t>double</a:t>
              </a:r>
              <a:r>
                <a:rPr lang="it-IT" sz="1600" dirty="0">
                  <a:latin typeface="Courier New" pitchFamily="49" charset="0"/>
                  <a:cs typeface="Courier New" pitchFamily="49" charset="0"/>
                </a:rPr>
                <a:t> f)</a:t>
              </a:r>
            </a:p>
          </p:txBody>
        </p:sp>
        <p:sp>
          <p:nvSpPr>
            <p:cNvPr id="32" name="CasellaDiTesto 31"/>
            <p:cNvSpPr txBox="1"/>
            <p:nvPr/>
          </p:nvSpPr>
          <p:spPr>
            <a:xfrm>
              <a:off x="5364088" y="3553322"/>
              <a:ext cx="2880320" cy="132343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it-IT" sz="1600" dirty="0">
                  <a:latin typeface="Courier New" pitchFamily="49" charset="0"/>
                  <a:cs typeface="Courier New" pitchFamily="49" charset="0"/>
                </a:rPr>
                <a:t>area </a:t>
              </a:r>
              <a:r>
                <a:rPr lang="it-IT" sz="1600" dirty="0">
                  <a:latin typeface="Courier New" pitchFamily="49" charset="0"/>
                  <a:cs typeface="Courier New" pitchFamily="49" charset="0"/>
                  <a:sym typeface="Symbol"/>
                </a:rPr>
                <a:t> base  altezza</a:t>
              </a:r>
            </a:p>
            <a:p>
              <a:endParaRPr lang="it-IT" sz="1600" dirty="0">
                <a:latin typeface="Courier New" pitchFamily="49" charset="0"/>
                <a:cs typeface="Courier New" pitchFamily="49" charset="0"/>
                <a:sym typeface="Symbol"/>
              </a:endParaRPr>
            </a:p>
            <a:p>
              <a:r>
                <a:rPr lang="it-IT" sz="1600" dirty="0">
                  <a:latin typeface="Courier New" pitchFamily="49" charset="0"/>
                  <a:cs typeface="Courier New" pitchFamily="49" charset="0"/>
                  <a:sym typeface="Symbol"/>
                </a:rPr>
                <a:t>frazione  area  f </a:t>
              </a:r>
            </a:p>
            <a:p>
              <a:endParaRPr lang="it-IT" sz="1600" dirty="0">
                <a:latin typeface="Courier New" pitchFamily="49" charset="0"/>
                <a:cs typeface="Courier New" pitchFamily="49" charset="0"/>
                <a:sym typeface="Symbol"/>
              </a:endParaRPr>
            </a:p>
            <a:p>
              <a:r>
                <a:rPr lang="it-IT" sz="1600" dirty="0" err="1">
                  <a:latin typeface="Courier New" pitchFamily="49" charset="0"/>
                  <a:cs typeface="Courier New" pitchFamily="49" charset="0"/>
                  <a:sym typeface="Symbol"/>
                </a:rPr>
                <a:t>return</a:t>
              </a:r>
              <a:r>
                <a:rPr lang="it-IT" sz="1600" dirty="0">
                  <a:latin typeface="Courier New" pitchFamily="49" charset="0"/>
                  <a:cs typeface="Courier New" pitchFamily="49" charset="0"/>
                  <a:sym typeface="Symbol"/>
                </a:rPr>
                <a:t> frazione</a:t>
              </a:r>
              <a:endParaRPr lang="it-IT" sz="1600" dirty="0"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3" name="CasellaDiTesto 32"/>
            <p:cNvSpPr txBox="1"/>
            <p:nvPr/>
          </p:nvSpPr>
          <p:spPr>
            <a:xfrm>
              <a:off x="3707904" y="3841354"/>
              <a:ext cx="792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12.5</a:t>
              </a:r>
            </a:p>
          </p:txBody>
        </p:sp>
        <p:sp>
          <p:nvSpPr>
            <p:cNvPr id="34" name="CasellaDiTesto 33"/>
            <p:cNvSpPr txBox="1"/>
            <p:nvPr/>
          </p:nvSpPr>
          <p:spPr>
            <a:xfrm>
              <a:off x="3044842" y="2865180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chemeClr val="accent1"/>
                  </a:solidFill>
                </a:rPr>
                <a:t>t</a:t>
              </a:r>
              <a:r>
                <a:rPr lang="it-IT" sz="2000" baseline="-25000" dirty="0">
                  <a:solidFill>
                    <a:schemeClr val="accent1"/>
                  </a:solidFill>
                </a:rPr>
                <a:t>0</a:t>
              </a:r>
            </a:p>
          </p:txBody>
        </p:sp>
        <p:cxnSp>
          <p:nvCxnSpPr>
            <p:cNvPr id="36" name="Connettore 1 35"/>
            <p:cNvCxnSpPr/>
            <p:nvPr/>
          </p:nvCxnSpPr>
          <p:spPr>
            <a:xfrm flipV="1">
              <a:off x="3203848" y="3250300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CasellaDiTesto 36"/>
            <p:cNvSpPr txBox="1"/>
            <p:nvPr/>
          </p:nvSpPr>
          <p:spPr>
            <a:xfrm>
              <a:off x="3044842" y="3985370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chemeClr val="accent1"/>
                  </a:solidFill>
                </a:rPr>
                <a:t>t</a:t>
              </a:r>
              <a:r>
                <a:rPr lang="it-IT" sz="2000" baseline="-25000" dirty="0">
                  <a:solidFill>
                    <a:schemeClr val="accent1"/>
                  </a:solidFill>
                </a:rPr>
                <a:t>4</a:t>
              </a:r>
            </a:p>
          </p:txBody>
        </p:sp>
        <p:cxnSp>
          <p:nvCxnSpPr>
            <p:cNvPr id="38" name="Connettore 1 37"/>
            <p:cNvCxnSpPr/>
            <p:nvPr/>
          </p:nvCxnSpPr>
          <p:spPr>
            <a:xfrm flipV="1">
              <a:off x="3203848" y="3697338"/>
              <a:ext cx="0" cy="2880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asellaDiTesto 38"/>
            <p:cNvSpPr txBox="1"/>
            <p:nvPr/>
          </p:nvSpPr>
          <p:spPr>
            <a:xfrm>
              <a:off x="8388424" y="3481314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chemeClr val="accent1"/>
                  </a:solidFill>
                </a:rPr>
                <a:t>t</a:t>
              </a:r>
              <a:r>
                <a:rPr lang="it-IT" sz="2000" baseline="-25000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40" name="CasellaDiTesto 39"/>
            <p:cNvSpPr txBox="1"/>
            <p:nvPr/>
          </p:nvSpPr>
          <p:spPr>
            <a:xfrm>
              <a:off x="8388424" y="3985370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chemeClr val="accent1"/>
                  </a:solidFill>
                </a:rPr>
                <a:t>t</a:t>
              </a:r>
              <a:r>
                <a:rPr lang="it-IT" sz="2000" baseline="-25000" dirty="0">
                  <a:solidFill>
                    <a:schemeClr val="accent1"/>
                  </a:solidFill>
                </a:rPr>
                <a:t>2</a:t>
              </a:r>
            </a:p>
          </p:txBody>
        </p:sp>
        <p:sp>
          <p:nvSpPr>
            <p:cNvPr id="41" name="CasellaDiTesto 40"/>
            <p:cNvSpPr txBox="1"/>
            <p:nvPr/>
          </p:nvSpPr>
          <p:spPr>
            <a:xfrm>
              <a:off x="8388424" y="4489426"/>
              <a:ext cx="5040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000" dirty="0">
                  <a:solidFill>
                    <a:schemeClr val="accent1"/>
                  </a:solidFill>
                </a:rPr>
                <a:t>t</a:t>
              </a:r>
              <a:r>
                <a:rPr lang="it-IT" sz="2000" baseline="-25000" dirty="0">
                  <a:solidFill>
                    <a:schemeClr val="accent1"/>
                  </a:solidFill>
                </a:rPr>
                <a:t>3</a:t>
              </a:r>
            </a:p>
          </p:txBody>
        </p:sp>
        <p:cxnSp>
          <p:nvCxnSpPr>
            <p:cNvPr id="43" name="Connettore 1 42"/>
            <p:cNvCxnSpPr/>
            <p:nvPr/>
          </p:nvCxnSpPr>
          <p:spPr>
            <a:xfrm>
              <a:off x="8097450" y="3739366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3"/>
            <p:cNvCxnSpPr/>
            <p:nvPr/>
          </p:nvCxnSpPr>
          <p:spPr>
            <a:xfrm>
              <a:off x="8100392" y="4201394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1 44"/>
            <p:cNvCxnSpPr/>
            <p:nvPr/>
          </p:nvCxnSpPr>
          <p:spPr>
            <a:xfrm>
              <a:off x="8100392" y="4705450"/>
              <a:ext cx="36004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CasellaDiTesto 46"/>
          <p:cNvSpPr txBox="1"/>
          <p:nvPr/>
        </p:nvSpPr>
        <p:spPr>
          <a:xfrm>
            <a:off x="467544" y="5589240"/>
            <a:ext cx="80648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/>
              <a:t>All’atto dell’invocazione, il chiamante passa al ricevente i valori effettivi da sostituire ai parametri formali; tali valori si chiamano </a:t>
            </a:r>
            <a:r>
              <a:rPr lang="it-IT" sz="2200" u="sng" dirty="0">
                <a:solidFill>
                  <a:schemeClr val="accent1"/>
                </a:solidFill>
              </a:rPr>
              <a:t>parametri attuali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4000" dirty="0"/>
              <a:t>Invocazione metodi e espressioni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L’invocazione di un metodo che ha un tipo di ritorno diverso da </a:t>
            </a:r>
            <a:r>
              <a:rPr lang="it-IT" i="1" dirty="0" err="1">
                <a:solidFill>
                  <a:schemeClr val="accent2"/>
                </a:solidFill>
              </a:rPr>
              <a:t>void</a:t>
            </a:r>
            <a:r>
              <a:rPr lang="it-IT" i="1" dirty="0">
                <a:solidFill>
                  <a:schemeClr val="accent2"/>
                </a:solidFill>
              </a:rPr>
              <a:t> </a:t>
            </a:r>
            <a:r>
              <a:rPr lang="it-IT" dirty="0"/>
              <a:t>costituisce una </a:t>
            </a:r>
            <a:r>
              <a:rPr lang="it-IT" u="sng" dirty="0">
                <a:solidFill>
                  <a:schemeClr val="accent1"/>
                </a:solidFill>
              </a:rPr>
              <a:t>espressione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il valore dell’espressione è il valore restituito dal metodo al termine della sua esecuzione</a:t>
            </a:r>
          </a:p>
          <a:p>
            <a:pPr lvl="1"/>
            <a:r>
              <a:rPr lang="it-IT" dirty="0"/>
              <a:t>si dice anche che all’invocazione del metodo rimane associato il valore che il metodo restituisce</a:t>
            </a:r>
          </a:p>
          <a:p>
            <a:pPr lvl="1">
              <a:buNone/>
            </a:pPr>
            <a:endParaRPr lang="it-IT" u="sng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Attributi e metodi di classe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Gli attributi e i metodi di un oggetto si chiamano anche </a:t>
            </a:r>
            <a:r>
              <a:rPr lang="it-IT" u="sng" dirty="0">
                <a:solidFill>
                  <a:schemeClr val="accent1"/>
                </a:solidFill>
              </a:rPr>
              <a:t>attributi e metodi di istanza</a:t>
            </a:r>
          </a:p>
          <a:p>
            <a:r>
              <a:rPr lang="it-IT" dirty="0"/>
              <a:t>In una classe è tuttavia possibile definire anche </a:t>
            </a:r>
            <a:r>
              <a:rPr lang="it-IT" u="sng" dirty="0">
                <a:solidFill>
                  <a:schemeClr val="accent1"/>
                </a:solidFill>
              </a:rPr>
              <a:t>attributi e metodi di classe </a:t>
            </a:r>
            <a:r>
              <a:rPr lang="it-IT" dirty="0"/>
              <a:t>(o </a:t>
            </a:r>
            <a:r>
              <a:rPr lang="it-IT" u="sng" dirty="0">
                <a:solidFill>
                  <a:schemeClr val="accent1"/>
                </a:solidFill>
              </a:rPr>
              <a:t>statici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un attributo di classe è riferito allo stato della classe e non dei suoi oggetti – </a:t>
            </a:r>
            <a:r>
              <a:rPr lang="it-IT" i="1" dirty="0">
                <a:solidFill>
                  <a:schemeClr val="accent2"/>
                </a:solidFill>
              </a:rPr>
              <a:t>esiste unicamente all’interno di una classe</a:t>
            </a:r>
            <a:r>
              <a:rPr lang="it-IT" dirty="0"/>
              <a:t>, cioè non viene creata una copia per ogni oggetto!!</a:t>
            </a:r>
          </a:p>
          <a:p>
            <a:pPr lvl="1"/>
            <a:r>
              <a:rPr lang="it-IT" dirty="0"/>
              <a:t>un metodo di classe viene eseguito dalla classe, e va dunque invocato sulla classe (non su una sua istanza)</a:t>
            </a:r>
          </a:p>
          <a:p>
            <a:pPr lvl="1"/>
            <a:endParaRPr lang="it-IT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Attributi e metodi di classe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Per distinguere attributi e metodi di classe, ogni linguaggio prevede una parola chiave da specificare all’atto della definizione</a:t>
            </a:r>
          </a:p>
          <a:p>
            <a:pPr lvl="1"/>
            <a:r>
              <a:rPr lang="it-IT" dirty="0"/>
              <a:t>come vedremo più avanti, Java richiede la parola chiave </a:t>
            </a:r>
            <a:r>
              <a:rPr lang="it-IT" i="1" dirty="0" err="1">
                <a:solidFill>
                  <a:schemeClr val="accent2"/>
                </a:solidFill>
              </a:rPr>
              <a:t>static</a:t>
            </a:r>
            <a:endParaRPr lang="it-IT" i="1" dirty="0">
              <a:solidFill>
                <a:schemeClr val="accent2"/>
              </a:solidFill>
            </a:endParaRPr>
          </a:p>
          <a:p>
            <a:r>
              <a:rPr lang="it-IT" dirty="0"/>
              <a:t>Nella notazione grafica UML, gli attributi e i metodi di classe vengono sottolineati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700" dirty="0"/>
              <a:t>Esempio di attributi e metodi di classe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340769"/>
            <a:ext cx="8229600" cy="2088232"/>
          </a:xfrm>
        </p:spPr>
        <p:txBody>
          <a:bodyPr>
            <a:normAutofit/>
          </a:bodyPr>
          <a:lstStyle/>
          <a:p>
            <a:r>
              <a:rPr lang="it-IT" sz="2400" dirty="0"/>
              <a:t>Potremmo ad esempio definire un attributo statico nella classe </a:t>
            </a:r>
            <a:r>
              <a:rPr lang="it-IT" sz="2400" i="1" dirty="0">
                <a:solidFill>
                  <a:schemeClr val="accent2"/>
                </a:solidFill>
              </a:rPr>
              <a:t>Rettangolo</a:t>
            </a:r>
            <a:r>
              <a:rPr lang="it-IT" sz="2400" dirty="0"/>
              <a:t>, che memorizzi il numero di istanze via via create durante l’esecuzione di un programma</a:t>
            </a:r>
          </a:p>
          <a:p>
            <a:r>
              <a:rPr lang="it-IT" sz="2400" dirty="0"/>
              <a:t>Potremmo anche definire un metodo statico che restituisca il valore di tale attributo</a:t>
            </a:r>
          </a:p>
        </p:txBody>
      </p:sp>
      <p:grpSp>
        <p:nvGrpSpPr>
          <p:cNvPr id="23" name="Gruppo 22"/>
          <p:cNvGrpSpPr/>
          <p:nvPr/>
        </p:nvGrpSpPr>
        <p:grpSpPr>
          <a:xfrm>
            <a:off x="899592" y="3501008"/>
            <a:ext cx="4608512" cy="3042870"/>
            <a:chOff x="899592" y="3501008"/>
            <a:chExt cx="4608512" cy="3042870"/>
          </a:xfrm>
        </p:grpSpPr>
        <p:sp>
          <p:nvSpPr>
            <p:cNvPr id="13" name="CasellaDiTesto 12"/>
            <p:cNvSpPr txBox="1"/>
            <p:nvPr/>
          </p:nvSpPr>
          <p:spPr>
            <a:xfrm>
              <a:off x="1022532" y="5805264"/>
              <a:ext cx="44855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dirty="0" err="1">
                  <a:latin typeface="Courier New" pitchFamily="49" charset="0"/>
                  <a:cs typeface="Courier New" pitchFamily="49" charset="0"/>
                </a:rPr>
                <a:t>void</a:t>
              </a:r>
              <a:r>
                <a:rPr lang="it-IT" sz="16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it-IT" sz="1600" dirty="0" err="1">
                  <a:latin typeface="Courier New" pitchFamily="49" charset="0"/>
                  <a:cs typeface="Courier New" pitchFamily="49" charset="0"/>
                </a:rPr>
                <a:t>cambiaDimensioni</a:t>
              </a:r>
              <a:r>
                <a:rPr lang="it-IT" sz="1600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it-IT" sz="16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600" dirty="0">
                  <a:latin typeface="Courier New" pitchFamily="49" charset="0"/>
                  <a:cs typeface="Courier New" pitchFamily="49" charset="0"/>
                </a:rPr>
                <a:t> b, </a:t>
              </a:r>
              <a:r>
                <a:rPr lang="it-IT" sz="16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600" dirty="0">
                  <a:latin typeface="Courier New" pitchFamily="49" charset="0"/>
                  <a:cs typeface="Courier New" pitchFamily="49" charset="0"/>
                </a:rPr>
                <a:t> a)</a:t>
              </a:r>
            </a:p>
          </p:txBody>
        </p:sp>
        <p:grpSp>
          <p:nvGrpSpPr>
            <p:cNvPr id="22" name="Gruppo 21"/>
            <p:cNvGrpSpPr/>
            <p:nvPr/>
          </p:nvGrpSpPr>
          <p:grpSpPr>
            <a:xfrm>
              <a:off x="899592" y="3501008"/>
              <a:ext cx="4536504" cy="3042870"/>
              <a:chOff x="899592" y="3501008"/>
              <a:chExt cx="4536504" cy="3042870"/>
            </a:xfrm>
          </p:grpSpPr>
          <p:sp>
            <p:nvSpPr>
              <p:cNvPr id="5" name="Rettangolo 4"/>
              <p:cNvSpPr/>
              <p:nvPr/>
            </p:nvSpPr>
            <p:spPr>
              <a:xfrm>
                <a:off x="899592" y="3501008"/>
                <a:ext cx="4536504" cy="477313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600"/>
              </a:p>
            </p:txBody>
          </p:sp>
          <p:sp>
            <p:nvSpPr>
              <p:cNvPr id="6" name="Rettangolo 5"/>
              <p:cNvSpPr/>
              <p:nvPr/>
            </p:nvSpPr>
            <p:spPr>
              <a:xfrm>
                <a:off x="899592" y="3978321"/>
                <a:ext cx="4536504" cy="2565557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sz="1600"/>
              </a:p>
            </p:txBody>
          </p:sp>
          <p:cxnSp>
            <p:nvCxnSpPr>
              <p:cNvPr id="7" name="Connettore 1 6"/>
              <p:cNvCxnSpPr/>
              <p:nvPr/>
            </p:nvCxnSpPr>
            <p:spPr>
              <a:xfrm>
                <a:off x="899592" y="5013176"/>
                <a:ext cx="453650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CasellaDiTesto 7"/>
              <p:cNvSpPr txBox="1"/>
              <p:nvPr/>
            </p:nvSpPr>
            <p:spPr>
              <a:xfrm>
                <a:off x="2313408" y="3560672"/>
                <a:ext cx="2335869" cy="390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600" b="1" dirty="0">
                    <a:latin typeface="Courier New" pitchFamily="49" charset="0"/>
                    <a:cs typeface="Courier New" pitchFamily="49" charset="0"/>
                  </a:rPr>
                  <a:t>Rettangolo</a:t>
                </a:r>
              </a:p>
            </p:txBody>
          </p:sp>
          <p:sp>
            <p:nvSpPr>
              <p:cNvPr id="9" name="CasellaDiTesto 8"/>
              <p:cNvSpPr txBox="1"/>
              <p:nvPr/>
            </p:nvSpPr>
            <p:spPr>
              <a:xfrm>
                <a:off x="1022532" y="4097650"/>
                <a:ext cx="2335869" cy="390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 err="1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it-IT" sz="1600" dirty="0">
                    <a:latin typeface="Courier New" pitchFamily="49" charset="0"/>
                    <a:cs typeface="Courier New" pitchFamily="49" charset="0"/>
                  </a:rPr>
                  <a:t> base</a:t>
                </a:r>
              </a:p>
            </p:txBody>
          </p:sp>
          <p:sp>
            <p:nvSpPr>
              <p:cNvPr id="10" name="CasellaDiTesto 9"/>
              <p:cNvSpPr txBox="1"/>
              <p:nvPr/>
            </p:nvSpPr>
            <p:spPr>
              <a:xfrm>
                <a:off x="1022532" y="4395970"/>
                <a:ext cx="2335869" cy="3906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 err="1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it-IT" sz="1600" dirty="0">
                    <a:latin typeface="Courier New" pitchFamily="49" charset="0"/>
                    <a:cs typeface="Courier New" pitchFamily="49" charset="0"/>
                  </a:rPr>
                  <a:t> altezza</a:t>
                </a:r>
              </a:p>
            </p:txBody>
          </p:sp>
          <p:sp>
            <p:nvSpPr>
              <p:cNvPr id="11" name="CasellaDiTesto 10"/>
              <p:cNvSpPr txBox="1"/>
              <p:nvPr/>
            </p:nvSpPr>
            <p:spPr>
              <a:xfrm>
                <a:off x="1022532" y="5445224"/>
                <a:ext cx="4364387" cy="674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 err="1">
                    <a:latin typeface="Courier New" pitchFamily="49" charset="0"/>
                    <a:cs typeface="Courier New" pitchFamily="49" charset="0"/>
                  </a:rPr>
                  <a:t>double</a:t>
                </a:r>
                <a:r>
                  <a:rPr lang="it-IT" sz="1600" dirty="0"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it-IT" sz="1600" dirty="0" err="1">
                    <a:latin typeface="Courier New" pitchFamily="49" charset="0"/>
                    <a:cs typeface="Courier New" pitchFamily="49" charset="0"/>
                  </a:rPr>
                  <a:t>frazioneDiArea</a:t>
                </a:r>
                <a:r>
                  <a:rPr lang="it-IT" sz="1600" dirty="0">
                    <a:latin typeface="Courier New" pitchFamily="49" charset="0"/>
                    <a:cs typeface="Courier New" pitchFamily="49" charset="0"/>
                  </a:rPr>
                  <a:t>(</a:t>
                </a:r>
                <a:r>
                  <a:rPr lang="it-IT" sz="1600" dirty="0" err="1">
                    <a:latin typeface="Courier New" pitchFamily="49" charset="0"/>
                    <a:cs typeface="Courier New" pitchFamily="49" charset="0"/>
                  </a:rPr>
                  <a:t>double</a:t>
                </a:r>
                <a:r>
                  <a:rPr lang="it-IT" sz="1600" dirty="0">
                    <a:latin typeface="Courier New" pitchFamily="49" charset="0"/>
                    <a:cs typeface="Courier New" pitchFamily="49" charset="0"/>
                  </a:rPr>
                  <a:t> f)</a:t>
                </a:r>
              </a:p>
            </p:txBody>
          </p:sp>
          <p:sp>
            <p:nvSpPr>
              <p:cNvPr id="12" name="CasellaDiTesto 11"/>
              <p:cNvSpPr txBox="1"/>
              <p:nvPr/>
            </p:nvSpPr>
            <p:spPr>
              <a:xfrm>
                <a:off x="1022532" y="5111939"/>
                <a:ext cx="2335869" cy="674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 err="1"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it-IT" sz="1600" dirty="0">
                    <a:latin typeface="Courier New" pitchFamily="49" charset="0"/>
                    <a:cs typeface="Courier New" pitchFamily="49" charset="0"/>
                  </a:rPr>
                  <a:t> perimetro()</a:t>
                </a:r>
              </a:p>
            </p:txBody>
          </p:sp>
          <p:sp>
            <p:nvSpPr>
              <p:cNvPr id="14" name="CasellaDiTesto 13"/>
              <p:cNvSpPr txBox="1"/>
              <p:nvPr/>
            </p:nvSpPr>
            <p:spPr>
              <a:xfrm>
                <a:off x="1022532" y="4653136"/>
                <a:ext cx="233586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1" u="sng" dirty="0" err="1">
                    <a:solidFill>
                      <a:schemeClr val="accent1"/>
                    </a:solidFill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it-IT" sz="1600" b="1" u="sng" dirty="0">
                    <a:solidFill>
                      <a:schemeClr val="accent1"/>
                    </a:solidFill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it-IT" sz="1600" b="1" u="sng" dirty="0" err="1">
                    <a:solidFill>
                      <a:schemeClr val="accent1"/>
                    </a:solidFill>
                    <a:latin typeface="Courier New" pitchFamily="49" charset="0"/>
                    <a:cs typeface="Courier New" pitchFamily="49" charset="0"/>
                  </a:rPr>
                  <a:t>numIstanze</a:t>
                </a:r>
                <a:endParaRPr lang="it-IT" sz="1600" b="1" u="sng" dirty="0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5" name="CasellaDiTesto 14"/>
              <p:cNvSpPr txBox="1"/>
              <p:nvPr/>
            </p:nvSpPr>
            <p:spPr>
              <a:xfrm>
                <a:off x="1022532" y="6183197"/>
                <a:ext cx="43643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b="1" u="sng" dirty="0" err="1">
                    <a:solidFill>
                      <a:schemeClr val="accent1"/>
                    </a:solidFill>
                    <a:latin typeface="Courier New" pitchFamily="49" charset="0"/>
                    <a:cs typeface="Courier New" pitchFamily="49" charset="0"/>
                  </a:rPr>
                  <a:t>int</a:t>
                </a:r>
                <a:r>
                  <a:rPr lang="it-IT" sz="1600" b="1" u="sng" dirty="0">
                    <a:solidFill>
                      <a:schemeClr val="accent1"/>
                    </a:solidFill>
                    <a:latin typeface="Courier New" pitchFamily="49" charset="0"/>
                    <a:cs typeface="Courier New" pitchFamily="49" charset="0"/>
                  </a:rPr>
                  <a:t> </a:t>
                </a:r>
                <a:r>
                  <a:rPr lang="it-IT" sz="1600" b="1" u="sng" dirty="0" err="1">
                    <a:solidFill>
                      <a:schemeClr val="accent1"/>
                    </a:solidFill>
                    <a:latin typeface="Courier New" pitchFamily="49" charset="0"/>
                    <a:cs typeface="Courier New" pitchFamily="49" charset="0"/>
                  </a:rPr>
                  <a:t>rettCreati</a:t>
                </a:r>
                <a:r>
                  <a:rPr lang="it-IT" sz="1600" b="1" u="sng" dirty="0">
                    <a:solidFill>
                      <a:schemeClr val="accent1"/>
                    </a:solidFill>
                    <a:latin typeface="Courier New" pitchFamily="49" charset="0"/>
                    <a:cs typeface="Courier New" pitchFamily="49" charset="0"/>
                  </a:rPr>
                  <a:t>()</a:t>
                </a:r>
              </a:p>
            </p:txBody>
          </p:sp>
        </p:grpSp>
      </p:grpSp>
      <p:sp>
        <p:nvSpPr>
          <p:cNvPr id="16" name="CasellaDiTesto 15"/>
          <p:cNvSpPr txBox="1"/>
          <p:nvPr/>
        </p:nvSpPr>
        <p:spPr>
          <a:xfrm>
            <a:off x="6084168" y="4221088"/>
            <a:ext cx="29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attributo di classe (statico)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6192688" y="5723964"/>
            <a:ext cx="291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metodo di classe (statico)</a:t>
            </a:r>
          </a:p>
        </p:txBody>
      </p:sp>
      <p:cxnSp>
        <p:nvCxnSpPr>
          <p:cNvPr id="19" name="Connettore 2 18"/>
          <p:cNvCxnSpPr>
            <a:stCxn id="16" idx="1"/>
          </p:cNvCxnSpPr>
          <p:nvPr/>
        </p:nvCxnSpPr>
        <p:spPr>
          <a:xfrm flipH="1">
            <a:off x="2915816" y="4405754"/>
            <a:ext cx="3168352" cy="3913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2 19"/>
          <p:cNvCxnSpPr/>
          <p:nvPr/>
        </p:nvCxnSpPr>
        <p:spPr>
          <a:xfrm flipH="1">
            <a:off x="3059832" y="5949280"/>
            <a:ext cx="3168352" cy="39139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700" dirty="0"/>
              <a:t>Esempio di attributi e metodi di classe</a:t>
            </a:r>
          </a:p>
        </p:txBody>
      </p:sp>
      <p:sp>
        <p:nvSpPr>
          <p:cNvPr id="34" name="CasellaDiTesto 33"/>
          <p:cNvSpPr txBox="1"/>
          <p:nvPr/>
        </p:nvSpPr>
        <p:spPr>
          <a:xfrm>
            <a:off x="218807" y="4560502"/>
            <a:ext cx="4060977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cambiaDimensioni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b,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a)</a:t>
            </a:r>
          </a:p>
        </p:txBody>
      </p:sp>
      <p:grpSp>
        <p:nvGrpSpPr>
          <p:cNvPr id="35" name="Gruppo 21"/>
          <p:cNvGrpSpPr/>
          <p:nvPr/>
        </p:nvGrpSpPr>
        <p:grpSpPr>
          <a:xfrm>
            <a:off x="107504" y="2474362"/>
            <a:ext cx="4107088" cy="2754838"/>
            <a:chOff x="899592" y="3501008"/>
            <a:chExt cx="4536504" cy="3042870"/>
          </a:xfrm>
        </p:grpSpPr>
        <p:sp>
          <p:nvSpPr>
            <p:cNvPr id="36" name="Rettangolo 35"/>
            <p:cNvSpPr/>
            <p:nvPr/>
          </p:nvSpPr>
          <p:spPr>
            <a:xfrm>
              <a:off x="899592" y="3501008"/>
              <a:ext cx="4536504" cy="4773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/>
            </a:p>
          </p:txBody>
        </p:sp>
        <p:sp>
          <p:nvSpPr>
            <p:cNvPr id="37" name="Rettangolo 36"/>
            <p:cNvSpPr/>
            <p:nvPr/>
          </p:nvSpPr>
          <p:spPr>
            <a:xfrm>
              <a:off x="899592" y="3978321"/>
              <a:ext cx="4536504" cy="256555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/>
            </a:p>
          </p:txBody>
        </p:sp>
        <p:cxnSp>
          <p:nvCxnSpPr>
            <p:cNvPr id="38" name="Connettore 1 37"/>
            <p:cNvCxnSpPr/>
            <p:nvPr/>
          </p:nvCxnSpPr>
          <p:spPr>
            <a:xfrm>
              <a:off x="899592" y="5013176"/>
              <a:ext cx="453650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asellaDiTesto 38"/>
            <p:cNvSpPr txBox="1"/>
            <p:nvPr/>
          </p:nvSpPr>
          <p:spPr>
            <a:xfrm>
              <a:off x="1933570" y="3560672"/>
              <a:ext cx="2335870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b="1" dirty="0">
                  <a:latin typeface="Courier New" pitchFamily="49" charset="0"/>
                  <a:cs typeface="Courier New" pitchFamily="49" charset="0"/>
                </a:rPr>
                <a:t>Rettangolo</a:t>
              </a:r>
            </a:p>
          </p:txBody>
        </p:sp>
        <p:sp>
          <p:nvSpPr>
            <p:cNvPr id="40" name="CasellaDiTesto 39"/>
            <p:cNvSpPr txBox="1"/>
            <p:nvPr/>
          </p:nvSpPr>
          <p:spPr>
            <a:xfrm>
              <a:off x="1022532" y="4097650"/>
              <a:ext cx="2335869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base</a:t>
              </a:r>
            </a:p>
          </p:txBody>
        </p:sp>
        <p:sp>
          <p:nvSpPr>
            <p:cNvPr id="41" name="CasellaDiTesto 40"/>
            <p:cNvSpPr txBox="1"/>
            <p:nvPr/>
          </p:nvSpPr>
          <p:spPr>
            <a:xfrm>
              <a:off x="1022532" y="4395971"/>
              <a:ext cx="2335869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altezza</a:t>
              </a:r>
            </a:p>
          </p:txBody>
        </p:sp>
        <p:sp>
          <p:nvSpPr>
            <p:cNvPr id="42" name="CasellaDiTesto 41"/>
            <p:cNvSpPr txBox="1"/>
            <p:nvPr/>
          </p:nvSpPr>
          <p:spPr>
            <a:xfrm>
              <a:off x="1022532" y="5445224"/>
              <a:ext cx="4364387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double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frazioneDiArea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double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f)</a:t>
              </a:r>
            </a:p>
          </p:txBody>
        </p:sp>
        <p:sp>
          <p:nvSpPr>
            <p:cNvPr id="43" name="CasellaDiTesto 42"/>
            <p:cNvSpPr txBox="1"/>
            <p:nvPr/>
          </p:nvSpPr>
          <p:spPr>
            <a:xfrm>
              <a:off x="1022532" y="5111939"/>
              <a:ext cx="2335869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perimetro()</a:t>
              </a:r>
            </a:p>
          </p:txBody>
        </p:sp>
        <p:sp>
          <p:nvSpPr>
            <p:cNvPr id="44" name="CasellaDiTesto 43"/>
            <p:cNvSpPr txBox="1"/>
            <p:nvPr/>
          </p:nvSpPr>
          <p:spPr>
            <a:xfrm>
              <a:off x="1022532" y="4653136"/>
              <a:ext cx="2335869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b="1" u="sng" dirty="0" err="1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b="1" u="sng" dirty="0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it-IT" sz="1400" b="1" u="sng" dirty="0" err="1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numIstanze</a:t>
              </a:r>
              <a:r>
                <a:rPr lang="it-IT" sz="1400" b="1" u="sng" dirty="0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 = 0</a:t>
              </a:r>
            </a:p>
          </p:txBody>
        </p:sp>
        <p:sp>
          <p:nvSpPr>
            <p:cNvPr id="45" name="CasellaDiTesto 44"/>
            <p:cNvSpPr txBox="1"/>
            <p:nvPr/>
          </p:nvSpPr>
          <p:spPr>
            <a:xfrm>
              <a:off x="1022532" y="6183197"/>
              <a:ext cx="4364387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b="1" u="sng" dirty="0" err="1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b="1" u="sng" dirty="0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it-IT" sz="1400" b="1" u="sng" dirty="0" err="1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rettCreati</a:t>
              </a:r>
              <a:r>
                <a:rPr lang="it-IT" sz="1400" b="1" u="sng" dirty="0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700" dirty="0"/>
              <a:t>Esempio di attributi e metodi di classe</a:t>
            </a:r>
          </a:p>
        </p:txBody>
      </p:sp>
      <p:sp>
        <p:nvSpPr>
          <p:cNvPr id="34" name="CasellaDiTesto 33"/>
          <p:cNvSpPr txBox="1"/>
          <p:nvPr/>
        </p:nvSpPr>
        <p:spPr>
          <a:xfrm>
            <a:off x="218807" y="4560502"/>
            <a:ext cx="4060977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cambiaDimensioni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b,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a)</a:t>
            </a:r>
          </a:p>
        </p:txBody>
      </p:sp>
      <p:grpSp>
        <p:nvGrpSpPr>
          <p:cNvPr id="3" name="Gruppo 21"/>
          <p:cNvGrpSpPr/>
          <p:nvPr/>
        </p:nvGrpSpPr>
        <p:grpSpPr>
          <a:xfrm>
            <a:off x="107504" y="2474362"/>
            <a:ext cx="4107088" cy="2754838"/>
            <a:chOff x="899592" y="3501008"/>
            <a:chExt cx="4536504" cy="3042870"/>
          </a:xfrm>
        </p:grpSpPr>
        <p:sp>
          <p:nvSpPr>
            <p:cNvPr id="36" name="Rettangolo 35"/>
            <p:cNvSpPr/>
            <p:nvPr/>
          </p:nvSpPr>
          <p:spPr>
            <a:xfrm>
              <a:off x="899592" y="3501008"/>
              <a:ext cx="4536504" cy="4773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/>
            </a:p>
          </p:txBody>
        </p:sp>
        <p:sp>
          <p:nvSpPr>
            <p:cNvPr id="37" name="Rettangolo 36"/>
            <p:cNvSpPr/>
            <p:nvPr/>
          </p:nvSpPr>
          <p:spPr>
            <a:xfrm>
              <a:off x="899592" y="3978321"/>
              <a:ext cx="4536504" cy="256555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/>
            </a:p>
          </p:txBody>
        </p:sp>
        <p:cxnSp>
          <p:nvCxnSpPr>
            <p:cNvPr id="38" name="Connettore 1 37"/>
            <p:cNvCxnSpPr/>
            <p:nvPr/>
          </p:nvCxnSpPr>
          <p:spPr>
            <a:xfrm>
              <a:off x="899592" y="5013176"/>
              <a:ext cx="453650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asellaDiTesto 38"/>
            <p:cNvSpPr txBox="1"/>
            <p:nvPr/>
          </p:nvSpPr>
          <p:spPr>
            <a:xfrm>
              <a:off x="1933570" y="3560672"/>
              <a:ext cx="2335870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b="1" dirty="0">
                  <a:latin typeface="Courier New" pitchFamily="49" charset="0"/>
                  <a:cs typeface="Courier New" pitchFamily="49" charset="0"/>
                </a:rPr>
                <a:t>Rettangolo</a:t>
              </a:r>
            </a:p>
          </p:txBody>
        </p:sp>
        <p:sp>
          <p:nvSpPr>
            <p:cNvPr id="40" name="CasellaDiTesto 39"/>
            <p:cNvSpPr txBox="1"/>
            <p:nvPr/>
          </p:nvSpPr>
          <p:spPr>
            <a:xfrm>
              <a:off x="1022532" y="4097650"/>
              <a:ext cx="2335869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base</a:t>
              </a:r>
            </a:p>
          </p:txBody>
        </p:sp>
        <p:sp>
          <p:nvSpPr>
            <p:cNvPr id="41" name="CasellaDiTesto 40"/>
            <p:cNvSpPr txBox="1"/>
            <p:nvPr/>
          </p:nvSpPr>
          <p:spPr>
            <a:xfrm>
              <a:off x="1022532" y="4395971"/>
              <a:ext cx="2335869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altezza</a:t>
              </a:r>
            </a:p>
          </p:txBody>
        </p:sp>
        <p:sp>
          <p:nvSpPr>
            <p:cNvPr id="42" name="CasellaDiTesto 41"/>
            <p:cNvSpPr txBox="1"/>
            <p:nvPr/>
          </p:nvSpPr>
          <p:spPr>
            <a:xfrm>
              <a:off x="1022532" y="5445224"/>
              <a:ext cx="4364387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double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frazioneDiArea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double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f)</a:t>
              </a:r>
            </a:p>
          </p:txBody>
        </p:sp>
        <p:sp>
          <p:nvSpPr>
            <p:cNvPr id="43" name="CasellaDiTesto 42"/>
            <p:cNvSpPr txBox="1"/>
            <p:nvPr/>
          </p:nvSpPr>
          <p:spPr>
            <a:xfrm>
              <a:off x="1022532" y="5111939"/>
              <a:ext cx="2335869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perimetro()</a:t>
              </a:r>
            </a:p>
          </p:txBody>
        </p:sp>
        <p:sp>
          <p:nvSpPr>
            <p:cNvPr id="44" name="CasellaDiTesto 43"/>
            <p:cNvSpPr txBox="1"/>
            <p:nvPr/>
          </p:nvSpPr>
          <p:spPr>
            <a:xfrm>
              <a:off x="1022532" y="4653136"/>
              <a:ext cx="2335870" cy="339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b="1" u="sng" dirty="0" err="1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b="1" u="sng" dirty="0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it-IT" sz="1400" b="1" u="sng" dirty="0" err="1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numIstanze</a:t>
              </a:r>
              <a:r>
                <a:rPr lang="it-IT" sz="1400" b="1" u="sng" dirty="0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 = 1</a:t>
              </a:r>
            </a:p>
          </p:txBody>
        </p:sp>
        <p:sp>
          <p:nvSpPr>
            <p:cNvPr id="45" name="CasellaDiTesto 44"/>
            <p:cNvSpPr txBox="1"/>
            <p:nvPr/>
          </p:nvSpPr>
          <p:spPr>
            <a:xfrm>
              <a:off x="1022532" y="6183197"/>
              <a:ext cx="4364387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b="1" u="sng" dirty="0" err="1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b="1" u="sng" dirty="0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it-IT" sz="1400" b="1" u="sng" dirty="0" err="1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rettCreati</a:t>
              </a:r>
              <a:r>
                <a:rPr lang="it-IT" sz="1400" b="1" u="sng" dirty="0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</a:p>
          </p:txBody>
        </p:sp>
      </p:grpSp>
      <p:sp>
        <p:nvSpPr>
          <p:cNvPr id="73" name="CasellaDiTesto 72"/>
          <p:cNvSpPr txBox="1"/>
          <p:nvPr/>
        </p:nvSpPr>
        <p:spPr>
          <a:xfrm>
            <a:off x="4755311" y="3438956"/>
            <a:ext cx="4060977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cambiaDimensioni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b,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a)</a:t>
            </a:r>
          </a:p>
        </p:txBody>
      </p:sp>
      <p:sp>
        <p:nvSpPr>
          <p:cNvPr id="75" name="Rettangolo 74"/>
          <p:cNvSpPr/>
          <p:nvPr/>
        </p:nvSpPr>
        <p:spPr>
          <a:xfrm>
            <a:off x="4644008" y="1352816"/>
            <a:ext cx="4107088" cy="43213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/>
          </a:p>
        </p:txBody>
      </p:sp>
      <p:sp>
        <p:nvSpPr>
          <p:cNvPr id="76" name="Rettangolo 75"/>
          <p:cNvSpPr/>
          <p:nvPr/>
        </p:nvSpPr>
        <p:spPr>
          <a:xfrm>
            <a:off x="4644008" y="1784948"/>
            <a:ext cx="4107088" cy="20761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/>
          </a:p>
        </p:txBody>
      </p:sp>
      <p:cxnSp>
        <p:nvCxnSpPr>
          <p:cNvPr id="77" name="Connettore 1 76"/>
          <p:cNvCxnSpPr/>
          <p:nvPr/>
        </p:nvCxnSpPr>
        <p:spPr>
          <a:xfrm>
            <a:off x="4644008" y="2721845"/>
            <a:ext cx="4107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sellaDiTesto 77"/>
          <p:cNvSpPr txBox="1"/>
          <p:nvPr/>
        </p:nvSpPr>
        <p:spPr>
          <a:xfrm>
            <a:off x="5652120" y="1406832"/>
            <a:ext cx="2114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u="sng" dirty="0">
                <a:latin typeface="Courier New" pitchFamily="49" charset="0"/>
                <a:cs typeface="Courier New" pitchFamily="49" charset="0"/>
              </a:rPr>
              <a:t>r1: Rettangolo</a:t>
            </a:r>
          </a:p>
        </p:txBody>
      </p:sp>
      <p:sp>
        <p:nvSpPr>
          <p:cNvPr id="79" name="CasellaDiTesto 78"/>
          <p:cNvSpPr txBox="1"/>
          <p:nvPr/>
        </p:nvSpPr>
        <p:spPr>
          <a:xfrm>
            <a:off x="4755311" y="1892981"/>
            <a:ext cx="2114761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base</a:t>
            </a:r>
          </a:p>
        </p:txBody>
      </p:sp>
      <p:sp>
        <p:nvSpPr>
          <p:cNvPr id="80" name="CasellaDiTesto 79"/>
          <p:cNvSpPr txBox="1"/>
          <p:nvPr/>
        </p:nvSpPr>
        <p:spPr>
          <a:xfrm>
            <a:off x="4755311" y="2163064"/>
            <a:ext cx="2114761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altezza</a:t>
            </a:r>
          </a:p>
        </p:txBody>
      </p:sp>
      <p:sp>
        <p:nvSpPr>
          <p:cNvPr id="81" name="CasellaDiTesto 80"/>
          <p:cNvSpPr txBox="1"/>
          <p:nvPr/>
        </p:nvSpPr>
        <p:spPr>
          <a:xfrm>
            <a:off x="4755311" y="3112996"/>
            <a:ext cx="3951263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frazioneDiArea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f)</a:t>
            </a:r>
          </a:p>
        </p:txBody>
      </p:sp>
      <p:sp>
        <p:nvSpPr>
          <p:cNvPr id="82" name="CasellaDiTesto 81"/>
          <p:cNvSpPr txBox="1"/>
          <p:nvPr/>
        </p:nvSpPr>
        <p:spPr>
          <a:xfrm>
            <a:off x="4755311" y="2811259"/>
            <a:ext cx="2114761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perimetro()</a:t>
            </a:r>
          </a:p>
        </p:txBody>
      </p:sp>
      <p:cxnSp>
        <p:nvCxnSpPr>
          <p:cNvPr id="99" name="Connettore 2 98"/>
          <p:cNvCxnSpPr>
            <a:stCxn id="37" idx="3"/>
            <a:endCxn id="76" idx="1"/>
          </p:cNvCxnSpPr>
          <p:nvPr/>
        </p:nvCxnSpPr>
        <p:spPr>
          <a:xfrm flipV="1">
            <a:off x="4214592" y="2822998"/>
            <a:ext cx="429416" cy="12448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700" dirty="0"/>
              <a:t>Esempio di attributi e metodi di classe</a:t>
            </a:r>
          </a:p>
        </p:txBody>
      </p:sp>
      <p:sp>
        <p:nvSpPr>
          <p:cNvPr id="34" name="CasellaDiTesto 33"/>
          <p:cNvSpPr txBox="1"/>
          <p:nvPr/>
        </p:nvSpPr>
        <p:spPr>
          <a:xfrm>
            <a:off x="218807" y="4560502"/>
            <a:ext cx="4060977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cambiaDimensioni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b,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a)</a:t>
            </a:r>
          </a:p>
        </p:txBody>
      </p:sp>
      <p:grpSp>
        <p:nvGrpSpPr>
          <p:cNvPr id="3" name="Gruppo 21"/>
          <p:cNvGrpSpPr/>
          <p:nvPr/>
        </p:nvGrpSpPr>
        <p:grpSpPr>
          <a:xfrm>
            <a:off x="107504" y="2474362"/>
            <a:ext cx="4107088" cy="2754838"/>
            <a:chOff x="899592" y="3501008"/>
            <a:chExt cx="4536504" cy="3042870"/>
          </a:xfrm>
        </p:grpSpPr>
        <p:sp>
          <p:nvSpPr>
            <p:cNvPr id="36" name="Rettangolo 35"/>
            <p:cNvSpPr/>
            <p:nvPr/>
          </p:nvSpPr>
          <p:spPr>
            <a:xfrm>
              <a:off x="899592" y="3501008"/>
              <a:ext cx="4536504" cy="47731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/>
            </a:p>
          </p:txBody>
        </p:sp>
        <p:sp>
          <p:nvSpPr>
            <p:cNvPr id="37" name="Rettangolo 36"/>
            <p:cNvSpPr/>
            <p:nvPr/>
          </p:nvSpPr>
          <p:spPr>
            <a:xfrm>
              <a:off x="899592" y="3978321"/>
              <a:ext cx="4536504" cy="2565557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400"/>
            </a:p>
          </p:txBody>
        </p:sp>
        <p:cxnSp>
          <p:nvCxnSpPr>
            <p:cNvPr id="38" name="Connettore 1 37"/>
            <p:cNvCxnSpPr/>
            <p:nvPr/>
          </p:nvCxnSpPr>
          <p:spPr>
            <a:xfrm>
              <a:off x="899592" y="5013176"/>
              <a:ext cx="453650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CasellaDiTesto 38"/>
            <p:cNvSpPr txBox="1"/>
            <p:nvPr/>
          </p:nvSpPr>
          <p:spPr>
            <a:xfrm>
              <a:off x="1933570" y="3560672"/>
              <a:ext cx="2335870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1400" b="1" dirty="0">
                  <a:latin typeface="Courier New" pitchFamily="49" charset="0"/>
                  <a:cs typeface="Courier New" pitchFamily="49" charset="0"/>
                </a:rPr>
                <a:t>Rettangolo</a:t>
              </a:r>
            </a:p>
          </p:txBody>
        </p:sp>
        <p:sp>
          <p:nvSpPr>
            <p:cNvPr id="40" name="CasellaDiTesto 39"/>
            <p:cNvSpPr txBox="1"/>
            <p:nvPr/>
          </p:nvSpPr>
          <p:spPr>
            <a:xfrm>
              <a:off x="1022532" y="4097650"/>
              <a:ext cx="2335869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base</a:t>
              </a:r>
            </a:p>
          </p:txBody>
        </p:sp>
        <p:sp>
          <p:nvSpPr>
            <p:cNvPr id="41" name="CasellaDiTesto 40"/>
            <p:cNvSpPr txBox="1"/>
            <p:nvPr/>
          </p:nvSpPr>
          <p:spPr>
            <a:xfrm>
              <a:off x="1022532" y="4395971"/>
              <a:ext cx="2335869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altezza</a:t>
              </a:r>
            </a:p>
          </p:txBody>
        </p:sp>
        <p:sp>
          <p:nvSpPr>
            <p:cNvPr id="42" name="CasellaDiTesto 41"/>
            <p:cNvSpPr txBox="1"/>
            <p:nvPr/>
          </p:nvSpPr>
          <p:spPr>
            <a:xfrm>
              <a:off x="1022532" y="5445224"/>
              <a:ext cx="4364387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double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frazioneDiArea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(</a:t>
              </a:r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double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f)</a:t>
              </a:r>
            </a:p>
          </p:txBody>
        </p:sp>
        <p:sp>
          <p:nvSpPr>
            <p:cNvPr id="43" name="CasellaDiTesto 42"/>
            <p:cNvSpPr txBox="1"/>
            <p:nvPr/>
          </p:nvSpPr>
          <p:spPr>
            <a:xfrm>
              <a:off x="1022532" y="5111939"/>
              <a:ext cx="2335869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dirty="0" err="1"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dirty="0">
                  <a:latin typeface="Courier New" pitchFamily="49" charset="0"/>
                  <a:cs typeface="Courier New" pitchFamily="49" charset="0"/>
                </a:rPr>
                <a:t> perimetro()</a:t>
              </a:r>
            </a:p>
          </p:txBody>
        </p:sp>
        <p:sp>
          <p:nvSpPr>
            <p:cNvPr id="44" name="CasellaDiTesto 43"/>
            <p:cNvSpPr txBox="1"/>
            <p:nvPr/>
          </p:nvSpPr>
          <p:spPr>
            <a:xfrm>
              <a:off x="1022532" y="4653136"/>
              <a:ext cx="2335870" cy="339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b="1" u="sng" dirty="0" err="1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b="1" u="sng" dirty="0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it-IT" sz="1400" b="1" u="sng" dirty="0" err="1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numIstanze</a:t>
              </a:r>
              <a:r>
                <a:rPr lang="it-IT" sz="1400" b="1" u="sng" dirty="0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 = 2</a:t>
              </a:r>
            </a:p>
          </p:txBody>
        </p:sp>
        <p:sp>
          <p:nvSpPr>
            <p:cNvPr id="45" name="CasellaDiTesto 44"/>
            <p:cNvSpPr txBox="1"/>
            <p:nvPr/>
          </p:nvSpPr>
          <p:spPr>
            <a:xfrm>
              <a:off x="1022532" y="6183197"/>
              <a:ext cx="4364387" cy="33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400" b="1" u="sng" dirty="0" err="1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int</a:t>
              </a:r>
              <a:r>
                <a:rPr lang="it-IT" sz="1400" b="1" u="sng" dirty="0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it-IT" sz="1400" b="1" u="sng" dirty="0" err="1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rettCreati</a:t>
              </a:r>
              <a:r>
                <a:rPr lang="it-IT" sz="1400" b="1" u="sng" dirty="0">
                  <a:solidFill>
                    <a:schemeClr val="accent1"/>
                  </a:solidFill>
                  <a:latin typeface="Courier New" pitchFamily="49" charset="0"/>
                  <a:cs typeface="Courier New" pitchFamily="49" charset="0"/>
                </a:rPr>
                <a:t>()</a:t>
              </a:r>
            </a:p>
          </p:txBody>
        </p:sp>
      </p:grpSp>
      <p:sp>
        <p:nvSpPr>
          <p:cNvPr id="73" name="CasellaDiTesto 72"/>
          <p:cNvSpPr txBox="1"/>
          <p:nvPr/>
        </p:nvSpPr>
        <p:spPr>
          <a:xfrm>
            <a:off x="4755311" y="3438956"/>
            <a:ext cx="4060977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cambiaDimensioni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b,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a)</a:t>
            </a:r>
          </a:p>
        </p:txBody>
      </p:sp>
      <p:sp>
        <p:nvSpPr>
          <p:cNvPr id="75" name="Rettangolo 74"/>
          <p:cNvSpPr/>
          <p:nvPr/>
        </p:nvSpPr>
        <p:spPr>
          <a:xfrm>
            <a:off x="4644008" y="1352816"/>
            <a:ext cx="4107088" cy="43213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/>
          </a:p>
        </p:txBody>
      </p:sp>
      <p:sp>
        <p:nvSpPr>
          <p:cNvPr id="76" name="Rettangolo 75"/>
          <p:cNvSpPr/>
          <p:nvPr/>
        </p:nvSpPr>
        <p:spPr>
          <a:xfrm>
            <a:off x="4644008" y="1784948"/>
            <a:ext cx="4107088" cy="20761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/>
          </a:p>
        </p:txBody>
      </p:sp>
      <p:cxnSp>
        <p:nvCxnSpPr>
          <p:cNvPr id="77" name="Connettore 1 76"/>
          <p:cNvCxnSpPr/>
          <p:nvPr/>
        </p:nvCxnSpPr>
        <p:spPr>
          <a:xfrm>
            <a:off x="4644008" y="2721845"/>
            <a:ext cx="4107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sellaDiTesto 77"/>
          <p:cNvSpPr txBox="1"/>
          <p:nvPr/>
        </p:nvSpPr>
        <p:spPr>
          <a:xfrm>
            <a:off x="5652120" y="1406832"/>
            <a:ext cx="2114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u="sng" dirty="0">
                <a:latin typeface="Courier New" pitchFamily="49" charset="0"/>
                <a:cs typeface="Courier New" pitchFamily="49" charset="0"/>
              </a:rPr>
              <a:t>r1: Rettangolo</a:t>
            </a:r>
          </a:p>
        </p:txBody>
      </p:sp>
      <p:sp>
        <p:nvSpPr>
          <p:cNvPr id="79" name="CasellaDiTesto 78"/>
          <p:cNvSpPr txBox="1"/>
          <p:nvPr/>
        </p:nvSpPr>
        <p:spPr>
          <a:xfrm>
            <a:off x="4755311" y="1892981"/>
            <a:ext cx="2114761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base</a:t>
            </a:r>
          </a:p>
        </p:txBody>
      </p:sp>
      <p:sp>
        <p:nvSpPr>
          <p:cNvPr id="80" name="CasellaDiTesto 79"/>
          <p:cNvSpPr txBox="1"/>
          <p:nvPr/>
        </p:nvSpPr>
        <p:spPr>
          <a:xfrm>
            <a:off x="4755311" y="2163064"/>
            <a:ext cx="2114761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altezza</a:t>
            </a:r>
          </a:p>
        </p:txBody>
      </p:sp>
      <p:sp>
        <p:nvSpPr>
          <p:cNvPr id="81" name="CasellaDiTesto 80"/>
          <p:cNvSpPr txBox="1"/>
          <p:nvPr/>
        </p:nvSpPr>
        <p:spPr>
          <a:xfrm>
            <a:off x="4755311" y="3112996"/>
            <a:ext cx="3951263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frazioneDiArea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f)</a:t>
            </a:r>
          </a:p>
        </p:txBody>
      </p:sp>
      <p:sp>
        <p:nvSpPr>
          <p:cNvPr id="82" name="CasellaDiTesto 81"/>
          <p:cNvSpPr txBox="1"/>
          <p:nvPr/>
        </p:nvSpPr>
        <p:spPr>
          <a:xfrm>
            <a:off x="4755311" y="2811259"/>
            <a:ext cx="2114761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perimetro()</a:t>
            </a:r>
          </a:p>
        </p:txBody>
      </p:sp>
      <p:sp>
        <p:nvSpPr>
          <p:cNvPr id="86" name="CasellaDiTesto 85"/>
          <p:cNvSpPr txBox="1"/>
          <p:nvPr/>
        </p:nvSpPr>
        <p:spPr>
          <a:xfrm>
            <a:off x="4755311" y="6159322"/>
            <a:ext cx="4060977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cambiaDimensioni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b,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a)</a:t>
            </a:r>
          </a:p>
        </p:txBody>
      </p:sp>
      <p:sp>
        <p:nvSpPr>
          <p:cNvPr id="88" name="Rettangolo 87"/>
          <p:cNvSpPr/>
          <p:nvPr/>
        </p:nvSpPr>
        <p:spPr>
          <a:xfrm>
            <a:off x="4644008" y="4073182"/>
            <a:ext cx="4107088" cy="432132"/>
          </a:xfrm>
          <a:prstGeom prst="rect">
            <a:avLst/>
          </a:prstGeom>
          <a:solidFill>
            <a:schemeClr val="bg2">
              <a:lumMod val="9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/>
          </a:p>
        </p:txBody>
      </p:sp>
      <p:sp>
        <p:nvSpPr>
          <p:cNvPr id="89" name="Rettangolo 88"/>
          <p:cNvSpPr/>
          <p:nvPr/>
        </p:nvSpPr>
        <p:spPr>
          <a:xfrm>
            <a:off x="4644008" y="4505314"/>
            <a:ext cx="4107088" cy="202003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00"/>
          </a:p>
        </p:txBody>
      </p:sp>
      <p:cxnSp>
        <p:nvCxnSpPr>
          <p:cNvPr id="90" name="Connettore 1 89"/>
          <p:cNvCxnSpPr/>
          <p:nvPr/>
        </p:nvCxnSpPr>
        <p:spPr>
          <a:xfrm>
            <a:off x="4644008" y="5442211"/>
            <a:ext cx="4107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CasellaDiTesto 90"/>
          <p:cNvSpPr txBox="1"/>
          <p:nvPr/>
        </p:nvSpPr>
        <p:spPr>
          <a:xfrm>
            <a:off x="5652120" y="4127198"/>
            <a:ext cx="21147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b="1" u="sng" dirty="0">
                <a:latin typeface="Courier New" pitchFamily="49" charset="0"/>
                <a:cs typeface="Courier New" pitchFamily="49" charset="0"/>
              </a:rPr>
              <a:t>r2: Rettangolo</a:t>
            </a:r>
          </a:p>
        </p:txBody>
      </p:sp>
      <p:sp>
        <p:nvSpPr>
          <p:cNvPr id="92" name="CasellaDiTesto 91"/>
          <p:cNvSpPr txBox="1"/>
          <p:nvPr/>
        </p:nvSpPr>
        <p:spPr>
          <a:xfrm>
            <a:off x="4755311" y="4613347"/>
            <a:ext cx="2114761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base</a:t>
            </a:r>
          </a:p>
        </p:txBody>
      </p:sp>
      <p:sp>
        <p:nvSpPr>
          <p:cNvPr id="93" name="CasellaDiTesto 92"/>
          <p:cNvSpPr txBox="1"/>
          <p:nvPr/>
        </p:nvSpPr>
        <p:spPr>
          <a:xfrm>
            <a:off x="4755311" y="4883430"/>
            <a:ext cx="2114761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altezza</a:t>
            </a:r>
          </a:p>
        </p:txBody>
      </p:sp>
      <p:sp>
        <p:nvSpPr>
          <p:cNvPr id="94" name="CasellaDiTesto 93"/>
          <p:cNvSpPr txBox="1"/>
          <p:nvPr/>
        </p:nvSpPr>
        <p:spPr>
          <a:xfrm>
            <a:off x="4755311" y="5833362"/>
            <a:ext cx="3951263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frazioneDiArea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f)</a:t>
            </a:r>
          </a:p>
        </p:txBody>
      </p:sp>
      <p:sp>
        <p:nvSpPr>
          <p:cNvPr id="95" name="CasellaDiTesto 94"/>
          <p:cNvSpPr txBox="1"/>
          <p:nvPr/>
        </p:nvSpPr>
        <p:spPr>
          <a:xfrm>
            <a:off x="4755311" y="5531625"/>
            <a:ext cx="2114761" cy="299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perimetro()</a:t>
            </a:r>
          </a:p>
        </p:txBody>
      </p:sp>
      <p:cxnSp>
        <p:nvCxnSpPr>
          <p:cNvPr id="99" name="Connettore 2 98"/>
          <p:cNvCxnSpPr>
            <a:stCxn id="37" idx="3"/>
            <a:endCxn id="76" idx="1"/>
          </p:cNvCxnSpPr>
          <p:nvPr/>
        </p:nvCxnSpPr>
        <p:spPr>
          <a:xfrm flipV="1">
            <a:off x="4214592" y="2822998"/>
            <a:ext cx="429416" cy="12448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ttore 2 99"/>
          <p:cNvCxnSpPr>
            <a:stCxn id="37" idx="3"/>
            <a:endCxn id="89" idx="1"/>
          </p:cNvCxnSpPr>
          <p:nvPr/>
        </p:nvCxnSpPr>
        <p:spPr>
          <a:xfrm>
            <a:off x="4214592" y="4067847"/>
            <a:ext cx="429416" cy="14474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Fondamenti">
  <a:themeElements>
    <a:clrScheme name="Personalizzato 2">
      <a:dk1>
        <a:sysClr val="windowText" lastClr="000000"/>
      </a:dk1>
      <a:lt1>
        <a:sysClr val="window" lastClr="FFFFFF"/>
      </a:lt1>
      <a:dk2>
        <a:srgbClr val="990000"/>
      </a:dk2>
      <a:lt2>
        <a:srgbClr val="EEECE1"/>
      </a:lt2>
      <a:accent1>
        <a:srgbClr val="0000FF"/>
      </a:accent1>
      <a:accent2>
        <a:srgbClr val="006600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D65CA2515402D41A280901C776553D9" ma:contentTypeVersion="11" ma:contentTypeDescription="Creare un nuovo documento." ma:contentTypeScope="" ma:versionID="42a50dcfe7cdc16628150e4ed664f597">
  <xsd:schema xmlns:xsd="http://www.w3.org/2001/XMLSchema" xmlns:xs="http://www.w3.org/2001/XMLSchema" xmlns:p="http://schemas.microsoft.com/office/2006/metadata/properties" xmlns:ns2="b59b3c25-9a25-49d1-a0d3-94991f66772c" xmlns:ns3="276b7aae-0fa0-446d-a82e-a7696b2dbbea" targetNamespace="http://schemas.microsoft.com/office/2006/metadata/properties" ma:root="true" ma:fieldsID="5c83b0c1b3186f8798f8242386c1ecd8" ns2:_="" ns3:_="">
    <xsd:import namespace="b59b3c25-9a25-49d1-a0d3-94991f66772c"/>
    <xsd:import namespace="276b7aae-0fa0-446d-a82e-a7696b2dbb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b3c25-9a25-49d1-a0d3-94991f6677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 immagine" ma:readOnly="false" ma:fieldId="{5cf76f15-5ced-4ddc-b409-7134ff3c332f}" ma:taxonomyMulti="true" ma:sspId="9d414cec-426e-4329-9a45-dc9697900c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b7aae-0fa0-446d-a82e-a7696b2dbbe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4d34081-00a8-48ef-94a0-c9629acd59b6}" ma:internalName="TaxCatchAll" ma:showField="CatchAllData" ma:web="276b7aae-0fa0-446d-a82e-a7696b2dbbe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59b3c25-9a25-49d1-a0d3-94991f66772c">
      <Terms xmlns="http://schemas.microsoft.com/office/infopath/2007/PartnerControls"/>
    </lcf76f155ced4ddcb4097134ff3c332f>
    <TaxCatchAll xmlns="276b7aae-0fa0-446d-a82e-a7696b2dbbea" xsi:nil="true"/>
  </documentManagement>
</p:properties>
</file>

<file path=customXml/itemProps1.xml><?xml version="1.0" encoding="utf-8"?>
<ds:datastoreItem xmlns:ds="http://schemas.openxmlformats.org/officeDocument/2006/customXml" ds:itemID="{0E0EF7BE-D025-42C0-A8C1-510C4E7BF08E}"/>
</file>

<file path=customXml/itemProps2.xml><?xml version="1.0" encoding="utf-8"?>
<ds:datastoreItem xmlns:ds="http://schemas.openxmlformats.org/officeDocument/2006/customXml" ds:itemID="{E6551332-F877-4810-8E06-179ECEA00BB3}"/>
</file>

<file path=customXml/itemProps3.xml><?xml version="1.0" encoding="utf-8"?>
<ds:datastoreItem xmlns:ds="http://schemas.openxmlformats.org/officeDocument/2006/customXml" ds:itemID="{835E9514-4E9A-474A-8EB2-B502BA7ED5F8}"/>
</file>

<file path=docProps/app.xml><?xml version="1.0" encoding="utf-8"?>
<Properties xmlns="http://schemas.openxmlformats.org/officeDocument/2006/extended-properties" xmlns:vt="http://schemas.openxmlformats.org/officeDocument/2006/docPropsVTypes">
  <Template>Fondamenti</Template>
  <TotalTime>1</TotalTime>
  <Words>1987</Words>
  <Application>Microsoft Office PowerPoint</Application>
  <PresentationFormat>Presentazione su schermo (4:3)</PresentationFormat>
  <Paragraphs>253</Paragraphs>
  <Slides>31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37" baseType="lpstr">
      <vt:lpstr>Arial</vt:lpstr>
      <vt:lpstr>Calibri</vt:lpstr>
      <vt:lpstr>Courier New</vt:lpstr>
      <vt:lpstr>Symbol</vt:lpstr>
      <vt:lpstr>Wingdings</vt:lpstr>
      <vt:lpstr>Fondamenti</vt:lpstr>
      <vt:lpstr>Programmazione Orientata agli Oggetti</vt:lpstr>
      <vt:lpstr>Classi e oggetti: primo sguardo</vt:lpstr>
      <vt:lpstr>Stato di un oggetto</vt:lpstr>
      <vt:lpstr>Struttura di una classe</vt:lpstr>
      <vt:lpstr>Nome di una classe: regole</vt:lpstr>
      <vt:lpstr>Nome di una classe: convenzioni</vt:lpstr>
      <vt:lpstr>Attributi</vt:lpstr>
      <vt:lpstr>Tipi di attributi</vt:lpstr>
      <vt:lpstr>Tipi di attributi: esempi</vt:lpstr>
      <vt:lpstr>Nome di un attributo</vt:lpstr>
      <vt:lpstr>Esempio di classe e attributi</vt:lpstr>
      <vt:lpstr>Esempio di istanze</vt:lpstr>
      <vt:lpstr>Metodi</vt:lpstr>
      <vt:lpstr>Metodi: intestazione</vt:lpstr>
      <vt:lpstr>Metodi: prototipo</vt:lpstr>
      <vt:lpstr>Esempio di classe e metodi</vt:lpstr>
      <vt:lpstr>Esempio di classe e metodi</vt:lpstr>
      <vt:lpstr>Esempio di classe e metodi</vt:lpstr>
      <vt:lpstr>Esempio di classe e metodi</vt:lpstr>
      <vt:lpstr>Metodi: invocazione</vt:lpstr>
      <vt:lpstr>Oggetti chiamanti e riceventi</vt:lpstr>
      <vt:lpstr>Signature</vt:lpstr>
      <vt:lpstr>Unicità della signature</vt:lpstr>
      <vt:lpstr>Dettaglio invocazione metodi</vt:lpstr>
      <vt:lpstr>Invocazione metodi e espressioni</vt:lpstr>
      <vt:lpstr>Attributi e metodi di classe</vt:lpstr>
      <vt:lpstr>Attributi e metodi di classe</vt:lpstr>
      <vt:lpstr>Esempio di attributi e metodi di classe</vt:lpstr>
      <vt:lpstr>Esempio di attributi e metodi di classe</vt:lpstr>
      <vt:lpstr>Esempio di attributi e metodi di classe</vt:lpstr>
      <vt:lpstr>Esempio di attributi e metodi di classe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Algoritmi, linguaggi e programmi</dc:title>
  <dc:creator>Walter</dc:creator>
  <cp:lastModifiedBy>cristian agliani</cp:lastModifiedBy>
  <cp:revision>252</cp:revision>
  <dcterms:created xsi:type="dcterms:W3CDTF">2014-02-04T14:25:56Z</dcterms:created>
  <dcterms:modified xsi:type="dcterms:W3CDTF">2026-01-12T13:17:48Z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0x0101000D65CA2515402D41A280901C776553D9</vt:lpwstr>
  </property>
</Properties>
</file>