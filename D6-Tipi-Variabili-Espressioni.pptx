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customXml" Target="../customXml/item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customXml" Target="../customXml/item2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9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412467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16/01/2026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228600" y="1905000"/>
            <a:ext cx="86106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228600" y="3886200"/>
            <a:ext cx="86106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16/01/2026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8" name="Line 4"/>
          <p:cNvSpPr>
            <a:spLocks noChangeShapeType="1"/>
          </p:cNvSpPr>
          <p:nvPr/>
        </p:nvSpPr>
        <p:spPr bwMode="auto">
          <a:xfrm>
            <a:off x="609600" y="1219200"/>
            <a:ext cx="78486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16/01/2026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16/01/2026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>
            <a:off x="609600" y="1219200"/>
            <a:ext cx="78486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dirty="0"/>
              <a:t>Fare clic per modificare lo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340768"/>
            <a:ext cx="8229600" cy="4785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stili del testo dello schema</a:t>
            </a:r>
          </a:p>
          <a:p>
            <a: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it-IT" dirty="0"/>
              <a:t>Secondo livello</a:t>
            </a:r>
          </a:p>
          <a:p>
            <a: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it-IT" dirty="0"/>
              <a:t>Terzo livello</a:t>
            </a:r>
          </a:p>
          <a:p>
            <a: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6055F8-1D02-4417-9241-55C834FD9970}" type="datetimeFigureOut">
              <a:rPr lang="it-IT" smtClean="0"/>
              <a:pPr/>
              <a:t>16/01/2026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</p:sldLayoutIdLst>
  <p:txStyles>
    <p:titleStyle>
      <a:lvl1pPr algn="l" defTabSz="914400" rtl="0" eaLnBrk="1" latinLnBrk="0" hangingPunct="1">
        <a:spcBef>
          <a:spcPct val="0"/>
        </a:spcBef>
        <a:buNone/>
        <a:defRPr lang="it-IT" sz="4400" kern="1200" dirty="0" smtClean="0">
          <a:solidFill>
            <a:srgbClr val="9900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Arial" pitchFamily="34" charset="0"/>
        </a:defRPr>
      </a:lvl1pPr>
    </p:titleStyle>
    <p:bodyStyle>
      <a:lvl1pPr marL="342900" indent="-342900" algn="l" defTabSz="914400" rtl="0" eaLnBrk="1" fontAlgn="base" latinLnBrk="0" hangingPunct="1">
        <a:spcBef>
          <a:spcPct val="20000"/>
        </a:spcBef>
        <a:spcAft>
          <a:spcPct val="0"/>
        </a:spcAft>
        <a:buFont typeface="Arial" pitchFamily="34" charset="0"/>
        <a:buChar char="•"/>
        <a:defRPr lang="it-IT" sz="2800" kern="1200" dirty="0" smtClean="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914400" indent="-457200" algn="l" defTabSz="914400" rtl="0" eaLnBrk="1" fontAlgn="base" latinLnBrk="0" hangingPunct="1">
        <a:spcBef>
          <a:spcPct val="20000"/>
        </a:spcBef>
        <a:spcAft>
          <a:spcPct val="0"/>
        </a:spcAft>
        <a:buFont typeface="Calibri" pitchFamily="34" charset="0"/>
        <a:buChar char="‒"/>
        <a:defRPr lang="it-IT" sz="2400" kern="1200" dirty="0" smtClean="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1371600" indent="-457200" algn="l" defTabSz="914400" rtl="0" eaLnBrk="1" fontAlgn="base" latinLnBrk="0" hangingPunct="1">
        <a:spcBef>
          <a:spcPct val="20000"/>
        </a:spcBef>
        <a:spcAft>
          <a:spcPct val="0"/>
        </a:spcAft>
        <a:buFont typeface="Wingdings" pitchFamily="2" charset="2"/>
        <a:buChar char="§"/>
        <a:defRPr lang="it-IT" sz="2400" kern="1200" dirty="0" smtClean="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828800" indent="-457200" algn="l" defTabSz="914400" rtl="0" eaLnBrk="1" fontAlgn="base" latinLnBrk="0" hangingPunct="1">
        <a:spcBef>
          <a:spcPct val="20000"/>
        </a:spcBef>
        <a:spcAft>
          <a:spcPct val="0"/>
        </a:spcAft>
        <a:buFont typeface="Arial" pitchFamily="34" charset="0"/>
        <a:buChar char="•"/>
        <a:defRPr lang="it-IT" sz="2400" kern="1200" dirty="0" smtClean="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2286000" indent="-230400" algn="l" defTabSz="914400" rtl="0" eaLnBrk="1" fontAlgn="base" latinLnBrk="0" hangingPunct="1">
        <a:spcBef>
          <a:spcPct val="20000"/>
        </a:spcBef>
        <a:spcAft>
          <a:spcPct val="0"/>
        </a:spcAft>
        <a:buFont typeface="Arial" pitchFamily="34" charset="0"/>
        <a:buChar char="•"/>
        <a:defRPr lang="it-IT" sz="2400" kern="1200" dirty="0" smtClean="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Tipi di dato, variabili ed espressioni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Richiami generali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rmAutofit lnSpcReduction="10000"/>
          </a:bodyPr>
          <a:lstStyle/>
          <a:p>
            <a:r>
              <a:rPr lang="it-IT" u="sng" dirty="0">
                <a:solidFill>
                  <a:schemeClr val="accent1"/>
                </a:solidFill>
              </a:rPr>
              <a:t>tipo di dato</a:t>
            </a:r>
            <a:r>
              <a:rPr lang="it-IT" dirty="0"/>
              <a:t>: specifico dominio di valori; le due principali categorie sono:</a:t>
            </a:r>
          </a:p>
          <a:p>
            <a:pPr lvl="1"/>
            <a:r>
              <a:rPr lang="it-IT" u="sng" dirty="0">
                <a:solidFill>
                  <a:schemeClr val="accent1"/>
                </a:solidFill>
              </a:rPr>
              <a:t>tipi primitivi</a:t>
            </a:r>
            <a:r>
              <a:rPr lang="it-IT" dirty="0"/>
              <a:t>: dati di tipo numerico, caratteri, </a:t>
            </a:r>
            <a:r>
              <a:rPr lang="it-IT" dirty="0" err="1"/>
              <a:t>boolean</a:t>
            </a:r>
            <a:endParaRPr lang="it-IT" dirty="0"/>
          </a:p>
          <a:p>
            <a:pPr lvl="1"/>
            <a:r>
              <a:rPr lang="it-IT" u="sng" dirty="0">
                <a:solidFill>
                  <a:schemeClr val="accent1"/>
                </a:solidFill>
              </a:rPr>
              <a:t>tipi riferimento</a:t>
            </a:r>
            <a:r>
              <a:rPr lang="it-IT" dirty="0"/>
              <a:t>: riferimenti ad oggetti</a:t>
            </a:r>
          </a:p>
          <a:p>
            <a:pPr lvl="1"/>
            <a:endParaRPr lang="it-IT" dirty="0"/>
          </a:p>
          <a:p>
            <a:pPr marL="342900" lvl="1" indent="-342900">
              <a:buFont typeface="Arial" pitchFamily="34" charset="0"/>
              <a:buChar char="•"/>
            </a:pPr>
            <a:r>
              <a:rPr lang="it-IT" sz="2800" u="sng" dirty="0">
                <a:solidFill>
                  <a:schemeClr val="accent1"/>
                </a:solidFill>
              </a:rPr>
              <a:t>variabile</a:t>
            </a:r>
            <a:r>
              <a:rPr lang="it-IT" sz="2800" dirty="0">
                <a:solidFill>
                  <a:schemeClr val="accent1"/>
                </a:solidFill>
              </a:rPr>
              <a:t>:</a:t>
            </a:r>
            <a:r>
              <a:rPr lang="it-IT" sz="2800" dirty="0"/>
              <a:t> contenitore che può memorizzare valori di uno specifico tipo di dato, detto </a:t>
            </a:r>
            <a:r>
              <a:rPr lang="it-IT" sz="2800" u="sng" dirty="0">
                <a:solidFill>
                  <a:schemeClr val="accent1"/>
                </a:solidFill>
              </a:rPr>
              <a:t>tipo della variabile</a:t>
            </a:r>
          </a:p>
          <a:p>
            <a:pPr marL="342900" lvl="1" indent="-342900">
              <a:buNone/>
            </a:pPr>
            <a:endParaRPr lang="it-IT" u="sng" dirty="0">
              <a:solidFill>
                <a:schemeClr val="accent1"/>
              </a:solidFill>
            </a:endParaRPr>
          </a:p>
          <a:p>
            <a:pPr marL="342900" lvl="1" indent="-342900">
              <a:buFont typeface="Arial" pitchFamily="34" charset="0"/>
              <a:buChar char="•"/>
            </a:pPr>
            <a:r>
              <a:rPr lang="it-IT" sz="2800" u="sng" dirty="0">
                <a:solidFill>
                  <a:schemeClr val="accent1"/>
                </a:solidFill>
              </a:rPr>
              <a:t>espressione</a:t>
            </a:r>
            <a:r>
              <a:rPr lang="it-IT" sz="2800" dirty="0">
                <a:solidFill>
                  <a:schemeClr val="accent1"/>
                </a:solidFill>
              </a:rPr>
              <a:t>:</a:t>
            </a:r>
            <a:r>
              <a:rPr lang="it-IT" sz="2800" dirty="0"/>
              <a:t> costrutto del linguaggio al quale rimane associato un valore di uno specifico tipo di dato, detto </a:t>
            </a:r>
            <a:r>
              <a:rPr lang="it-IT" sz="2800" u="sng" dirty="0">
                <a:solidFill>
                  <a:schemeClr val="accent1"/>
                </a:solidFill>
              </a:rPr>
              <a:t>tipo dell’espressione</a:t>
            </a:r>
          </a:p>
          <a:p>
            <a:pPr marL="342900" lvl="1" indent="-342900">
              <a:buNone/>
            </a:pPr>
            <a:endParaRPr lang="it-IT" u="sng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Tipi riferimento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rmAutofit/>
          </a:bodyPr>
          <a:lstStyle/>
          <a:p>
            <a:r>
              <a:rPr lang="it-IT" dirty="0"/>
              <a:t>I </a:t>
            </a:r>
            <a:r>
              <a:rPr lang="it-IT" u="sng" dirty="0">
                <a:solidFill>
                  <a:schemeClr val="accent1"/>
                </a:solidFill>
              </a:rPr>
              <a:t>tipi riferimento </a:t>
            </a:r>
            <a:r>
              <a:rPr lang="it-IT" dirty="0"/>
              <a:t>sono associati alle classi:</a:t>
            </a:r>
          </a:p>
          <a:p>
            <a:pPr lvl="1"/>
            <a:r>
              <a:rPr lang="it-IT" dirty="0"/>
              <a:t>ovunque venga definita una classe </a:t>
            </a:r>
            <a:r>
              <a:rPr lang="it-IT" i="1" dirty="0">
                <a:solidFill>
                  <a:schemeClr val="accent2"/>
                </a:solidFill>
              </a:rPr>
              <a:t>C</a:t>
            </a:r>
            <a:r>
              <a:rPr lang="it-IT" dirty="0"/>
              <a:t>, resta automaticamente definito il tipo riferimento </a:t>
            </a:r>
            <a:r>
              <a:rPr lang="it-IT" i="1" dirty="0">
                <a:solidFill>
                  <a:schemeClr val="accent2"/>
                </a:solidFill>
              </a:rPr>
              <a:t>C</a:t>
            </a:r>
          </a:p>
          <a:p>
            <a:pPr lvl="1"/>
            <a:r>
              <a:rPr lang="it-IT" dirty="0"/>
              <a:t>l</a:t>
            </a:r>
            <a:r>
              <a:rPr lang="it-IT" sz="2400" dirty="0"/>
              <a:t>’insieme dei valori di tipo </a:t>
            </a:r>
            <a:r>
              <a:rPr lang="it-IT" sz="2400" i="1" dirty="0">
                <a:solidFill>
                  <a:schemeClr val="accent2"/>
                </a:solidFill>
              </a:rPr>
              <a:t>C</a:t>
            </a:r>
            <a:r>
              <a:rPr lang="it-IT" sz="2400" dirty="0"/>
              <a:t> sono i possibili riferimenti ad oggett</a:t>
            </a:r>
            <a:r>
              <a:rPr lang="it-IT" dirty="0"/>
              <a:t>i di tipo </a:t>
            </a:r>
            <a:r>
              <a:rPr lang="it-IT" i="1" dirty="0">
                <a:solidFill>
                  <a:schemeClr val="accent2"/>
                </a:solidFill>
              </a:rPr>
              <a:t>C</a:t>
            </a:r>
          </a:p>
          <a:p>
            <a:pPr lvl="1"/>
            <a:endParaRPr lang="it-IT" sz="2400" i="1" dirty="0">
              <a:solidFill>
                <a:schemeClr val="accent2"/>
              </a:solidFill>
            </a:endParaRPr>
          </a:p>
          <a:p>
            <a:r>
              <a:rPr lang="it-IT" sz="2800" dirty="0"/>
              <a:t>Ad esempio, definendo una classe di nome </a:t>
            </a:r>
            <a:r>
              <a:rPr lang="it-IT" sz="2800" i="1" dirty="0">
                <a:solidFill>
                  <a:schemeClr val="accent2"/>
                </a:solidFill>
              </a:rPr>
              <a:t>Rettangolo</a:t>
            </a:r>
            <a:r>
              <a:rPr lang="it-IT" sz="2800" dirty="0"/>
              <a:t>,</a:t>
            </a:r>
            <a:r>
              <a:rPr lang="it-IT" sz="2800" i="1" dirty="0">
                <a:solidFill>
                  <a:schemeClr val="accent2"/>
                </a:solidFill>
              </a:rPr>
              <a:t> </a:t>
            </a:r>
            <a:r>
              <a:rPr lang="it-IT" sz="2800" dirty="0"/>
              <a:t>definisco implicitamente il tipo riferimento</a:t>
            </a:r>
            <a:r>
              <a:rPr lang="it-IT" sz="2800" dirty="0">
                <a:solidFill>
                  <a:schemeClr val="accent2"/>
                </a:solidFill>
              </a:rPr>
              <a:t> </a:t>
            </a:r>
            <a:r>
              <a:rPr lang="it-IT" sz="2800" i="1" dirty="0">
                <a:solidFill>
                  <a:schemeClr val="accent2"/>
                </a:solidFill>
              </a:rPr>
              <a:t>Rettangolo</a:t>
            </a:r>
          </a:p>
          <a:p>
            <a:pPr lvl="1"/>
            <a:r>
              <a:rPr lang="it-IT" dirty="0"/>
              <a:t>i</a:t>
            </a:r>
            <a:r>
              <a:rPr lang="it-IT" sz="2400" dirty="0"/>
              <a:t> valori di tipo </a:t>
            </a:r>
            <a:r>
              <a:rPr lang="it-IT" sz="2400" i="1" dirty="0">
                <a:solidFill>
                  <a:schemeClr val="accent2"/>
                </a:solidFill>
              </a:rPr>
              <a:t>Rettangolo</a:t>
            </a:r>
            <a:r>
              <a:rPr lang="it-IT" sz="2400" dirty="0"/>
              <a:t> sono i riferimenti ad oggetti della classe </a:t>
            </a:r>
            <a:r>
              <a:rPr lang="it-IT" sz="2400" i="1" dirty="0">
                <a:solidFill>
                  <a:schemeClr val="accent2"/>
                </a:solidFill>
              </a:rPr>
              <a:t>Rettangolo</a:t>
            </a:r>
          </a:p>
          <a:p>
            <a:pPr marL="342900" lvl="1" indent="-342900">
              <a:buNone/>
            </a:pPr>
            <a:endParaRPr lang="it-IT" u="sng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Variabili riferimento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rmAutofit/>
          </a:bodyPr>
          <a:lstStyle/>
          <a:p>
            <a:r>
              <a:rPr lang="it-IT" dirty="0"/>
              <a:t>Una variabile (riferimento) di tipo </a:t>
            </a:r>
            <a:r>
              <a:rPr lang="it-IT" i="1" dirty="0">
                <a:solidFill>
                  <a:schemeClr val="accent2"/>
                </a:solidFill>
              </a:rPr>
              <a:t>C</a:t>
            </a:r>
            <a:r>
              <a:rPr lang="it-IT" dirty="0"/>
              <a:t> può memorizzare soltanto riferimenti ad oggetti della classe </a:t>
            </a:r>
            <a:r>
              <a:rPr lang="it-IT" i="1" dirty="0">
                <a:solidFill>
                  <a:schemeClr val="accent2"/>
                </a:solidFill>
              </a:rPr>
              <a:t>C</a:t>
            </a:r>
          </a:p>
          <a:p>
            <a:pPr lvl="1">
              <a:buNone/>
            </a:pPr>
            <a:endParaRPr lang="it-IT" sz="2400" i="1" dirty="0">
              <a:solidFill>
                <a:schemeClr val="accent2"/>
              </a:solidFill>
            </a:endParaRPr>
          </a:p>
          <a:p>
            <a:pPr marL="342900" lvl="1" indent="-342900">
              <a:buNone/>
            </a:pPr>
            <a:endParaRPr lang="it-IT" u="sng" dirty="0">
              <a:solidFill>
                <a:schemeClr val="accent1"/>
              </a:solidFill>
            </a:endParaRPr>
          </a:p>
          <a:p>
            <a:pPr marL="342900" lvl="1" indent="-342900">
              <a:buNone/>
            </a:pPr>
            <a:endParaRPr lang="it-IT" u="sng" dirty="0">
              <a:solidFill>
                <a:schemeClr val="accent1"/>
              </a:solidFill>
            </a:endParaRPr>
          </a:p>
          <a:p>
            <a:pPr marL="342900" lvl="1" indent="-342900">
              <a:buNone/>
            </a:pPr>
            <a:endParaRPr lang="it-IT" u="sng" dirty="0">
              <a:solidFill>
                <a:schemeClr val="accent1"/>
              </a:solidFill>
            </a:endParaRPr>
          </a:p>
          <a:p>
            <a:pPr marL="342900" lvl="1" indent="-342900">
              <a:buNone/>
            </a:pPr>
            <a:endParaRPr lang="it-IT" u="sng" dirty="0">
              <a:solidFill>
                <a:schemeClr val="accent1"/>
              </a:solidFill>
            </a:endParaRPr>
          </a:p>
          <a:p>
            <a:pPr marL="342900" lvl="1" indent="-342900">
              <a:buFont typeface="Arial" pitchFamily="34" charset="0"/>
              <a:buChar char="•"/>
            </a:pPr>
            <a:r>
              <a:rPr lang="it-IT" sz="2800" dirty="0"/>
              <a:t>Sintassi per definire una variabile riferimento di tipo </a:t>
            </a:r>
            <a:r>
              <a:rPr lang="it-IT" sz="2800" i="1" dirty="0">
                <a:solidFill>
                  <a:schemeClr val="accent2"/>
                </a:solidFill>
              </a:rPr>
              <a:t>C</a:t>
            </a:r>
          </a:p>
          <a:p>
            <a:pPr marL="342900" lvl="1" indent="-342900" algn="ctr">
              <a:buNone/>
            </a:pPr>
            <a:r>
              <a:rPr lang="it-IT" i="1" dirty="0">
                <a:solidFill>
                  <a:schemeClr val="accent2"/>
                </a:solidFill>
              </a:rPr>
              <a:t>C  &lt;nome variabile&gt;</a:t>
            </a:r>
          </a:p>
          <a:p>
            <a:pPr marL="342900" lvl="1" indent="-342900">
              <a:buNone/>
            </a:pPr>
            <a:endParaRPr lang="it-IT" u="sng" dirty="0">
              <a:solidFill>
                <a:schemeClr val="accent1"/>
              </a:solidFill>
            </a:endParaRPr>
          </a:p>
        </p:txBody>
      </p:sp>
      <p:sp>
        <p:nvSpPr>
          <p:cNvPr id="4" name="Rettangolo 3"/>
          <p:cNvSpPr/>
          <p:nvPr/>
        </p:nvSpPr>
        <p:spPr>
          <a:xfrm>
            <a:off x="2483768" y="3356992"/>
            <a:ext cx="432048" cy="4320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1"/>
              </a:solidFill>
            </a:endParaRPr>
          </a:p>
        </p:txBody>
      </p:sp>
      <p:grpSp>
        <p:nvGrpSpPr>
          <p:cNvPr id="5" name="Gruppo 4"/>
          <p:cNvGrpSpPr/>
          <p:nvPr/>
        </p:nvGrpSpPr>
        <p:grpSpPr>
          <a:xfrm>
            <a:off x="4716016" y="2708919"/>
            <a:ext cx="2376264" cy="2036797"/>
            <a:chOff x="683568" y="1772816"/>
            <a:chExt cx="3024336" cy="2592288"/>
          </a:xfrm>
        </p:grpSpPr>
        <p:sp>
          <p:nvSpPr>
            <p:cNvPr id="6" name="Rettangolo 5"/>
            <p:cNvSpPr/>
            <p:nvPr/>
          </p:nvSpPr>
          <p:spPr>
            <a:xfrm>
              <a:off x="683568" y="1772816"/>
              <a:ext cx="3024336" cy="57606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" name="Rettangolo 6"/>
            <p:cNvSpPr/>
            <p:nvPr/>
          </p:nvSpPr>
          <p:spPr>
            <a:xfrm>
              <a:off x="683568" y="2348880"/>
              <a:ext cx="3024336" cy="2016224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cxnSp>
          <p:nvCxnSpPr>
            <p:cNvPr id="8" name="Connettore 1 7"/>
            <p:cNvCxnSpPr/>
            <p:nvPr/>
          </p:nvCxnSpPr>
          <p:spPr>
            <a:xfrm>
              <a:off x="683568" y="3501008"/>
              <a:ext cx="302433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CasellaDiTesto 8"/>
            <p:cNvSpPr txBox="1"/>
            <p:nvPr/>
          </p:nvSpPr>
          <p:spPr>
            <a:xfrm>
              <a:off x="827583" y="1844824"/>
              <a:ext cx="2736304" cy="5092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000" b="1" u="sng" dirty="0">
                  <a:latin typeface="Courier New" pitchFamily="49" charset="0"/>
                  <a:cs typeface="Courier New" pitchFamily="49" charset="0"/>
                </a:rPr>
                <a:t>C</a:t>
              </a:r>
            </a:p>
          </p:txBody>
        </p:sp>
        <p:sp>
          <p:nvSpPr>
            <p:cNvPr id="11" name="CasellaDiTesto 10"/>
            <p:cNvSpPr txBox="1"/>
            <p:nvPr/>
          </p:nvSpPr>
          <p:spPr>
            <a:xfrm>
              <a:off x="827583" y="2597636"/>
              <a:ext cx="2736304" cy="5092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latin typeface="Courier New" pitchFamily="49" charset="0"/>
                  <a:cs typeface="Courier New" pitchFamily="49" charset="0"/>
                </a:rPr>
                <a:t>...</a:t>
              </a:r>
            </a:p>
          </p:txBody>
        </p:sp>
        <p:sp>
          <p:nvSpPr>
            <p:cNvPr id="12" name="CasellaDiTesto 11"/>
            <p:cNvSpPr txBox="1"/>
            <p:nvPr/>
          </p:nvSpPr>
          <p:spPr>
            <a:xfrm>
              <a:off x="827584" y="3717032"/>
              <a:ext cx="273630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latin typeface="Courier New" pitchFamily="49" charset="0"/>
                  <a:cs typeface="Courier New" pitchFamily="49" charset="0"/>
                </a:rPr>
                <a:t>...</a:t>
              </a:r>
            </a:p>
          </p:txBody>
        </p:sp>
      </p:grpSp>
      <p:sp>
        <p:nvSpPr>
          <p:cNvPr id="13" name="CasellaDiTesto 12"/>
          <p:cNvSpPr txBox="1"/>
          <p:nvPr/>
        </p:nvSpPr>
        <p:spPr>
          <a:xfrm>
            <a:off x="1547664" y="3861048"/>
            <a:ext cx="2448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variabile  (riferimento) di tipo </a:t>
            </a:r>
            <a:r>
              <a:rPr lang="it-IT" i="1" dirty="0">
                <a:solidFill>
                  <a:schemeClr val="accent2"/>
                </a:solidFill>
              </a:rPr>
              <a:t>C</a:t>
            </a:r>
          </a:p>
        </p:txBody>
      </p:sp>
      <p:sp>
        <p:nvSpPr>
          <p:cNvPr id="14" name="Ovale 13"/>
          <p:cNvSpPr/>
          <p:nvPr/>
        </p:nvSpPr>
        <p:spPr>
          <a:xfrm>
            <a:off x="2627784" y="3501008"/>
            <a:ext cx="144016" cy="14401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6" name="Connettore 2 15"/>
          <p:cNvCxnSpPr>
            <a:stCxn id="14" idx="7"/>
            <a:endCxn id="6" idx="1"/>
          </p:cNvCxnSpPr>
          <p:nvPr/>
        </p:nvCxnSpPr>
        <p:spPr>
          <a:xfrm flipV="1">
            <a:off x="2750709" y="2935230"/>
            <a:ext cx="1965307" cy="58686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letterale </a:t>
            </a:r>
            <a:r>
              <a:rPr lang="it-IT" dirty="0" err="1"/>
              <a:t>null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rmAutofit/>
          </a:bodyPr>
          <a:lstStyle/>
          <a:p>
            <a:r>
              <a:rPr lang="it-IT" dirty="0"/>
              <a:t>In realtà una variabile riferimento può anche memorizzare il valore </a:t>
            </a:r>
            <a:r>
              <a:rPr lang="it-IT" i="1" dirty="0" err="1">
                <a:solidFill>
                  <a:schemeClr val="accent2"/>
                </a:solidFill>
              </a:rPr>
              <a:t>null</a:t>
            </a:r>
            <a:endParaRPr lang="it-IT" u="sng" dirty="0">
              <a:solidFill>
                <a:schemeClr val="accent1"/>
              </a:solidFill>
            </a:endParaRPr>
          </a:p>
          <a:p>
            <a:pPr lvl="1"/>
            <a:r>
              <a:rPr lang="it-IT" i="1" dirty="0" err="1">
                <a:solidFill>
                  <a:schemeClr val="accent2"/>
                </a:solidFill>
              </a:rPr>
              <a:t>null</a:t>
            </a:r>
            <a:r>
              <a:rPr lang="it-IT" dirty="0"/>
              <a:t> è una parola chiave del linguaggio Java, che indica un valore riferimento costante (letterale), il valore nullo</a:t>
            </a:r>
          </a:p>
          <a:p>
            <a:pPr lvl="1"/>
            <a:r>
              <a:rPr lang="it-IT" dirty="0"/>
              <a:t>quando una variabile riferimento non referenzia alcun oggetto, può essere utile assegnarle il valore </a:t>
            </a:r>
            <a:r>
              <a:rPr lang="it-IT" i="1" dirty="0" err="1">
                <a:solidFill>
                  <a:schemeClr val="accent2"/>
                </a:solidFill>
              </a:rPr>
              <a:t>null</a:t>
            </a:r>
            <a:endParaRPr lang="it-IT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Espressioni riferimento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rmAutofit/>
          </a:bodyPr>
          <a:lstStyle/>
          <a:p>
            <a:r>
              <a:rPr lang="it-IT" dirty="0"/>
              <a:t>Ad una espressione riferimento di tipo </a:t>
            </a:r>
            <a:r>
              <a:rPr lang="it-IT" i="1" dirty="0">
                <a:solidFill>
                  <a:schemeClr val="accent2"/>
                </a:solidFill>
              </a:rPr>
              <a:t>C</a:t>
            </a:r>
            <a:r>
              <a:rPr lang="it-IT" dirty="0"/>
              <a:t> rimane associato un riferimento di tipo </a:t>
            </a:r>
            <a:r>
              <a:rPr lang="it-IT" i="1" dirty="0">
                <a:solidFill>
                  <a:schemeClr val="accent2"/>
                </a:solidFill>
              </a:rPr>
              <a:t>C</a:t>
            </a:r>
            <a:r>
              <a:rPr lang="it-IT" dirty="0"/>
              <a:t> </a:t>
            </a:r>
          </a:p>
          <a:p>
            <a:pPr lvl="1"/>
            <a:r>
              <a:rPr lang="it-IT" dirty="0"/>
              <a:t>le variabili di tipo </a:t>
            </a:r>
            <a:r>
              <a:rPr lang="it-IT" i="1" dirty="0">
                <a:solidFill>
                  <a:schemeClr val="accent2"/>
                </a:solidFill>
              </a:rPr>
              <a:t>C</a:t>
            </a:r>
            <a:r>
              <a:rPr lang="it-IT" dirty="0"/>
              <a:t> e il letterale </a:t>
            </a:r>
            <a:r>
              <a:rPr lang="it-IT" i="1" dirty="0" err="1">
                <a:solidFill>
                  <a:schemeClr val="accent2"/>
                </a:solidFill>
              </a:rPr>
              <a:t>null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dirty="0"/>
              <a:t>sono espressioni elementari di tipo </a:t>
            </a:r>
            <a:r>
              <a:rPr lang="it-IT" i="1" dirty="0">
                <a:solidFill>
                  <a:schemeClr val="accent2"/>
                </a:solidFill>
              </a:rPr>
              <a:t>C</a:t>
            </a:r>
          </a:p>
          <a:p>
            <a:pPr lvl="1"/>
            <a:r>
              <a:rPr lang="it-IT" dirty="0"/>
              <a:t>Altre espressioni riferimento di tipo </a:t>
            </a:r>
            <a:r>
              <a:rPr lang="it-IT" i="1" dirty="0">
                <a:solidFill>
                  <a:schemeClr val="accent2"/>
                </a:solidFill>
              </a:rPr>
              <a:t>C</a:t>
            </a:r>
            <a:r>
              <a:rPr lang="it-IT" dirty="0"/>
              <a:t> sono: </a:t>
            </a:r>
          </a:p>
          <a:p>
            <a:pPr lvl="2"/>
            <a:r>
              <a:rPr lang="it-IT" dirty="0"/>
              <a:t>istruzioni di creazione di oggetti di tipo </a:t>
            </a:r>
            <a:r>
              <a:rPr lang="it-IT" i="1" dirty="0">
                <a:solidFill>
                  <a:schemeClr val="accent2"/>
                </a:solidFill>
              </a:rPr>
              <a:t>C</a:t>
            </a:r>
          </a:p>
          <a:p>
            <a:pPr lvl="2"/>
            <a:r>
              <a:rPr lang="it-IT" dirty="0"/>
              <a:t>invocazioni di metodi che restituiscono un riferimento di tipo </a:t>
            </a:r>
            <a:r>
              <a:rPr lang="it-IT" i="1" dirty="0">
                <a:solidFill>
                  <a:schemeClr val="accent2"/>
                </a:solidFill>
              </a:rPr>
              <a:t>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Assegnazioni a variabili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rmAutofit/>
          </a:bodyPr>
          <a:lstStyle/>
          <a:p>
            <a:r>
              <a:rPr lang="it-IT" dirty="0"/>
              <a:t>Ad una variabile </a:t>
            </a:r>
            <a:r>
              <a:rPr lang="it-IT" i="1" dirty="0" err="1">
                <a:solidFill>
                  <a:schemeClr val="accent2"/>
                </a:solidFill>
              </a:rPr>
              <a:t>var</a:t>
            </a:r>
            <a:r>
              <a:rPr lang="it-IT" dirty="0"/>
              <a:t> di tipo </a:t>
            </a:r>
            <a:r>
              <a:rPr lang="it-IT" i="1" dirty="0">
                <a:solidFill>
                  <a:schemeClr val="accent2"/>
                </a:solidFill>
              </a:rPr>
              <a:t>C</a:t>
            </a:r>
            <a:r>
              <a:rPr lang="it-IT" dirty="0"/>
              <a:t> si può assegnare il valore di una espressione </a:t>
            </a:r>
            <a:r>
              <a:rPr lang="it-IT" i="1" dirty="0">
                <a:solidFill>
                  <a:schemeClr val="accent2"/>
                </a:solidFill>
              </a:rPr>
              <a:t>&lt;</a:t>
            </a:r>
            <a:r>
              <a:rPr lang="it-IT" i="1" dirty="0" err="1">
                <a:solidFill>
                  <a:schemeClr val="accent2"/>
                </a:solidFill>
              </a:rPr>
              <a:t>esp</a:t>
            </a:r>
            <a:r>
              <a:rPr lang="it-IT" i="1" dirty="0">
                <a:solidFill>
                  <a:schemeClr val="accent2"/>
                </a:solidFill>
              </a:rPr>
              <a:t>&gt; </a:t>
            </a:r>
            <a:r>
              <a:rPr lang="it-IT" dirty="0"/>
              <a:t>di tipo </a:t>
            </a:r>
            <a:r>
              <a:rPr lang="it-IT" i="1" dirty="0">
                <a:solidFill>
                  <a:schemeClr val="accent2"/>
                </a:solidFill>
              </a:rPr>
              <a:t>C</a:t>
            </a:r>
            <a:r>
              <a:rPr lang="it-IT" dirty="0"/>
              <a:t>:</a:t>
            </a:r>
          </a:p>
          <a:p>
            <a:pPr algn="ctr">
              <a:buNone/>
            </a:pPr>
            <a:r>
              <a:rPr lang="it-IT" i="1" dirty="0" err="1">
                <a:solidFill>
                  <a:schemeClr val="accent2"/>
                </a:solidFill>
              </a:rPr>
              <a:t>var</a:t>
            </a:r>
            <a:r>
              <a:rPr lang="it-IT" i="1" dirty="0">
                <a:solidFill>
                  <a:schemeClr val="accent2"/>
                </a:solidFill>
              </a:rPr>
              <a:t> = &lt;</a:t>
            </a:r>
            <a:r>
              <a:rPr lang="it-IT" i="1" dirty="0" err="1">
                <a:solidFill>
                  <a:schemeClr val="accent2"/>
                </a:solidFill>
              </a:rPr>
              <a:t>esp</a:t>
            </a:r>
            <a:r>
              <a:rPr lang="it-IT" i="1" dirty="0">
                <a:solidFill>
                  <a:schemeClr val="accent2"/>
                </a:solidFill>
              </a:rPr>
              <a:t>&gt;</a:t>
            </a:r>
          </a:p>
          <a:p>
            <a:pPr algn="ctr">
              <a:buNone/>
            </a:pPr>
            <a:endParaRPr lang="it-IT" i="1" dirty="0">
              <a:solidFill>
                <a:schemeClr val="accent2"/>
              </a:solidFill>
            </a:endParaRPr>
          </a:p>
          <a:p>
            <a:r>
              <a:rPr lang="it-IT" dirty="0"/>
              <a:t>La stessa istruzione </a:t>
            </a:r>
            <a:r>
              <a:rPr lang="it-IT" i="1" dirty="0" err="1">
                <a:solidFill>
                  <a:schemeClr val="accent2"/>
                </a:solidFill>
              </a:rPr>
              <a:t>var</a:t>
            </a:r>
            <a:r>
              <a:rPr lang="it-IT" i="1" dirty="0">
                <a:solidFill>
                  <a:schemeClr val="accent2"/>
                </a:solidFill>
              </a:rPr>
              <a:t> = &lt;</a:t>
            </a:r>
            <a:r>
              <a:rPr lang="it-IT" i="1" dirty="0" err="1">
                <a:solidFill>
                  <a:schemeClr val="accent2"/>
                </a:solidFill>
              </a:rPr>
              <a:t>esp</a:t>
            </a:r>
            <a:r>
              <a:rPr lang="it-IT" i="1" dirty="0">
                <a:solidFill>
                  <a:schemeClr val="accent2"/>
                </a:solidFill>
              </a:rPr>
              <a:t>&gt; </a:t>
            </a:r>
            <a:r>
              <a:rPr lang="it-IT" dirty="0"/>
              <a:t>è una espressione di tipo </a:t>
            </a:r>
            <a:r>
              <a:rPr lang="it-IT" i="1" dirty="0">
                <a:solidFill>
                  <a:schemeClr val="accent2"/>
                </a:solidFill>
              </a:rPr>
              <a:t>C</a:t>
            </a:r>
            <a:r>
              <a:rPr lang="it-IT" dirty="0"/>
              <a:t>, il cui valore associato è lo stesso memorizzato in </a:t>
            </a:r>
            <a:r>
              <a:rPr lang="it-IT" i="1" dirty="0" err="1">
                <a:solidFill>
                  <a:schemeClr val="accent2"/>
                </a:solidFill>
              </a:rPr>
              <a:t>var</a:t>
            </a:r>
            <a:endParaRPr lang="it-IT" i="1" dirty="0">
              <a:solidFill>
                <a:schemeClr val="accent2"/>
              </a:solidFill>
            </a:endParaRPr>
          </a:p>
          <a:p>
            <a:pPr algn="ctr">
              <a:buNone/>
            </a:pPr>
            <a:endParaRPr lang="it-IT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Invocazione di metodi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363272" cy="5112568"/>
          </a:xfrm>
        </p:spPr>
        <p:txBody>
          <a:bodyPr>
            <a:normAutofit/>
          </a:bodyPr>
          <a:lstStyle/>
          <a:p>
            <a:r>
              <a:rPr lang="it-IT" dirty="0"/>
              <a:t>Se </a:t>
            </a:r>
            <a:r>
              <a:rPr lang="it-IT" i="1" dirty="0">
                <a:solidFill>
                  <a:schemeClr val="accent2"/>
                </a:solidFill>
              </a:rPr>
              <a:t>&lt;</a:t>
            </a:r>
            <a:r>
              <a:rPr lang="it-IT" i="1" dirty="0" err="1">
                <a:solidFill>
                  <a:schemeClr val="accent2"/>
                </a:solidFill>
              </a:rPr>
              <a:t>esp</a:t>
            </a:r>
            <a:r>
              <a:rPr lang="it-IT" i="1" dirty="0">
                <a:solidFill>
                  <a:schemeClr val="accent2"/>
                </a:solidFill>
              </a:rPr>
              <a:t>&gt; </a:t>
            </a:r>
            <a:r>
              <a:rPr lang="it-IT" dirty="0"/>
              <a:t>è una espressione di tipo </a:t>
            </a:r>
            <a:r>
              <a:rPr lang="it-IT" i="1" dirty="0">
                <a:solidFill>
                  <a:schemeClr val="accent2"/>
                </a:solidFill>
              </a:rPr>
              <a:t>C</a:t>
            </a:r>
            <a:r>
              <a:rPr lang="it-IT" dirty="0"/>
              <a:t>, si può invocare un metodo di istanza di </a:t>
            </a:r>
            <a:r>
              <a:rPr lang="it-IT" i="1" dirty="0">
                <a:solidFill>
                  <a:schemeClr val="accent2"/>
                </a:solidFill>
              </a:rPr>
              <a:t>C</a:t>
            </a:r>
            <a:r>
              <a:rPr lang="it-IT" dirty="0"/>
              <a:t> con la sintassi:</a:t>
            </a:r>
          </a:p>
          <a:p>
            <a:pPr algn="ctr">
              <a:buNone/>
            </a:pPr>
            <a:r>
              <a:rPr lang="it-IT" i="1" dirty="0">
                <a:solidFill>
                  <a:schemeClr val="accent2"/>
                </a:solidFill>
              </a:rPr>
              <a:t>&lt;</a:t>
            </a:r>
            <a:r>
              <a:rPr lang="it-IT" i="1" dirty="0" err="1">
                <a:solidFill>
                  <a:schemeClr val="accent2"/>
                </a:solidFill>
              </a:rPr>
              <a:t>esp</a:t>
            </a:r>
            <a:r>
              <a:rPr lang="it-IT" i="1" dirty="0">
                <a:solidFill>
                  <a:schemeClr val="accent2"/>
                </a:solidFill>
              </a:rPr>
              <a:t>&gt;.&lt;nome metodo&gt; (&lt;parametri&gt;)</a:t>
            </a:r>
          </a:p>
          <a:p>
            <a:pPr>
              <a:buNone/>
            </a:pPr>
            <a:endParaRPr lang="it-IT" i="1" dirty="0">
              <a:solidFill>
                <a:schemeClr val="accent2"/>
              </a:solidFill>
            </a:endParaRPr>
          </a:p>
          <a:p>
            <a:r>
              <a:rPr lang="it-IT" dirty="0"/>
              <a:t>Se </a:t>
            </a:r>
            <a:r>
              <a:rPr lang="it-IT" i="1" dirty="0">
                <a:solidFill>
                  <a:schemeClr val="accent2"/>
                </a:solidFill>
              </a:rPr>
              <a:t>&lt;</a:t>
            </a:r>
            <a:r>
              <a:rPr lang="it-IT" i="1" dirty="0" err="1">
                <a:solidFill>
                  <a:schemeClr val="accent2"/>
                </a:solidFill>
              </a:rPr>
              <a:t>esp</a:t>
            </a:r>
            <a:r>
              <a:rPr lang="it-IT" i="1" dirty="0">
                <a:solidFill>
                  <a:schemeClr val="accent2"/>
                </a:solidFill>
              </a:rPr>
              <a:t>&gt; </a:t>
            </a:r>
            <a:r>
              <a:rPr lang="it-IT" dirty="0"/>
              <a:t>ha valore </a:t>
            </a:r>
            <a:r>
              <a:rPr lang="it-IT" i="1" dirty="0" err="1">
                <a:solidFill>
                  <a:schemeClr val="accent2"/>
                </a:solidFill>
              </a:rPr>
              <a:t>null</a:t>
            </a:r>
            <a:r>
              <a:rPr lang="it-IT" dirty="0"/>
              <a:t> viene generato un errore di esecuzione chiamato: </a:t>
            </a:r>
            <a:r>
              <a:rPr lang="it-IT" i="1" dirty="0" err="1">
                <a:solidFill>
                  <a:schemeClr val="accent2"/>
                </a:solidFill>
              </a:rPr>
              <a:t>NullPointerException</a:t>
            </a:r>
            <a:endParaRPr lang="it-IT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Tipi primitivi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363272" cy="5112568"/>
          </a:xfrm>
        </p:spPr>
        <p:txBody>
          <a:bodyPr>
            <a:normAutofit/>
          </a:bodyPr>
          <a:lstStyle/>
          <a:p>
            <a:r>
              <a:rPr lang="it-IT" dirty="0"/>
              <a:t>I tipi primitivi in Java sono un insieme predefinito e non estendibile, e modellano tipi di dati particolarmente frequenti in ogni programma</a:t>
            </a:r>
            <a:endParaRPr lang="it-IT" i="1" dirty="0">
              <a:solidFill>
                <a:schemeClr val="accent2"/>
              </a:solidFill>
            </a:endParaRPr>
          </a:p>
        </p:txBody>
      </p:sp>
      <p:grpSp>
        <p:nvGrpSpPr>
          <p:cNvPr id="8" name="Gruppo 7"/>
          <p:cNvGrpSpPr/>
          <p:nvPr/>
        </p:nvGrpSpPr>
        <p:grpSpPr>
          <a:xfrm>
            <a:off x="179512" y="2924944"/>
            <a:ext cx="8748464" cy="2908187"/>
            <a:chOff x="179512" y="2924944"/>
            <a:chExt cx="8748464" cy="2908187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79512" y="2924944"/>
              <a:ext cx="8748464" cy="2908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6" name="Connettore 1 5"/>
            <p:cNvCxnSpPr/>
            <p:nvPr/>
          </p:nvCxnSpPr>
          <p:spPr>
            <a:xfrm>
              <a:off x="2211614" y="2962275"/>
              <a:ext cx="684" cy="322709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Definizione di variabili primitive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363272" cy="5112568"/>
          </a:xfrm>
        </p:spPr>
        <p:txBody>
          <a:bodyPr>
            <a:normAutofit/>
          </a:bodyPr>
          <a:lstStyle/>
          <a:p>
            <a:r>
              <a:rPr lang="it-IT" dirty="0"/>
              <a:t>Le variabili primitive si definiscono allo stesso modo di quelle riferimento; ad esempio, per definire una variabile di tipo </a:t>
            </a:r>
            <a:r>
              <a:rPr lang="it-IT" i="1" dirty="0">
                <a:solidFill>
                  <a:schemeClr val="accent2"/>
                </a:solidFill>
              </a:rPr>
              <a:t>long</a:t>
            </a:r>
            <a:r>
              <a:rPr lang="it-IT" dirty="0"/>
              <a:t> e di nome </a:t>
            </a:r>
            <a:r>
              <a:rPr lang="it-IT" i="1" dirty="0" err="1">
                <a:solidFill>
                  <a:schemeClr val="accent2"/>
                </a:solidFill>
              </a:rPr>
              <a:t>interoGrande</a:t>
            </a:r>
            <a:r>
              <a:rPr lang="it-IT" dirty="0"/>
              <a:t>, basta scrivere:</a:t>
            </a:r>
          </a:p>
          <a:p>
            <a:endParaRPr lang="it-IT" i="1" dirty="0">
              <a:solidFill>
                <a:schemeClr val="accent2"/>
              </a:solidFill>
            </a:endParaRPr>
          </a:p>
          <a:p>
            <a:pPr algn="ctr">
              <a:buNone/>
            </a:pPr>
            <a:r>
              <a:rPr lang="it-IT" i="1" dirty="0">
                <a:solidFill>
                  <a:schemeClr val="accent2"/>
                </a:solidFill>
              </a:rPr>
              <a:t>long </a:t>
            </a:r>
            <a:r>
              <a:rPr lang="it-IT" i="1" dirty="0" err="1">
                <a:solidFill>
                  <a:schemeClr val="accent2"/>
                </a:solidFill>
              </a:rPr>
              <a:t>interoGrande</a:t>
            </a:r>
            <a:r>
              <a:rPr lang="it-IT" i="1" dirty="0">
                <a:solidFill>
                  <a:schemeClr val="accent2"/>
                </a:solidFill>
              </a:rPr>
              <a:t>;</a:t>
            </a:r>
          </a:p>
          <a:p>
            <a:endParaRPr lang="it-IT" dirty="0"/>
          </a:p>
          <a:p>
            <a:r>
              <a:rPr lang="it-IT" dirty="0"/>
              <a:t>Lo spazio di memoria riservato ad una variabile primitiva è utilizzato direttamente per memorizzarvi i valori</a:t>
            </a:r>
          </a:p>
          <a:p>
            <a:pPr>
              <a:buNone/>
            </a:pPr>
            <a:endParaRPr lang="it-IT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Espressioni intere e letterali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363272" cy="5112568"/>
          </a:xfrm>
        </p:spPr>
        <p:txBody>
          <a:bodyPr>
            <a:normAutofit/>
          </a:bodyPr>
          <a:lstStyle/>
          <a:p>
            <a:r>
              <a:rPr lang="it-IT" dirty="0"/>
              <a:t>Le espressioni intere hanno valori di tipo </a:t>
            </a:r>
            <a:r>
              <a:rPr lang="it-IT" i="1" dirty="0">
                <a:solidFill>
                  <a:schemeClr val="accent2"/>
                </a:solidFill>
              </a:rPr>
              <a:t>byte</a:t>
            </a:r>
            <a:r>
              <a:rPr lang="it-IT" dirty="0"/>
              <a:t>, </a:t>
            </a:r>
            <a:r>
              <a:rPr lang="it-IT" i="1" dirty="0">
                <a:solidFill>
                  <a:schemeClr val="accent2"/>
                </a:solidFill>
              </a:rPr>
              <a:t>short</a:t>
            </a:r>
            <a:r>
              <a:rPr lang="it-IT" dirty="0"/>
              <a:t>, </a:t>
            </a:r>
            <a:r>
              <a:rPr lang="it-IT" i="1" dirty="0" err="1">
                <a:solidFill>
                  <a:schemeClr val="accent2"/>
                </a:solidFill>
              </a:rPr>
              <a:t>int</a:t>
            </a:r>
            <a:r>
              <a:rPr lang="it-IT" dirty="0"/>
              <a:t> o </a:t>
            </a:r>
            <a:r>
              <a:rPr lang="it-IT" i="1" dirty="0">
                <a:solidFill>
                  <a:schemeClr val="accent2"/>
                </a:solidFill>
              </a:rPr>
              <a:t>long.</a:t>
            </a:r>
          </a:p>
          <a:p>
            <a:r>
              <a:rPr lang="it-IT" dirty="0"/>
              <a:t>Le più semplici espressioni intere sono i </a:t>
            </a:r>
            <a:r>
              <a:rPr lang="it-IT" u="sng" dirty="0">
                <a:solidFill>
                  <a:schemeClr val="accent1"/>
                </a:solidFill>
              </a:rPr>
              <a:t>letterali interi</a:t>
            </a:r>
            <a:r>
              <a:rPr lang="it-IT" dirty="0"/>
              <a:t> (costanti intere)</a:t>
            </a:r>
          </a:p>
          <a:p>
            <a:pPr lvl="1"/>
            <a:r>
              <a:rPr lang="it-IT" dirty="0"/>
              <a:t>ogni numero in base 10 viene automaticamente considerato come una espressione di tipo </a:t>
            </a:r>
            <a:r>
              <a:rPr lang="it-IT" i="1" dirty="0" err="1">
                <a:solidFill>
                  <a:schemeClr val="accent2"/>
                </a:solidFill>
              </a:rPr>
              <a:t>int</a:t>
            </a:r>
            <a:r>
              <a:rPr lang="it-IT" dirty="0"/>
              <a:t>  </a:t>
            </a:r>
          </a:p>
          <a:p>
            <a:pPr lvl="1"/>
            <a:r>
              <a:rPr lang="it-IT" dirty="0"/>
              <a:t>se però un letterale è assegnato ad una variabile </a:t>
            </a:r>
            <a:r>
              <a:rPr lang="it-IT" i="1" dirty="0">
                <a:solidFill>
                  <a:schemeClr val="accent2"/>
                </a:solidFill>
              </a:rPr>
              <a:t>byte</a:t>
            </a:r>
            <a:r>
              <a:rPr lang="it-IT" dirty="0"/>
              <a:t> o </a:t>
            </a:r>
            <a:r>
              <a:rPr lang="it-IT" i="1" dirty="0">
                <a:solidFill>
                  <a:schemeClr val="accent2"/>
                </a:solidFill>
              </a:rPr>
              <a:t>short</a:t>
            </a:r>
            <a:r>
              <a:rPr lang="it-IT" dirty="0"/>
              <a:t> che può effettivamente contenerlo, allora è considerato espressione di tipo </a:t>
            </a:r>
            <a:r>
              <a:rPr lang="it-IT" i="1" dirty="0">
                <a:solidFill>
                  <a:schemeClr val="accent2"/>
                </a:solidFill>
              </a:rPr>
              <a:t>byte</a:t>
            </a:r>
            <a:r>
              <a:rPr lang="it-IT" dirty="0"/>
              <a:t> o </a:t>
            </a:r>
            <a:r>
              <a:rPr lang="it-IT" i="1" dirty="0">
                <a:solidFill>
                  <a:schemeClr val="accent2"/>
                </a:solidFill>
              </a:rPr>
              <a:t>short</a:t>
            </a:r>
          </a:p>
          <a:p>
            <a:pPr lvl="1"/>
            <a:r>
              <a:rPr lang="it-IT" dirty="0"/>
              <a:t>una costante terminata da una </a:t>
            </a:r>
            <a:r>
              <a:rPr lang="it-IT" i="1" dirty="0">
                <a:solidFill>
                  <a:schemeClr val="accent2"/>
                </a:solidFill>
              </a:rPr>
              <a:t>l</a:t>
            </a:r>
            <a:r>
              <a:rPr lang="it-IT" dirty="0"/>
              <a:t> o </a:t>
            </a:r>
            <a:r>
              <a:rPr lang="it-IT" i="1" dirty="0">
                <a:solidFill>
                  <a:schemeClr val="accent2"/>
                </a:solidFill>
              </a:rPr>
              <a:t>L</a:t>
            </a:r>
            <a:r>
              <a:rPr lang="it-IT" dirty="0"/>
              <a:t> viene considerata espressione di tipo </a:t>
            </a:r>
            <a:r>
              <a:rPr lang="it-IT" i="1" dirty="0">
                <a:solidFill>
                  <a:schemeClr val="accent2"/>
                </a:solidFill>
              </a:rPr>
              <a:t>long</a:t>
            </a:r>
          </a:p>
          <a:p>
            <a:pPr lvl="1"/>
            <a:r>
              <a:rPr lang="it-IT" dirty="0"/>
              <a:t>I prefissi 0 o 0x indicano costanti in base 8 o 16</a:t>
            </a:r>
          </a:p>
          <a:p>
            <a:pPr>
              <a:buNone/>
            </a:pPr>
            <a:endParaRPr lang="it-IT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 di letterali interi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363272" cy="5112568"/>
          </a:xfrm>
        </p:spPr>
        <p:txBody>
          <a:bodyPr>
            <a:normAutofit/>
          </a:bodyPr>
          <a:lstStyle/>
          <a:p>
            <a:r>
              <a:rPr lang="it-IT" i="1" dirty="0">
                <a:solidFill>
                  <a:schemeClr val="accent2"/>
                </a:solidFill>
              </a:rPr>
              <a:t>15		</a:t>
            </a:r>
            <a:r>
              <a:rPr lang="it-IT" dirty="0"/>
              <a:t>espressione </a:t>
            </a:r>
            <a:r>
              <a:rPr lang="it-IT" i="1" dirty="0" err="1">
                <a:solidFill>
                  <a:schemeClr val="accent2"/>
                </a:solidFill>
              </a:rPr>
              <a:t>int</a:t>
            </a:r>
            <a:r>
              <a:rPr lang="it-IT" dirty="0"/>
              <a:t> che vale15</a:t>
            </a:r>
          </a:p>
          <a:p>
            <a:r>
              <a:rPr lang="it-IT" i="1" dirty="0">
                <a:solidFill>
                  <a:schemeClr val="accent2"/>
                </a:solidFill>
              </a:rPr>
              <a:t>15L	</a:t>
            </a:r>
            <a:r>
              <a:rPr lang="it-IT" dirty="0"/>
              <a:t>espressione </a:t>
            </a:r>
            <a:r>
              <a:rPr lang="it-IT" i="1" dirty="0">
                <a:solidFill>
                  <a:schemeClr val="accent2"/>
                </a:solidFill>
              </a:rPr>
              <a:t>long</a:t>
            </a:r>
            <a:r>
              <a:rPr lang="it-IT" dirty="0"/>
              <a:t> che vale 15</a:t>
            </a:r>
          </a:p>
          <a:p>
            <a:r>
              <a:rPr lang="it-IT" i="1" dirty="0">
                <a:solidFill>
                  <a:schemeClr val="accent2"/>
                </a:solidFill>
              </a:rPr>
              <a:t>017</a:t>
            </a:r>
            <a:r>
              <a:rPr lang="it-IT" dirty="0"/>
              <a:t>	espressione </a:t>
            </a:r>
            <a:r>
              <a:rPr lang="it-IT" i="1" dirty="0" err="1">
                <a:solidFill>
                  <a:schemeClr val="accent2"/>
                </a:solidFill>
              </a:rPr>
              <a:t>int</a:t>
            </a:r>
            <a:r>
              <a:rPr lang="it-IT" dirty="0"/>
              <a:t> (in ottale) che vale 15</a:t>
            </a:r>
          </a:p>
          <a:p>
            <a:r>
              <a:rPr lang="it-IT" i="1" dirty="0">
                <a:solidFill>
                  <a:schemeClr val="accent2"/>
                </a:solidFill>
              </a:rPr>
              <a:t>0xF	</a:t>
            </a:r>
            <a:r>
              <a:rPr lang="it-IT" dirty="0"/>
              <a:t>espressione </a:t>
            </a:r>
            <a:r>
              <a:rPr lang="it-IT" i="1" dirty="0" err="1">
                <a:solidFill>
                  <a:schemeClr val="accent2"/>
                </a:solidFill>
              </a:rPr>
              <a:t>int</a:t>
            </a:r>
            <a:r>
              <a:rPr lang="it-IT" dirty="0"/>
              <a:t> (in esadecimale) che 		vale 15</a:t>
            </a:r>
          </a:p>
          <a:p>
            <a:endParaRPr lang="it-IT" i="1" dirty="0">
              <a:solidFill>
                <a:schemeClr val="accent2"/>
              </a:solidFill>
            </a:endParaRPr>
          </a:p>
          <a:p>
            <a:r>
              <a:rPr lang="it-IT" i="1" dirty="0">
                <a:solidFill>
                  <a:schemeClr val="accent2"/>
                </a:solidFill>
              </a:rPr>
              <a:t>short a = 15</a:t>
            </a:r>
          </a:p>
        </p:txBody>
      </p:sp>
      <p:sp>
        <p:nvSpPr>
          <p:cNvPr id="4" name="Rettangolo 3"/>
          <p:cNvSpPr/>
          <p:nvPr/>
        </p:nvSpPr>
        <p:spPr>
          <a:xfrm>
            <a:off x="2339752" y="4365104"/>
            <a:ext cx="576064" cy="432048"/>
          </a:xfrm>
          <a:prstGeom prst="rect">
            <a:avLst/>
          </a:prstGeom>
          <a:noFill/>
          <a:ln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6" name="Connettore 1 5"/>
          <p:cNvCxnSpPr>
            <a:stCxn id="4" idx="3"/>
          </p:cNvCxnSpPr>
          <p:nvPr/>
        </p:nvCxnSpPr>
        <p:spPr>
          <a:xfrm>
            <a:off x="2915816" y="4581128"/>
            <a:ext cx="1584176" cy="216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/>
          <p:cNvSpPr txBox="1"/>
          <p:nvPr/>
        </p:nvSpPr>
        <p:spPr>
          <a:xfrm>
            <a:off x="4499992" y="4653136"/>
            <a:ext cx="4104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/>
              <a:t>espressione </a:t>
            </a:r>
            <a:r>
              <a:rPr lang="it-IT" sz="2800" i="1" dirty="0">
                <a:solidFill>
                  <a:schemeClr val="accent2"/>
                </a:solidFill>
              </a:rPr>
              <a:t>short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Operatori aritmetici di base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363272" cy="5112568"/>
          </a:xfrm>
        </p:spPr>
        <p:txBody>
          <a:bodyPr>
            <a:normAutofit/>
          </a:bodyPr>
          <a:lstStyle/>
          <a:p>
            <a:r>
              <a:rPr lang="it-IT" dirty="0"/>
              <a:t>I letterali e le variabili intere sono espressioni elementari; Java offre degli </a:t>
            </a:r>
            <a:r>
              <a:rPr lang="it-IT" u="sng" dirty="0">
                <a:solidFill>
                  <a:schemeClr val="accent1"/>
                </a:solidFill>
              </a:rPr>
              <a:t>operatori aritmetici </a:t>
            </a:r>
            <a:r>
              <a:rPr lang="it-IT" dirty="0"/>
              <a:t>che consentono di comporre espressioni complesse</a:t>
            </a:r>
          </a:p>
          <a:p>
            <a:r>
              <a:rPr lang="it-IT" dirty="0"/>
              <a:t>Gli operatori aritmetici di base più comuni sono:</a:t>
            </a:r>
          </a:p>
          <a:p>
            <a:pPr lvl="1">
              <a:buNone/>
            </a:pPr>
            <a:r>
              <a:rPr lang="it-IT" i="1" dirty="0">
                <a:solidFill>
                  <a:schemeClr val="accent2"/>
                </a:solidFill>
              </a:rPr>
              <a:t>+</a:t>
            </a:r>
            <a:r>
              <a:rPr lang="it-IT" dirty="0"/>
              <a:t>	</a:t>
            </a:r>
            <a:r>
              <a:rPr lang="it-IT" dirty="0" err="1"/>
              <a:t>somma</a:t>
            </a:r>
            <a:endParaRPr lang="it-IT" dirty="0"/>
          </a:p>
          <a:p>
            <a:pPr lvl="1">
              <a:buNone/>
            </a:pPr>
            <a:r>
              <a:rPr lang="it-IT" dirty="0">
                <a:solidFill>
                  <a:schemeClr val="accent2"/>
                </a:solidFill>
              </a:rPr>
              <a:t>-</a:t>
            </a:r>
            <a:r>
              <a:rPr lang="it-IT" dirty="0"/>
              <a:t>	sottrazione</a:t>
            </a:r>
          </a:p>
          <a:p>
            <a:pPr lvl="1">
              <a:buNone/>
            </a:pPr>
            <a:r>
              <a:rPr lang="it-IT" i="1" dirty="0">
                <a:solidFill>
                  <a:schemeClr val="accent2"/>
                </a:solidFill>
              </a:rPr>
              <a:t>*</a:t>
            </a:r>
            <a:r>
              <a:rPr lang="it-IT" dirty="0"/>
              <a:t>	moltiplicazione</a:t>
            </a:r>
          </a:p>
          <a:p>
            <a:pPr lvl="1">
              <a:buNone/>
            </a:pPr>
            <a:r>
              <a:rPr lang="it-IT" i="1" dirty="0">
                <a:solidFill>
                  <a:schemeClr val="accent2"/>
                </a:solidFill>
              </a:rPr>
              <a:t>/</a:t>
            </a:r>
            <a:r>
              <a:rPr lang="it-IT" dirty="0"/>
              <a:t>	divisione intera (tronca la parte decimale)</a:t>
            </a:r>
          </a:p>
          <a:p>
            <a:pPr lvl="1">
              <a:buNone/>
            </a:pPr>
            <a:r>
              <a:rPr lang="it-IT" i="1" dirty="0">
                <a:solidFill>
                  <a:schemeClr val="accent2"/>
                </a:solidFill>
              </a:rPr>
              <a:t>%</a:t>
            </a:r>
            <a:r>
              <a:rPr lang="it-IT" dirty="0"/>
              <a:t>	resto della divisione intera</a:t>
            </a:r>
          </a:p>
          <a:p>
            <a:pPr>
              <a:buNone/>
            </a:pPr>
            <a:endParaRPr lang="it-IT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Regole e precedenze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363272" cy="5112568"/>
          </a:xfrm>
        </p:spPr>
        <p:txBody>
          <a:bodyPr>
            <a:normAutofit/>
          </a:bodyPr>
          <a:lstStyle/>
          <a:p>
            <a:r>
              <a:rPr lang="it-IT" dirty="0"/>
              <a:t>Gli operatori aritmetici </a:t>
            </a:r>
            <a:r>
              <a:rPr lang="it-IT" i="1" dirty="0">
                <a:solidFill>
                  <a:schemeClr val="accent2"/>
                </a:solidFill>
              </a:rPr>
              <a:t>+, -, * </a:t>
            </a:r>
            <a:r>
              <a:rPr lang="it-IT" dirty="0"/>
              <a:t>funzionano con le classiche regole dell’algebra </a:t>
            </a:r>
          </a:p>
          <a:p>
            <a:r>
              <a:rPr lang="it-IT" dirty="0"/>
              <a:t>L’espressione </a:t>
            </a:r>
            <a:r>
              <a:rPr lang="it-IT" i="1" dirty="0">
                <a:solidFill>
                  <a:schemeClr val="accent2"/>
                </a:solidFill>
              </a:rPr>
              <a:t>x / y </a:t>
            </a:r>
            <a:r>
              <a:rPr lang="it-IT" dirty="0"/>
              <a:t>vale il quoziente della divisione tra </a:t>
            </a:r>
            <a:r>
              <a:rPr lang="it-IT" i="1" dirty="0">
                <a:solidFill>
                  <a:schemeClr val="accent2"/>
                </a:solidFill>
              </a:rPr>
              <a:t>x</a:t>
            </a:r>
            <a:r>
              <a:rPr lang="it-IT" dirty="0"/>
              <a:t> ed </a:t>
            </a:r>
            <a:r>
              <a:rPr lang="it-IT" i="1" dirty="0">
                <a:solidFill>
                  <a:schemeClr val="accent2"/>
                </a:solidFill>
              </a:rPr>
              <a:t>y</a:t>
            </a:r>
            <a:r>
              <a:rPr lang="it-IT" dirty="0"/>
              <a:t> (es. </a:t>
            </a:r>
            <a:r>
              <a:rPr lang="it-IT" i="1" dirty="0">
                <a:solidFill>
                  <a:schemeClr val="accent2"/>
                </a:solidFill>
              </a:rPr>
              <a:t>10/3</a:t>
            </a:r>
            <a:r>
              <a:rPr lang="it-IT" dirty="0"/>
              <a:t> vale </a:t>
            </a:r>
            <a:r>
              <a:rPr lang="it-IT" i="1" dirty="0">
                <a:solidFill>
                  <a:schemeClr val="accent2"/>
                </a:solidFill>
              </a:rPr>
              <a:t>3</a:t>
            </a:r>
            <a:r>
              <a:rPr lang="it-IT" dirty="0"/>
              <a:t>)</a:t>
            </a:r>
          </a:p>
          <a:p>
            <a:r>
              <a:rPr lang="it-IT" dirty="0"/>
              <a:t>Gli operatori </a:t>
            </a:r>
            <a:r>
              <a:rPr lang="it-IT" i="1" dirty="0">
                <a:solidFill>
                  <a:schemeClr val="accent2"/>
                </a:solidFill>
              </a:rPr>
              <a:t>*</a:t>
            </a:r>
            <a:r>
              <a:rPr lang="it-IT" dirty="0"/>
              <a:t>, </a:t>
            </a:r>
            <a:r>
              <a:rPr lang="it-IT" i="1" dirty="0">
                <a:solidFill>
                  <a:schemeClr val="accent2"/>
                </a:solidFill>
              </a:rPr>
              <a:t>/</a:t>
            </a:r>
            <a:r>
              <a:rPr lang="it-IT" dirty="0"/>
              <a:t>  hanno precedenza rispetto a </a:t>
            </a:r>
            <a:r>
              <a:rPr lang="it-IT" i="1" dirty="0">
                <a:solidFill>
                  <a:schemeClr val="accent2"/>
                </a:solidFill>
              </a:rPr>
              <a:t>+</a:t>
            </a:r>
            <a:r>
              <a:rPr lang="it-IT" dirty="0"/>
              <a:t>,</a:t>
            </a:r>
            <a:r>
              <a:rPr lang="it-IT" i="1" dirty="0">
                <a:solidFill>
                  <a:schemeClr val="accent2"/>
                </a:solidFill>
              </a:rPr>
              <a:t>-</a:t>
            </a:r>
            <a:endParaRPr lang="it-IT" dirty="0"/>
          </a:p>
          <a:p>
            <a:r>
              <a:rPr lang="it-IT" dirty="0"/>
              <a:t>Gli operatori </a:t>
            </a:r>
            <a:r>
              <a:rPr lang="it-IT" i="1" dirty="0">
                <a:solidFill>
                  <a:schemeClr val="accent2"/>
                </a:solidFill>
              </a:rPr>
              <a:t>+</a:t>
            </a:r>
            <a:r>
              <a:rPr lang="it-IT" dirty="0"/>
              <a:t> e </a:t>
            </a:r>
            <a:r>
              <a:rPr lang="it-IT" i="1" dirty="0">
                <a:solidFill>
                  <a:schemeClr val="accent2"/>
                </a:solidFill>
              </a:rPr>
              <a:t>-</a:t>
            </a:r>
            <a:r>
              <a:rPr lang="it-IT" dirty="0"/>
              <a:t> si possono anche usare come operatori unari (in particolare l’espressione </a:t>
            </a:r>
            <a:br>
              <a:rPr lang="it-IT" dirty="0"/>
            </a:br>
            <a:r>
              <a:rPr lang="it-IT" i="1" dirty="0">
                <a:solidFill>
                  <a:schemeClr val="accent2"/>
                </a:solidFill>
              </a:rPr>
              <a:t>-a</a:t>
            </a:r>
            <a:r>
              <a:rPr lang="it-IT" dirty="0"/>
              <a:t> inverte il segno di </a:t>
            </a:r>
            <a:r>
              <a:rPr lang="it-IT" i="1" dirty="0">
                <a:solidFill>
                  <a:schemeClr val="accent2"/>
                </a:solidFill>
              </a:rPr>
              <a:t>a</a:t>
            </a:r>
            <a:r>
              <a:rPr lang="it-IT" dirty="0"/>
              <a:t>)</a:t>
            </a:r>
          </a:p>
          <a:p>
            <a:endParaRPr lang="it-IT" dirty="0"/>
          </a:p>
          <a:p>
            <a:pPr>
              <a:buNone/>
            </a:pPr>
            <a:endParaRPr lang="it-IT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L’operatore resto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363272" cy="5112568"/>
          </a:xfrm>
        </p:spPr>
        <p:txBody>
          <a:bodyPr>
            <a:normAutofit/>
          </a:bodyPr>
          <a:lstStyle/>
          <a:p>
            <a:r>
              <a:rPr lang="it-IT" i="1" dirty="0">
                <a:solidFill>
                  <a:schemeClr val="accent2"/>
                </a:solidFill>
              </a:rPr>
              <a:t>x % y   </a:t>
            </a:r>
            <a:r>
              <a:rPr lang="it-IT" dirty="0"/>
              <a:t>vale il resto della divisione intera tra </a:t>
            </a:r>
            <a:r>
              <a:rPr lang="it-IT" i="1" dirty="0">
                <a:solidFill>
                  <a:schemeClr val="accent2"/>
                </a:solidFill>
              </a:rPr>
              <a:t>x</a:t>
            </a:r>
            <a:r>
              <a:rPr lang="it-IT" dirty="0"/>
              <a:t> e </a:t>
            </a:r>
            <a:r>
              <a:rPr lang="it-IT" i="1" dirty="0">
                <a:solidFill>
                  <a:schemeClr val="accent2"/>
                </a:solidFill>
              </a:rPr>
              <a:t>y</a:t>
            </a:r>
          </a:p>
          <a:p>
            <a:pPr lvl="1"/>
            <a:r>
              <a:rPr lang="it-IT" dirty="0"/>
              <a:t>ad esempio </a:t>
            </a:r>
            <a:r>
              <a:rPr lang="it-IT" i="1" dirty="0">
                <a:solidFill>
                  <a:schemeClr val="accent2"/>
                </a:solidFill>
              </a:rPr>
              <a:t>10%3</a:t>
            </a:r>
            <a:r>
              <a:rPr lang="it-IT" dirty="0"/>
              <a:t> vale </a:t>
            </a:r>
            <a:r>
              <a:rPr lang="it-IT" i="1" dirty="0">
                <a:solidFill>
                  <a:schemeClr val="accent2"/>
                </a:solidFill>
              </a:rPr>
              <a:t>1</a:t>
            </a:r>
          </a:p>
          <a:p>
            <a:r>
              <a:rPr lang="it-IT" dirty="0"/>
              <a:t>Più formalmente, deve valere l’equazione:</a:t>
            </a:r>
            <a:br>
              <a:rPr lang="it-IT" dirty="0"/>
            </a:br>
            <a:r>
              <a:rPr lang="it-IT" i="1" dirty="0">
                <a:solidFill>
                  <a:schemeClr val="accent2"/>
                </a:solidFill>
              </a:rPr>
              <a:t>x % y = x – (</a:t>
            </a:r>
            <a:r>
              <a:rPr lang="it-IT" i="1" dirty="0" err="1">
                <a:solidFill>
                  <a:schemeClr val="accent2"/>
                </a:solidFill>
              </a:rPr>
              <a:t>x</a:t>
            </a:r>
            <a:r>
              <a:rPr lang="it-IT" i="1" dirty="0">
                <a:solidFill>
                  <a:schemeClr val="accent2"/>
                </a:solidFill>
              </a:rPr>
              <a:t>/y) * </a:t>
            </a:r>
            <a:r>
              <a:rPr lang="it-IT" i="1" dirty="0" err="1">
                <a:solidFill>
                  <a:schemeClr val="accent2"/>
                </a:solidFill>
              </a:rPr>
              <a:t>y</a:t>
            </a:r>
            <a:endParaRPr lang="it-IT" i="1" dirty="0">
              <a:solidFill>
                <a:schemeClr val="accent2"/>
              </a:solidFill>
            </a:endParaRPr>
          </a:p>
          <a:p>
            <a:r>
              <a:rPr lang="it-IT" dirty="0"/>
              <a:t>Quindi ad esempio:</a:t>
            </a:r>
          </a:p>
          <a:p>
            <a:pPr lvl="1">
              <a:buNone/>
            </a:pPr>
            <a:r>
              <a:rPr lang="it-IT" i="1" dirty="0">
                <a:solidFill>
                  <a:schemeClr val="accent2"/>
                </a:solidFill>
              </a:rPr>
              <a:t>11 % -5  </a:t>
            </a:r>
            <a:r>
              <a:rPr lang="it-IT" dirty="0"/>
              <a:t>vale</a:t>
            </a:r>
            <a:r>
              <a:rPr lang="it-IT" i="1" dirty="0">
                <a:solidFill>
                  <a:schemeClr val="accent2"/>
                </a:solidFill>
              </a:rPr>
              <a:t> 1</a:t>
            </a:r>
          </a:p>
          <a:p>
            <a:pPr lvl="1">
              <a:buNone/>
            </a:pPr>
            <a:r>
              <a:rPr lang="it-IT" i="1" dirty="0">
                <a:solidFill>
                  <a:schemeClr val="accent2"/>
                </a:solidFill>
              </a:rPr>
              <a:t>-11 % 5  </a:t>
            </a:r>
            <a:r>
              <a:rPr lang="it-IT" dirty="0"/>
              <a:t>vale</a:t>
            </a:r>
            <a:r>
              <a:rPr lang="it-IT" i="1" dirty="0">
                <a:solidFill>
                  <a:schemeClr val="accent2"/>
                </a:solidFill>
              </a:rPr>
              <a:t> -1</a:t>
            </a:r>
          </a:p>
          <a:p>
            <a:pPr lvl="1">
              <a:buNone/>
            </a:pPr>
            <a:r>
              <a:rPr lang="it-IT" i="1" dirty="0">
                <a:solidFill>
                  <a:schemeClr val="accent2"/>
                </a:solidFill>
              </a:rPr>
              <a:t>-11 % -5  </a:t>
            </a:r>
            <a:r>
              <a:rPr lang="it-IT" dirty="0"/>
              <a:t>vale</a:t>
            </a:r>
            <a:r>
              <a:rPr lang="it-IT" i="1" dirty="0">
                <a:solidFill>
                  <a:schemeClr val="accent2"/>
                </a:solidFill>
              </a:rPr>
              <a:t> -1</a:t>
            </a:r>
          </a:p>
          <a:p>
            <a:r>
              <a:rPr lang="it-IT" dirty="0"/>
              <a:t>L’operatore </a:t>
            </a:r>
            <a:r>
              <a:rPr lang="it-IT" i="1" dirty="0">
                <a:solidFill>
                  <a:schemeClr val="accent2"/>
                </a:solidFill>
              </a:rPr>
              <a:t>%</a:t>
            </a:r>
            <a:r>
              <a:rPr lang="it-IT" dirty="0"/>
              <a:t> ha la stessa precedenza di </a:t>
            </a:r>
            <a:r>
              <a:rPr lang="it-IT" i="1" dirty="0">
                <a:solidFill>
                  <a:schemeClr val="accent2"/>
                </a:solidFill>
              </a:rPr>
              <a:t>*</a:t>
            </a:r>
            <a:r>
              <a:rPr lang="it-IT" dirty="0"/>
              <a:t> e </a:t>
            </a:r>
            <a:r>
              <a:rPr lang="it-IT" i="1" dirty="0">
                <a:solidFill>
                  <a:schemeClr val="accent2"/>
                </a:solidFill>
              </a:rPr>
              <a:t>/</a:t>
            </a:r>
          </a:p>
          <a:p>
            <a:pPr>
              <a:buNone/>
            </a:pPr>
            <a:endParaRPr lang="it-IT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Parentesi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363272" cy="5112568"/>
          </a:xfrm>
        </p:spPr>
        <p:txBody>
          <a:bodyPr>
            <a:normAutofit/>
          </a:bodyPr>
          <a:lstStyle/>
          <a:p>
            <a:r>
              <a:rPr lang="it-IT" dirty="0"/>
              <a:t>Si possono usare parentesi per forzare le regole di precedenza degli operatori</a:t>
            </a:r>
          </a:p>
          <a:p>
            <a:pPr lvl="1"/>
            <a:r>
              <a:rPr lang="it-IT" dirty="0"/>
              <a:t>si possono usare solo parentesi tonde, con un livello qualunque di annidamento</a:t>
            </a:r>
          </a:p>
          <a:p>
            <a:pPr lvl="1"/>
            <a:endParaRPr lang="it-IT" dirty="0"/>
          </a:p>
          <a:p>
            <a:r>
              <a:rPr lang="it-IT" dirty="0"/>
              <a:t>Ad esempio, la seguente espressione vale </a:t>
            </a:r>
            <a:r>
              <a:rPr lang="it-IT" i="1" dirty="0">
                <a:solidFill>
                  <a:schemeClr val="accent2"/>
                </a:solidFill>
              </a:rPr>
              <a:t>10</a:t>
            </a:r>
          </a:p>
          <a:p>
            <a:pPr algn="ctr">
              <a:buNone/>
            </a:pPr>
            <a:r>
              <a:rPr lang="it-IT" i="1" dirty="0">
                <a:solidFill>
                  <a:schemeClr val="accent2"/>
                </a:solidFill>
              </a:rPr>
              <a:t>((5-2)*7)%3+10/(4-3)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600" dirty="0"/>
              <a:t>Ancora sul tipo delle espressioni intere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363272" cy="5112568"/>
          </a:xfrm>
        </p:spPr>
        <p:txBody>
          <a:bodyPr>
            <a:normAutofit/>
          </a:bodyPr>
          <a:lstStyle/>
          <a:p>
            <a:r>
              <a:rPr lang="it-IT" dirty="0"/>
              <a:t>Ogni espressione intera che fa uso di operatori viene considerata come espressione:</a:t>
            </a:r>
          </a:p>
          <a:p>
            <a:pPr lvl="1"/>
            <a:r>
              <a:rPr lang="it-IT" dirty="0"/>
              <a:t>di tipo </a:t>
            </a:r>
            <a:r>
              <a:rPr lang="it-IT" i="1" dirty="0" err="1">
                <a:solidFill>
                  <a:schemeClr val="accent2"/>
                </a:solidFill>
              </a:rPr>
              <a:t>int</a:t>
            </a:r>
            <a:r>
              <a:rPr lang="it-IT" dirty="0"/>
              <a:t>, se non contiene operandi </a:t>
            </a:r>
            <a:r>
              <a:rPr lang="it-IT" i="1" dirty="0">
                <a:solidFill>
                  <a:schemeClr val="accent2"/>
                </a:solidFill>
              </a:rPr>
              <a:t>long</a:t>
            </a:r>
          </a:p>
          <a:p>
            <a:pPr lvl="1"/>
            <a:r>
              <a:rPr lang="it-IT" dirty="0"/>
              <a:t>di tipo </a:t>
            </a:r>
            <a:r>
              <a:rPr lang="it-IT" i="1" dirty="0">
                <a:solidFill>
                  <a:schemeClr val="accent2"/>
                </a:solidFill>
              </a:rPr>
              <a:t>long</a:t>
            </a:r>
            <a:r>
              <a:rPr lang="it-IT" dirty="0"/>
              <a:t>, se contiene operandi </a:t>
            </a:r>
            <a:r>
              <a:rPr lang="it-IT" i="1" dirty="0">
                <a:solidFill>
                  <a:schemeClr val="accent2"/>
                </a:solidFill>
              </a:rPr>
              <a:t>long </a:t>
            </a:r>
            <a:r>
              <a:rPr lang="it-IT" dirty="0"/>
              <a:t>(ad esempio </a:t>
            </a:r>
            <a:br>
              <a:rPr lang="it-IT" dirty="0"/>
            </a:br>
            <a:r>
              <a:rPr lang="it-IT" i="1" dirty="0">
                <a:solidFill>
                  <a:schemeClr val="accent2"/>
                </a:solidFill>
              </a:rPr>
              <a:t>5 + 5L</a:t>
            </a:r>
            <a:r>
              <a:rPr lang="it-IT" dirty="0"/>
              <a:t> è una espressione di tipo </a:t>
            </a:r>
            <a:r>
              <a:rPr lang="it-IT" i="1" dirty="0">
                <a:solidFill>
                  <a:schemeClr val="accent2"/>
                </a:solidFill>
              </a:rPr>
              <a:t>long</a:t>
            </a:r>
            <a:r>
              <a:rPr lang="it-IT" dirty="0"/>
              <a:t>)</a:t>
            </a:r>
          </a:p>
          <a:p>
            <a:pPr lvl="1"/>
            <a:endParaRPr lang="it-IT" i="1" dirty="0">
              <a:solidFill>
                <a:schemeClr val="accent2"/>
              </a:solidFill>
            </a:endParaRPr>
          </a:p>
          <a:p>
            <a:r>
              <a:rPr lang="it-IT" i="1" dirty="0">
                <a:solidFill>
                  <a:schemeClr val="accent2"/>
                </a:solidFill>
              </a:rPr>
              <a:t>Osservazione</a:t>
            </a:r>
            <a:r>
              <a:rPr lang="it-IT" dirty="0"/>
              <a:t>: Se </a:t>
            </a:r>
            <a:r>
              <a:rPr lang="it-IT" i="1" dirty="0">
                <a:solidFill>
                  <a:schemeClr val="accent2"/>
                </a:solidFill>
              </a:rPr>
              <a:t>a</a:t>
            </a:r>
            <a:r>
              <a:rPr lang="it-IT" dirty="0"/>
              <a:t> e </a:t>
            </a:r>
            <a:r>
              <a:rPr lang="it-IT" i="1" dirty="0">
                <a:solidFill>
                  <a:schemeClr val="accent2"/>
                </a:solidFill>
              </a:rPr>
              <a:t>b</a:t>
            </a:r>
            <a:r>
              <a:rPr lang="it-IT" dirty="0"/>
              <a:t> sono variabili </a:t>
            </a:r>
            <a:r>
              <a:rPr lang="it-IT" i="1" dirty="0">
                <a:solidFill>
                  <a:schemeClr val="accent2"/>
                </a:solidFill>
              </a:rPr>
              <a:t>short</a:t>
            </a:r>
            <a:r>
              <a:rPr lang="it-IT" dirty="0"/>
              <a:t>, l’espressione </a:t>
            </a:r>
            <a:r>
              <a:rPr lang="it-IT" i="1" dirty="0" err="1">
                <a:solidFill>
                  <a:schemeClr val="accent2"/>
                </a:solidFill>
              </a:rPr>
              <a:t>a+b</a:t>
            </a:r>
            <a:r>
              <a:rPr lang="it-IT" dirty="0"/>
              <a:t> è di tipo </a:t>
            </a:r>
            <a:r>
              <a:rPr lang="it-IT" i="1" dirty="0" err="1">
                <a:solidFill>
                  <a:schemeClr val="accent2"/>
                </a:solidFill>
              </a:rPr>
              <a:t>int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dirty="0"/>
              <a:t>!!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000" dirty="0"/>
              <a:t>Assegnazioni di espressioni intere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363272" cy="5112568"/>
          </a:xfrm>
        </p:spPr>
        <p:txBody>
          <a:bodyPr>
            <a:normAutofit/>
          </a:bodyPr>
          <a:lstStyle/>
          <a:p>
            <a:r>
              <a:rPr lang="it-IT" dirty="0"/>
              <a:t>Per assegnare il valore di una espressione intera </a:t>
            </a:r>
            <a:r>
              <a:rPr lang="it-IT" i="1" dirty="0">
                <a:solidFill>
                  <a:schemeClr val="accent2"/>
                </a:solidFill>
              </a:rPr>
              <a:t>&lt;</a:t>
            </a:r>
            <a:r>
              <a:rPr lang="it-IT" i="1" dirty="0" err="1">
                <a:solidFill>
                  <a:schemeClr val="accent2"/>
                </a:solidFill>
              </a:rPr>
              <a:t>esp</a:t>
            </a:r>
            <a:r>
              <a:rPr lang="it-IT" i="1" dirty="0">
                <a:solidFill>
                  <a:schemeClr val="accent2"/>
                </a:solidFill>
              </a:rPr>
              <a:t>&gt; </a:t>
            </a:r>
            <a:r>
              <a:rPr lang="it-IT" dirty="0"/>
              <a:t>ad una variabile intera </a:t>
            </a:r>
            <a:r>
              <a:rPr lang="it-IT" i="1" dirty="0" err="1">
                <a:solidFill>
                  <a:schemeClr val="accent2"/>
                </a:solidFill>
              </a:rPr>
              <a:t>var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dirty="0"/>
              <a:t>dello stesso tipo, basta scrivere</a:t>
            </a:r>
          </a:p>
          <a:p>
            <a:pPr lvl="1" algn="ctr">
              <a:buNone/>
            </a:pPr>
            <a:r>
              <a:rPr lang="it-IT" i="1" dirty="0" err="1">
                <a:solidFill>
                  <a:schemeClr val="accent2"/>
                </a:solidFill>
              </a:rPr>
              <a:t>var</a:t>
            </a:r>
            <a:r>
              <a:rPr lang="it-IT" i="1" dirty="0">
                <a:solidFill>
                  <a:schemeClr val="accent2"/>
                </a:solidFill>
              </a:rPr>
              <a:t> = &lt;</a:t>
            </a:r>
            <a:r>
              <a:rPr lang="it-IT" i="1" dirty="0" err="1">
                <a:solidFill>
                  <a:schemeClr val="accent2"/>
                </a:solidFill>
              </a:rPr>
              <a:t>esp</a:t>
            </a:r>
            <a:r>
              <a:rPr lang="it-IT" i="1" dirty="0">
                <a:solidFill>
                  <a:schemeClr val="accent2"/>
                </a:solidFill>
              </a:rPr>
              <a:t>&gt;</a:t>
            </a:r>
          </a:p>
          <a:p>
            <a:pPr lvl="1" algn="ctr">
              <a:buNone/>
            </a:pPr>
            <a:endParaRPr lang="it-IT" i="1" dirty="0">
              <a:solidFill>
                <a:schemeClr val="accent2"/>
              </a:solidFill>
            </a:endParaRPr>
          </a:p>
          <a:p>
            <a:r>
              <a:rPr lang="it-IT" dirty="0"/>
              <a:t>In alcuni casi è anche possibile assegnare espressioni di un certo tipo intero a variabili intere di tipo diverso – analizzeremo più avanti questi casi </a:t>
            </a:r>
            <a:endParaRPr lang="it-IT" i="1" dirty="0">
              <a:solidFill>
                <a:schemeClr val="accent2"/>
              </a:solidFill>
            </a:endParaRPr>
          </a:p>
          <a:p>
            <a:pPr lvl="1" algn="ctr">
              <a:buNone/>
            </a:pPr>
            <a:endParaRPr lang="it-IT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Un caso importante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363272" cy="5112568"/>
          </a:xfrm>
        </p:spPr>
        <p:txBody>
          <a:bodyPr>
            <a:normAutofit/>
          </a:bodyPr>
          <a:lstStyle/>
          <a:p>
            <a:r>
              <a:rPr lang="it-IT" dirty="0"/>
              <a:t>Sia </a:t>
            </a:r>
            <a:r>
              <a:rPr lang="it-IT" i="1" dirty="0">
                <a:solidFill>
                  <a:schemeClr val="accent2"/>
                </a:solidFill>
              </a:rPr>
              <a:t>a</a:t>
            </a:r>
            <a:r>
              <a:rPr lang="it-IT" dirty="0"/>
              <a:t> una variabile intera; considera il seguente frammento di codice:</a:t>
            </a:r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a = 12;</a:t>
            </a:r>
            <a:endParaRPr lang="it-IT" dirty="0"/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a = </a:t>
            </a:r>
            <a:r>
              <a:rPr lang="it-IT" i="1" dirty="0" err="1">
                <a:solidFill>
                  <a:schemeClr val="accent2"/>
                </a:solidFill>
              </a:rPr>
              <a:t>a</a:t>
            </a:r>
            <a:r>
              <a:rPr lang="it-IT" i="1" dirty="0">
                <a:solidFill>
                  <a:schemeClr val="accent2"/>
                </a:solidFill>
              </a:rPr>
              <a:t> + 5;</a:t>
            </a:r>
          </a:p>
          <a:p>
            <a:pPr>
              <a:buNone/>
            </a:pPr>
            <a:endParaRPr lang="it-IT" i="1" dirty="0">
              <a:solidFill>
                <a:schemeClr val="accent2"/>
              </a:solidFill>
            </a:endParaRPr>
          </a:p>
          <a:p>
            <a:r>
              <a:rPr lang="it-IT" dirty="0"/>
              <a:t>Quanto vale </a:t>
            </a:r>
            <a:r>
              <a:rPr lang="it-IT" i="1" dirty="0">
                <a:solidFill>
                  <a:schemeClr val="accent2"/>
                </a:solidFill>
              </a:rPr>
              <a:t>a</a:t>
            </a:r>
            <a:r>
              <a:rPr lang="it-IT" dirty="0"/>
              <a:t> una volta eseguito questo codice?</a:t>
            </a:r>
          </a:p>
          <a:p>
            <a:pPr lvl="1"/>
            <a:r>
              <a:rPr lang="it-IT" dirty="0"/>
              <a:t>Per eseguire l’istruzione  </a:t>
            </a:r>
            <a:r>
              <a:rPr lang="it-IT" i="1" dirty="0">
                <a:solidFill>
                  <a:schemeClr val="accent2"/>
                </a:solidFill>
              </a:rPr>
              <a:t>a = </a:t>
            </a:r>
            <a:r>
              <a:rPr lang="it-IT" i="1" dirty="0" err="1">
                <a:solidFill>
                  <a:schemeClr val="accent2"/>
                </a:solidFill>
              </a:rPr>
              <a:t>a</a:t>
            </a:r>
            <a:r>
              <a:rPr lang="it-IT" i="1" dirty="0">
                <a:solidFill>
                  <a:schemeClr val="accent2"/>
                </a:solidFill>
              </a:rPr>
              <a:t> + 5 </a:t>
            </a:r>
            <a:r>
              <a:rPr lang="it-IT" dirty="0"/>
              <a:t>si valuta prima il valore dell’espressione a destra di </a:t>
            </a:r>
            <a:r>
              <a:rPr lang="it-IT" i="1" dirty="0">
                <a:solidFill>
                  <a:schemeClr val="accent2"/>
                </a:solidFill>
              </a:rPr>
              <a:t>= </a:t>
            </a:r>
            <a:r>
              <a:rPr lang="it-IT" dirty="0"/>
              <a:t>(in questo caso il valore è </a:t>
            </a:r>
            <a:r>
              <a:rPr lang="it-IT" i="1" dirty="0">
                <a:solidFill>
                  <a:schemeClr val="accent2"/>
                </a:solidFill>
              </a:rPr>
              <a:t>17</a:t>
            </a:r>
            <a:r>
              <a:rPr lang="it-IT" dirty="0"/>
              <a:t>)</a:t>
            </a:r>
          </a:p>
          <a:p>
            <a:pPr lvl="1"/>
            <a:r>
              <a:rPr lang="it-IT" dirty="0"/>
              <a:t>Il valore dell’espressione è dunque assegnato ad </a:t>
            </a:r>
            <a:r>
              <a:rPr lang="it-IT" i="1" dirty="0">
                <a:solidFill>
                  <a:schemeClr val="accent2"/>
                </a:solidFill>
              </a:rPr>
              <a:t>a</a:t>
            </a:r>
            <a:r>
              <a:rPr lang="it-IT" dirty="0"/>
              <a:t>, sovrascrivendo il precedente valore</a:t>
            </a:r>
          </a:p>
          <a:p>
            <a:pPr lvl="1"/>
            <a:endParaRPr lang="it-IT" i="1" dirty="0">
              <a:solidFill>
                <a:schemeClr val="accent2"/>
              </a:solidFill>
            </a:endParaRPr>
          </a:p>
          <a:p>
            <a:endParaRPr lang="it-IT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600" dirty="0"/>
              <a:t>Operatori di assegnazione composta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363272" cy="5112568"/>
          </a:xfrm>
        </p:spPr>
        <p:txBody>
          <a:bodyPr>
            <a:normAutofit/>
          </a:bodyPr>
          <a:lstStyle/>
          <a:p>
            <a:r>
              <a:rPr lang="it-IT" dirty="0"/>
              <a:t>Istruzioni che incrementano e decrementano il valore di una variabile intera sono molto frequenti</a:t>
            </a:r>
          </a:p>
          <a:p>
            <a:r>
              <a:rPr lang="it-IT" dirty="0"/>
              <a:t>Per semplificare queste istruzioni, si possono usare gli </a:t>
            </a:r>
            <a:r>
              <a:rPr lang="it-IT" u="sng" dirty="0">
                <a:solidFill>
                  <a:schemeClr val="accent1"/>
                </a:solidFill>
              </a:rPr>
              <a:t>operatori di assegnazione composta</a:t>
            </a:r>
          </a:p>
          <a:p>
            <a:pPr lvl="1"/>
            <a:endParaRPr lang="it-IT" i="1" dirty="0">
              <a:solidFill>
                <a:schemeClr val="accent2"/>
              </a:solidFill>
            </a:endParaRPr>
          </a:p>
          <a:p>
            <a:endParaRPr lang="it-IT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672" y="3645024"/>
            <a:ext cx="6048375" cy="235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600" dirty="0"/>
              <a:t>Operatori di incremento e decremento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363272" cy="5112568"/>
          </a:xfrm>
        </p:spPr>
        <p:txBody>
          <a:bodyPr>
            <a:normAutofit/>
          </a:bodyPr>
          <a:lstStyle/>
          <a:p>
            <a:r>
              <a:rPr lang="it-IT" dirty="0"/>
              <a:t>In particolare per incrementi e decrementi di una unità, si possono usare i così detti </a:t>
            </a:r>
            <a:r>
              <a:rPr lang="it-IT" u="sng" dirty="0">
                <a:solidFill>
                  <a:schemeClr val="accent1"/>
                </a:solidFill>
              </a:rPr>
              <a:t>operatori di incremento e decremento</a:t>
            </a:r>
          </a:p>
          <a:p>
            <a:pPr lvl="1"/>
            <a:endParaRPr lang="it-IT" i="1" dirty="0">
              <a:solidFill>
                <a:schemeClr val="accent2"/>
              </a:solidFill>
            </a:endParaRP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r>
              <a:rPr lang="it-IT" i="1" dirty="0">
                <a:solidFill>
                  <a:schemeClr val="accent2"/>
                </a:solidFill>
              </a:rPr>
              <a:t>++</a:t>
            </a:r>
            <a:r>
              <a:rPr lang="it-IT" dirty="0"/>
              <a:t> e </a:t>
            </a:r>
            <a:r>
              <a:rPr lang="it-IT" i="1" dirty="0" err="1">
                <a:solidFill>
                  <a:schemeClr val="accent2"/>
                </a:solidFill>
              </a:rPr>
              <a:t>--</a:t>
            </a:r>
            <a:r>
              <a:rPr lang="it-IT" dirty="0"/>
              <a:t> hanno precedenza rispetto agli altri operatori aritmetici</a:t>
            </a:r>
            <a:endParaRPr lang="it-IT" u="sng" dirty="0">
              <a:solidFill>
                <a:schemeClr val="accent1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50" y="2914650"/>
            <a:ext cx="8572500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ttangolo 5"/>
          <p:cNvSpPr/>
          <p:nvPr/>
        </p:nvSpPr>
        <p:spPr>
          <a:xfrm>
            <a:off x="5004048" y="3338286"/>
            <a:ext cx="792088" cy="5124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/>
          <p:cNvSpPr/>
          <p:nvPr/>
        </p:nvSpPr>
        <p:spPr>
          <a:xfrm>
            <a:off x="7236296" y="3338286"/>
            <a:ext cx="792088" cy="5124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CasellaDiTesto 8"/>
          <p:cNvSpPr txBox="1"/>
          <p:nvPr/>
        </p:nvSpPr>
        <p:spPr>
          <a:xfrm>
            <a:off x="1763688" y="4365104"/>
            <a:ext cx="2376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u="sng" dirty="0">
                <a:solidFill>
                  <a:schemeClr val="accent1"/>
                </a:solidFill>
              </a:rPr>
              <a:t>forma postfissa</a:t>
            </a:r>
          </a:p>
        </p:txBody>
      </p:sp>
      <p:sp>
        <p:nvSpPr>
          <p:cNvPr id="10" name="CasellaDiTesto 9"/>
          <p:cNvSpPr txBox="1"/>
          <p:nvPr/>
        </p:nvSpPr>
        <p:spPr>
          <a:xfrm>
            <a:off x="5580112" y="4407495"/>
            <a:ext cx="2376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u="sng" dirty="0">
                <a:solidFill>
                  <a:schemeClr val="accent1"/>
                </a:solidFill>
              </a:rPr>
              <a:t>forma prefissa</a:t>
            </a:r>
          </a:p>
        </p:txBody>
      </p:sp>
      <p:cxnSp>
        <p:nvCxnSpPr>
          <p:cNvPr id="12" name="Connettore 1 11"/>
          <p:cNvCxnSpPr>
            <a:stCxn id="6" idx="2"/>
            <a:endCxn id="9" idx="3"/>
          </p:cNvCxnSpPr>
          <p:nvPr/>
        </p:nvCxnSpPr>
        <p:spPr>
          <a:xfrm flipH="1">
            <a:off x="4139952" y="3850726"/>
            <a:ext cx="1260140" cy="74521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1 12"/>
          <p:cNvCxnSpPr>
            <a:stCxn id="8" idx="2"/>
            <a:endCxn id="10" idx="0"/>
          </p:cNvCxnSpPr>
          <p:nvPr/>
        </p:nvCxnSpPr>
        <p:spPr>
          <a:xfrm flipH="1">
            <a:off x="6768244" y="3850726"/>
            <a:ext cx="864096" cy="55676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600" dirty="0"/>
              <a:t>Operatori di incremento e decremento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363272" cy="5112568"/>
          </a:xfrm>
        </p:spPr>
        <p:txBody>
          <a:bodyPr>
            <a:normAutofit/>
          </a:bodyPr>
          <a:lstStyle/>
          <a:p>
            <a:r>
              <a:rPr lang="it-IT" sz="2600" dirty="0"/>
              <a:t>L’esecuzione delle istruzioni </a:t>
            </a:r>
            <a:r>
              <a:rPr lang="it-IT" sz="2600" i="1" dirty="0">
                <a:solidFill>
                  <a:schemeClr val="accent2"/>
                </a:solidFill>
              </a:rPr>
              <a:t>a++ </a:t>
            </a:r>
            <a:r>
              <a:rPr lang="it-IT" sz="2600" dirty="0"/>
              <a:t>e </a:t>
            </a:r>
            <a:r>
              <a:rPr lang="it-IT" sz="2600" i="1" dirty="0">
                <a:solidFill>
                  <a:schemeClr val="accent2"/>
                </a:solidFill>
              </a:rPr>
              <a:t>++a</a:t>
            </a:r>
            <a:r>
              <a:rPr lang="it-IT" sz="2600" dirty="0"/>
              <a:t> produce lo stesso effetto sul valore di </a:t>
            </a:r>
            <a:r>
              <a:rPr lang="it-IT" sz="2600" i="1" dirty="0">
                <a:solidFill>
                  <a:schemeClr val="accent2"/>
                </a:solidFill>
              </a:rPr>
              <a:t>a</a:t>
            </a:r>
            <a:r>
              <a:rPr lang="it-IT" sz="2600" dirty="0"/>
              <a:t>; ma le due forme possono produrre effetti diversi se usate in espressioni più ampie:</a:t>
            </a:r>
            <a:endParaRPr lang="it-IT" sz="2600" i="1" u="sng" dirty="0">
              <a:solidFill>
                <a:schemeClr val="accent2"/>
              </a:solidFill>
            </a:endParaRPr>
          </a:p>
          <a:p>
            <a:pPr>
              <a:buNone/>
            </a:pPr>
            <a:r>
              <a:rPr lang="it-IT" sz="2400" i="1" dirty="0">
                <a:solidFill>
                  <a:schemeClr val="accent2"/>
                </a:solidFill>
              </a:rPr>
              <a:t>	</a:t>
            </a:r>
          </a:p>
          <a:p>
            <a:pPr>
              <a:buNone/>
            </a:pPr>
            <a:r>
              <a:rPr lang="it-IT" sz="2400" i="1" dirty="0">
                <a:solidFill>
                  <a:schemeClr val="accent2"/>
                </a:solidFill>
              </a:rPr>
              <a:t>	</a:t>
            </a:r>
            <a:r>
              <a:rPr lang="it-IT" sz="2400" i="1" dirty="0" err="1">
                <a:solidFill>
                  <a:schemeClr val="accent2"/>
                </a:solidFill>
              </a:rPr>
              <a:t>int</a:t>
            </a:r>
            <a:r>
              <a:rPr lang="it-IT" sz="2400" i="1" dirty="0">
                <a:solidFill>
                  <a:schemeClr val="accent2"/>
                </a:solidFill>
              </a:rPr>
              <a:t> a = 3;</a:t>
            </a:r>
          </a:p>
          <a:p>
            <a:pPr>
              <a:buNone/>
            </a:pPr>
            <a:r>
              <a:rPr lang="it-IT" sz="2400" i="1" dirty="0">
                <a:solidFill>
                  <a:schemeClr val="accent2"/>
                </a:solidFill>
              </a:rPr>
              <a:t>	</a:t>
            </a:r>
            <a:r>
              <a:rPr lang="it-IT" sz="2400" i="1" dirty="0" err="1">
                <a:solidFill>
                  <a:schemeClr val="accent2"/>
                </a:solidFill>
              </a:rPr>
              <a:t>int</a:t>
            </a:r>
            <a:r>
              <a:rPr lang="it-IT" sz="2400" i="1" dirty="0">
                <a:solidFill>
                  <a:schemeClr val="accent2"/>
                </a:solidFill>
              </a:rPr>
              <a:t> b = 2 + a++</a:t>
            </a:r>
          </a:p>
          <a:p>
            <a:pPr>
              <a:buNone/>
            </a:pPr>
            <a:endParaRPr lang="it-IT" sz="2400" i="1" dirty="0">
              <a:solidFill>
                <a:schemeClr val="accent2"/>
              </a:solidFill>
            </a:endParaRPr>
          </a:p>
          <a:p>
            <a:pPr>
              <a:buNone/>
            </a:pPr>
            <a:endParaRPr lang="it-IT" sz="2400" i="1" dirty="0">
              <a:solidFill>
                <a:schemeClr val="accent2"/>
              </a:solidFill>
            </a:endParaRPr>
          </a:p>
          <a:p>
            <a:pPr>
              <a:buNone/>
            </a:pPr>
            <a:r>
              <a:rPr lang="it-IT" sz="2400" i="1" dirty="0">
                <a:solidFill>
                  <a:schemeClr val="accent2"/>
                </a:solidFill>
              </a:rPr>
              <a:t>	</a:t>
            </a:r>
            <a:r>
              <a:rPr lang="it-IT" sz="2400" i="1" dirty="0" err="1">
                <a:solidFill>
                  <a:schemeClr val="accent2"/>
                </a:solidFill>
              </a:rPr>
              <a:t>int</a:t>
            </a:r>
            <a:r>
              <a:rPr lang="it-IT" sz="2400" i="1" dirty="0">
                <a:solidFill>
                  <a:schemeClr val="accent2"/>
                </a:solidFill>
              </a:rPr>
              <a:t> a = 3;</a:t>
            </a:r>
          </a:p>
          <a:p>
            <a:pPr>
              <a:buNone/>
            </a:pPr>
            <a:r>
              <a:rPr lang="it-IT" sz="2400" i="1" dirty="0">
                <a:solidFill>
                  <a:schemeClr val="accent2"/>
                </a:solidFill>
              </a:rPr>
              <a:t>	</a:t>
            </a:r>
            <a:r>
              <a:rPr lang="it-IT" sz="2400" i="1" dirty="0" err="1">
                <a:solidFill>
                  <a:schemeClr val="accent2"/>
                </a:solidFill>
              </a:rPr>
              <a:t>int</a:t>
            </a:r>
            <a:r>
              <a:rPr lang="it-IT" sz="2400" i="1" dirty="0">
                <a:solidFill>
                  <a:schemeClr val="accent2"/>
                </a:solidFill>
              </a:rPr>
              <a:t> b = 2 + ++a</a:t>
            </a:r>
          </a:p>
          <a:p>
            <a:pPr>
              <a:buNone/>
            </a:pPr>
            <a:endParaRPr lang="it-IT" sz="2400" i="1" dirty="0">
              <a:solidFill>
                <a:schemeClr val="accent2"/>
              </a:solidFill>
            </a:endParaRPr>
          </a:p>
          <a:p>
            <a:endParaRPr lang="it-IT" sz="2400" dirty="0"/>
          </a:p>
        </p:txBody>
      </p:sp>
      <p:cxnSp>
        <p:nvCxnSpPr>
          <p:cNvPr id="14" name="Connettore 1 13"/>
          <p:cNvCxnSpPr/>
          <p:nvPr/>
        </p:nvCxnSpPr>
        <p:spPr>
          <a:xfrm>
            <a:off x="899592" y="4653136"/>
            <a:ext cx="75608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sellaDiTesto 15"/>
          <p:cNvSpPr txBox="1"/>
          <p:nvPr/>
        </p:nvSpPr>
        <p:spPr>
          <a:xfrm>
            <a:off x="4499992" y="3750131"/>
            <a:ext cx="38164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al termine </a:t>
            </a:r>
            <a:r>
              <a:rPr lang="it-IT" sz="2400" i="1" dirty="0">
                <a:solidFill>
                  <a:schemeClr val="accent2"/>
                </a:solidFill>
              </a:rPr>
              <a:t>a</a:t>
            </a:r>
            <a:r>
              <a:rPr lang="it-IT" sz="2400" dirty="0"/>
              <a:t> vale </a:t>
            </a:r>
            <a:r>
              <a:rPr lang="it-IT" sz="2400" i="1" dirty="0">
                <a:solidFill>
                  <a:schemeClr val="accent2"/>
                </a:solidFill>
              </a:rPr>
              <a:t>4</a:t>
            </a:r>
            <a:r>
              <a:rPr lang="it-IT" sz="2400" dirty="0"/>
              <a:t> </a:t>
            </a:r>
            <a:br>
              <a:rPr lang="it-IT" sz="2400" dirty="0"/>
            </a:br>
            <a:r>
              <a:rPr lang="it-IT" sz="2400" dirty="0"/>
              <a:t>e </a:t>
            </a:r>
            <a:r>
              <a:rPr lang="it-IT" sz="2400" i="1" dirty="0">
                <a:solidFill>
                  <a:schemeClr val="accent2"/>
                </a:solidFill>
              </a:rPr>
              <a:t>b</a:t>
            </a:r>
            <a:r>
              <a:rPr lang="it-IT" sz="2400" dirty="0"/>
              <a:t> vale </a:t>
            </a:r>
            <a:r>
              <a:rPr lang="it-IT" sz="2400" i="1" dirty="0">
                <a:solidFill>
                  <a:schemeClr val="accent2"/>
                </a:solidFill>
              </a:rPr>
              <a:t>5</a:t>
            </a:r>
          </a:p>
        </p:txBody>
      </p:sp>
      <p:sp>
        <p:nvSpPr>
          <p:cNvPr id="17" name="CasellaDiTesto 16"/>
          <p:cNvSpPr txBox="1"/>
          <p:nvPr/>
        </p:nvSpPr>
        <p:spPr>
          <a:xfrm>
            <a:off x="4355976" y="5478323"/>
            <a:ext cx="38164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al termine </a:t>
            </a:r>
            <a:r>
              <a:rPr lang="it-IT" sz="2400" i="1" dirty="0">
                <a:solidFill>
                  <a:schemeClr val="accent2"/>
                </a:solidFill>
              </a:rPr>
              <a:t>a</a:t>
            </a:r>
            <a:r>
              <a:rPr lang="it-IT" sz="2400" dirty="0"/>
              <a:t> vale </a:t>
            </a:r>
            <a:r>
              <a:rPr lang="it-IT" sz="2400" i="1" dirty="0">
                <a:solidFill>
                  <a:schemeClr val="accent2"/>
                </a:solidFill>
              </a:rPr>
              <a:t>4</a:t>
            </a:r>
            <a:r>
              <a:rPr lang="it-IT" sz="2400" dirty="0"/>
              <a:t> </a:t>
            </a:r>
            <a:br>
              <a:rPr lang="it-IT" sz="2400" dirty="0"/>
            </a:br>
            <a:r>
              <a:rPr lang="it-IT" sz="2400" dirty="0"/>
              <a:t>e </a:t>
            </a:r>
            <a:r>
              <a:rPr lang="it-IT" sz="2400" i="1" dirty="0">
                <a:solidFill>
                  <a:schemeClr val="accent2"/>
                </a:solidFill>
              </a:rPr>
              <a:t>b</a:t>
            </a:r>
            <a:r>
              <a:rPr lang="it-IT" sz="2400" dirty="0"/>
              <a:t> vale </a:t>
            </a:r>
            <a:r>
              <a:rPr lang="it-IT" sz="2400" i="1" dirty="0">
                <a:solidFill>
                  <a:schemeClr val="accent2"/>
                </a:solidFill>
              </a:rPr>
              <a:t>6</a:t>
            </a:r>
          </a:p>
        </p:txBody>
      </p:sp>
      <p:cxnSp>
        <p:nvCxnSpPr>
          <p:cNvPr id="22" name="Connettore 1 21"/>
          <p:cNvCxnSpPr/>
          <p:nvPr/>
        </p:nvCxnSpPr>
        <p:spPr>
          <a:xfrm flipH="1" flipV="1">
            <a:off x="2989943" y="5910371"/>
            <a:ext cx="1366033" cy="1594"/>
          </a:xfrm>
          <a:prstGeom prst="line">
            <a:avLst/>
          </a:prstGeom>
          <a:ln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1 22"/>
          <p:cNvCxnSpPr/>
          <p:nvPr/>
        </p:nvCxnSpPr>
        <p:spPr>
          <a:xfrm flipH="1" flipV="1">
            <a:off x="2987824" y="4149080"/>
            <a:ext cx="1366033" cy="1594"/>
          </a:xfrm>
          <a:prstGeom prst="line">
            <a:avLst/>
          </a:prstGeom>
          <a:ln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Overflow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363272" cy="5112568"/>
          </a:xfrm>
        </p:spPr>
        <p:txBody>
          <a:bodyPr>
            <a:normAutofit/>
          </a:bodyPr>
          <a:lstStyle/>
          <a:p>
            <a:r>
              <a:rPr lang="it-IT" sz="2600" dirty="0"/>
              <a:t>l’</a:t>
            </a:r>
            <a:r>
              <a:rPr lang="it-IT" sz="2600" u="sng" dirty="0" err="1">
                <a:solidFill>
                  <a:schemeClr val="accent1"/>
                </a:solidFill>
              </a:rPr>
              <a:t>overflow</a:t>
            </a:r>
            <a:r>
              <a:rPr lang="it-IT" sz="2600" dirty="0"/>
              <a:t> è una condizione che si verifica quando assegno ad una variabile intera una espressione dello stesso tipo il cui valore eccede la capacità della variabile stessa</a:t>
            </a:r>
          </a:p>
          <a:p>
            <a:r>
              <a:rPr lang="it-IT" sz="2600" dirty="0"/>
              <a:t>Ad esempio, se assegno ad una variabile </a:t>
            </a:r>
            <a:r>
              <a:rPr lang="it-IT" sz="2600" i="1" dirty="0" err="1">
                <a:solidFill>
                  <a:schemeClr val="accent2"/>
                </a:solidFill>
              </a:rPr>
              <a:t>int</a:t>
            </a:r>
            <a:r>
              <a:rPr lang="it-IT" sz="2600" dirty="0"/>
              <a:t> l’espressione </a:t>
            </a:r>
            <a:r>
              <a:rPr lang="it-IT" sz="2600" i="1" dirty="0">
                <a:solidFill>
                  <a:schemeClr val="accent2"/>
                </a:solidFill>
              </a:rPr>
              <a:t>2147483647 + 1 </a:t>
            </a:r>
            <a:r>
              <a:rPr lang="it-IT" sz="2600" dirty="0"/>
              <a:t>cosa accade? (ricordiamo che </a:t>
            </a:r>
            <a:r>
              <a:rPr lang="it-IT" sz="1600" i="1" dirty="0">
                <a:solidFill>
                  <a:schemeClr val="accent2"/>
                </a:solidFill>
              </a:rPr>
              <a:t>	</a:t>
            </a:r>
            <a:r>
              <a:rPr lang="it-IT" sz="2600" i="1" dirty="0">
                <a:solidFill>
                  <a:srgbClr val="006600"/>
                </a:solidFill>
              </a:rPr>
              <a:t> 2147483647 </a:t>
            </a:r>
            <a:r>
              <a:rPr lang="it-IT" sz="2600" dirty="0"/>
              <a:t>è il massimo valore </a:t>
            </a:r>
            <a:r>
              <a:rPr lang="it-IT" sz="2600" i="1" dirty="0" err="1">
                <a:solidFill>
                  <a:schemeClr val="accent2"/>
                </a:solidFill>
              </a:rPr>
              <a:t>int</a:t>
            </a:r>
            <a:r>
              <a:rPr lang="it-IT" sz="2600" dirty="0"/>
              <a:t>)</a:t>
            </a:r>
          </a:p>
          <a:p>
            <a:pPr lvl="1"/>
            <a:r>
              <a:rPr lang="it-IT" dirty="0"/>
              <a:t>non vengono segnalati errori, ma viene assegnato alla variabile un valore errato (nel caso specifico il valore </a:t>
            </a:r>
            <a:r>
              <a:rPr lang="it-IT" i="1" dirty="0">
                <a:solidFill>
                  <a:schemeClr val="accent2"/>
                </a:solidFill>
              </a:rPr>
              <a:t>-2</a:t>
            </a:r>
            <a:r>
              <a:rPr lang="it-IT" i="1" baseline="30000" dirty="0">
                <a:solidFill>
                  <a:schemeClr val="accent2"/>
                </a:solidFill>
              </a:rPr>
              <a:t>31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dirty="0"/>
              <a:t>cioè </a:t>
            </a:r>
            <a:r>
              <a:rPr lang="it-IT" i="1" dirty="0">
                <a:solidFill>
                  <a:schemeClr val="accent2"/>
                </a:solidFill>
              </a:rPr>
              <a:t>-2147483648</a:t>
            </a:r>
            <a:r>
              <a:rPr lang="it-IT" dirty="0"/>
              <a:t>)</a:t>
            </a:r>
          </a:p>
          <a:p>
            <a:endParaRPr lang="it-IT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Overflow</a:t>
            </a:r>
            <a:r>
              <a:rPr lang="it-IT" dirty="0"/>
              <a:t>: motivo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363272" cy="5112568"/>
          </a:xfrm>
        </p:spPr>
        <p:txBody>
          <a:bodyPr>
            <a:normAutofit/>
          </a:bodyPr>
          <a:lstStyle/>
          <a:p>
            <a:r>
              <a:rPr lang="it-IT" sz="2400" dirty="0"/>
              <a:t>La rappresentazione del dato </a:t>
            </a:r>
            <a:r>
              <a:rPr lang="it-IT" sz="2400" i="1" dirty="0" err="1">
                <a:solidFill>
                  <a:schemeClr val="accent2"/>
                </a:solidFill>
              </a:rPr>
              <a:t>int</a:t>
            </a:r>
            <a:r>
              <a:rPr lang="it-IT" sz="2400" dirty="0"/>
              <a:t> è su 32 bit; sommando </a:t>
            </a:r>
            <a:r>
              <a:rPr lang="it-IT" sz="2400" i="1" dirty="0">
                <a:solidFill>
                  <a:schemeClr val="accent2"/>
                </a:solidFill>
              </a:rPr>
              <a:t>1</a:t>
            </a:r>
            <a:r>
              <a:rPr lang="it-IT" sz="2400" dirty="0"/>
              <a:t> alla rappresentazione binaria di </a:t>
            </a:r>
            <a:r>
              <a:rPr lang="it-IT" sz="2400" i="1" dirty="0">
                <a:solidFill>
                  <a:srgbClr val="006600"/>
                </a:solidFill>
              </a:rPr>
              <a:t>2147483647 </a:t>
            </a:r>
            <a:r>
              <a:rPr lang="it-IT" sz="2400" dirty="0"/>
              <a:t>si ottiene un riporto, che si propaga fino alla cifra più significativa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2463" y="3350493"/>
            <a:ext cx="7839075" cy="159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000" dirty="0"/>
              <a:t>Operatori di manipolazione dei bit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363272" cy="5112568"/>
          </a:xfrm>
        </p:spPr>
        <p:txBody>
          <a:bodyPr>
            <a:normAutofit/>
          </a:bodyPr>
          <a:lstStyle/>
          <a:p>
            <a:r>
              <a:rPr lang="it-IT" dirty="0"/>
              <a:t>Java offre </a:t>
            </a:r>
            <a:r>
              <a:rPr lang="it-IT" u="sng" dirty="0">
                <a:solidFill>
                  <a:schemeClr val="accent1"/>
                </a:solidFill>
              </a:rPr>
              <a:t>operatori di manipolazione dei bit </a:t>
            </a:r>
            <a:r>
              <a:rPr lang="it-IT" dirty="0"/>
              <a:t>di un numero intero:</a:t>
            </a:r>
          </a:p>
          <a:p>
            <a:pPr lvl="1"/>
            <a:r>
              <a:rPr lang="it-IT" dirty="0"/>
              <a:t>questi operatori consentono di far scorrere i bit a sinistra o a destra, di invertire il valore di ogni bit e di operare in modo logico tra bit della stessa posizione in numeri diversi</a:t>
            </a:r>
          </a:p>
          <a:p>
            <a:endParaRPr lang="it-IT" dirty="0"/>
          </a:p>
          <a:p>
            <a:r>
              <a:rPr lang="it-IT" dirty="0"/>
              <a:t>Si veda il Capitolo 6 del libro di riferimento per dettagli in merito a questi tipi di operatori</a:t>
            </a:r>
          </a:p>
        </p:txBody>
      </p:sp>
      <p:sp>
        <p:nvSpPr>
          <p:cNvPr id="4" name="Rettangolo arrotondato 3"/>
          <p:cNvSpPr/>
          <p:nvPr/>
        </p:nvSpPr>
        <p:spPr>
          <a:xfrm>
            <a:off x="216024" y="1340768"/>
            <a:ext cx="179512" cy="4680520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Espressioni in virgola mobile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r>
              <a:rPr lang="it-IT" sz="2400" dirty="0"/>
              <a:t>Le espressioni in virgola mobile sono di tipo </a:t>
            </a:r>
            <a:r>
              <a:rPr lang="it-IT" sz="2400" i="1" dirty="0" err="1">
                <a:solidFill>
                  <a:schemeClr val="accent2"/>
                </a:solidFill>
              </a:rPr>
              <a:t>double</a:t>
            </a:r>
            <a:r>
              <a:rPr lang="it-IT" sz="2400" dirty="0"/>
              <a:t> o  </a:t>
            </a:r>
            <a:r>
              <a:rPr lang="it-IT" sz="2400" i="1" dirty="0" err="1">
                <a:solidFill>
                  <a:schemeClr val="accent2"/>
                </a:solidFill>
              </a:rPr>
              <a:t>float</a:t>
            </a:r>
            <a:endParaRPr lang="it-IT" sz="2400" i="1" dirty="0">
              <a:solidFill>
                <a:schemeClr val="accent2"/>
              </a:solidFill>
            </a:endParaRPr>
          </a:p>
          <a:p>
            <a:r>
              <a:rPr lang="it-IT" sz="2400" dirty="0"/>
              <a:t>I letterali </a:t>
            </a:r>
            <a:r>
              <a:rPr lang="it-IT" sz="2400" i="1" dirty="0" err="1">
                <a:solidFill>
                  <a:schemeClr val="accent2"/>
                </a:solidFill>
              </a:rPr>
              <a:t>double</a:t>
            </a:r>
            <a:r>
              <a:rPr lang="it-IT" sz="2400" dirty="0">
                <a:solidFill>
                  <a:schemeClr val="accent2"/>
                </a:solidFill>
              </a:rPr>
              <a:t> </a:t>
            </a:r>
            <a:r>
              <a:rPr lang="it-IT" sz="2400" dirty="0"/>
              <a:t>sono</a:t>
            </a:r>
            <a:r>
              <a:rPr lang="it-IT" sz="2400" dirty="0">
                <a:solidFill>
                  <a:schemeClr val="accent2"/>
                </a:solidFill>
              </a:rPr>
              <a:t> </a:t>
            </a:r>
            <a:r>
              <a:rPr lang="it-IT" sz="2400" dirty="0"/>
              <a:t>costanti numeriche con virgola, espresse usando il “.” come separatore tra cifre intere e decimali; si può anche usare la notazione scientifica </a:t>
            </a:r>
            <a:r>
              <a:rPr lang="it-IT" sz="2400" i="1" dirty="0" err="1">
                <a:solidFill>
                  <a:schemeClr val="accent2"/>
                </a:solidFill>
              </a:rPr>
              <a:t>xEy</a:t>
            </a:r>
            <a:r>
              <a:rPr lang="it-IT" sz="2400" dirty="0"/>
              <a:t>, equivalente a </a:t>
            </a:r>
            <a:r>
              <a:rPr lang="it-IT" sz="2400" i="1" dirty="0">
                <a:solidFill>
                  <a:schemeClr val="accent2"/>
                </a:solidFill>
              </a:rPr>
              <a:t>x10</a:t>
            </a:r>
            <a:r>
              <a:rPr lang="it-IT" sz="2400" i="1" baseline="30000" dirty="0">
                <a:solidFill>
                  <a:schemeClr val="accent2"/>
                </a:solidFill>
              </a:rPr>
              <a:t>y</a:t>
            </a:r>
            <a:r>
              <a:rPr lang="it-IT" sz="2400" dirty="0"/>
              <a:t> </a:t>
            </a:r>
            <a:endParaRPr lang="it-IT" sz="2400" i="1" dirty="0"/>
          </a:p>
          <a:p>
            <a:r>
              <a:rPr lang="it-IT" sz="2400" dirty="0"/>
              <a:t>Esempio di letterali </a:t>
            </a:r>
            <a:r>
              <a:rPr lang="it-IT" sz="2400" i="1" dirty="0" err="1">
                <a:solidFill>
                  <a:schemeClr val="accent2"/>
                </a:solidFill>
              </a:rPr>
              <a:t>double</a:t>
            </a:r>
            <a:r>
              <a:rPr lang="it-IT" sz="2400" dirty="0"/>
              <a:t> equivalenti:</a:t>
            </a:r>
          </a:p>
          <a:p>
            <a:pPr algn="ctr">
              <a:buNone/>
            </a:pPr>
            <a:r>
              <a:rPr lang="it-IT" sz="2400" i="1" dirty="0">
                <a:solidFill>
                  <a:schemeClr val="accent2"/>
                </a:solidFill>
              </a:rPr>
              <a:t>1.23		0.00123E3		12.3E-1</a:t>
            </a:r>
          </a:p>
          <a:p>
            <a:r>
              <a:rPr lang="it-IT" sz="2400" dirty="0"/>
              <a:t>Si può anche esplicitare un letterale </a:t>
            </a:r>
            <a:r>
              <a:rPr lang="it-IT" sz="2400" i="1" dirty="0" err="1">
                <a:solidFill>
                  <a:schemeClr val="accent2"/>
                </a:solidFill>
              </a:rPr>
              <a:t>double</a:t>
            </a:r>
            <a:r>
              <a:rPr lang="it-IT" sz="2400" dirty="0"/>
              <a:t>, mettendo il suffisso </a:t>
            </a:r>
            <a:r>
              <a:rPr lang="it-IT" sz="2400" i="1" dirty="0">
                <a:solidFill>
                  <a:schemeClr val="accent2"/>
                </a:solidFill>
              </a:rPr>
              <a:t>d</a:t>
            </a:r>
            <a:r>
              <a:rPr lang="it-IT" sz="2400" dirty="0"/>
              <a:t> o </a:t>
            </a:r>
            <a:r>
              <a:rPr lang="it-IT" sz="2400" i="1" dirty="0">
                <a:solidFill>
                  <a:schemeClr val="accent2"/>
                </a:solidFill>
              </a:rPr>
              <a:t>D</a:t>
            </a:r>
            <a:r>
              <a:rPr lang="it-IT" sz="2400" dirty="0"/>
              <a:t> al termine del numero</a:t>
            </a:r>
          </a:p>
          <a:p>
            <a:r>
              <a:rPr lang="it-IT" sz="2400" dirty="0"/>
              <a:t>Una costante numerica con virgola sarà considerata letterale </a:t>
            </a:r>
            <a:r>
              <a:rPr lang="it-IT" sz="2400" i="1" dirty="0" err="1">
                <a:solidFill>
                  <a:schemeClr val="accent2"/>
                </a:solidFill>
              </a:rPr>
              <a:t>float</a:t>
            </a:r>
            <a:r>
              <a:rPr lang="it-IT" sz="2400" dirty="0"/>
              <a:t> solo se specificato con il suffisso </a:t>
            </a:r>
            <a:r>
              <a:rPr lang="it-IT" sz="2400" i="1" dirty="0">
                <a:solidFill>
                  <a:schemeClr val="accent2"/>
                </a:solidFill>
              </a:rPr>
              <a:t>f</a:t>
            </a:r>
            <a:r>
              <a:rPr lang="it-IT" sz="2400" dirty="0"/>
              <a:t> o </a:t>
            </a:r>
            <a:r>
              <a:rPr lang="it-IT" sz="2400" i="1" dirty="0">
                <a:solidFill>
                  <a:schemeClr val="accent2"/>
                </a:solidFill>
              </a:rPr>
              <a:t>F </a:t>
            </a:r>
            <a:r>
              <a:rPr lang="it-IT" sz="2400" dirty="0"/>
              <a:t>(esempio </a:t>
            </a:r>
            <a:r>
              <a:rPr lang="it-IT" sz="2400" i="1" dirty="0">
                <a:solidFill>
                  <a:schemeClr val="accent2"/>
                </a:solidFill>
              </a:rPr>
              <a:t>1.23F</a:t>
            </a:r>
            <a:r>
              <a:rPr lang="it-IT" sz="2400" dirty="0"/>
              <a:t>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000" dirty="0"/>
              <a:t>Osservazione sui letterali numerici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r>
              <a:rPr lang="it-IT" dirty="0"/>
              <a:t>Uno stesso valore costante può essere rappresentato con diversi letterali numerici:</a:t>
            </a:r>
          </a:p>
          <a:p>
            <a:pPr lvl="1"/>
            <a:r>
              <a:rPr lang="it-IT" dirty="0"/>
              <a:t>se scrivo </a:t>
            </a:r>
            <a:r>
              <a:rPr lang="it-IT" i="1" dirty="0">
                <a:solidFill>
                  <a:schemeClr val="accent2"/>
                </a:solidFill>
              </a:rPr>
              <a:t>53</a:t>
            </a:r>
            <a:r>
              <a:rPr lang="it-IT" dirty="0"/>
              <a:t> indico un letterale </a:t>
            </a:r>
            <a:r>
              <a:rPr lang="it-IT" i="1" dirty="0" err="1">
                <a:solidFill>
                  <a:schemeClr val="accent2"/>
                </a:solidFill>
              </a:rPr>
              <a:t>int</a:t>
            </a:r>
            <a:r>
              <a:rPr lang="it-IT" dirty="0"/>
              <a:t>, che sarà rappresentato con 32 bit</a:t>
            </a:r>
          </a:p>
          <a:p>
            <a:pPr lvl="1"/>
            <a:r>
              <a:rPr lang="it-IT" dirty="0"/>
              <a:t>se scrivo </a:t>
            </a:r>
            <a:r>
              <a:rPr lang="it-IT" dirty="0">
                <a:solidFill>
                  <a:schemeClr val="accent2"/>
                </a:solidFill>
              </a:rPr>
              <a:t>53.0</a:t>
            </a:r>
            <a:r>
              <a:rPr lang="it-IT" dirty="0"/>
              <a:t> oppure </a:t>
            </a:r>
            <a:r>
              <a:rPr lang="it-IT" dirty="0">
                <a:solidFill>
                  <a:schemeClr val="accent2"/>
                </a:solidFill>
              </a:rPr>
              <a:t>53D</a:t>
            </a:r>
            <a:r>
              <a:rPr lang="it-IT" dirty="0"/>
              <a:t> indico un letterale </a:t>
            </a:r>
            <a:r>
              <a:rPr lang="it-IT" i="1" dirty="0" err="1">
                <a:solidFill>
                  <a:schemeClr val="accent2"/>
                </a:solidFill>
              </a:rPr>
              <a:t>double</a:t>
            </a:r>
            <a:r>
              <a:rPr lang="it-IT" dirty="0"/>
              <a:t>, che sarà rappresentato con 64 bit</a:t>
            </a:r>
          </a:p>
          <a:p>
            <a:pPr lvl="1"/>
            <a:r>
              <a:rPr lang="it-IT" dirty="0"/>
              <a:t>se scrivo </a:t>
            </a:r>
            <a:r>
              <a:rPr lang="it-IT" i="1" dirty="0">
                <a:solidFill>
                  <a:schemeClr val="accent2"/>
                </a:solidFill>
              </a:rPr>
              <a:t>53F</a:t>
            </a:r>
            <a:r>
              <a:rPr lang="it-IT" dirty="0"/>
              <a:t> indico un letterale </a:t>
            </a:r>
            <a:r>
              <a:rPr lang="it-IT" i="1" dirty="0">
                <a:solidFill>
                  <a:schemeClr val="accent2"/>
                </a:solidFill>
              </a:rPr>
              <a:t>float</a:t>
            </a:r>
            <a:r>
              <a:rPr lang="it-IT" dirty="0"/>
              <a:t>, che sarà rappresentato con 32 bit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600" dirty="0"/>
              <a:t>Operatori per espressioni con virgola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r>
              <a:rPr lang="it-IT" dirty="0"/>
              <a:t>Valgono tutti gli operatori usati per le espressioni intere, tranne quelli di manipolazione dei bit</a:t>
            </a:r>
          </a:p>
          <a:p>
            <a:pPr>
              <a:buNone/>
            </a:pPr>
            <a:endParaRPr lang="it-IT" dirty="0"/>
          </a:p>
          <a:p>
            <a:r>
              <a:rPr lang="it-IT" dirty="0"/>
              <a:t>L’effetto dell’operatore dipenderà dagli operandi: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15/2</a:t>
            </a:r>
            <a:r>
              <a:rPr lang="it-IT" dirty="0"/>
              <a:t> è una espressione intera che vale </a:t>
            </a:r>
            <a:r>
              <a:rPr lang="it-IT" i="1" dirty="0">
                <a:solidFill>
                  <a:schemeClr val="accent2"/>
                </a:solidFill>
              </a:rPr>
              <a:t>7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15.0/2.0</a:t>
            </a:r>
            <a:r>
              <a:rPr lang="it-IT" dirty="0"/>
              <a:t> è una espressione con virgola che vale </a:t>
            </a:r>
            <a:r>
              <a:rPr lang="it-IT" i="1" dirty="0">
                <a:solidFill>
                  <a:schemeClr val="accent2"/>
                </a:solidFill>
              </a:rPr>
              <a:t>7.5</a:t>
            </a:r>
          </a:p>
          <a:p>
            <a:r>
              <a:rPr lang="it-IT" dirty="0"/>
              <a:t>Se </a:t>
            </a:r>
            <a:r>
              <a:rPr lang="it-IT" i="1" dirty="0">
                <a:solidFill>
                  <a:schemeClr val="accent2"/>
                </a:solidFill>
              </a:rPr>
              <a:t>x</a:t>
            </a:r>
            <a:r>
              <a:rPr lang="it-IT" dirty="0"/>
              <a:t> ed </a:t>
            </a:r>
            <a:r>
              <a:rPr lang="it-IT" i="1" dirty="0">
                <a:solidFill>
                  <a:schemeClr val="accent2"/>
                </a:solidFill>
              </a:rPr>
              <a:t>y</a:t>
            </a:r>
            <a:r>
              <a:rPr lang="it-IT" dirty="0"/>
              <a:t> sono numeri con virgola, l’espressione </a:t>
            </a:r>
            <a:r>
              <a:rPr lang="it-IT" i="1" dirty="0">
                <a:solidFill>
                  <a:schemeClr val="accent2"/>
                </a:solidFill>
              </a:rPr>
              <a:t>x % y </a:t>
            </a:r>
            <a:r>
              <a:rPr lang="it-IT" dirty="0"/>
              <a:t>vale </a:t>
            </a:r>
            <a:r>
              <a:rPr lang="it-IT" i="1" dirty="0">
                <a:solidFill>
                  <a:schemeClr val="accent2"/>
                </a:solidFill>
              </a:rPr>
              <a:t>x – </a:t>
            </a:r>
            <a:r>
              <a:rPr lang="it-IT" i="1" dirty="0" err="1">
                <a:solidFill>
                  <a:schemeClr val="accent2"/>
                </a:solidFill>
              </a:rPr>
              <a:t>n*y</a:t>
            </a:r>
            <a:r>
              <a:rPr lang="it-IT" dirty="0"/>
              <a:t>, dove </a:t>
            </a:r>
            <a:r>
              <a:rPr lang="it-IT" i="1" dirty="0">
                <a:solidFill>
                  <a:schemeClr val="accent2"/>
                </a:solidFill>
              </a:rPr>
              <a:t>n</a:t>
            </a:r>
            <a:r>
              <a:rPr lang="it-IT" dirty="0"/>
              <a:t> è il numero di </a:t>
            </a:r>
            <a:r>
              <a:rPr lang="it-IT"/>
              <a:t>volte che </a:t>
            </a:r>
            <a:r>
              <a:rPr lang="it-IT" i="1" dirty="0">
                <a:solidFill>
                  <a:schemeClr val="accent2"/>
                </a:solidFill>
              </a:rPr>
              <a:t>y</a:t>
            </a:r>
            <a:r>
              <a:rPr lang="it-IT" dirty="0"/>
              <a:t> sta interamente in </a:t>
            </a:r>
            <a:r>
              <a:rPr lang="it-IT" i="1" dirty="0">
                <a:solidFill>
                  <a:schemeClr val="accent2"/>
                </a:solidFill>
              </a:rPr>
              <a:t>x</a:t>
            </a:r>
          </a:p>
          <a:p>
            <a:pPr lvl="1"/>
            <a:r>
              <a:rPr lang="it-IT" dirty="0"/>
              <a:t>l’espressione </a:t>
            </a:r>
            <a:r>
              <a:rPr lang="it-IT" i="1" dirty="0">
                <a:solidFill>
                  <a:schemeClr val="accent2"/>
                </a:solidFill>
              </a:rPr>
              <a:t>5.0%2.5</a:t>
            </a:r>
            <a:r>
              <a:rPr lang="it-IT" dirty="0"/>
              <a:t> vale </a:t>
            </a:r>
            <a:r>
              <a:rPr lang="it-IT" i="1" dirty="0">
                <a:solidFill>
                  <a:schemeClr val="accent2"/>
                </a:solidFill>
              </a:rPr>
              <a:t>0</a:t>
            </a:r>
          </a:p>
          <a:p>
            <a:pPr lvl="1"/>
            <a:r>
              <a:rPr lang="it-IT" dirty="0"/>
              <a:t>l’espressione </a:t>
            </a:r>
            <a:r>
              <a:rPr lang="it-IT" i="1" dirty="0">
                <a:solidFill>
                  <a:schemeClr val="accent2"/>
                </a:solidFill>
              </a:rPr>
              <a:t>5.0%2.4</a:t>
            </a:r>
            <a:r>
              <a:rPr lang="it-IT" dirty="0"/>
              <a:t> vale </a:t>
            </a:r>
            <a:r>
              <a:rPr lang="it-IT" i="1" dirty="0">
                <a:solidFill>
                  <a:schemeClr val="accent2"/>
                </a:solidFill>
              </a:rPr>
              <a:t>0.2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Espressioni numeriche miste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r>
              <a:rPr lang="it-IT" dirty="0"/>
              <a:t>E’ possibile definire espressioni con operandi numerici di tipo misto, cioè alcuni interi e altri con virgola; il tipo di una espressione mista è quello con dominio più ampio tra quelli coinvolti: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7/2.0 	</a:t>
            </a:r>
            <a:r>
              <a:rPr lang="it-IT" dirty="0"/>
              <a:t>è una espressione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i="1" dirty="0" err="1">
                <a:solidFill>
                  <a:schemeClr val="accent2"/>
                </a:solidFill>
              </a:rPr>
              <a:t>double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dirty="0"/>
              <a:t>di valore </a:t>
            </a:r>
            <a:r>
              <a:rPr lang="it-IT" i="1" dirty="0">
                <a:solidFill>
                  <a:schemeClr val="accent2"/>
                </a:solidFill>
              </a:rPr>
              <a:t>3.5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7/2 * 3.0   </a:t>
            </a:r>
            <a:r>
              <a:rPr lang="it-IT" dirty="0"/>
              <a:t>è una espressione </a:t>
            </a:r>
            <a:r>
              <a:rPr lang="it-IT" i="1" dirty="0" err="1">
                <a:solidFill>
                  <a:schemeClr val="accent2"/>
                </a:solidFill>
              </a:rPr>
              <a:t>double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dirty="0"/>
              <a:t>di valore </a:t>
            </a:r>
            <a:r>
              <a:rPr lang="it-IT" i="1" dirty="0">
                <a:solidFill>
                  <a:schemeClr val="accent2"/>
                </a:solidFill>
              </a:rPr>
              <a:t>9.0; </a:t>
            </a:r>
            <a:r>
              <a:rPr lang="it-IT" dirty="0"/>
              <a:t>infatti,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dirty="0"/>
              <a:t>viene prima valutata la sottoespressione </a:t>
            </a:r>
            <a:r>
              <a:rPr lang="it-IT" i="1" dirty="0">
                <a:solidFill>
                  <a:schemeClr val="accent2"/>
                </a:solidFill>
              </a:rPr>
              <a:t>7/2</a:t>
            </a:r>
            <a:r>
              <a:rPr lang="it-IT" dirty="0"/>
              <a:t>, che è di tipo </a:t>
            </a:r>
            <a:r>
              <a:rPr lang="it-IT" i="1" dirty="0" err="1">
                <a:solidFill>
                  <a:schemeClr val="accent2"/>
                </a:solidFill>
              </a:rPr>
              <a:t>int</a:t>
            </a:r>
            <a:r>
              <a:rPr lang="it-IT" dirty="0"/>
              <a:t> e vale </a:t>
            </a:r>
            <a:r>
              <a:rPr lang="it-IT" i="1" dirty="0">
                <a:solidFill>
                  <a:schemeClr val="accent2"/>
                </a:solidFill>
              </a:rPr>
              <a:t>3</a:t>
            </a:r>
            <a:r>
              <a:rPr lang="it-IT" dirty="0"/>
              <a:t>; poi viene valutata </a:t>
            </a:r>
            <a:r>
              <a:rPr lang="it-IT" i="1" dirty="0">
                <a:solidFill>
                  <a:schemeClr val="accent2"/>
                </a:solidFill>
              </a:rPr>
              <a:t>3 * 3.0</a:t>
            </a:r>
            <a:r>
              <a:rPr lang="it-IT" dirty="0"/>
              <a:t>, che è di tipo </a:t>
            </a:r>
            <a:r>
              <a:rPr lang="it-IT" i="1" dirty="0" err="1">
                <a:solidFill>
                  <a:schemeClr val="accent2"/>
                </a:solidFill>
              </a:rPr>
              <a:t>double</a:t>
            </a:r>
            <a:r>
              <a:rPr lang="it-IT" dirty="0"/>
              <a:t> e vale </a:t>
            </a:r>
            <a:r>
              <a:rPr lang="it-IT" i="1" dirty="0">
                <a:solidFill>
                  <a:schemeClr val="accent2"/>
                </a:solidFill>
              </a:rPr>
              <a:t>9.0</a:t>
            </a:r>
            <a:r>
              <a:rPr lang="it-IT" dirty="0"/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Overflow</a:t>
            </a:r>
            <a:r>
              <a:rPr lang="it-IT" dirty="0"/>
              <a:t> e </a:t>
            </a:r>
            <a:r>
              <a:rPr lang="it-IT" dirty="0" err="1"/>
              <a:t>Underflow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r>
              <a:rPr lang="it-IT" dirty="0"/>
              <a:t>Quando il valore assoluto di una espressione in virgola mobile è troppo alto si parla di </a:t>
            </a:r>
            <a:r>
              <a:rPr lang="it-IT" u="sng" dirty="0" err="1">
                <a:solidFill>
                  <a:schemeClr val="accent1"/>
                </a:solidFill>
              </a:rPr>
              <a:t>overflow</a:t>
            </a:r>
            <a:r>
              <a:rPr lang="it-IT" dirty="0"/>
              <a:t> (verso </a:t>
            </a:r>
            <a:r>
              <a:rPr lang="it-IT" i="1" dirty="0">
                <a:solidFill>
                  <a:schemeClr val="accent2"/>
                </a:solidFill>
              </a:rPr>
              <a:t>+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</a:t>
            </a:r>
            <a:r>
              <a:rPr lang="it-IT" dirty="0">
                <a:sym typeface="Symbol"/>
              </a:rPr>
              <a:t> o 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-</a:t>
            </a:r>
            <a:r>
              <a:rPr lang="it-IT" dirty="0">
                <a:sym typeface="Symbol"/>
              </a:rPr>
              <a:t>); se è troppo basso si parla di </a:t>
            </a:r>
            <a:r>
              <a:rPr lang="it-IT" u="sng" dirty="0" err="1">
                <a:solidFill>
                  <a:schemeClr val="accent1"/>
                </a:solidFill>
              </a:rPr>
              <a:t>underflow</a:t>
            </a:r>
            <a:r>
              <a:rPr lang="it-IT" dirty="0"/>
              <a:t> (verso </a:t>
            </a:r>
            <a:r>
              <a:rPr lang="it-IT" i="1" dirty="0">
                <a:solidFill>
                  <a:schemeClr val="accent2"/>
                </a:solidFill>
              </a:rPr>
              <a:t>+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0.0 </a:t>
            </a:r>
            <a:r>
              <a:rPr lang="it-IT" dirty="0">
                <a:sym typeface="Symbol"/>
              </a:rPr>
              <a:t>o 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-0.0</a:t>
            </a:r>
            <a:r>
              <a:rPr lang="it-IT" dirty="0">
                <a:sym typeface="Symbol"/>
              </a:rPr>
              <a:t>)</a:t>
            </a:r>
          </a:p>
          <a:p>
            <a:r>
              <a:rPr lang="it-IT" dirty="0">
                <a:sym typeface="Symbol"/>
              </a:rPr>
              <a:t>Java introduce i valori </a:t>
            </a:r>
            <a:r>
              <a:rPr lang="it-IT" i="1" dirty="0" err="1">
                <a:solidFill>
                  <a:schemeClr val="accent2"/>
                </a:solidFill>
                <a:sym typeface="Symbol"/>
              </a:rPr>
              <a:t>Infinity</a:t>
            </a:r>
            <a:r>
              <a:rPr lang="it-IT" dirty="0">
                <a:sym typeface="Symbol"/>
              </a:rPr>
              <a:t> e </a:t>
            </a:r>
            <a:r>
              <a:rPr lang="it-IT" i="1" dirty="0" err="1">
                <a:solidFill>
                  <a:schemeClr val="accent2"/>
                </a:solidFill>
                <a:sym typeface="Symbol"/>
              </a:rPr>
              <a:t>-Infinity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 </a:t>
            </a:r>
            <a:r>
              <a:rPr lang="it-IT" dirty="0">
                <a:sym typeface="Symbol"/>
              </a:rPr>
              <a:t>per indicare </a:t>
            </a:r>
            <a:r>
              <a:rPr lang="it-IT" i="1" dirty="0">
                <a:solidFill>
                  <a:schemeClr val="accent2"/>
                </a:solidFill>
              </a:rPr>
              <a:t>+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</a:t>
            </a:r>
            <a:r>
              <a:rPr lang="it-IT" dirty="0">
                <a:sym typeface="Symbol"/>
              </a:rPr>
              <a:t>  e 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- </a:t>
            </a:r>
            <a:r>
              <a:rPr lang="it-IT" dirty="0">
                <a:sym typeface="Symbol"/>
              </a:rPr>
              <a:t>(vedremo poi come richiamarli)</a:t>
            </a:r>
          </a:p>
          <a:p>
            <a:pPr lvl="1"/>
            <a:r>
              <a:rPr lang="it-IT" dirty="0">
                <a:sym typeface="Symbol"/>
              </a:rPr>
              <a:t>ad esempio, la seguente istruzione genera un </a:t>
            </a:r>
            <a:r>
              <a:rPr lang="it-IT" dirty="0" err="1">
                <a:sym typeface="Symbol"/>
              </a:rPr>
              <a:t>overflow</a:t>
            </a:r>
            <a:r>
              <a:rPr lang="it-IT" dirty="0">
                <a:sym typeface="Symbol"/>
              </a:rPr>
              <a:t> verso 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- </a:t>
            </a:r>
            <a:r>
              <a:rPr lang="it-IT" dirty="0">
                <a:sym typeface="Symbol"/>
              </a:rPr>
              <a:t>e stampa a video </a:t>
            </a:r>
            <a:r>
              <a:rPr lang="it-IT" i="1" dirty="0" err="1">
                <a:solidFill>
                  <a:schemeClr val="accent2"/>
                </a:solidFill>
                <a:sym typeface="Symbol"/>
              </a:rPr>
              <a:t>-Infinity</a:t>
            </a:r>
            <a:r>
              <a:rPr lang="it-IT" dirty="0">
                <a:sym typeface="Symbol"/>
              </a:rPr>
              <a:t>:</a:t>
            </a:r>
          </a:p>
          <a:p>
            <a:pPr lvl="2">
              <a:buNone/>
            </a:pPr>
            <a:r>
              <a:rPr lang="it-IT" i="1" dirty="0" err="1">
                <a:solidFill>
                  <a:schemeClr val="accent2"/>
                </a:solidFill>
                <a:sym typeface="Symbol"/>
              </a:rPr>
              <a:t>System.out.print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 (-1.0E+300*1.0E+300);</a:t>
            </a:r>
            <a:endParaRPr lang="it-IT" dirty="0">
              <a:sym typeface="Symbol"/>
            </a:endParaRPr>
          </a:p>
          <a:p>
            <a:pPr lvl="1"/>
            <a:r>
              <a:rPr lang="it-IT" dirty="0">
                <a:sym typeface="Symbol"/>
              </a:rPr>
              <a:t>Invece questa istruzione stampa -0.0 per via di un </a:t>
            </a:r>
            <a:r>
              <a:rPr lang="it-IT" dirty="0" err="1">
                <a:sym typeface="Symbol"/>
              </a:rPr>
              <a:t>underflow</a:t>
            </a:r>
            <a:r>
              <a:rPr lang="it-IT" dirty="0">
                <a:sym typeface="Symbol"/>
              </a:rPr>
              <a:t>: </a:t>
            </a:r>
            <a:r>
              <a:rPr lang="it-IT" i="1" dirty="0" err="1">
                <a:solidFill>
                  <a:schemeClr val="accent2"/>
                </a:solidFill>
                <a:sym typeface="Symbol"/>
              </a:rPr>
              <a:t>System.out.print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 (-1.0E-300*1.0E-300);</a:t>
            </a:r>
            <a:endParaRPr lang="it-IT" dirty="0">
              <a:sym typeface="Symbol"/>
            </a:endParaRPr>
          </a:p>
          <a:p>
            <a:pPr lvl="1">
              <a:buNone/>
            </a:pPr>
            <a:endParaRPr lang="it-IT" dirty="0">
              <a:sym typeface="Symbo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Forme indeterminate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r>
              <a:rPr lang="it-IT" dirty="0"/>
              <a:t>In Java anche una espressione del tipo </a:t>
            </a:r>
            <a:r>
              <a:rPr lang="it-IT" i="1" dirty="0">
                <a:solidFill>
                  <a:schemeClr val="accent2"/>
                </a:solidFill>
              </a:rPr>
              <a:t>1.0/0</a:t>
            </a:r>
            <a:r>
              <a:rPr lang="it-IT" dirty="0"/>
              <a:t> varrebbe </a:t>
            </a:r>
            <a:r>
              <a:rPr lang="it-IT" i="1" dirty="0" err="1">
                <a:solidFill>
                  <a:schemeClr val="accent2"/>
                </a:solidFill>
              </a:rPr>
              <a:t>Infinity</a:t>
            </a:r>
            <a:r>
              <a:rPr lang="it-IT" dirty="0"/>
              <a:t> (in altri linguaggi potrebbe causare un errore del tipo “</a:t>
            </a:r>
            <a:r>
              <a:rPr lang="it-IT" dirty="0" err="1"/>
              <a:t>Division</a:t>
            </a:r>
            <a:r>
              <a:rPr lang="it-IT" dirty="0"/>
              <a:t> </a:t>
            </a:r>
            <a:r>
              <a:rPr lang="it-IT" dirty="0" err="1"/>
              <a:t>By</a:t>
            </a:r>
            <a:r>
              <a:rPr lang="it-IT"/>
              <a:t> Zero”) </a:t>
            </a:r>
            <a:endParaRPr lang="it-IT" dirty="0"/>
          </a:p>
          <a:p>
            <a:endParaRPr lang="it-IT" dirty="0">
              <a:sym typeface="Symbol"/>
            </a:endParaRPr>
          </a:p>
          <a:p>
            <a:r>
              <a:rPr lang="it-IT" dirty="0">
                <a:sym typeface="Symbol"/>
              </a:rPr>
              <a:t>In presenza di una espressione in virgola mobile che contiene una </a:t>
            </a:r>
            <a:r>
              <a:rPr lang="it-IT" u="sng" dirty="0">
                <a:solidFill>
                  <a:schemeClr val="accent1"/>
                </a:solidFill>
                <a:sym typeface="Symbol"/>
              </a:rPr>
              <a:t>forma indeterminata </a:t>
            </a:r>
            <a:r>
              <a:rPr lang="it-IT" dirty="0">
                <a:sym typeface="Symbol"/>
              </a:rPr>
              <a:t>(es. 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0.0/0</a:t>
            </a:r>
            <a:r>
              <a:rPr lang="it-IT" dirty="0">
                <a:sym typeface="Symbol"/>
              </a:rPr>
              <a:t>) il valore associato all’espressione è </a:t>
            </a:r>
            <a:r>
              <a:rPr lang="it-IT" i="1" dirty="0" err="1">
                <a:solidFill>
                  <a:schemeClr val="accent2"/>
                </a:solidFill>
                <a:sym typeface="Symbol"/>
              </a:rPr>
              <a:t>NaN</a:t>
            </a:r>
            <a:r>
              <a:rPr lang="it-IT" dirty="0">
                <a:sym typeface="Symbol"/>
              </a:rPr>
              <a:t> (</a:t>
            </a:r>
            <a:r>
              <a:rPr lang="it-IT" dirty="0" err="1">
                <a:sym typeface="Symbol"/>
              </a:rPr>
              <a:t>Not</a:t>
            </a:r>
            <a:r>
              <a:rPr lang="it-IT" dirty="0">
                <a:sym typeface="Symbol"/>
              </a:rPr>
              <a:t> a </a:t>
            </a:r>
            <a:r>
              <a:rPr lang="it-IT" dirty="0" err="1">
                <a:sym typeface="Symbol"/>
              </a:rPr>
              <a:t>Number</a:t>
            </a:r>
            <a:r>
              <a:rPr lang="it-IT" dirty="0">
                <a:sym typeface="Symbol"/>
              </a:rPr>
              <a:t>)</a:t>
            </a:r>
          </a:p>
          <a:p>
            <a:pPr lvl="1">
              <a:buNone/>
            </a:pPr>
            <a:endParaRPr lang="it-IT" dirty="0">
              <a:sym typeface="Symbo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800" dirty="0"/>
              <a:t>Espressioni</a:t>
            </a:r>
            <a:r>
              <a:rPr lang="it-IT" sz="5400" dirty="0"/>
              <a:t> </a:t>
            </a:r>
            <a:r>
              <a:rPr lang="it-IT" sz="4800" dirty="0"/>
              <a:t>di tipo </a:t>
            </a:r>
            <a:r>
              <a:rPr lang="it-IT" sz="4800" dirty="0" err="1"/>
              <a:t>char</a:t>
            </a:r>
            <a:endParaRPr lang="it-IT" sz="480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r>
              <a:rPr lang="it-IT" sz="2400" dirty="0"/>
              <a:t>Ad una espressione di tipo </a:t>
            </a:r>
            <a:r>
              <a:rPr lang="it-IT" sz="2400" i="1" dirty="0" err="1">
                <a:solidFill>
                  <a:schemeClr val="accent2"/>
                </a:solidFill>
              </a:rPr>
              <a:t>char</a:t>
            </a:r>
            <a:r>
              <a:rPr lang="it-IT" sz="2400" dirty="0"/>
              <a:t> rimane associato un carattere dell’alfabeto </a:t>
            </a:r>
            <a:r>
              <a:rPr lang="it-IT" sz="2400" dirty="0" err="1"/>
              <a:t>Unicode</a:t>
            </a:r>
            <a:endParaRPr lang="it-IT" sz="2400" i="1" dirty="0">
              <a:solidFill>
                <a:schemeClr val="accent2"/>
              </a:solidFill>
            </a:endParaRPr>
          </a:p>
          <a:p>
            <a:r>
              <a:rPr lang="it-IT" sz="2400" dirty="0"/>
              <a:t>I letterali </a:t>
            </a:r>
            <a:r>
              <a:rPr lang="it-IT" sz="2400" i="1" dirty="0" err="1">
                <a:solidFill>
                  <a:schemeClr val="accent2"/>
                </a:solidFill>
              </a:rPr>
              <a:t>char</a:t>
            </a:r>
            <a:r>
              <a:rPr lang="it-IT" sz="2400" i="1" dirty="0">
                <a:solidFill>
                  <a:schemeClr val="accent2"/>
                </a:solidFill>
              </a:rPr>
              <a:t> </a:t>
            </a:r>
            <a:r>
              <a:rPr lang="it-IT" sz="2400" dirty="0"/>
              <a:t>sono</a:t>
            </a:r>
            <a:r>
              <a:rPr lang="it-IT" sz="2400" dirty="0">
                <a:solidFill>
                  <a:schemeClr val="accent2"/>
                </a:solidFill>
              </a:rPr>
              <a:t> </a:t>
            </a:r>
            <a:r>
              <a:rPr lang="it-IT" sz="2400" dirty="0"/>
              <a:t>i singoli caratteri </a:t>
            </a:r>
            <a:r>
              <a:rPr lang="it-IT" sz="2400" dirty="0" err="1"/>
              <a:t>Unicode</a:t>
            </a:r>
            <a:r>
              <a:rPr lang="it-IT" sz="2400" dirty="0"/>
              <a:t>, e si possono esprimere in uno dei seguenti modi:</a:t>
            </a:r>
          </a:p>
          <a:p>
            <a:pPr lvl="1"/>
            <a:r>
              <a:rPr lang="it-IT" sz="2000" dirty="0"/>
              <a:t>mettendo il carattere tra </a:t>
            </a:r>
            <a:r>
              <a:rPr lang="it-IT" sz="2000" i="1" dirty="0">
                <a:solidFill>
                  <a:schemeClr val="accent2"/>
                </a:solidFill>
              </a:rPr>
              <a:t>apici singoli </a:t>
            </a:r>
            <a:r>
              <a:rPr lang="it-IT" sz="2000" dirty="0"/>
              <a:t>(es. </a:t>
            </a:r>
            <a:r>
              <a:rPr lang="it-IT" sz="2000" i="1" dirty="0">
                <a:solidFill>
                  <a:schemeClr val="accent2"/>
                </a:solidFill>
              </a:rPr>
              <a:t>‘a’</a:t>
            </a:r>
            <a:r>
              <a:rPr lang="it-IT" sz="2000" dirty="0"/>
              <a:t>)</a:t>
            </a:r>
          </a:p>
          <a:p>
            <a:pPr lvl="1"/>
            <a:r>
              <a:rPr lang="it-IT" sz="2000" dirty="0"/>
              <a:t>tramite una sequenza di </a:t>
            </a:r>
            <a:r>
              <a:rPr lang="it-IT" sz="2000" dirty="0" err="1"/>
              <a:t>escape</a:t>
            </a:r>
            <a:r>
              <a:rPr lang="it-IT" sz="2000" dirty="0"/>
              <a:t> della forma </a:t>
            </a:r>
            <a:r>
              <a:rPr lang="it-IT" sz="2000" dirty="0">
                <a:solidFill>
                  <a:schemeClr val="accent2"/>
                </a:solidFill>
              </a:rPr>
              <a:t>‘</a:t>
            </a:r>
            <a:r>
              <a:rPr lang="it-IT" sz="2000" i="1" dirty="0" err="1">
                <a:solidFill>
                  <a:schemeClr val="accent2"/>
                </a:solidFill>
              </a:rPr>
              <a:t>\uxxxx</a:t>
            </a:r>
            <a:r>
              <a:rPr lang="it-IT" sz="2000" i="1" dirty="0">
                <a:solidFill>
                  <a:schemeClr val="accent2"/>
                </a:solidFill>
              </a:rPr>
              <a:t>’</a:t>
            </a:r>
            <a:r>
              <a:rPr lang="it-IT" sz="2000" dirty="0">
                <a:solidFill>
                  <a:schemeClr val="accent2"/>
                </a:solidFill>
              </a:rPr>
              <a:t>, </a:t>
            </a:r>
            <a:r>
              <a:rPr lang="it-IT" sz="2000" dirty="0"/>
              <a:t>dove </a:t>
            </a:r>
            <a:r>
              <a:rPr lang="it-IT" sz="2000" i="1" dirty="0" err="1">
                <a:solidFill>
                  <a:schemeClr val="accent2"/>
                </a:solidFill>
              </a:rPr>
              <a:t>xxxx</a:t>
            </a:r>
            <a:r>
              <a:rPr lang="it-IT" sz="2000" dirty="0"/>
              <a:t> indica la posizione del carattere nella tabella </a:t>
            </a:r>
            <a:r>
              <a:rPr lang="it-IT" sz="2000" dirty="0" err="1"/>
              <a:t>Unicode</a:t>
            </a:r>
            <a:r>
              <a:rPr lang="it-IT" sz="2000" dirty="0"/>
              <a:t>, in esadecimale (es. </a:t>
            </a:r>
            <a:r>
              <a:rPr lang="it-IT" sz="2000" i="1" dirty="0">
                <a:solidFill>
                  <a:schemeClr val="accent2"/>
                </a:solidFill>
              </a:rPr>
              <a:t>‘\u0061’</a:t>
            </a:r>
            <a:r>
              <a:rPr lang="it-IT" sz="2000" dirty="0"/>
              <a:t> indica il carattere di posizione 97, cioè il carattere </a:t>
            </a:r>
            <a:r>
              <a:rPr lang="it-IT" sz="2000" i="1" dirty="0">
                <a:solidFill>
                  <a:schemeClr val="accent2"/>
                </a:solidFill>
              </a:rPr>
              <a:t>‘a’</a:t>
            </a:r>
            <a:r>
              <a:rPr lang="it-IT" sz="2000" dirty="0"/>
              <a:t>) </a:t>
            </a:r>
          </a:p>
          <a:p>
            <a:pPr lvl="1"/>
            <a:r>
              <a:rPr lang="it-IT" sz="2000" dirty="0"/>
              <a:t>alcune sequenze di </a:t>
            </a:r>
            <a:r>
              <a:rPr lang="it-IT" sz="2000" dirty="0" err="1"/>
              <a:t>escape</a:t>
            </a:r>
            <a:r>
              <a:rPr lang="it-IT" sz="2000" dirty="0"/>
              <a:t> indicano caratteri frequenti ma non “visibili” (es. </a:t>
            </a:r>
            <a:r>
              <a:rPr lang="it-IT" sz="2000" i="1" dirty="0">
                <a:solidFill>
                  <a:schemeClr val="accent2"/>
                </a:solidFill>
              </a:rPr>
              <a:t>‘</a:t>
            </a:r>
            <a:r>
              <a:rPr lang="it-IT" sz="2000" i="1" dirty="0" err="1">
                <a:solidFill>
                  <a:schemeClr val="accent2"/>
                </a:solidFill>
              </a:rPr>
              <a:t>\n</a:t>
            </a:r>
            <a:r>
              <a:rPr lang="it-IT" sz="2000" i="1" dirty="0">
                <a:solidFill>
                  <a:schemeClr val="accent2"/>
                </a:solidFill>
              </a:rPr>
              <a:t>’</a:t>
            </a:r>
            <a:r>
              <a:rPr lang="it-IT" sz="2000" dirty="0"/>
              <a:t> per l’invio, </a:t>
            </a:r>
            <a:r>
              <a:rPr lang="it-IT" sz="2000" i="1" dirty="0">
                <a:solidFill>
                  <a:schemeClr val="accent2"/>
                </a:solidFill>
              </a:rPr>
              <a:t>‘</a:t>
            </a:r>
            <a:r>
              <a:rPr lang="it-IT" sz="2000" i="1" dirty="0" err="1">
                <a:solidFill>
                  <a:schemeClr val="accent2"/>
                </a:solidFill>
              </a:rPr>
              <a:t>\t</a:t>
            </a:r>
            <a:r>
              <a:rPr lang="it-IT" sz="2000" i="1" dirty="0">
                <a:solidFill>
                  <a:schemeClr val="accent2"/>
                </a:solidFill>
              </a:rPr>
              <a:t>’ </a:t>
            </a:r>
            <a:r>
              <a:rPr lang="it-IT" sz="2000" dirty="0"/>
              <a:t>per il </a:t>
            </a:r>
            <a:r>
              <a:rPr lang="it-IT" sz="2000" dirty="0" err="1"/>
              <a:t>tab</a:t>
            </a:r>
            <a:r>
              <a:rPr lang="it-IT" sz="2000" dirty="0"/>
              <a:t>, ..)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Operatori tra </a:t>
            </a:r>
            <a:r>
              <a:rPr lang="it-IT" dirty="0" err="1"/>
              <a:t>char</a:t>
            </a:r>
            <a:endParaRPr lang="it-IT" sz="480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r>
              <a:rPr lang="it-IT" sz="2400" dirty="0"/>
              <a:t>E’ possibile formare espressioni </a:t>
            </a:r>
            <a:r>
              <a:rPr lang="it-IT" sz="2400" i="1" dirty="0" err="1">
                <a:solidFill>
                  <a:schemeClr val="accent2"/>
                </a:solidFill>
              </a:rPr>
              <a:t>char</a:t>
            </a:r>
            <a:r>
              <a:rPr lang="it-IT" sz="2400" dirty="0"/>
              <a:t> più complesse, combinando gli operatori aritmetici</a:t>
            </a:r>
          </a:p>
          <a:p>
            <a:pPr lvl="1"/>
            <a:r>
              <a:rPr lang="it-IT" sz="2000" dirty="0"/>
              <a:t>l’operatore agisce tra i numeri di posizione dei caratteri coinvolti</a:t>
            </a:r>
          </a:p>
          <a:p>
            <a:pPr lvl="1"/>
            <a:r>
              <a:rPr lang="it-IT" sz="2000" dirty="0"/>
              <a:t>ad esempio il frammento seguente stampa  a video il carattere che occupa la posizione </a:t>
            </a:r>
            <a:r>
              <a:rPr lang="it-IT" sz="2000" i="1" dirty="0">
                <a:solidFill>
                  <a:schemeClr val="accent2"/>
                </a:solidFill>
              </a:rPr>
              <a:t>97</a:t>
            </a:r>
            <a:r>
              <a:rPr lang="it-IT" sz="2000" dirty="0"/>
              <a:t>; infatti, </a:t>
            </a:r>
            <a:r>
              <a:rPr lang="it-IT" sz="2000" i="1" dirty="0">
                <a:solidFill>
                  <a:schemeClr val="accent2"/>
                </a:solidFill>
              </a:rPr>
              <a:t>‘0</a:t>
            </a:r>
            <a:r>
              <a:rPr lang="it-IT" sz="2000" dirty="0">
                <a:solidFill>
                  <a:schemeClr val="accent2"/>
                </a:solidFill>
              </a:rPr>
              <a:t>’</a:t>
            </a:r>
            <a:r>
              <a:rPr lang="it-IT" sz="2000" dirty="0"/>
              <a:t> and </a:t>
            </a:r>
            <a:r>
              <a:rPr lang="it-IT" sz="2000" i="1" dirty="0">
                <a:solidFill>
                  <a:schemeClr val="accent2"/>
                </a:solidFill>
              </a:rPr>
              <a:t>‘1’</a:t>
            </a:r>
            <a:r>
              <a:rPr lang="it-IT" sz="2000" dirty="0"/>
              <a:t> occupano le posizioni </a:t>
            </a:r>
            <a:r>
              <a:rPr lang="it-IT" sz="2000" i="1" dirty="0">
                <a:solidFill>
                  <a:schemeClr val="accent2"/>
                </a:solidFill>
              </a:rPr>
              <a:t>48</a:t>
            </a:r>
            <a:r>
              <a:rPr lang="it-IT" sz="2000" dirty="0"/>
              <a:t> e </a:t>
            </a:r>
            <a:r>
              <a:rPr lang="it-IT" sz="2000" i="1" dirty="0">
                <a:solidFill>
                  <a:schemeClr val="accent2"/>
                </a:solidFill>
              </a:rPr>
              <a:t>49</a:t>
            </a:r>
            <a:r>
              <a:rPr lang="it-IT" sz="2000" dirty="0"/>
              <a:t>, rispettivamente </a:t>
            </a:r>
          </a:p>
          <a:p>
            <a:pPr lvl="2">
              <a:buNone/>
            </a:pPr>
            <a:endParaRPr lang="it-IT" sz="2000" dirty="0">
              <a:solidFill>
                <a:schemeClr val="accent2"/>
              </a:solidFill>
            </a:endParaRPr>
          </a:p>
          <a:p>
            <a:pPr lvl="2">
              <a:buNone/>
            </a:pPr>
            <a:r>
              <a:rPr lang="it-IT" sz="2000" dirty="0" err="1">
                <a:solidFill>
                  <a:schemeClr val="accent1"/>
                </a:solidFill>
              </a:rPr>
              <a:t>char</a:t>
            </a:r>
            <a:r>
              <a:rPr lang="it-IT" sz="2000" dirty="0">
                <a:solidFill>
                  <a:schemeClr val="accent1"/>
                </a:solidFill>
              </a:rPr>
              <a:t> c = ‘0’ + ‘1’;</a:t>
            </a:r>
          </a:p>
          <a:p>
            <a:pPr lvl="2">
              <a:buNone/>
            </a:pPr>
            <a:r>
              <a:rPr lang="it-IT" sz="2000" dirty="0" err="1">
                <a:solidFill>
                  <a:schemeClr val="accent1"/>
                </a:solidFill>
              </a:rPr>
              <a:t>System.out.print</a:t>
            </a:r>
            <a:r>
              <a:rPr lang="it-IT" sz="2000" dirty="0">
                <a:solidFill>
                  <a:schemeClr val="accent1"/>
                </a:solidFill>
              </a:rPr>
              <a:t> (c); </a:t>
            </a:r>
          </a:p>
          <a:p>
            <a:pPr lvl="2">
              <a:buNone/>
            </a:pPr>
            <a:endParaRPr lang="it-IT" sz="2000" dirty="0">
              <a:solidFill>
                <a:schemeClr val="accent1"/>
              </a:solidFill>
            </a:endParaRPr>
          </a:p>
          <a:p>
            <a:pPr lvl="1"/>
            <a:r>
              <a:rPr lang="it-IT" sz="2000" dirty="0"/>
              <a:t>Le espressioni di tipo </a:t>
            </a:r>
            <a:r>
              <a:rPr lang="it-IT" sz="2000" i="1" dirty="0" err="1">
                <a:solidFill>
                  <a:schemeClr val="accent2"/>
                </a:solidFill>
              </a:rPr>
              <a:t>char</a:t>
            </a:r>
            <a:r>
              <a:rPr lang="it-IT" sz="2000" dirty="0"/>
              <a:t> sono in realtà espressioni di tipo </a:t>
            </a:r>
            <a:r>
              <a:rPr lang="it-IT" sz="2000" i="1" dirty="0" err="1">
                <a:solidFill>
                  <a:schemeClr val="accent2"/>
                </a:solidFill>
              </a:rPr>
              <a:t>int</a:t>
            </a:r>
            <a:r>
              <a:rPr lang="it-IT" sz="2000" dirty="0"/>
              <a:t>; questo può portare a problemi di assegnamento di una espressione </a:t>
            </a:r>
            <a:r>
              <a:rPr lang="it-IT" sz="2000" i="1" dirty="0" err="1">
                <a:solidFill>
                  <a:schemeClr val="accent2"/>
                </a:solidFill>
              </a:rPr>
              <a:t>char</a:t>
            </a:r>
            <a:r>
              <a:rPr lang="it-IT" sz="2000" dirty="0"/>
              <a:t> ad una variabile di tipo </a:t>
            </a:r>
            <a:r>
              <a:rPr lang="it-IT" sz="2000" i="1" dirty="0" err="1">
                <a:solidFill>
                  <a:schemeClr val="accent2"/>
                </a:solidFill>
              </a:rPr>
              <a:t>char</a:t>
            </a:r>
            <a:r>
              <a:rPr lang="it-IT" sz="2000" i="1" dirty="0">
                <a:solidFill>
                  <a:schemeClr val="accent2"/>
                </a:solidFill>
              </a:rPr>
              <a:t>  </a:t>
            </a:r>
            <a:r>
              <a:rPr lang="it-IT" sz="2000" dirty="0"/>
              <a:t>(lo vedremo dopo)</a:t>
            </a:r>
          </a:p>
          <a:p>
            <a:pPr lvl="2">
              <a:buNone/>
            </a:pPr>
            <a:r>
              <a:rPr lang="it-IT" sz="2000" dirty="0">
                <a:solidFill>
                  <a:schemeClr val="accent1"/>
                </a:solidFill>
              </a:rPr>
              <a:t> </a:t>
            </a:r>
            <a:r>
              <a:rPr lang="it-IT" sz="2000" dirty="0">
                <a:solidFill>
                  <a:schemeClr val="accent2"/>
                </a:solidFill>
              </a:rPr>
              <a:t> </a:t>
            </a:r>
            <a:endParaRPr lang="it-IT" sz="16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Conversioni tra tipi di dati</a:t>
            </a:r>
            <a:endParaRPr lang="it-IT" sz="480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 lnSpcReduction="10000"/>
          </a:bodyPr>
          <a:lstStyle/>
          <a:p>
            <a:r>
              <a:rPr lang="it-IT" sz="2400" dirty="0"/>
              <a:t>E’ possibile assegnare ad una variabile di tipo </a:t>
            </a:r>
            <a:r>
              <a:rPr lang="it-IT" sz="2400" i="1" dirty="0">
                <a:solidFill>
                  <a:schemeClr val="accent2"/>
                </a:solidFill>
              </a:rPr>
              <a:t>t</a:t>
            </a:r>
            <a:r>
              <a:rPr lang="it-IT" sz="2400" i="1" baseline="-25000" dirty="0">
                <a:solidFill>
                  <a:schemeClr val="accent2"/>
                </a:solidFill>
              </a:rPr>
              <a:t>1</a:t>
            </a:r>
            <a:r>
              <a:rPr lang="it-IT" sz="2400" dirty="0"/>
              <a:t> un valore di tipo </a:t>
            </a:r>
            <a:r>
              <a:rPr lang="it-IT" sz="2400" i="1" dirty="0">
                <a:solidFill>
                  <a:schemeClr val="accent2"/>
                </a:solidFill>
              </a:rPr>
              <a:t>t</a:t>
            </a:r>
            <a:r>
              <a:rPr lang="it-IT" sz="2400" i="1" baseline="-25000" dirty="0">
                <a:solidFill>
                  <a:schemeClr val="accent2"/>
                </a:solidFill>
              </a:rPr>
              <a:t>2</a:t>
            </a:r>
            <a:r>
              <a:rPr lang="it-IT" sz="2400" dirty="0"/>
              <a:t>?</a:t>
            </a:r>
          </a:p>
          <a:p>
            <a:r>
              <a:rPr lang="it-IT" sz="2400" dirty="0"/>
              <a:t>In generale è consentito in tutti i casi in cui il dominio di valori di </a:t>
            </a:r>
            <a:r>
              <a:rPr lang="it-IT" sz="2400" i="1" dirty="0">
                <a:solidFill>
                  <a:schemeClr val="accent2"/>
                </a:solidFill>
              </a:rPr>
              <a:t>t</a:t>
            </a:r>
            <a:r>
              <a:rPr lang="it-IT" sz="2400" i="1" baseline="-25000" dirty="0">
                <a:solidFill>
                  <a:schemeClr val="accent2"/>
                </a:solidFill>
              </a:rPr>
              <a:t>2</a:t>
            </a:r>
            <a:r>
              <a:rPr lang="it-IT" sz="2400" dirty="0"/>
              <a:t> è contenuto in quello di </a:t>
            </a:r>
            <a:r>
              <a:rPr lang="it-IT" sz="2400" i="1" dirty="0">
                <a:solidFill>
                  <a:schemeClr val="accent2"/>
                </a:solidFill>
              </a:rPr>
              <a:t>t</a:t>
            </a:r>
            <a:r>
              <a:rPr lang="it-IT" sz="2400" i="1" baseline="-25000" dirty="0">
                <a:solidFill>
                  <a:schemeClr val="accent2"/>
                </a:solidFill>
              </a:rPr>
              <a:t>1</a:t>
            </a:r>
            <a:endParaRPr lang="it-IT" sz="2400" dirty="0"/>
          </a:p>
          <a:p>
            <a:r>
              <a:rPr lang="it-IT" sz="2400" dirty="0"/>
              <a:t>Ad esempio il seguente codice è legittimo:</a:t>
            </a:r>
          </a:p>
          <a:p>
            <a:pPr lvl="1">
              <a:buNone/>
            </a:pPr>
            <a:endParaRPr lang="it-IT" sz="1600" dirty="0"/>
          </a:p>
          <a:p>
            <a:pPr lvl="1">
              <a:buNone/>
            </a:pPr>
            <a:r>
              <a:rPr lang="it-IT" sz="2000" i="1" dirty="0">
                <a:solidFill>
                  <a:schemeClr val="accent2"/>
                </a:solidFill>
              </a:rPr>
              <a:t>short a </a:t>
            </a:r>
            <a:r>
              <a:rPr lang="it-IT" sz="2000" i="1">
                <a:solidFill>
                  <a:schemeClr val="accent2"/>
                </a:solidFill>
              </a:rPr>
              <a:t>= 127;</a:t>
            </a:r>
            <a:endParaRPr lang="it-IT" sz="2000" i="1" dirty="0">
              <a:solidFill>
                <a:schemeClr val="accent2"/>
              </a:solidFill>
            </a:endParaRPr>
          </a:p>
          <a:p>
            <a:pPr lvl="1">
              <a:buNone/>
            </a:pPr>
            <a:r>
              <a:rPr lang="it-IT" sz="2000" i="1" dirty="0" err="1">
                <a:solidFill>
                  <a:schemeClr val="accent2"/>
                </a:solidFill>
              </a:rPr>
              <a:t>int</a:t>
            </a:r>
            <a:r>
              <a:rPr lang="it-IT" sz="2000" i="1" dirty="0">
                <a:solidFill>
                  <a:schemeClr val="accent2"/>
                </a:solidFill>
              </a:rPr>
              <a:t> b = a; </a:t>
            </a:r>
          </a:p>
          <a:p>
            <a:endParaRPr lang="it-IT" sz="2000" dirty="0"/>
          </a:p>
          <a:p>
            <a:r>
              <a:rPr lang="it-IT" sz="2400" dirty="0"/>
              <a:t>In tal caso avviene una così detta </a:t>
            </a:r>
            <a:r>
              <a:rPr lang="it-IT" sz="2400" u="sng" dirty="0">
                <a:solidFill>
                  <a:schemeClr val="accent1"/>
                </a:solidFill>
              </a:rPr>
              <a:t>conversione implicita</a:t>
            </a:r>
            <a:r>
              <a:rPr lang="it-IT" sz="2400" dirty="0"/>
              <a:t> (o </a:t>
            </a:r>
            <a:r>
              <a:rPr lang="it-IT" sz="2400" u="sng" dirty="0">
                <a:solidFill>
                  <a:schemeClr val="accent1"/>
                </a:solidFill>
              </a:rPr>
              <a:t>cast implicito):</a:t>
            </a:r>
            <a:r>
              <a:rPr lang="it-IT" sz="2400" dirty="0">
                <a:solidFill>
                  <a:schemeClr val="accent1"/>
                </a:solidFill>
              </a:rPr>
              <a:t> </a:t>
            </a:r>
            <a:r>
              <a:rPr lang="it-IT" sz="2400" dirty="0"/>
              <a:t>dal valore dell’espressione di tipo </a:t>
            </a:r>
            <a:r>
              <a:rPr lang="it-IT" sz="2400" i="1" dirty="0">
                <a:solidFill>
                  <a:schemeClr val="accent2"/>
                </a:solidFill>
              </a:rPr>
              <a:t>t</a:t>
            </a:r>
            <a:r>
              <a:rPr lang="it-IT" sz="2400" i="1" baseline="-25000" dirty="0">
                <a:solidFill>
                  <a:schemeClr val="accent2"/>
                </a:solidFill>
              </a:rPr>
              <a:t>2</a:t>
            </a:r>
            <a:r>
              <a:rPr lang="it-IT" sz="2400" dirty="0"/>
              <a:t> viene ricavato un valore equivalente, rappresentato con numero di bit di </a:t>
            </a:r>
            <a:r>
              <a:rPr lang="it-IT" sz="2400" i="1" dirty="0">
                <a:solidFill>
                  <a:schemeClr val="accent2"/>
                </a:solidFill>
              </a:rPr>
              <a:t>t</a:t>
            </a:r>
            <a:r>
              <a:rPr lang="it-IT" sz="2400" i="1" baseline="-25000" dirty="0">
                <a:solidFill>
                  <a:schemeClr val="accent2"/>
                </a:solidFill>
              </a:rPr>
              <a:t>1</a:t>
            </a:r>
            <a:r>
              <a:rPr lang="it-IT" sz="2400" dirty="0"/>
              <a:t>, che viene poi assegnato alla variabile</a:t>
            </a:r>
            <a:r>
              <a:rPr lang="it-IT" sz="2400" dirty="0">
                <a:solidFill>
                  <a:prstClr val="black"/>
                </a:solidFill>
              </a:rPr>
              <a:t> </a:t>
            </a:r>
            <a:endParaRPr lang="it-IT" sz="1600" u="sng" dirty="0">
              <a:solidFill>
                <a:schemeClr val="accent1"/>
              </a:solidFill>
            </a:endParaRPr>
          </a:p>
          <a:p>
            <a:pPr lvl="2">
              <a:buNone/>
            </a:pPr>
            <a:r>
              <a:rPr lang="it-IT" sz="2000" dirty="0">
                <a:solidFill>
                  <a:schemeClr val="accent1"/>
                </a:solidFill>
              </a:rPr>
              <a:t> </a:t>
            </a:r>
            <a:r>
              <a:rPr lang="it-IT" sz="2000" dirty="0">
                <a:solidFill>
                  <a:schemeClr val="accent2"/>
                </a:solidFill>
              </a:rPr>
              <a:t> </a:t>
            </a:r>
            <a:endParaRPr lang="it-IT" sz="16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Perdita di precisione</a:t>
            </a:r>
            <a:endParaRPr lang="it-IT" sz="480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r>
              <a:rPr lang="it-IT" sz="2400" dirty="0"/>
              <a:t>Invece il seguente codice non verrebbe compilato</a:t>
            </a:r>
          </a:p>
          <a:p>
            <a:pPr lvl="1">
              <a:buNone/>
            </a:pPr>
            <a:endParaRPr lang="it-IT" sz="1600" dirty="0"/>
          </a:p>
          <a:p>
            <a:pPr lvl="1">
              <a:buNone/>
            </a:pPr>
            <a:r>
              <a:rPr lang="it-IT" sz="2000" i="1" dirty="0" err="1">
                <a:solidFill>
                  <a:schemeClr val="accent2"/>
                </a:solidFill>
              </a:rPr>
              <a:t>int</a:t>
            </a:r>
            <a:r>
              <a:rPr lang="it-IT" sz="2000" i="1" dirty="0">
                <a:solidFill>
                  <a:schemeClr val="accent2"/>
                </a:solidFill>
              </a:rPr>
              <a:t> a = 255;</a:t>
            </a:r>
          </a:p>
          <a:p>
            <a:pPr lvl="1">
              <a:buNone/>
            </a:pPr>
            <a:r>
              <a:rPr lang="it-IT" sz="2000" i="1" dirty="0">
                <a:solidFill>
                  <a:schemeClr val="accent2"/>
                </a:solidFill>
              </a:rPr>
              <a:t>short b = a; </a:t>
            </a:r>
          </a:p>
          <a:p>
            <a:pPr>
              <a:buNone/>
            </a:pPr>
            <a:endParaRPr lang="it-IT" sz="2000" dirty="0"/>
          </a:p>
          <a:p>
            <a:pPr>
              <a:buNone/>
            </a:pPr>
            <a:r>
              <a:rPr lang="it-IT" sz="2000" dirty="0"/>
              <a:t>	</a:t>
            </a:r>
            <a:r>
              <a:rPr lang="it-IT" sz="2400" dirty="0"/>
              <a:t>poiché assegnare un valore </a:t>
            </a:r>
            <a:r>
              <a:rPr lang="it-IT" sz="2400" i="1" dirty="0" err="1">
                <a:solidFill>
                  <a:schemeClr val="accent2"/>
                </a:solidFill>
              </a:rPr>
              <a:t>int</a:t>
            </a:r>
            <a:r>
              <a:rPr lang="it-IT" sz="2400" dirty="0"/>
              <a:t> ad una variabile </a:t>
            </a:r>
            <a:r>
              <a:rPr lang="it-IT" sz="2400" i="1" dirty="0">
                <a:solidFill>
                  <a:schemeClr val="accent2"/>
                </a:solidFill>
              </a:rPr>
              <a:t>short</a:t>
            </a:r>
            <a:r>
              <a:rPr lang="it-IT" sz="2400" dirty="0"/>
              <a:t> può causare una </a:t>
            </a:r>
            <a:r>
              <a:rPr lang="it-IT" sz="2400" u="sng" dirty="0">
                <a:solidFill>
                  <a:schemeClr val="accent1"/>
                </a:solidFill>
              </a:rPr>
              <a:t>perdita di precisione </a:t>
            </a:r>
            <a:r>
              <a:rPr lang="it-IT" sz="2400" dirty="0"/>
              <a:t>(i bit in eccesso vengono troncati); viene generato l’errore </a:t>
            </a:r>
            <a:br>
              <a:rPr lang="it-IT" sz="2400" dirty="0"/>
            </a:br>
            <a:r>
              <a:rPr lang="it-IT" sz="2400" dirty="0"/>
              <a:t>“.. </a:t>
            </a:r>
            <a:r>
              <a:rPr lang="it-IT" sz="2400" i="1" dirty="0" err="1">
                <a:solidFill>
                  <a:schemeClr val="accent2"/>
                </a:solidFill>
              </a:rPr>
              <a:t>possible</a:t>
            </a:r>
            <a:r>
              <a:rPr lang="it-IT" sz="2400" i="1" dirty="0">
                <a:solidFill>
                  <a:schemeClr val="accent2"/>
                </a:solidFill>
              </a:rPr>
              <a:t> loss </a:t>
            </a:r>
            <a:r>
              <a:rPr lang="it-IT" sz="2400" i="1" dirty="0" err="1">
                <a:solidFill>
                  <a:schemeClr val="accent2"/>
                </a:solidFill>
              </a:rPr>
              <a:t>of</a:t>
            </a:r>
            <a:r>
              <a:rPr lang="it-IT" sz="2400" i="1" dirty="0">
                <a:solidFill>
                  <a:schemeClr val="accent2"/>
                </a:solidFill>
              </a:rPr>
              <a:t> </a:t>
            </a:r>
            <a:r>
              <a:rPr lang="it-IT" sz="2400" i="1" dirty="0" err="1">
                <a:solidFill>
                  <a:schemeClr val="accent2"/>
                </a:solidFill>
              </a:rPr>
              <a:t>precision</a:t>
            </a:r>
            <a:r>
              <a:rPr lang="it-IT" sz="2400" dirty="0"/>
              <a:t>”</a:t>
            </a:r>
          </a:p>
          <a:p>
            <a:pPr>
              <a:buNone/>
            </a:pPr>
            <a:endParaRPr lang="it-IT" sz="1600" u="sng" dirty="0">
              <a:solidFill>
                <a:schemeClr val="accent1"/>
              </a:solidFill>
            </a:endParaRPr>
          </a:p>
          <a:p>
            <a:pPr lvl="2">
              <a:buNone/>
            </a:pPr>
            <a:r>
              <a:rPr lang="it-IT" sz="2000" dirty="0">
                <a:solidFill>
                  <a:schemeClr val="accent1"/>
                </a:solidFill>
              </a:rPr>
              <a:t> </a:t>
            </a:r>
            <a:r>
              <a:rPr lang="it-IT" sz="2000" dirty="0">
                <a:solidFill>
                  <a:schemeClr val="accent2"/>
                </a:solidFill>
              </a:rPr>
              <a:t> </a:t>
            </a:r>
            <a:endParaRPr lang="it-IT" sz="16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Conversione esplicita</a:t>
            </a:r>
            <a:endParaRPr lang="it-IT" sz="480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 fontScale="92500" lnSpcReduction="10000"/>
          </a:bodyPr>
          <a:lstStyle/>
          <a:p>
            <a:r>
              <a:rPr lang="it-IT" sz="2400" dirty="0"/>
              <a:t>Si può tuttavia forzare un’operazione di assegnazione che può causare perdita di precisione, attraverso un operatore Java chiamato </a:t>
            </a:r>
            <a:r>
              <a:rPr lang="it-IT" sz="2400" u="sng" dirty="0">
                <a:solidFill>
                  <a:schemeClr val="accent1"/>
                </a:solidFill>
              </a:rPr>
              <a:t>operatore di cast</a:t>
            </a:r>
          </a:p>
          <a:p>
            <a:r>
              <a:rPr lang="it-IT" sz="2400" dirty="0"/>
              <a:t>L’operatore va posto davanti al valore da convertire, ed ha la forma </a:t>
            </a:r>
            <a:r>
              <a:rPr lang="it-IT" sz="2400" i="1" dirty="0">
                <a:solidFill>
                  <a:schemeClr val="accent2"/>
                </a:solidFill>
              </a:rPr>
              <a:t>(t)</a:t>
            </a:r>
            <a:r>
              <a:rPr lang="it-IT" sz="2400" dirty="0"/>
              <a:t>, dove </a:t>
            </a:r>
            <a:r>
              <a:rPr lang="it-IT" sz="2400" i="1" dirty="0">
                <a:solidFill>
                  <a:schemeClr val="accent2"/>
                </a:solidFill>
              </a:rPr>
              <a:t>t</a:t>
            </a:r>
            <a:r>
              <a:rPr lang="it-IT" sz="2400" dirty="0"/>
              <a:t> è il tipo verso il quale si vuole effettuare la conversione; nel precedente esempio si può scrivere:</a:t>
            </a:r>
          </a:p>
          <a:p>
            <a:pPr lvl="1">
              <a:buNone/>
            </a:pPr>
            <a:endParaRPr lang="it-IT" sz="2000" i="1" dirty="0">
              <a:solidFill>
                <a:schemeClr val="accent2"/>
              </a:solidFill>
            </a:endParaRPr>
          </a:p>
          <a:p>
            <a:pPr lvl="1">
              <a:buNone/>
            </a:pPr>
            <a:r>
              <a:rPr lang="it-IT" sz="2000" i="1" dirty="0" err="1">
                <a:solidFill>
                  <a:schemeClr val="accent2"/>
                </a:solidFill>
              </a:rPr>
              <a:t>int</a:t>
            </a:r>
            <a:r>
              <a:rPr lang="it-IT" sz="2000" i="1" dirty="0">
                <a:solidFill>
                  <a:schemeClr val="accent2"/>
                </a:solidFill>
              </a:rPr>
              <a:t> a = 255;</a:t>
            </a:r>
          </a:p>
          <a:p>
            <a:pPr lvl="1">
              <a:buNone/>
            </a:pPr>
            <a:r>
              <a:rPr lang="it-IT" sz="2000" i="1" dirty="0">
                <a:solidFill>
                  <a:schemeClr val="accent2"/>
                </a:solidFill>
              </a:rPr>
              <a:t>short b = (short)a; </a:t>
            </a:r>
          </a:p>
          <a:p>
            <a:pPr>
              <a:buNone/>
            </a:pPr>
            <a:endParaRPr lang="it-IT" sz="2000" dirty="0"/>
          </a:p>
          <a:p>
            <a:r>
              <a:rPr lang="it-IT" sz="2400" dirty="0"/>
              <a:t>Se il valore convertito è al di fuori del dominio di valori del tipo </a:t>
            </a:r>
            <a:r>
              <a:rPr lang="it-IT" sz="2400" i="1" dirty="0">
                <a:solidFill>
                  <a:schemeClr val="accent2"/>
                </a:solidFill>
              </a:rPr>
              <a:t>t</a:t>
            </a:r>
            <a:r>
              <a:rPr lang="it-IT" sz="2400" dirty="0"/>
              <a:t>, avverrà tuttavia una perdita di precisione (in particolare, convertire un numero in virgola mobile in un intero causa il troncamento della parte decimale) </a:t>
            </a:r>
          </a:p>
          <a:p>
            <a:r>
              <a:rPr lang="it-IT" sz="2400" dirty="0"/>
              <a:t>L’operatore di cast ha precedenza rispetto a quelli visti fino qui</a:t>
            </a:r>
          </a:p>
          <a:p>
            <a:pPr>
              <a:buNone/>
            </a:pPr>
            <a:endParaRPr lang="it-IT" sz="1600" u="sng" dirty="0">
              <a:solidFill>
                <a:schemeClr val="accent1"/>
              </a:solidFill>
            </a:endParaRPr>
          </a:p>
          <a:p>
            <a:pPr lvl="2">
              <a:buNone/>
            </a:pPr>
            <a:endParaRPr lang="it-IT" sz="16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Conversione esplicita e </a:t>
            </a:r>
            <a:r>
              <a:rPr lang="it-IT" dirty="0" err="1"/>
              <a:t>char</a:t>
            </a:r>
            <a:endParaRPr lang="it-IT" sz="480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r>
              <a:rPr lang="it-IT" sz="2400" dirty="0"/>
              <a:t>Ricordiamo che il tipo </a:t>
            </a:r>
            <a:r>
              <a:rPr lang="it-IT" sz="2400" i="1" dirty="0" err="1">
                <a:solidFill>
                  <a:schemeClr val="accent2"/>
                </a:solidFill>
              </a:rPr>
              <a:t>char</a:t>
            </a:r>
            <a:r>
              <a:rPr lang="it-IT" sz="2400" dirty="0"/>
              <a:t> è a tutti gli effetti assimilabile ad un tipo numerico, che usa 16 bit per codificare numeri </a:t>
            </a:r>
            <a:r>
              <a:rPr lang="it-IT" sz="2400" i="1" dirty="0">
                <a:solidFill>
                  <a:schemeClr val="accent2"/>
                </a:solidFill>
              </a:rPr>
              <a:t>non negativi </a:t>
            </a:r>
            <a:r>
              <a:rPr lang="it-IT" sz="2400" dirty="0"/>
              <a:t>nell’intervallo [0, 2</a:t>
            </a:r>
            <a:r>
              <a:rPr lang="it-IT" sz="2400" baseline="30000" dirty="0"/>
              <a:t>16</a:t>
            </a:r>
            <a:r>
              <a:rPr lang="it-IT" sz="2400" dirty="0"/>
              <a:t> - 1]</a:t>
            </a:r>
          </a:p>
          <a:p>
            <a:r>
              <a:rPr lang="it-IT" sz="2400" dirty="0"/>
              <a:t>Ne segue che:</a:t>
            </a:r>
          </a:p>
          <a:p>
            <a:pPr lvl="1"/>
            <a:r>
              <a:rPr lang="it-IT" sz="2000" dirty="0"/>
              <a:t>è necessario usare l’operatore di cast per assegnare valori interi con segno (</a:t>
            </a:r>
            <a:r>
              <a:rPr lang="it-IT" sz="2000" i="1" dirty="0">
                <a:solidFill>
                  <a:schemeClr val="accent2"/>
                </a:solidFill>
              </a:rPr>
              <a:t>byte</a:t>
            </a:r>
            <a:r>
              <a:rPr lang="it-IT" sz="2000" i="1" dirty="0"/>
              <a:t>, </a:t>
            </a:r>
            <a:r>
              <a:rPr lang="it-IT" sz="2000" i="1" dirty="0">
                <a:solidFill>
                  <a:schemeClr val="accent2"/>
                </a:solidFill>
              </a:rPr>
              <a:t>short</a:t>
            </a:r>
            <a:r>
              <a:rPr lang="it-IT" sz="2000" i="1" dirty="0"/>
              <a:t>, </a:t>
            </a:r>
            <a:r>
              <a:rPr lang="it-IT" sz="2000" i="1" dirty="0" err="1">
                <a:solidFill>
                  <a:schemeClr val="accent2"/>
                </a:solidFill>
              </a:rPr>
              <a:t>int</a:t>
            </a:r>
            <a:r>
              <a:rPr lang="it-IT" sz="2000" i="1" dirty="0"/>
              <a:t> </a:t>
            </a:r>
            <a:r>
              <a:rPr lang="it-IT" sz="2000" dirty="0"/>
              <a:t>o</a:t>
            </a:r>
            <a:r>
              <a:rPr lang="it-IT" sz="2000" i="1" dirty="0"/>
              <a:t> </a:t>
            </a:r>
            <a:r>
              <a:rPr lang="it-IT" sz="2000" i="1" dirty="0">
                <a:solidFill>
                  <a:schemeClr val="accent2"/>
                </a:solidFill>
              </a:rPr>
              <a:t>long</a:t>
            </a:r>
            <a:r>
              <a:rPr lang="it-IT" sz="2000" dirty="0"/>
              <a:t>) ad una variabile </a:t>
            </a:r>
            <a:r>
              <a:rPr lang="it-IT" sz="2000" i="1" dirty="0" err="1">
                <a:solidFill>
                  <a:schemeClr val="accent2"/>
                </a:solidFill>
              </a:rPr>
              <a:t>char</a:t>
            </a:r>
            <a:endParaRPr lang="it-IT" sz="2000" i="1" dirty="0">
              <a:solidFill>
                <a:schemeClr val="accent2"/>
              </a:solidFill>
            </a:endParaRPr>
          </a:p>
          <a:p>
            <a:pPr lvl="1"/>
            <a:r>
              <a:rPr lang="it-IT" sz="2000" dirty="0"/>
              <a:t>è necessario usare l’operatore di cast per assegnare un </a:t>
            </a:r>
            <a:r>
              <a:rPr lang="it-IT" sz="2000" i="1" dirty="0" err="1">
                <a:solidFill>
                  <a:schemeClr val="accent2"/>
                </a:solidFill>
              </a:rPr>
              <a:t>char</a:t>
            </a:r>
            <a:r>
              <a:rPr lang="it-IT" sz="2000" dirty="0"/>
              <a:t> ad una variabile </a:t>
            </a:r>
            <a:r>
              <a:rPr lang="it-IT" sz="2000" i="1" dirty="0">
                <a:solidFill>
                  <a:schemeClr val="accent2"/>
                </a:solidFill>
              </a:rPr>
              <a:t>short</a:t>
            </a:r>
            <a:r>
              <a:rPr lang="it-IT" sz="2000" dirty="0"/>
              <a:t> o </a:t>
            </a:r>
            <a:r>
              <a:rPr lang="it-IT" sz="2000" i="1" dirty="0">
                <a:solidFill>
                  <a:schemeClr val="accent2"/>
                </a:solidFill>
              </a:rPr>
              <a:t>byte</a:t>
            </a:r>
            <a:r>
              <a:rPr lang="it-IT" sz="2000" dirty="0"/>
              <a:t>, perché il dominio positivo dei </a:t>
            </a:r>
            <a:r>
              <a:rPr lang="it-IT" sz="2000" i="1" dirty="0" err="1">
                <a:solidFill>
                  <a:schemeClr val="accent2"/>
                </a:solidFill>
              </a:rPr>
              <a:t>char</a:t>
            </a:r>
            <a:r>
              <a:rPr lang="it-IT" sz="2000" dirty="0"/>
              <a:t> è più ampio di quello di </a:t>
            </a:r>
            <a:r>
              <a:rPr lang="it-IT" sz="2000" i="1" dirty="0">
                <a:solidFill>
                  <a:schemeClr val="accent2"/>
                </a:solidFill>
              </a:rPr>
              <a:t>short</a:t>
            </a:r>
            <a:r>
              <a:rPr lang="it-IT" sz="2000" dirty="0"/>
              <a:t> o di </a:t>
            </a:r>
            <a:r>
              <a:rPr lang="it-IT" sz="2000" i="1" dirty="0">
                <a:solidFill>
                  <a:schemeClr val="accent2"/>
                </a:solidFill>
              </a:rPr>
              <a:t>byte</a:t>
            </a:r>
          </a:p>
          <a:p>
            <a:pPr lvl="1"/>
            <a:r>
              <a:rPr lang="it-IT" sz="2000" dirty="0"/>
              <a:t>si può assegnare un </a:t>
            </a:r>
            <a:r>
              <a:rPr lang="it-IT" sz="2000" i="1" dirty="0" err="1">
                <a:solidFill>
                  <a:schemeClr val="accent2"/>
                </a:solidFill>
              </a:rPr>
              <a:t>char</a:t>
            </a:r>
            <a:r>
              <a:rPr lang="it-IT" sz="2000" dirty="0"/>
              <a:t>, senza conversione esplicita, ad una variabile </a:t>
            </a:r>
            <a:r>
              <a:rPr lang="it-IT" sz="2000" i="1" dirty="0" err="1">
                <a:solidFill>
                  <a:schemeClr val="accent2"/>
                </a:solidFill>
              </a:rPr>
              <a:t>int</a:t>
            </a:r>
            <a:r>
              <a:rPr lang="it-IT" sz="2000" dirty="0"/>
              <a:t>, </a:t>
            </a:r>
            <a:r>
              <a:rPr lang="it-IT" sz="2000" i="1" dirty="0">
                <a:solidFill>
                  <a:schemeClr val="accent2"/>
                </a:solidFill>
              </a:rPr>
              <a:t>long</a:t>
            </a:r>
            <a:r>
              <a:rPr lang="it-IT" sz="2000" dirty="0"/>
              <a:t>, </a:t>
            </a:r>
            <a:r>
              <a:rPr lang="it-IT" sz="2000" i="1" dirty="0" err="1">
                <a:solidFill>
                  <a:schemeClr val="accent2"/>
                </a:solidFill>
              </a:rPr>
              <a:t>float</a:t>
            </a:r>
            <a:r>
              <a:rPr lang="it-IT" sz="2000" dirty="0"/>
              <a:t> o </a:t>
            </a:r>
            <a:r>
              <a:rPr lang="it-IT" sz="2000" i="1" dirty="0" err="1">
                <a:solidFill>
                  <a:schemeClr val="accent2"/>
                </a:solidFill>
              </a:rPr>
              <a:t>double</a:t>
            </a:r>
            <a:endParaRPr lang="it-IT" sz="2000" i="1" dirty="0">
              <a:solidFill>
                <a:schemeClr val="accent2"/>
              </a:solidFill>
            </a:endParaRPr>
          </a:p>
          <a:p>
            <a:pPr>
              <a:buNone/>
            </a:pPr>
            <a:endParaRPr lang="it-IT" sz="1600" u="sng" dirty="0">
              <a:solidFill>
                <a:schemeClr val="accent1"/>
              </a:solidFill>
            </a:endParaRPr>
          </a:p>
          <a:p>
            <a:pPr lvl="2">
              <a:buNone/>
            </a:pPr>
            <a:endParaRPr lang="it-IT" sz="16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Ulteriori osservazioni sui </a:t>
            </a:r>
            <a:r>
              <a:rPr lang="it-IT" dirty="0" err="1"/>
              <a:t>char</a:t>
            </a:r>
            <a:endParaRPr lang="it-IT" sz="480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r>
              <a:rPr lang="it-IT" sz="2400" dirty="0"/>
              <a:t>Il seguente codice non è valido:</a:t>
            </a:r>
          </a:p>
          <a:p>
            <a:pPr>
              <a:buNone/>
            </a:pPr>
            <a:r>
              <a:rPr lang="it-IT" sz="2600" dirty="0"/>
              <a:t>	</a:t>
            </a:r>
            <a:r>
              <a:rPr lang="it-IT" sz="2000" i="1" noProof="1">
                <a:solidFill>
                  <a:schemeClr val="accent2"/>
                </a:solidFill>
              </a:rPr>
              <a:t>char c1 = ‘a’;</a:t>
            </a:r>
          </a:p>
          <a:p>
            <a:pPr>
              <a:buNone/>
            </a:pPr>
            <a:r>
              <a:rPr lang="it-IT" sz="2000" i="1" noProof="1">
                <a:solidFill>
                  <a:schemeClr val="accent2"/>
                </a:solidFill>
              </a:rPr>
              <a:t>	char c2 = ‘b’;</a:t>
            </a:r>
          </a:p>
          <a:p>
            <a:pPr>
              <a:buNone/>
            </a:pPr>
            <a:r>
              <a:rPr lang="it-IT" sz="2000" i="1" noProof="1">
                <a:solidFill>
                  <a:schemeClr val="accent2"/>
                </a:solidFill>
              </a:rPr>
              <a:t>	char c3 = c1+c2;</a:t>
            </a:r>
          </a:p>
          <a:p>
            <a:pPr>
              <a:buNone/>
            </a:pPr>
            <a:r>
              <a:rPr lang="it-IT" sz="2600" dirty="0">
                <a:solidFill>
                  <a:prstClr val="black"/>
                </a:solidFill>
              </a:rPr>
              <a:t>	</a:t>
            </a:r>
            <a:r>
              <a:rPr lang="it-IT" sz="2400" dirty="0">
                <a:solidFill>
                  <a:prstClr val="black"/>
                </a:solidFill>
              </a:rPr>
              <a:t>perché l’espressione </a:t>
            </a:r>
            <a:r>
              <a:rPr lang="it-IT" sz="2400" i="1" dirty="0">
                <a:solidFill>
                  <a:schemeClr val="accent2"/>
                </a:solidFill>
              </a:rPr>
              <a:t>c1+c2</a:t>
            </a:r>
            <a:r>
              <a:rPr lang="it-IT" sz="2400" dirty="0">
                <a:solidFill>
                  <a:prstClr val="black"/>
                </a:solidFill>
              </a:rPr>
              <a:t> è di tipo </a:t>
            </a:r>
            <a:r>
              <a:rPr lang="it-IT" sz="2400" i="1" dirty="0" err="1">
                <a:solidFill>
                  <a:schemeClr val="accent2"/>
                </a:solidFill>
              </a:rPr>
              <a:t>int</a:t>
            </a:r>
            <a:r>
              <a:rPr lang="it-IT" sz="2400" i="1">
                <a:solidFill>
                  <a:schemeClr val="accent2"/>
                </a:solidFill>
              </a:rPr>
              <a:t>; </a:t>
            </a:r>
            <a:r>
              <a:rPr lang="it-IT" sz="2400"/>
              <a:t>occorre </a:t>
            </a:r>
            <a:r>
              <a:rPr lang="it-IT" sz="2400" dirty="0"/>
              <a:t>dunque scrivere:</a:t>
            </a:r>
          </a:p>
          <a:p>
            <a:pPr lvl="0">
              <a:buNone/>
            </a:pPr>
            <a:r>
              <a:rPr lang="it-IT" sz="2000" i="1" noProof="1">
                <a:solidFill>
                  <a:srgbClr val="006600"/>
                </a:solidFill>
              </a:rPr>
              <a:t>	char c1 = ‘a’;</a:t>
            </a:r>
          </a:p>
          <a:p>
            <a:pPr lvl="0">
              <a:buNone/>
            </a:pPr>
            <a:r>
              <a:rPr lang="it-IT" sz="2000" i="1" noProof="1">
                <a:solidFill>
                  <a:srgbClr val="006600"/>
                </a:solidFill>
              </a:rPr>
              <a:t>	char c2 = ‘b’;</a:t>
            </a:r>
          </a:p>
          <a:p>
            <a:pPr lvl="0">
              <a:buNone/>
            </a:pPr>
            <a:r>
              <a:rPr lang="it-IT" sz="2000" i="1" noProof="1">
                <a:solidFill>
                  <a:srgbClr val="006600"/>
                </a:solidFill>
              </a:rPr>
              <a:t>	char c3 = (char)(c1+c2);</a:t>
            </a:r>
          </a:p>
          <a:p>
            <a:pPr lvl="0">
              <a:buNone/>
            </a:pPr>
            <a:endParaRPr lang="it-IT" sz="2000" i="1" noProof="1">
              <a:solidFill>
                <a:srgbClr val="006600"/>
              </a:solidFill>
            </a:endParaRPr>
          </a:p>
          <a:p>
            <a:r>
              <a:rPr lang="it-IT" sz="2400" noProof="1"/>
              <a:t>Invece si può assegnare ad una variabile </a:t>
            </a:r>
            <a:r>
              <a:rPr lang="it-IT" sz="2400" i="1" noProof="1">
                <a:solidFill>
                  <a:schemeClr val="accent2"/>
                </a:solidFill>
              </a:rPr>
              <a:t>char</a:t>
            </a:r>
            <a:r>
              <a:rPr lang="it-IT" sz="2400" noProof="1"/>
              <a:t> il valore di una espressione composta soltanto da letterali </a:t>
            </a:r>
            <a:r>
              <a:rPr lang="it-IT" sz="2400" i="1" noProof="1">
                <a:solidFill>
                  <a:schemeClr val="accent2"/>
                </a:solidFill>
              </a:rPr>
              <a:t>char</a:t>
            </a:r>
          </a:p>
          <a:p>
            <a:pPr>
              <a:buNone/>
            </a:pPr>
            <a:endParaRPr lang="it-IT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Ulteriori osservazioni sui </a:t>
            </a:r>
            <a:r>
              <a:rPr lang="it-IT" dirty="0" err="1"/>
              <a:t>char</a:t>
            </a:r>
            <a:endParaRPr lang="it-IT" sz="480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r>
              <a:rPr lang="it-IT" sz="2600" dirty="0"/>
              <a:t>Se </a:t>
            </a:r>
            <a:r>
              <a:rPr lang="it-IT" sz="2600" i="1" dirty="0">
                <a:solidFill>
                  <a:schemeClr val="accent2"/>
                </a:solidFill>
              </a:rPr>
              <a:t>c</a:t>
            </a:r>
            <a:r>
              <a:rPr lang="it-IT" sz="2600" dirty="0"/>
              <a:t> è una variabile </a:t>
            </a:r>
            <a:r>
              <a:rPr lang="it-IT" sz="2600" i="1" dirty="0" err="1">
                <a:solidFill>
                  <a:schemeClr val="accent2"/>
                </a:solidFill>
              </a:rPr>
              <a:t>char</a:t>
            </a:r>
            <a:r>
              <a:rPr lang="it-IT" sz="2600" dirty="0"/>
              <a:t> è consentito scrivere </a:t>
            </a:r>
            <a:r>
              <a:rPr lang="it-IT" sz="2600" i="1" dirty="0">
                <a:solidFill>
                  <a:schemeClr val="accent2"/>
                </a:solidFill>
              </a:rPr>
              <a:t>c++</a:t>
            </a:r>
          </a:p>
          <a:p>
            <a:pPr>
              <a:buNone/>
            </a:pPr>
            <a:endParaRPr lang="it-IT" sz="2600" i="1" dirty="0">
              <a:solidFill>
                <a:schemeClr val="accent2"/>
              </a:solidFill>
            </a:endParaRPr>
          </a:p>
          <a:p>
            <a:r>
              <a:rPr lang="it-IT" sz="2600" dirty="0"/>
              <a:t>Se </a:t>
            </a:r>
            <a:r>
              <a:rPr lang="it-IT" sz="2600" i="1" dirty="0">
                <a:solidFill>
                  <a:schemeClr val="accent2"/>
                </a:solidFill>
              </a:rPr>
              <a:t>c</a:t>
            </a:r>
            <a:r>
              <a:rPr lang="it-IT" sz="2600" dirty="0"/>
              <a:t> è una variabile </a:t>
            </a:r>
            <a:r>
              <a:rPr lang="it-IT" sz="2600" i="1" dirty="0" err="1">
                <a:solidFill>
                  <a:schemeClr val="accent2"/>
                </a:solidFill>
              </a:rPr>
              <a:t>char</a:t>
            </a:r>
            <a:r>
              <a:rPr lang="it-IT" sz="2600" dirty="0"/>
              <a:t> </a:t>
            </a:r>
            <a:r>
              <a:rPr lang="it-IT" sz="2600" u="sng" dirty="0"/>
              <a:t>non è</a:t>
            </a:r>
            <a:r>
              <a:rPr lang="it-IT" sz="2600" dirty="0"/>
              <a:t> consentito scrivere </a:t>
            </a:r>
            <a:br>
              <a:rPr lang="it-IT" sz="2600" dirty="0"/>
            </a:br>
            <a:r>
              <a:rPr lang="it-IT" sz="2600" i="1" dirty="0">
                <a:solidFill>
                  <a:schemeClr val="accent2"/>
                </a:solidFill>
              </a:rPr>
              <a:t>c = c+1, </a:t>
            </a:r>
            <a:r>
              <a:rPr lang="it-IT" sz="2600" dirty="0"/>
              <a:t>perché</a:t>
            </a:r>
            <a:r>
              <a:rPr lang="it-IT" sz="2600" i="1" dirty="0">
                <a:solidFill>
                  <a:schemeClr val="accent2"/>
                </a:solidFill>
              </a:rPr>
              <a:t> c+1 </a:t>
            </a:r>
            <a:r>
              <a:rPr lang="it-IT" sz="2600" dirty="0"/>
              <a:t>è una espressione </a:t>
            </a:r>
            <a:r>
              <a:rPr lang="it-IT" sz="2600" i="1" dirty="0" err="1">
                <a:solidFill>
                  <a:schemeClr val="accent2"/>
                </a:solidFill>
              </a:rPr>
              <a:t>int</a:t>
            </a:r>
            <a:endParaRPr lang="it-IT" sz="2600" i="1" dirty="0">
              <a:solidFill>
                <a:schemeClr val="accent2"/>
              </a:solidFill>
            </a:endParaRPr>
          </a:p>
          <a:p>
            <a:pPr>
              <a:buNone/>
            </a:pPr>
            <a:endParaRPr lang="it-IT" sz="2600" i="1" dirty="0">
              <a:solidFill>
                <a:schemeClr val="accent2"/>
              </a:solidFill>
            </a:endParaRPr>
          </a:p>
          <a:p>
            <a:r>
              <a:rPr lang="it-IT" sz="2600" dirty="0"/>
              <a:t>Si può invece scrivere </a:t>
            </a:r>
            <a:r>
              <a:rPr lang="it-IT" sz="2600" i="1" dirty="0">
                <a:solidFill>
                  <a:schemeClr val="accent2"/>
                </a:solidFill>
              </a:rPr>
              <a:t>c = (</a:t>
            </a:r>
            <a:r>
              <a:rPr lang="it-IT" sz="2600" i="1" dirty="0" err="1">
                <a:solidFill>
                  <a:schemeClr val="accent2"/>
                </a:solidFill>
              </a:rPr>
              <a:t>char</a:t>
            </a:r>
            <a:r>
              <a:rPr lang="it-IT" sz="2600" i="1" dirty="0">
                <a:solidFill>
                  <a:schemeClr val="accent2"/>
                </a:solidFill>
              </a:rPr>
              <a:t>)(c+1)</a:t>
            </a:r>
          </a:p>
          <a:p>
            <a:endParaRPr lang="it-IT" sz="2600" dirty="0">
              <a:solidFill>
                <a:schemeClr val="accent2"/>
              </a:solidFill>
            </a:endParaRPr>
          </a:p>
          <a:p>
            <a:pPr>
              <a:buNone/>
            </a:pPr>
            <a:r>
              <a:rPr lang="it-IT" sz="2600" dirty="0"/>
              <a:t>	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800" dirty="0"/>
              <a:t>Il tipo </a:t>
            </a:r>
            <a:r>
              <a:rPr lang="it-IT" sz="4800" dirty="0" err="1"/>
              <a:t>boolean</a:t>
            </a:r>
            <a:endParaRPr lang="it-IT" sz="480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r>
              <a:rPr lang="it-IT" sz="2400" dirty="0"/>
              <a:t>Il tipo </a:t>
            </a:r>
            <a:r>
              <a:rPr lang="it-IT" sz="2400" i="1" dirty="0" err="1">
                <a:solidFill>
                  <a:schemeClr val="accent2"/>
                </a:solidFill>
              </a:rPr>
              <a:t>boolean</a:t>
            </a:r>
            <a:r>
              <a:rPr lang="it-IT" sz="2400" dirty="0"/>
              <a:t> è forse quello maggiormente utilizzato nella gran parte dei programmi, perché consente di verificare la veridicità o la falsità di certe condizioni durante l’esecuzione del programma</a:t>
            </a:r>
          </a:p>
          <a:p>
            <a:r>
              <a:rPr lang="it-IT" sz="2400" dirty="0"/>
              <a:t>Il nome </a:t>
            </a:r>
            <a:r>
              <a:rPr lang="it-IT" sz="2400" i="1" dirty="0" err="1">
                <a:solidFill>
                  <a:schemeClr val="accent2"/>
                </a:solidFill>
              </a:rPr>
              <a:t>boolean</a:t>
            </a:r>
            <a:r>
              <a:rPr lang="it-IT" sz="2400" dirty="0"/>
              <a:t> è in onore del matematico britannico George </a:t>
            </a:r>
            <a:r>
              <a:rPr lang="it-IT" sz="2400" dirty="0" err="1"/>
              <a:t>Boole</a:t>
            </a:r>
            <a:r>
              <a:rPr lang="it-IT" sz="2400" dirty="0"/>
              <a:t> (1815 - 1864), ideatore dell’algebra che porta il suo nome (</a:t>
            </a:r>
            <a:r>
              <a:rPr lang="it-IT" sz="2400" u="sng" dirty="0">
                <a:solidFill>
                  <a:schemeClr val="accent1"/>
                </a:solidFill>
              </a:rPr>
              <a:t>algebra booleana</a:t>
            </a:r>
            <a:r>
              <a:rPr lang="it-IT" sz="2400" dirty="0"/>
              <a:t>)</a:t>
            </a:r>
          </a:p>
          <a:p>
            <a:r>
              <a:rPr lang="it-IT" sz="2400" dirty="0"/>
              <a:t>Poiché un valore </a:t>
            </a:r>
            <a:r>
              <a:rPr lang="it-IT" sz="2400" i="1" dirty="0" err="1">
                <a:solidFill>
                  <a:schemeClr val="accent2"/>
                </a:solidFill>
              </a:rPr>
              <a:t>boolean</a:t>
            </a:r>
            <a:r>
              <a:rPr lang="it-IT" sz="2400" dirty="0"/>
              <a:t> può essere solo </a:t>
            </a:r>
            <a:r>
              <a:rPr lang="it-IT" sz="2400" i="1" dirty="0" err="1">
                <a:solidFill>
                  <a:schemeClr val="accent2"/>
                </a:solidFill>
              </a:rPr>
              <a:t>true</a:t>
            </a:r>
            <a:r>
              <a:rPr lang="it-IT" sz="2400" dirty="0"/>
              <a:t> o </a:t>
            </a:r>
            <a:r>
              <a:rPr lang="it-IT" sz="2400" i="1" dirty="0">
                <a:solidFill>
                  <a:schemeClr val="accent2"/>
                </a:solidFill>
              </a:rPr>
              <a:t>false</a:t>
            </a:r>
            <a:r>
              <a:rPr lang="it-IT" sz="2400" dirty="0"/>
              <a:t>, in linea teorica è sufficiente un solo bit per la rappresentazione di questo dato; per questioni di ordine pratico però, Java usa 8 bit (1 byte)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800" dirty="0"/>
              <a:t>Espressioni di tipo </a:t>
            </a:r>
            <a:r>
              <a:rPr lang="it-IT" sz="4800" dirty="0" err="1"/>
              <a:t>boolean</a:t>
            </a:r>
            <a:endParaRPr lang="it-IT" sz="480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r>
              <a:rPr lang="it-IT" dirty="0"/>
              <a:t>Una espressione </a:t>
            </a:r>
            <a:r>
              <a:rPr lang="it-IT" i="1" dirty="0" err="1">
                <a:solidFill>
                  <a:schemeClr val="accent2"/>
                </a:solidFill>
              </a:rPr>
              <a:t>boolean</a:t>
            </a:r>
            <a:r>
              <a:rPr lang="it-IT" dirty="0"/>
              <a:t> viene anche chiamata </a:t>
            </a:r>
            <a:r>
              <a:rPr lang="it-IT" u="sng" dirty="0">
                <a:solidFill>
                  <a:schemeClr val="accent1"/>
                </a:solidFill>
              </a:rPr>
              <a:t>predicato</a:t>
            </a:r>
            <a:r>
              <a:rPr lang="it-IT" dirty="0"/>
              <a:t>: i letterali </a:t>
            </a:r>
            <a:r>
              <a:rPr lang="it-IT" i="1" dirty="0" err="1">
                <a:solidFill>
                  <a:schemeClr val="accent2"/>
                </a:solidFill>
              </a:rPr>
              <a:t>true</a:t>
            </a:r>
            <a:r>
              <a:rPr lang="it-IT" dirty="0"/>
              <a:t> o </a:t>
            </a:r>
            <a:r>
              <a:rPr lang="it-IT" i="1" dirty="0">
                <a:solidFill>
                  <a:schemeClr val="accent2"/>
                </a:solidFill>
              </a:rPr>
              <a:t>false</a:t>
            </a:r>
            <a:r>
              <a:rPr lang="it-IT" dirty="0"/>
              <a:t> sono i predicati più elementari</a:t>
            </a:r>
          </a:p>
          <a:p>
            <a:r>
              <a:rPr lang="it-IT" dirty="0"/>
              <a:t>È possibile costruire predicati più complessi attraverso l’uso di due tipi di operatori:</a:t>
            </a:r>
          </a:p>
          <a:p>
            <a:pPr lvl="1"/>
            <a:r>
              <a:rPr lang="it-IT" u="sng" dirty="0">
                <a:solidFill>
                  <a:schemeClr val="accent1"/>
                </a:solidFill>
              </a:rPr>
              <a:t>operatori logici</a:t>
            </a:r>
            <a:r>
              <a:rPr lang="it-IT" dirty="0"/>
              <a:t>:</a:t>
            </a:r>
            <a:r>
              <a:rPr lang="it-IT" dirty="0">
                <a:solidFill>
                  <a:schemeClr val="accent1"/>
                </a:solidFill>
              </a:rPr>
              <a:t> </a:t>
            </a:r>
            <a:r>
              <a:rPr lang="it-IT" dirty="0"/>
              <a:t>operano tra valori </a:t>
            </a:r>
            <a:r>
              <a:rPr lang="it-IT" i="1" dirty="0" err="1">
                <a:solidFill>
                  <a:schemeClr val="accent2"/>
                </a:solidFill>
              </a:rPr>
              <a:t>boolean</a:t>
            </a:r>
            <a:r>
              <a:rPr lang="it-IT" dirty="0"/>
              <a:t> e restituiscono un valore </a:t>
            </a:r>
            <a:r>
              <a:rPr lang="it-IT" i="1" dirty="0" err="1">
                <a:solidFill>
                  <a:schemeClr val="accent2"/>
                </a:solidFill>
              </a:rPr>
              <a:t>boolean</a:t>
            </a:r>
            <a:endParaRPr lang="it-IT" i="1" u="sng" dirty="0">
              <a:solidFill>
                <a:schemeClr val="accent2"/>
              </a:solidFill>
            </a:endParaRPr>
          </a:p>
          <a:p>
            <a:pPr lvl="1"/>
            <a:r>
              <a:rPr lang="it-IT" u="sng" dirty="0">
                <a:solidFill>
                  <a:schemeClr val="accent1"/>
                </a:solidFill>
              </a:rPr>
              <a:t>operatori relazionali</a:t>
            </a:r>
            <a:r>
              <a:rPr lang="it-IT" dirty="0">
                <a:solidFill>
                  <a:schemeClr val="accent1"/>
                </a:solidFill>
              </a:rPr>
              <a:t>: </a:t>
            </a:r>
            <a:r>
              <a:rPr lang="it-IT" dirty="0"/>
              <a:t>operano tra valori numerici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dirty="0"/>
              <a:t>(inclusi i </a:t>
            </a:r>
            <a:r>
              <a:rPr lang="it-IT" i="1" dirty="0" err="1">
                <a:solidFill>
                  <a:schemeClr val="accent2"/>
                </a:solidFill>
              </a:rPr>
              <a:t>char</a:t>
            </a:r>
            <a:r>
              <a:rPr lang="it-IT" dirty="0"/>
              <a:t>) e restituiscono un valore </a:t>
            </a:r>
            <a:r>
              <a:rPr lang="it-IT" i="1" dirty="0" err="1">
                <a:solidFill>
                  <a:schemeClr val="accent2"/>
                </a:solidFill>
              </a:rPr>
              <a:t>boolean</a:t>
            </a:r>
            <a:endParaRPr lang="it-IT" u="sng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800" dirty="0"/>
              <a:t>Operatori logici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84576"/>
          </a:xfrm>
        </p:spPr>
        <p:txBody>
          <a:bodyPr>
            <a:normAutofit/>
          </a:bodyPr>
          <a:lstStyle/>
          <a:p>
            <a:r>
              <a:rPr lang="it-IT" dirty="0"/>
              <a:t>Gli operatori logici in Java sono i seguenti:</a:t>
            </a:r>
          </a:p>
          <a:p>
            <a:endParaRPr lang="it-IT" u="sng" dirty="0">
              <a:solidFill>
                <a:schemeClr val="accent1"/>
              </a:solidFill>
            </a:endParaRP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&amp;&amp;</a:t>
            </a:r>
            <a:r>
              <a:rPr lang="it-IT" dirty="0">
                <a:solidFill>
                  <a:schemeClr val="accent1"/>
                </a:solidFill>
              </a:rPr>
              <a:t> 	</a:t>
            </a:r>
            <a:r>
              <a:rPr lang="it-IT" u="sng" dirty="0">
                <a:solidFill>
                  <a:schemeClr val="accent1"/>
                </a:solidFill>
              </a:rPr>
              <a:t>AND logico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||</a:t>
            </a:r>
            <a:r>
              <a:rPr lang="it-IT" dirty="0">
                <a:solidFill>
                  <a:schemeClr val="accent1"/>
                </a:solidFill>
              </a:rPr>
              <a:t>	</a:t>
            </a:r>
            <a:r>
              <a:rPr lang="it-IT" u="sng" dirty="0">
                <a:solidFill>
                  <a:schemeClr val="accent1"/>
                </a:solidFill>
              </a:rPr>
              <a:t>OR logico (inclusivo)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^</a:t>
            </a:r>
            <a:r>
              <a:rPr lang="it-IT" dirty="0">
                <a:solidFill>
                  <a:schemeClr val="accent1"/>
                </a:solidFill>
              </a:rPr>
              <a:t>	</a:t>
            </a:r>
            <a:r>
              <a:rPr lang="it-IT" u="sng" dirty="0">
                <a:solidFill>
                  <a:schemeClr val="accent1"/>
                </a:solidFill>
              </a:rPr>
              <a:t>OR logico esclusivo (XOR)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!</a:t>
            </a:r>
            <a:r>
              <a:rPr lang="it-IT" dirty="0">
                <a:solidFill>
                  <a:schemeClr val="accent1"/>
                </a:solidFill>
              </a:rPr>
              <a:t>	</a:t>
            </a:r>
            <a:r>
              <a:rPr lang="it-IT" u="sng" dirty="0">
                <a:solidFill>
                  <a:schemeClr val="accent1"/>
                </a:solidFill>
              </a:rPr>
              <a:t>NOT (negazione)</a:t>
            </a:r>
          </a:p>
          <a:p>
            <a:endParaRPr lang="it-IT" u="sng" dirty="0">
              <a:solidFill>
                <a:schemeClr val="accent1"/>
              </a:solidFill>
            </a:endParaRPr>
          </a:p>
          <a:p>
            <a:r>
              <a:rPr lang="it-IT" dirty="0"/>
              <a:t>I primi tre sono operatori binari, mentre il NOT è un operatore unario</a:t>
            </a:r>
          </a:p>
          <a:p>
            <a:r>
              <a:rPr lang="it-IT" dirty="0"/>
              <a:t>L’operatore NOT ha precedenza rispetto agli altri e l’operatore AND ha precedenza rispetto agli OR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800" dirty="0"/>
              <a:t>Operatori logici: semantica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648072"/>
          </a:xfrm>
        </p:spPr>
        <p:txBody>
          <a:bodyPr>
            <a:normAutofit/>
          </a:bodyPr>
          <a:lstStyle/>
          <a:p>
            <a:r>
              <a:rPr lang="it-IT" dirty="0"/>
              <a:t>Ecco la tavola di verità degli operatori logici binari</a:t>
            </a:r>
          </a:p>
          <a:p>
            <a:endParaRPr lang="it-IT" u="sng" dirty="0">
              <a:solidFill>
                <a:schemeClr val="accent1"/>
              </a:solidFill>
            </a:endParaRPr>
          </a:p>
          <a:p>
            <a:pPr lvl="1">
              <a:buNone/>
            </a:pPr>
            <a:endParaRPr lang="it-IT" u="sng" dirty="0">
              <a:solidFill>
                <a:schemeClr val="accent1"/>
              </a:solidFill>
            </a:endParaRPr>
          </a:p>
        </p:txBody>
      </p:sp>
      <p:grpSp>
        <p:nvGrpSpPr>
          <p:cNvPr id="10" name="Gruppo 9"/>
          <p:cNvGrpSpPr/>
          <p:nvPr/>
        </p:nvGrpSpPr>
        <p:grpSpPr>
          <a:xfrm>
            <a:off x="1115616" y="1988840"/>
            <a:ext cx="6845561" cy="2232248"/>
            <a:chOff x="1115616" y="2132856"/>
            <a:chExt cx="6845561" cy="2232248"/>
          </a:xfrm>
        </p:grpSpPr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115616" y="2132856"/>
              <a:ext cx="6845561" cy="22322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9" name="Connettore 1 8"/>
            <p:cNvCxnSpPr/>
            <p:nvPr/>
          </p:nvCxnSpPr>
          <p:spPr>
            <a:xfrm>
              <a:off x="6617252" y="2204864"/>
              <a:ext cx="0" cy="43204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Segnaposto contenuto 2"/>
          <p:cNvSpPr txBox="1">
            <a:spLocks/>
          </p:cNvSpPr>
          <p:nvPr/>
        </p:nvSpPr>
        <p:spPr>
          <a:xfrm>
            <a:off x="457200" y="4365104"/>
            <a:ext cx="8435280" cy="648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it-IT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Ecco la tavola di verità del NOT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it-IT" sz="2800" b="0" i="0" u="sng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Arial" pitchFamily="34" charset="0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Calibri" pitchFamily="34" charset="0"/>
              <a:buNone/>
              <a:tabLst/>
              <a:defRPr/>
            </a:pPr>
            <a:endParaRPr kumimoji="0" lang="it-IT" sz="2400" b="0" i="0" u="sng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Arial" pitchFamily="34" charset="0"/>
            </a:endParaRP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59832" y="5013176"/>
            <a:ext cx="2736304" cy="1411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800" dirty="0"/>
              <a:t>Operatori logici: precedenze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r>
              <a:rPr lang="it-IT" sz="2600" dirty="0"/>
              <a:t>L’operatore NOT ha precedenza rispetto agli altri e l’operatore AND ha precedenza rispetto agli OR</a:t>
            </a:r>
          </a:p>
          <a:p>
            <a:r>
              <a:rPr lang="it-IT" sz="2600" dirty="0"/>
              <a:t>È possibile usare parentesi per forzare le regole di precedenze (come nelle espressioni numeriche)</a:t>
            </a:r>
          </a:p>
          <a:p>
            <a:r>
              <a:rPr lang="it-IT" sz="2600" dirty="0"/>
              <a:t>Nelle espressioni </a:t>
            </a:r>
            <a:r>
              <a:rPr lang="it-IT" sz="2600" i="1" dirty="0">
                <a:solidFill>
                  <a:schemeClr val="accent2"/>
                </a:solidFill>
              </a:rPr>
              <a:t>a &amp;&amp; b </a:t>
            </a:r>
            <a:r>
              <a:rPr lang="it-IT" sz="2600" dirty="0"/>
              <a:t>oppure </a:t>
            </a:r>
            <a:r>
              <a:rPr lang="it-IT" sz="2600" i="1" dirty="0">
                <a:solidFill>
                  <a:schemeClr val="accent2"/>
                </a:solidFill>
              </a:rPr>
              <a:t>a || b</a:t>
            </a:r>
            <a:r>
              <a:rPr lang="it-IT" sz="2600" dirty="0"/>
              <a:t>, la JVM valuta il secondo operando solo se necessario</a:t>
            </a:r>
          </a:p>
          <a:p>
            <a:pPr lvl="1"/>
            <a:r>
              <a:rPr lang="it-IT" sz="2200" dirty="0"/>
              <a:t>cioè a meno che il valore del primo non sia già sufficiente a dedurre il risultato dell’espressione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800" dirty="0"/>
              <a:t>Operatori logici: esempio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507288" cy="5112568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it-IT" sz="2600" noProof="1">
                <a:latin typeface="Courier New" pitchFamily="49" charset="0"/>
                <a:cs typeface="Courier New" pitchFamily="49" charset="0"/>
              </a:rPr>
              <a:t>import fond.io.*;</a:t>
            </a:r>
          </a:p>
          <a:p>
            <a:pPr>
              <a:buNone/>
            </a:pPr>
            <a:endParaRPr lang="it-IT" sz="2600" noProof="1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sz="2600" noProof="1">
                <a:latin typeface="Courier New" pitchFamily="49" charset="0"/>
                <a:cs typeface="Courier New" pitchFamily="49" charset="0"/>
              </a:rPr>
              <a:t>public class TestEspressioniBoolean{</a:t>
            </a:r>
          </a:p>
          <a:p>
            <a:pPr>
              <a:buNone/>
            </a:pPr>
            <a:r>
              <a:rPr lang="it-IT" sz="2600" noProof="1">
                <a:latin typeface="Courier New" pitchFamily="49" charset="0"/>
                <a:cs typeface="Courier New" pitchFamily="49" charset="0"/>
              </a:rPr>
              <a:t>  </a:t>
            </a:r>
            <a:r>
              <a:rPr lang="it-IT" sz="2600" i="1" noProof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/* Calcola il valore di una espressione boolean</a:t>
            </a:r>
          </a:p>
          <a:p>
            <a:pPr>
              <a:buNone/>
            </a:pPr>
            <a:r>
              <a:rPr lang="it-IT" sz="2600" i="1" noProof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     con variabili di valore assegnato dall'utente</a:t>
            </a:r>
          </a:p>
          <a:p>
            <a:pPr>
              <a:buNone/>
            </a:pPr>
            <a:r>
              <a:rPr lang="it-IT" sz="2600" i="1" noProof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  */</a:t>
            </a:r>
          </a:p>
          <a:p>
            <a:pPr>
              <a:buNone/>
            </a:pPr>
            <a:r>
              <a:rPr lang="it-IT" sz="2600" noProof="1">
                <a:latin typeface="Courier New" pitchFamily="49" charset="0"/>
                <a:cs typeface="Courier New" pitchFamily="49" charset="0"/>
              </a:rPr>
              <a:t>  public static void main(String[] args){</a:t>
            </a:r>
          </a:p>
          <a:p>
            <a:pPr>
              <a:buNone/>
            </a:pPr>
            <a:r>
              <a:rPr lang="it-IT" sz="2600" noProof="1">
                <a:latin typeface="Courier New" pitchFamily="49" charset="0"/>
                <a:cs typeface="Courier New" pitchFamily="49" charset="0"/>
              </a:rPr>
              <a:t>    InputWindow in = new InputWindow();</a:t>
            </a:r>
          </a:p>
          <a:p>
            <a:pPr>
              <a:buNone/>
            </a:pPr>
            <a:r>
              <a:rPr lang="it-IT" sz="2600" noProof="1">
                <a:latin typeface="Courier New" pitchFamily="49" charset="0"/>
                <a:cs typeface="Courier New" pitchFamily="49" charset="0"/>
              </a:rPr>
              <a:t>    boolean a = in.readBoolean("Inserire un valore 								true/false per a");</a:t>
            </a:r>
          </a:p>
          <a:p>
            <a:pPr>
              <a:buNone/>
            </a:pPr>
            <a:r>
              <a:rPr lang="it-IT" sz="2600" noProof="1">
                <a:latin typeface="Courier New" pitchFamily="49" charset="0"/>
                <a:cs typeface="Courier New" pitchFamily="49" charset="0"/>
              </a:rPr>
              <a:t>    boolean b = in.readBoolean("Inserire un valore 								true/false per b");</a:t>
            </a:r>
          </a:p>
          <a:p>
            <a:pPr>
              <a:buNone/>
            </a:pPr>
            <a:r>
              <a:rPr lang="it-IT" sz="2600" noProof="1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sz="2600" b="1" noProof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boolean c = (a || !b) &amp;&amp; !a;</a:t>
            </a:r>
          </a:p>
          <a:p>
            <a:pPr>
              <a:buNone/>
            </a:pPr>
            <a:r>
              <a:rPr lang="it-IT" sz="2600" b="1" noProof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OutputWindow out = new OutputWindow();</a:t>
            </a:r>
          </a:p>
          <a:p>
            <a:pPr>
              <a:buNone/>
            </a:pPr>
            <a:r>
              <a:rPr lang="it-IT" sz="2600" b="1" noProof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out.write("(a || !b) &amp;&amp; !a = ");</a:t>
            </a:r>
          </a:p>
          <a:p>
            <a:pPr>
              <a:buNone/>
            </a:pPr>
            <a:r>
              <a:rPr lang="it-IT" sz="2600" b="1" noProof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out.writeln(c);</a:t>
            </a:r>
          </a:p>
          <a:p>
            <a:pPr>
              <a:buNone/>
            </a:pPr>
            <a:r>
              <a:rPr lang="it-IT" sz="2600" noProof="1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None/>
            </a:pPr>
            <a:r>
              <a:rPr lang="it-IT" sz="2600" noProof="1">
                <a:latin typeface="Courier New" pitchFamily="49" charset="0"/>
                <a:cs typeface="Courier New" pitchFamily="49" charset="0"/>
              </a:rPr>
              <a:t>}</a:t>
            </a:r>
            <a:endParaRPr lang="it-IT" sz="2200" noProof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CasellaDiTesto 3"/>
          <p:cNvSpPr txBox="1"/>
          <p:nvPr/>
        </p:nvSpPr>
        <p:spPr>
          <a:xfrm>
            <a:off x="5724128" y="5589240"/>
            <a:ext cx="3240360" cy="8309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2400" dirty="0"/>
              <a:t>In quali casi verrà stampato </a:t>
            </a:r>
            <a:r>
              <a:rPr lang="it-IT" sz="2400" i="1" dirty="0" err="1">
                <a:solidFill>
                  <a:schemeClr val="accent2"/>
                </a:solidFill>
              </a:rPr>
              <a:t>true</a:t>
            </a:r>
            <a:r>
              <a:rPr lang="it-IT" sz="2400" dirty="0"/>
              <a:t>?</a:t>
            </a:r>
          </a:p>
        </p:txBody>
      </p:sp>
      <p:cxnSp>
        <p:nvCxnSpPr>
          <p:cNvPr id="9" name="Connettore 2 8"/>
          <p:cNvCxnSpPr>
            <a:stCxn id="4" idx="1"/>
          </p:cNvCxnSpPr>
          <p:nvPr/>
        </p:nvCxnSpPr>
        <p:spPr>
          <a:xfrm flipH="1" flipV="1">
            <a:off x="3203848" y="5517233"/>
            <a:ext cx="2520280" cy="487506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800" dirty="0"/>
              <a:t>Leggi di De Morgan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r>
              <a:rPr lang="it-IT" sz="2600" dirty="0"/>
              <a:t>Le </a:t>
            </a:r>
            <a:r>
              <a:rPr lang="it-IT" sz="2600" u="sng" dirty="0">
                <a:solidFill>
                  <a:schemeClr val="accent1"/>
                </a:solidFill>
              </a:rPr>
              <a:t>leggi di De Morgan </a:t>
            </a:r>
            <a:r>
              <a:rPr lang="it-IT" sz="2600" dirty="0"/>
              <a:t>(o </a:t>
            </a:r>
            <a:r>
              <a:rPr lang="it-IT" sz="2600" u="sng" dirty="0">
                <a:solidFill>
                  <a:schemeClr val="accent1"/>
                </a:solidFill>
              </a:rPr>
              <a:t>teoremi di De Morgan</a:t>
            </a:r>
            <a:r>
              <a:rPr lang="it-IT" sz="2600" dirty="0"/>
              <a:t>) permettono di esprimere una espressione con AND sotto forma di una espressione con OR, e viceversa</a:t>
            </a:r>
          </a:p>
          <a:p>
            <a:endParaRPr lang="it-IT" sz="2600" dirty="0"/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!(a &amp;&amp; b) 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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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 </a:t>
            </a:r>
            <a:r>
              <a:rPr lang="it-IT" i="1" dirty="0">
                <a:solidFill>
                  <a:schemeClr val="accent2"/>
                </a:solidFill>
              </a:rPr>
              <a:t> (!a || !b)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!(a || b) 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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 !a &amp;&amp; !b</a:t>
            </a:r>
          </a:p>
          <a:p>
            <a:endParaRPr lang="it-IT" sz="2600" i="1" dirty="0">
              <a:solidFill>
                <a:schemeClr val="accent2"/>
              </a:solidFill>
              <a:sym typeface="Symbol"/>
            </a:endParaRPr>
          </a:p>
          <a:p>
            <a:r>
              <a:rPr lang="it-IT" sz="2600" dirty="0">
                <a:sym typeface="Symbol"/>
              </a:rPr>
              <a:t>Quindi, in altra forma:</a:t>
            </a:r>
          </a:p>
          <a:p>
            <a:pPr>
              <a:buNone/>
            </a:pPr>
            <a:endParaRPr lang="it-IT" sz="2600" dirty="0">
              <a:sym typeface="Symbol"/>
            </a:endParaRP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(a &amp;&amp; b) 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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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 </a:t>
            </a:r>
            <a:r>
              <a:rPr lang="it-IT" i="1" dirty="0">
                <a:solidFill>
                  <a:schemeClr val="accent2"/>
                </a:solidFill>
              </a:rPr>
              <a:t> !(!a || !b)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(a || b) 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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 !(!a &amp;&amp; !b)</a:t>
            </a:r>
          </a:p>
          <a:p>
            <a:endParaRPr lang="it-IT" sz="2200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800" dirty="0"/>
              <a:t>Operatori relazionali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r>
              <a:rPr lang="it-IT" sz="2600" dirty="0"/>
              <a:t>Gli operatori relazionali Java sono i seguenti: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==</a:t>
            </a:r>
            <a:r>
              <a:rPr lang="it-IT" dirty="0">
                <a:solidFill>
                  <a:schemeClr val="accent1"/>
                </a:solidFill>
              </a:rPr>
              <a:t> 	</a:t>
            </a:r>
            <a:r>
              <a:rPr lang="it-IT" u="sng" dirty="0">
                <a:solidFill>
                  <a:schemeClr val="accent1"/>
                </a:solidFill>
              </a:rPr>
              <a:t>uguale a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!=</a:t>
            </a:r>
            <a:r>
              <a:rPr lang="it-IT" dirty="0">
                <a:solidFill>
                  <a:schemeClr val="accent1"/>
                </a:solidFill>
              </a:rPr>
              <a:t>	</a:t>
            </a:r>
            <a:r>
              <a:rPr lang="it-IT" u="sng" dirty="0">
                <a:solidFill>
                  <a:schemeClr val="accent1"/>
                </a:solidFill>
              </a:rPr>
              <a:t>diverso da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&gt;</a:t>
            </a:r>
            <a:r>
              <a:rPr lang="it-IT" dirty="0">
                <a:solidFill>
                  <a:schemeClr val="accent1"/>
                </a:solidFill>
              </a:rPr>
              <a:t>	</a:t>
            </a:r>
            <a:r>
              <a:rPr lang="it-IT" u="sng" dirty="0">
                <a:solidFill>
                  <a:schemeClr val="accent1"/>
                </a:solidFill>
              </a:rPr>
              <a:t>maggiore di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&lt;</a:t>
            </a:r>
            <a:r>
              <a:rPr lang="it-IT" dirty="0">
                <a:solidFill>
                  <a:schemeClr val="accent1"/>
                </a:solidFill>
              </a:rPr>
              <a:t>	</a:t>
            </a:r>
            <a:r>
              <a:rPr lang="it-IT" u="sng" dirty="0">
                <a:solidFill>
                  <a:schemeClr val="accent1"/>
                </a:solidFill>
              </a:rPr>
              <a:t>minore di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&gt;=</a:t>
            </a:r>
            <a:r>
              <a:rPr lang="it-IT" dirty="0">
                <a:solidFill>
                  <a:schemeClr val="accent1"/>
                </a:solidFill>
              </a:rPr>
              <a:t>	</a:t>
            </a:r>
            <a:r>
              <a:rPr lang="it-IT" u="sng" dirty="0">
                <a:solidFill>
                  <a:schemeClr val="accent1"/>
                </a:solidFill>
              </a:rPr>
              <a:t>maggiore o uguale a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&lt;=</a:t>
            </a:r>
            <a:r>
              <a:rPr lang="it-IT" dirty="0">
                <a:solidFill>
                  <a:schemeClr val="accent1"/>
                </a:solidFill>
              </a:rPr>
              <a:t>	</a:t>
            </a:r>
            <a:r>
              <a:rPr lang="it-IT" u="sng" dirty="0">
                <a:solidFill>
                  <a:schemeClr val="accent1"/>
                </a:solidFill>
              </a:rPr>
              <a:t>minore o uguale a</a:t>
            </a:r>
          </a:p>
          <a:p>
            <a:endParaRPr lang="it-IT" dirty="0"/>
          </a:p>
          <a:p>
            <a:r>
              <a:rPr lang="it-IT" dirty="0"/>
              <a:t>Sono tutti operatori binari che hanno lo stesso valore che gli si attribuisce nella matematica</a:t>
            </a:r>
          </a:p>
          <a:p>
            <a:pPr lvl="1"/>
            <a:endParaRPr lang="it-IT" u="sng" dirty="0">
              <a:solidFill>
                <a:schemeClr val="accent1"/>
              </a:solidFill>
            </a:endParaRPr>
          </a:p>
          <a:p>
            <a:endParaRPr lang="it-IT" sz="2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800" dirty="0"/>
              <a:t>Operatori relazionali: esempi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r>
              <a:rPr lang="it-IT" sz="2600" dirty="0"/>
              <a:t>Ecco alcuni esempi di semplici espressioni </a:t>
            </a:r>
            <a:r>
              <a:rPr lang="it-IT" sz="2600" i="1" dirty="0" err="1">
                <a:solidFill>
                  <a:schemeClr val="accent2"/>
                </a:solidFill>
              </a:rPr>
              <a:t>boolean</a:t>
            </a:r>
            <a:r>
              <a:rPr lang="it-IT" sz="2600" dirty="0"/>
              <a:t> che usano operatori relazionali </a:t>
            </a:r>
            <a:endParaRPr lang="it-IT" dirty="0"/>
          </a:p>
          <a:p>
            <a:pPr lvl="1"/>
            <a:endParaRPr lang="it-IT" u="sng" dirty="0">
              <a:solidFill>
                <a:schemeClr val="accent1"/>
              </a:solidFill>
            </a:endParaRPr>
          </a:p>
          <a:p>
            <a:endParaRPr lang="it-IT" sz="22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5736" y="2391879"/>
            <a:ext cx="4032448" cy="3917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200" dirty="0"/>
              <a:t>Operatori relazionali e riferimenti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r>
              <a:rPr lang="it-IT" dirty="0"/>
              <a:t>Gli operatori relazionali </a:t>
            </a:r>
            <a:r>
              <a:rPr lang="it-IT" i="1" dirty="0">
                <a:solidFill>
                  <a:schemeClr val="accent2"/>
                </a:solidFill>
              </a:rPr>
              <a:t>== </a:t>
            </a:r>
            <a:r>
              <a:rPr lang="it-IT" dirty="0"/>
              <a:t>e </a:t>
            </a:r>
            <a:r>
              <a:rPr lang="it-IT" i="1" dirty="0">
                <a:solidFill>
                  <a:schemeClr val="accent2"/>
                </a:solidFill>
              </a:rPr>
              <a:t>!=</a:t>
            </a:r>
            <a:r>
              <a:rPr lang="it-IT" dirty="0"/>
              <a:t> possono anche essere usati per confrontare riferimenti tra oggetti</a:t>
            </a:r>
            <a:endParaRPr lang="it-IT" sz="2600" dirty="0"/>
          </a:p>
          <a:p>
            <a:pPr lvl="1"/>
            <a:r>
              <a:rPr lang="it-IT" dirty="0"/>
              <a:t>Se </a:t>
            </a:r>
            <a:r>
              <a:rPr lang="it-IT" i="1" dirty="0">
                <a:solidFill>
                  <a:schemeClr val="accent2"/>
                </a:solidFill>
              </a:rPr>
              <a:t>a</a:t>
            </a:r>
            <a:r>
              <a:rPr lang="it-IT" dirty="0"/>
              <a:t> e </a:t>
            </a:r>
            <a:r>
              <a:rPr lang="it-IT" i="1" dirty="0">
                <a:solidFill>
                  <a:schemeClr val="accent2"/>
                </a:solidFill>
              </a:rPr>
              <a:t>b</a:t>
            </a:r>
            <a:r>
              <a:rPr lang="it-IT" dirty="0"/>
              <a:t> sono variabili riferimento di tipo </a:t>
            </a:r>
            <a:r>
              <a:rPr lang="it-IT" i="1" dirty="0">
                <a:solidFill>
                  <a:schemeClr val="accent2"/>
                </a:solidFill>
              </a:rPr>
              <a:t>C</a:t>
            </a:r>
            <a:r>
              <a:rPr lang="it-IT" dirty="0"/>
              <a:t>, l’espressione </a:t>
            </a:r>
            <a:r>
              <a:rPr lang="it-IT" i="1" dirty="0">
                <a:solidFill>
                  <a:schemeClr val="accent2"/>
                </a:solidFill>
              </a:rPr>
              <a:t>a == b </a:t>
            </a:r>
            <a:r>
              <a:rPr lang="it-IT" dirty="0"/>
              <a:t>vale </a:t>
            </a:r>
            <a:r>
              <a:rPr lang="it-IT" i="1" dirty="0" err="1">
                <a:solidFill>
                  <a:schemeClr val="accent2"/>
                </a:solidFill>
              </a:rPr>
              <a:t>true</a:t>
            </a:r>
            <a:r>
              <a:rPr lang="it-IT" dirty="0"/>
              <a:t> se e solo se </a:t>
            </a:r>
            <a:r>
              <a:rPr lang="it-IT" i="1" dirty="0">
                <a:solidFill>
                  <a:schemeClr val="accent2"/>
                </a:solidFill>
              </a:rPr>
              <a:t>a</a:t>
            </a:r>
            <a:r>
              <a:rPr lang="it-IT" dirty="0"/>
              <a:t> e </a:t>
            </a:r>
            <a:r>
              <a:rPr lang="it-IT" i="1" dirty="0">
                <a:solidFill>
                  <a:schemeClr val="accent2"/>
                </a:solidFill>
              </a:rPr>
              <a:t>b</a:t>
            </a:r>
            <a:r>
              <a:rPr lang="it-IT" dirty="0"/>
              <a:t> referenziano lo stesso oggetto</a:t>
            </a:r>
            <a:endParaRPr lang="it-IT" sz="2600" dirty="0"/>
          </a:p>
          <a:p>
            <a:pPr lvl="1"/>
            <a:r>
              <a:rPr lang="it-IT" dirty="0"/>
              <a:t>Viceversa, </a:t>
            </a:r>
            <a:r>
              <a:rPr lang="it-IT" i="1" dirty="0">
                <a:solidFill>
                  <a:schemeClr val="accent2"/>
                </a:solidFill>
              </a:rPr>
              <a:t>a != b </a:t>
            </a:r>
            <a:r>
              <a:rPr lang="it-IT" dirty="0"/>
              <a:t>vale </a:t>
            </a:r>
            <a:r>
              <a:rPr lang="it-IT" i="1" dirty="0" err="1">
                <a:solidFill>
                  <a:schemeClr val="accent2"/>
                </a:solidFill>
              </a:rPr>
              <a:t>true</a:t>
            </a:r>
            <a:r>
              <a:rPr lang="it-IT" dirty="0"/>
              <a:t> se e solo se </a:t>
            </a:r>
            <a:r>
              <a:rPr lang="it-IT" i="1" dirty="0">
                <a:solidFill>
                  <a:schemeClr val="accent2"/>
                </a:solidFill>
              </a:rPr>
              <a:t>a</a:t>
            </a:r>
            <a:r>
              <a:rPr lang="it-IT" dirty="0"/>
              <a:t> e </a:t>
            </a:r>
            <a:r>
              <a:rPr lang="it-IT" i="1" dirty="0">
                <a:solidFill>
                  <a:schemeClr val="accent2"/>
                </a:solidFill>
              </a:rPr>
              <a:t>b</a:t>
            </a:r>
            <a:r>
              <a:rPr lang="it-IT" dirty="0"/>
              <a:t> referenziano oggetti diversi</a:t>
            </a:r>
          </a:p>
          <a:p>
            <a:pPr lvl="1"/>
            <a:endParaRPr lang="it-IT" u="sng" dirty="0">
              <a:solidFill>
                <a:schemeClr val="accent1"/>
              </a:solidFill>
            </a:endParaRPr>
          </a:p>
          <a:p>
            <a:endParaRPr lang="it-IT" sz="2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Espressioni </a:t>
            </a:r>
            <a:r>
              <a:rPr lang="it-IT" dirty="0" err="1"/>
              <a:t>boolean</a:t>
            </a:r>
            <a:r>
              <a:rPr lang="it-IT" dirty="0"/>
              <a:t> complesse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84576"/>
          </a:xfrm>
        </p:spPr>
        <p:txBody>
          <a:bodyPr>
            <a:normAutofit/>
          </a:bodyPr>
          <a:lstStyle/>
          <a:p>
            <a:r>
              <a:rPr lang="it-IT" sz="2600"/>
              <a:t>È </a:t>
            </a:r>
            <a:r>
              <a:rPr lang="it-IT" sz="2600" dirty="0"/>
              <a:t>possibile costruire espressioni </a:t>
            </a:r>
            <a:r>
              <a:rPr lang="it-IT" sz="2600" i="1" dirty="0" err="1">
                <a:solidFill>
                  <a:schemeClr val="accent2"/>
                </a:solidFill>
              </a:rPr>
              <a:t>boolean</a:t>
            </a:r>
            <a:r>
              <a:rPr lang="it-IT" sz="2600" dirty="0"/>
              <a:t> complesse, combinando operatori logici e relazionali (i secondi hanno precedenza sui primi, ma si possono usare le parentesi per forzare le precedenze)</a:t>
            </a:r>
          </a:p>
          <a:p>
            <a:pPr lvl="1"/>
            <a:endParaRPr lang="it-IT" sz="2200" i="1" dirty="0">
              <a:solidFill>
                <a:schemeClr val="accent2"/>
              </a:solidFill>
            </a:endParaRPr>
          </a:p>
          <a:p>
            <a:pPr lvl="1"/>
            <a:r>
              <a:rPr lang="it-IT" sz="2200" i="1" dirty="0">
                <a:solidFill>
                  <a:schemeClr val="accent2"/>
                </a:solidFill>
              </a:rPr>
              <a:t>Esempio</a:t>
            </a:r>
            <a:r>
              <a:rPr lang="it-IT" sz="2200" dirty="0"/>
              <a:t>: se </a:t>
            </a:r>
            <a:r>
              <a:rPr lang="it-IT" sz="2200" i="1" dirty="0" err="1">
                <a:solidFill>
                  <a:schemeClr val="accent2"/>
                </a:solidFill>
              </a:rPr>
              <a:t>num</a:t>
            </a:r>
            <a:r>
              <a:rPr lang="it-IT" sz="2200" dirty="0"/>
              <a:t> è una variabile numerica, la condizione che </a:t>
            </a:r>
            <a:r>
              <a:rPr lang="it-IT" sz="2200" i="1" dirty="0" err="1">
                <a:solidFill>
                  <a:schemeClr val="accent2"/>
                </a:solidFill>
              </a:rPr>
              <a:t>num</a:t>
            </a:r>
            <a:r>
              <a:rPr lang="it-IT" sz="2200" dirty="0"/>
              <a:t> cada nell’intervallo [-7, 7] oppure nell’intervallo </a:t>
            </a:r>
            <a:br>
              <a:rPr lang="it-IT" sz="2200" dirty="0"/>
            </a:br>
            <a:r>
              <a:rPr lang="it-IT" sz="2200" dirty="0"/>
              <a:t>(10, 14), si può scrivere come:</a:t>
            </a:r>
            <a:br>
              <a:rPr lang="it-IT" sz="2200" dirty="0"/>
            </a:br>
            <a:r>
              <a:rPr lang="it-IT" sz="2200" i="1" dirty="0" err="1">
                <a:solidFill>
                  <a:schemeClr val="accent2"/>
                </a:solidFill>
              </a:rPr>
              <a:t>(num &gt;= -7) &amp;&amp; (num &lt;= 7) || (num &gt; 10) &amp;&amp; (num &lt;14)</a:t>
            </a:r>
          </a:p>
          <a:p>
            <a:pPr lvl="1"/>
            <a:endParaRPr lang="it-IT" sz="1800" i="1" dirty="0">
              <a:solidFill>
                <a:schemeClr val="accent2"/>
              </a:solidFill>
            </a:endParaRPr>
          </a:p>
          <a:p>
            <a:pPr lvl="1"/>
            <a:r>
              <a:rPr lang="it-IT" sz="2200" i="1" dirty="0">
                <a:solidFill>
                  <a:schemeClr val="accent2"/>
                </a:solidFill>
              </a:rPr>
              <a:t>Esempio</a:t>
            </a:r>
            <a:r>
              <a:rPr lang="it-IT" sz="2200" dirty="0"/>
              <a:t>: se </a:t>
            </a:r>
            <a:r>
              <a:rPr lang="it-IT" sz="2200" i="1" dirty="0" err="1">
                <a:solidFill>
                  <a:schemeClr val="accent2"/>
                </a:solidFill>
              </a:rPr>
              <a:t>num</a:t>
            </a:r>
            <a:r>
              <a:rPr lang="it-IT" sz="2200" dirty="0"/>
              <a:t> è una variabile numerica, la condizione che </a:t>
            </a:r>
            <a:r>
              <a:rPr lang="it-IT" sz="2200" i="1" dirty="0" err="1">
                <a:solidFill>
                  <a:schemeClr val="accent2"/>
                </a:solidFill>
              </a:rPr>
              <a:t>num</a:t>
            </a:r>
            <a:r>
              <a:rPr lang="it-IT" sz="2200" dirty="0"/>
              <a:t> sia pari e diverso da zero si può scrivere come:</a:t>
            </a:r>
            <a:br>
              <a:rPr lang="it-IT" sz="2200" dirty="0"/>
            </a:br>
            <a:r>
              <a:rPr lang="it-IT" sz="2000" i="1" dirty="0">
                <a:solidFill>
                  <a:schemeClr val="accent2"/>
                </a:solidFill>
              </a:rPr>
              <a:t> </a:t>
            </a:r>
            <a:r>
              <a:rPr lang="it-IT" sz="2200" i="1" dirty="0" err="1">
                <a:solidFill>
                  <a:schemeClr val="accent2"/>
                </a:solidFill>
              </a:rPr>
              <a:t>num</a:t>
            </a:r>
            <a:r>
              <a:rPr lang="it-IT" sz="2200" i="1" dirty="0">
                <a:solidFill>
                  <a:schemeClr val="accent2"/>
                </a:solidFill>
              </a:rPr>
              <a:t> % 2 == 0  &amp;&amp;  </a:t>
            </a:r>
            <a:r>
              <a:rPr lang="it-IT" sz="2200" i="1" dirty="0" err="1">
                <a:solidFill>
                  <a:schemeClr val="accent2"/>
                </a:solidFill>
              </a:rPr>
              <a:t>num</a:t>
            </a:r>
            <a:r>
              <a:rPr lang="it-IT" sz="2200" i="1" dirty="0">
                <a:solidFill>
                  <a:schemeClr val="accent2"/>
                </a:solidFill>
              </a:rPr>
              <a:t> != 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800" dirty="0"/>
              <a:t>Le costanti in Java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r>
              <a:rPr lang="it-IT" dirty="0"/>
              <a:t>Oltre alla variabili, in Java si possono definire dei contenitori chiamati </a:t>
            </a:r>
            <a:r>
              <a:rPr lang="it-IT" u="sng" dirty="0">
                <a:solidFill>
                  <a:schemeClr val="accent1"/>
                </a:solidFill>
              </a:rPr>
              <a:t>costanti</a:t>
            </a:r>
          </a:p>
          <a:p>
            <a:r>
              <a:rPr lang="it-IT" dirty="0"/>
              <a:t>Una costante è come una variabile alla quale però può essere dato </a:t>
            </a:r>
            <a:r>
              <a:rPr lang="it-IT" i="1" dirty="0">
                <a:solidFill>
                  <a:schemeClr val="accent2"/>
                </a:solidFill>
              </a:rPr>
              <a:t>un solo valore durante tutto il suo ciclo di vita </a:t>
            </a:r>
          </a:p>
          <a:p>
            <a:pPr lvl="1"/>
            <a:r>
              <a:rPr lang="it-IT" dirty="0"/>
              <a:t>il valore di una costante è tipicamente assegnato contestualmente alla sua dichiarazione</a:t>
            </a:r>
          </a:p>
          <a:p>
            <a:pPr lvl="0"/>
            <a:r>
              <a:rPr lang="it-IT" dirty="0">
                <a:solidFill>
                  <a:prstClr val="black"/>
                </a:solidFill>
              </a:rPr>
              <a:t>Una costante viene dichiarata come una variabile (tipo + nome), ma la dichiarazione è preceduta dalla parola chiave </a:t>
            </a:r>
            <a:r>
              <a:rPr lang="it-IT" u="sng" dirty="0" err="1">
                <a:solidFill>
                  <a:schemeClr val="accent1"/>
                </a:solidFill>
              </a:rPr>
              <a:t>final</a:t>
            </a:r>
            <a:endParaRPr lang="it-IT" i="1" u="sng" dirty="0">
              <a:solidFill>
                <a:schemeClr val="accent1"/>
              </a:solidFill>
            </a:endParaRPr>
          </a:p>
          <a:p>
            <a:endParaRPr lang="it-IT" sz="2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800" dirty="0"/>
              <a:t>Costanti: un esempio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8457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import fond.io.*;</a:t>
            </a:r>
          </a:p>
          <a:p>
            <a:pPr>
              <a:buNone/>
            </a:pPr>
            <a:endParaRPr lang="it-IT" sz="1600" noProof="1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public class CalcoloMisureCerchio{</a:t>
            </a:r>
          </a:p>
          <a:p>
            <a:pPr>
              <a:buNone/>
            </a:pPr>
            <a:r>
              <a:rPr lang="it-IT" sz="1600" b="1" noProof="1">
                <a:latin typeface="Courier New" pitchFamily="49" charset="0"/>
                <a:cs typeface="Courier New" pitchFamily="49" charset="0"/>
              </a:rPr>
              <a:t>  </a:t>
            </a:r>
            <a:r>
              <a:rPr lang="it-IT" sz="1600" b="1" i="1" noProof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/* Calcola l'area e il perimetro di un cerchio di raggio inserito    </a:t>
            </a:r>
            <a:br>
              <a:rPr lang="it-IT" sz="1600" b="1" i="1" noProof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</a:br>
            <a:r>
              <a:rPr lang="it-IT" sz="1600" b="1" i="1" noProof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  dall'utente */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</a:t>
            </a:r>
            <a:br>
              <a:rPr lang="it-IT" sz="1600" noProof="1">
                <a:latin typeface="Courier New" pitchFamily="49" charset="0"/>
                <a:cs typeface="Courier New" pitchFamily="49" charset="0"/>
              </a:rPr>
            </a:br>
            <a:r>
              <a:rPr lang="it-IT" sz="1600" noProof="1">
                <a:latin typeface="Courier New" pitchFamily="49" charset="0"/>
                <a:cs typeface="Courier New" pitchFamily="49" charset="0"/>
              </a:rPr>
              <a:t>public static void main(String[] args){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InputWindow in = new InputWindow();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double r = in.readDouble("Inserire il raggio");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sz="1600" b="1" noProof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final double PIGRECO = 3.14159; // costante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double area = r*r*</a:t>
            </a:r>
            <a:r>
              <a:rPr lang="it-IT" sz="1600" b="1" noProof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PIGRECO</a:t>
            </a:r>
            <a:r>
              <a:rPr lang="it-IT" sz="1600" noProof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double perimetro = 2*r*</a:t>
            </a:r>
            <a:r>
              <a:rPr lang="it-IT" sz="1600" b="1" noProof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PIGRECO</a:t>
            </a:r>
            <a:r>
              <a:rPr lang="it-IT" sz="1600" noProof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OutputWindow out = new OutputWindow();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out.write("Area del cerchio = ");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out.writeln(area);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out.write("Perimetro del cerchio = ");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out.writeln(perimetro);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L’importanza di usare costanti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r>
              <a:rPr lang="it-IT" dirty="0"/>
              <a:t>Ovviamente è possibile fare a meno delle costanti, usando direttamente i letterali nel codice</a:t>
            </a:r>
          </a:p>
          <a:p>
            <a:pPr lvl="1"/>
            <a:r>
              <a:rPr lang="it-IT" dirty="0"/>
              <a:t>nell’esempio precedente potevamo scrivere direttamente </a:t>
            </a:r>
            <a:r>
              <a:rPr lang="it-IT" i="1" dirty="0">
                <a:solidFill>
                  <a:schemeClr val="accent2"/>
                </a:solidFill>
              </a:rPr>
              <a:t>3.14159 </a:t>
            </a:r>
            <a:r>
              <a:rPr lang="it-IT" dirty="0"/>
              <a:t>ovunque usavamo </a:t>
            </a:r>
            <a:r>
              <a:rPr lang="it-IT" i="1" dirty="0">
                <a:solidFill>
                  <a:schemeClr val="accent2"/>
                </a:solidFill>
              </a:rPr>
              <a:t>PIGRECO</a:t>
            </a:r>
          </a:p>
          <a:p>
            <a:pPr lvl="0"/>
            <a:endParaRPr lang="it-IT" dirty="0">
              <a:solidFill>
                <a:prstClr val="black"/>
              </a:solidFill>
            </a:endParaRPr>
          </a:p>
          <a:p>
            <a:pPr lvl="0"/>
            <a:r>
              <a:rPr lang="it-IT" dirty="0">
                <a:solidFill>
                  <a:prstClr val="black"/>
                </a:solidFill>
              </a:rPr>
              <a:t>Tuttavia, usare le costanti consente di modificare in modo minimale il codice in caso di modifica dei valori costanti usati nel codice</a:t>
            </a:r>
          </a:p>
          <a:p>
            <a:pPr lvl="1"/>
            <a:r>
              <a:rPr lang="it-IT" dirty="0">
                <a:solidFill>
                  <a:prstClr val="black"/>
                </a:solidFill>
              </a:rPr>
              <a:t>usare direttamente i letterali può comportare modifiche multiple nel codice</a:t>
            </a:r>
          </a:p>
          <a:p>
            <a:endParaRPr lang="it-IT" sz="2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Perché i tipi primitivi?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r>
              <a:rPr lang="it-IT" dirty="0"/>
              <a:t>Java nasce con l’intento di trattare ogni dato come se fosse un oggetto; tuttavia i tipi primitivi fanno eccezione</a:t>
            </a:r>
          </a:p>
          <a:p>
            <a:endParaRPr lang="it-IT" dirty="0"/>
          </a:p>
          <a:p>
            <a:pPr marL="342900" lvl="1" indent="-342900">
              <a:buFont typeface="Arial" pitchFamily="34" charset="0"/>
              <a:buChar char="•"/>
            </a:pPr>
            <a:r>
              <a:rPr lang="it-IT" sz="2800" dirty="0">
                <a:solidFill>
                  <a:prstClr val="black"/>
                </a:solidFill>
              </a:rPr>
              <a:t>In linea teorica nulla vieterebbe di trattare come classi i tipi di dati primitivi </a:t>
            </a:r>
          </a:p>
          <a:p>
            <a:pPr>
              <a:buNone/>
            </a:pPr>
            <a:endParaRPr lang="it-IT" dirty="0">
              <a:solidFill>
                <a:prstClr val="black"/>
              </a:solidFill>
            </a:endParaRPr>
          </a:p>
          <a:p>
            <a:r>
              <a:rPr lang="it-IT" dirty="0">
                <a:solidFill>
                  <a:prstClr val="black"/>
                </a:solidFill>
              </a:rPr>
              <a:t>I tipi primitivi sono stati introdotti perché è più efficiente (sia in termini di tempo che di memoria) manipolarli rispetto agli oggetti</a:t>
            </a:r>
          </a:p>
          <a:p>
            <a:endParaRPr lang="it-IT" sz="2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Le classi </a:t>
            </a:r>
            <a:r>
              <a:rPr lang="it-IT" dirty="0" err="1"/>
              <a:t>wrapper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r>
              <a:rPr lang="it-IT" dirty="0"/>
              <a:t>Nel package </a:t>
            </a:r>
            <a:r>
              <a:rPr lang="it-IT" i="1" dirty="0" err="1">
                <a:solidFill>
                  <a:schemeClr val="accent2"/>
                </a:solidFill>
              </a:rPr>
              <a:t>java.lang</a:t>
            </a:r>
            <a:r>
              <a:rPr lang="it-IT" dirty="0"/>
              <a:t>  vengono fornite delle classi che rappresentano le tipologie di dati riconducibili a dati primitivi; tali classi si chiamano </a:t>
            </a:r>
            <a:r>
              <a:rPr lang="it-IT" u="sng" dirty="0">
                <a:solidFill>
                  <a:schemeClr val="accent1"/>
                </a:solidFill>
              </a:rPr>
              <a:t>classi </a:t>
            </a:r>
            <a:r>
              <a:rPr lang="it-IT" u="sng" dirty="0" err="1">
                <a:solidFill>
                  <a:schemeClr val="accent1"/>
                </a:solidFill>
              </a:rPr>
              <a:t>wrapper</a:t>
            </a:r>
            <a:r>
              <a:rPr lang="it-IT" dirty="0">
                <a:solidFill>
                  <a:schemeClr val="accent1"/>
                </a:solidFill>
              </a:rPr>
              <a:t> (</a:t>
            </a:r>
            <a:r>
              <a:rPr lang="it-IT" u="sng" dirty="0">
                <a:solidFill>
                  <a:schemeClr val="accent1"/>
                </a:solidFill>
              </a:rPr>
              <a:t>classi involucro</a:t>
            </a:r>
            <a:r>
              <a:rPr lang="it-IT" dirty="0">
                <a:solidFill>
                  <a:schemeClr val="accent1"/>
                </a:solidFill>
              </a:rPr>
              <a:t>)</a:t>
            </a:r>
          </a:p>
          <a:p>
            <a:endParaRPr lang="it-IT" dirty="0">
              <a:solidFill>
                <a:schemeClr val="accent1"/>
              </a:solidFill>
            </a:endParaRPr>
          </a:p>
          <a:p>
            <a:r>
              <a:rPr lang="it-IT" dirty="0"/>
              <a:t>Per ogni tipo primitivo </a:t>
            </a:r>
            <a:r>
              <a:rPr lang="it-IT" i="1" dirty="0">
                <a:solidFill>
                  <a:schemeClr val="accent2"/>
                </a:solidFill>
              </a:rPr>
              <a:t>t</a:t>
            </a:r>
            <a:r>
              <a:rPr lang="it-IT" dirty="0"/>
              <a:t> esiste una classe </a:t>
            </a:r>
            <a:r>
              <a:rPr lang="it-IT" dirty="0" err="1"/>
              <a:t>wrapper</a:t>
            </a:r>
            <a:r>
              <a:rPr lang="it-IT" dirty="0"/>
              <a:t> che rappresenta </a:t>
            </a:r>
            <a:r>
              <a:rPr lang="it-IT" i="1" dirty="0">
                <a:solidFill>
                  <a:schemeClr val="accent2"/>
                </a:solidFill>
              </a:rPr>
              <a:t>t</a:t>
            </a:r>
            <a:r>
              <a:rPr lang="it-IT" dirty="0">
                <a:solidFill>
                  <a:schemeClr val="accent2"/>
                </a:solidFill>
              </a:rPr>
              <a:t>: </a:t>
            </a:r>
            <a:r>
              <a:rPr lang="it-IT" dirty="0"/>
              <a:t>le classi </a:t>
            </a:r>
            <a:r>
              <a:rPr lang="it-IT" i="1" dirty="0">
                <a:solidFill>
                  <a:schemeClr val="accent2"/>
                </a:solidFill>
              </a:rPr>
              <a:t>Byte, Short, </a:t>
            </a:r>
            <a:r>
              <a:rPr lang="it-IT" i="1" dirty="0" err="1">
                <a:solidFill>
                  <a:schemeClr val="accent2"/>
                </a:solidFill>
              </a:rPr>
              <a:t>Integer</a:t>
            </a:r>
            <a:r>
              <a:rPr lang="it-IT" i="1" dirty="0">
                <a:solidFill>
                  <a:schemeClr val="accent2"/>
                </a:solidFill>
              </a:rPr>
              <a:t>, Long, </a:t>
            </a:r>
            <a:r>
              <a:rPr lang="it-IT" i="1" dirty="0" err="1">
                <a:solidFill>
                  <a:schemeClr val="accent2"/>
                </a:solidFill>
              </a:rPr>
              <a:t>Float</a:t>
            </a:r>
            <a:r>
              <a:rPr lang="it-IT" i="1" dirty="0">
                <a:solidFill>
                  <a:schemeClr val="accent2"/>
                </a:solidFill>
              </a:rPr>
              <a:t>, </a:t>
            </a:r>
            <a:r>
              <a:rPr lang="it-IT" i="1" dirty="0" err="1">
                <a:solidFill>
                  <a:schemeClr val="accent2"/>
                </a:solidFill>
              </a:rPr>
              <a:t>Double</a:t>
            </a:r>
            <a:r>
              <a:rPr lang="it-IT" i="1" dirty="0">
                <a:solidFill>
                  <a:schemeClr val="accent2"/>
                </a:solidFill>
              </a:rPr>
              <a:t>, </a:t>
            </a:r>
            <a:r>
              <a:rPr lang="it-IT" i="1" dirty="0" err="1">
                <a:solidFill>
                  <a:schemeClr val="accent2"/>
                </a:solidFill>
              </a:rPr>
              <a:t>Character</a:t>
            </a:r>
            <a:r>
              <a:rPr lang="it-IT" i="1" dirty="0">
                <a:solidFill>
                  <a:schemeClr val="accent2"/>
                </a:solidFill>
              </a:rPr>
              <a:t>, </a:t>
            </a:r>
            <a:r>
              <a:rPr lang="it-IT" i="1" dirty="0" err="1">
                <a:solidFill>
                  <a:schemeClr val="accent2"/>
                </a:solidFill>
              </a:rPr>
              <a:t>Boolean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dirty="0"/>
              <a:t>modellano oggetti che rappresentano rispettivamente valori primitivi di tipo </a:t>
            </a:r>
            <a:r>
              <a:rPr lang="it-IT" i="1" dirty="0">
                <a:solidFill>
                  <a:schemeClr val="accent2"/>
                </a:solidFill>
              </a:rPr>
              <a:t>byte, short, </a:t>
            </a:r>
            <a:r>
              <a:rPr lang="it-IT" i="1" dirty="0" err="1">
                <a:solidFill>
                  <a:schemeClr val="accent2"/>
                </a:solidFill>
              </a:rPr>
              <a:t>int</a:t>
            </a:r>
            <a:r>
              <a:rPr lang="it-IT" i="1" dirty="0">
                <a:solidFill>
                  <a:schemeClr val="accent2"/>
                </a:solidFill>
              </a:rPr>
              <a:t>, long, </a:t>
            </a:r>
            <a:r>
              <a:rPr lang="it-IT" i="1" dirty="0" err="1">
                <a:solidFill>
                  <a:schemeClr val="accent2"/>
                </a:solidFill>
              </a:rPr>
              <a:t>float</a:t>
            </a:r>
            <a:r>
              <a:rPr lang="it-IT" i="1" dirty="0">
                <a:solidFill>
                  <a:schemeClr val="accent2"/>
                </a:solidFill>
              </a:rPr>
              <a:t>, </a:t>
            </a:r>
            <a:r>
              <a:rPr lang="it-IT" i="1" dirty="0" err="1">
                <a:solidFill>
                  <a:schemeClr val="accent2"/>
                </a:solidFill>
              </a:rPr>
              <a:t>double</a:t>
            </a:r>
            <a:r>
              <a:rPr lang="it-IT" i="1" dirty="0">
                <a:solidFill>
                  <a:schemeClr val="accent2"/>
                </a:solidFill>
              </a:rPr>
              <a:t>, </a:t>
            </a:r>
            <a:r>
              <a:rPr lang="it-IT" i="1" dirty="0" err="1">
                <a:solidFill>
                  <a:schemeClr val="accent2"/>
                </a:solidFill>
              </a:rPr>
              <a:t>char</a:t>
            </a:r>
            <a:r>
              <a:rPr lang="it-IT" i="1" dirty="0">
                <a:solidFill>
                  <a:schemeClr val="accent2"/>
                </a:solidFill>
              </a:rPr>
              <a:t>, </a:t>
            </a:r>
            <a:r>
              <a:rPr lang="it-IT" i="1" dirty="0" err="1">
                <a:solidFill>
                  <a:schemeClr val="accent2"/>
                </a:solidFill>
              </a:rPr>
              <a:t>boolean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</a:p>
          <a:p>
            <a:endParaRPr lang="it-IT" sz="2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Struttura di un oggetto </a:t>
            </a:r>
            <a:r>
              <a:rPr lang="it-IT" dirty="0" err="1"/>
              <a:t>wrapper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r>
              <a:rPr lang="it-IT" dirty="0"/>
              <a:t>Un oggetto di una classe </a:t>
            </a:r>
            <a:r>
              <a:rPr lang="it-IT" dirty="0" err="1"/>
              <a:t>wrapper</a:t>
            </a:r>
            <a:r>
              <a:rPr lang="it-IT" dirty="0"/>
              <a:t> ha una struttura molto semplice; esso “incarta” (cioè mantiene in memoria) il valore primitivo da rappresentare, che costituisce dunque il suo stato</a:t>
            </a:r>
            <a:endParaRPr lang="it-IT" i="1" dirty="0">
              <a:solidFill>
                <a:schemeClr val="accent2"/>
              </a:solidFill>
            </a:endParaRPr>
          </a:p>
          <a:p>
            <a:endParaRPr lang="it-IT" sz="2200" dirty="0"/>
          </a:p>
        </p:txBody>
      </p:sp>
      <p:grpSp>
        <p:nvGrpSpPr>
          <p:cNvPr id="4" name="Gruppo 3"/>
          <p:cNvGrpSpPr/>
          <p:nvPr/>
        </p:nvGrpSpPr>
        <p:grpSpPr>
          <a:xfrm>
            <a:off x="4572000" y="3356992"/>
            <a:ext cx="2808312" cy="2407125"/>
            <a:chOff x="683568" y="2276872"/>
            <a:chExt cx="3024336" cy="2592288"/>
          </a:xfrm>
        </p:grpSpPr>
        <p:sp>
          <p:nvSpPr>
            <p:cNvPr id="5" name="Rettangolo 4"/>
            <p:cNvSpPr/>
            <p:nvPr/>
          </p:nvSpPr>
          <p:spPr>
            <a:xfrm>
              <a:off x="683568" y="2276872"/>
              <a:ext cx="3024336" cy="57606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1"/>
            </a:p>
          </p:txBody>
        </p:sp>
        <p:sp>
          <p:nvSpPr>
            <p:cNvPr id="6" name="Rettangolo 5"/>
            <p:cNvSpPr/>
            <p:nvPr/>
          </p:nvSpPr>
          <p:spPr>
            <a:xfrm>
              <a:off x="683568" y="2852936"/>
              <a:ext cx="3024336" cy="2016224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1"/>
            </a:p>
          </p:txBody>
        </p:sp>
        <p:cxnSp>
          <p:nvCxnSpPr>
            <p:cNvPr id="7" name="Connettore 1 6"/>
            <p:cNvCxnSpPr/>
            <p:nvPr/>
          </p:nvCxnSpPr>
          <p:spPr>
            <a:xfrm>
              <a:off x="683568" y="4005064"/>
              <a:ext cx="302433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CasellaDiTesto 7"/>
            <p:cNvSpPr txBox="1"/>
            <p:nvPr/>
          </p:nvSpPr>
          <p:spPr>
            <a:xfrm>
              <a:off x="827584" y="2348880"/>
              <a:ext cx="273630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000" b="1" noProof="1">
                  <a:latin typeface="Courier New" pitchFamily="49" charset="0"/>
                  <a:cs typeface="Courier New" pitchFamily="49" charset="0"/>
                </a:rPr>
                <a:t>Integer</a:t>
              </a:r>
            </a:p>
          </p:txBody>
        </p:sp>
        <p:sp>
          <p:nvSpPr>
            <p:cNvPr id="9" name="CasellaDiTesto 8"/>
            <p:cNvSpPr txBox="1"/>
            <p:nvPr/>
          </p:nvSpPr>
          <p:spPr>
            <a:xfrm>
              <a:off x="827584" y="2996952"/>
              <a:ext cx="273630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noProof="1">
                  <a:latin typeface="Courier New" pitchFamily="49" charset="0"/>
                  <a:cs typeface="Courier New" pitchFamily="49" charset="0"/>
                </a:rPr>
                <a:t>int value</a:t>
              </a:r>
            </a:p>
          </p:txBody>
        </p:sp>
        <p:sp>
          <p:nvSpPr>
            <p:cNvPr id="11" name="CasellaDiTesto 10"/>
            <p:cNvSpPr txBox="1"/>
            <p:nvPr/>
          </p:nvSpPr>
          <p:spPr>
            <a:xfrm>
              <a:off x="827584" y="4221088"/>
              <a:ext cx="273630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noProof="1">
                  <a:latin typeface="Courier New" pitchFamily="49" charset="0"/>
                  <a:cs typeface="Courier New" pitchFamily="49" charset="0"/>
                </a:rPr>
                <a:t>...</a:t>
              </a:r>
            </a:p>
          </p:txBody>
        </p:sp>
      </p:grpSp>
      <p:cxnSp>
        <p:nvCxnSpPr>
          <p:cNvPr id="13" name="Connettore 2 12"/>
          <p:cNvCxnSpPr>
            <a:endCxn id="9" idx="1"/>
          </p:cNvCxnSpPr>
          <p:nvPr/>
        </p:nvCxnSpPr>
        <p:spPr>
          <a:xfrm>
            <a:off x="3059832" y="4077072"/>
            <a:ext cx="1645897" cy="134332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sellaDiTesto 13"/>
          <p:cNvSpPr txBox="1"/>
          <p:nvPr/>
        </p:nvSpPr>
        <p:spPr>
          <a:xfrm>
            <a:off x="899592" y="3573016"/>
            <a:ext cx="26642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valore primitivo rappresentato dall’oggetto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200" dirty="0"/>
              <a:t>Immutabilità degli oggetti </a:t>
            </a:r>
            <a:r>
              <a:rPr lang="it-IT" sz="4200" dirty="0" err="1"/>
              <a:t>wrapper</a:t>
            </a:r>
            <a:endParaRPr lang="it-IT" sz="420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r>
              <a:rPr lang="it-IT" dirty="0"/>
              <a:t>Ogni oggetto </a:t>
            </a:r>
            <a:r>
              <a:rPr lang="it-IT" dirty="0" err="1"/>
              <a:t>wrapper</a:t>
            </a:r>
            <a:r>
              <a:rPr lang="it-IT" dirty="0"/>
              <a:t> in Java è </a:t>
            </a:r>
            <a:r>
              <a:rPr lang="it-IT" u="sng" dirty="0">
                <a:solidFill>
                  <a:schemeClr val="accent1"/>
                </a:solidFill>
              </a:rPr>
              <a:t>immutabile</a:t>
            </a:r>
            <a:r>
              <a:rPr lang="it-IT" dirty="0"/>
              <a:t>, cioè il suo stato non può essere cambiato (non esistono metodi pubblici per farlo); questo significa che una volta creato l’oggetto, il valore primitivo che esso rappresenta non può essere cambiato</a:t>
            </a:r>
            <a:endParaRPr lang="it-IT" i="1" u="sng" dirty="0">
              <a:solidFill>
                <a:schemeClr val="accent1"/>
              </a:solidFill>
            </a:endParaRPr>
          </a:p>
          <a:p>
            <a:endParaRPr lang="it-IT" sz="2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200" dirty="0"/>
              <a:t>Creazione di oggetti </a:t>
            </a:r>
            <a:r>
              <a:rPr lang="it-IT" sz="4200" dirty="0" err="1"/>
              <a:t>wrapper</a:t>
            </a:r>
            <a:endParaRPr lang="it-IT" sz="420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r>
              <a:rPr lang="it-IT" sz="2400" dirty="0"/>
              <a:t>Nel seguito indichiamo genericamente con </a:t>
            </a:r>
            <a:r>
              <a:rPr lang="it-IT" sz="2400" i="1" dirty="0">
                <a:solidFill>
                  <a:schemeClr val="accent2"/>
                </a:solidFill>
              </a:rPr>
              <a:t>W</a:t>
            </a:r>
            <a:r>
              <a:rPr lang="it-IT" sz="2400" dirty="0"/>
              <a:t> il nome di una classe </a:t>
            </a:r>
            <a:r>
              <a:rPr lang="it-IT" sz="2400" dirty="0" err="1"/>
              <a:t>wrapper</a:t>
            </a:r>
            <a:r>
              <a:rPr lang="it-IT" sz="2400" dirty="0"/>
              <a:t> e con </a:t>
            </a:r>
            <a:r>
              <a:rPr lang="it-IT" sz="2400" i="1" dirty="0">
                <a:solidFill>
                  <a:schemeClr val="accent2"/>
                </a:solidFill>
              </a:rPr>
              <a:t>w</a:t>
            </a:r>
            <a:r>
              <a:rPr lang="it-IT" sz="2400" dirty="0"/>
              <a:t> il tipo primitivo corrispondente</a:t>
            </a:r>
            <a:endParaRPr lang="it-IT" sz="2400" i="1" u="sng" dirty="0">
              <a:solidFill>
                <a:schemeClr val="accent1"/>
              </a:solidFill>
            </a:endParaRPr>
          </a:p>
          <a:p>
            <a:endParaRPr lang="it-IT" sz="2400" dirty="0"/>
          </a:p>
          <a:p>
            <a:r>
              <a:rPr lang="it-IT" sz="2400" dirty="0"/>
              <a:t>Un oggetto di tipo </a:t>
            </a:r>
            <a:r>
              <a:rPr lang="it-IT" sz="2400" i="1" dirty="0">
                <a:solidFill>
                  <a:schemeClr val="accent2"/>
                </a:solidFill>
              </a:rPr>
              <a:t>W</a:t>
            </a:r>
            <a:r>
              <a:rPr lang="it-IT" sz="2400" dirty="0"/>
              <a:t> può essere creato con un costruttore al quale si specifica il valore di tipo </a:t>
            </a:r>
            <a:r>
              <a:rPr lang="it-IT" sz="2400" i="1" dirty="0">
                <a:solidFill>
                  <a:schemeClr val="accent2"/>
                </a:solidFill>
              </a:rPr>
              <a:t>w</a:t>
            </a:r>
            <a:r>
              <a:rPr lang="it-IT" sz="2400" dirty="0"/>
              <a:t> che esso rappresenterà</a:t>
            </a:r>
          </a:p>
          <a:p>
            <a:pPr lvl="1">
              <a:buNone/>
            </a:pPr>
            <a:r>
              <a:rPr lang="it-IT" i="1" dirty="0">
                <a:solidFill>
                  <a:schemeClr val="accent2"/>
                </a:solidFill>
              </a:rPr>
              <a:t>			</a:t>
            </a:r>
            <a:r>
              <a:rPr lang="it-IT" i="1" dirty="0" err="1">
                <a:solidFill>
                  <a:schemeClr val="accent2"/>
                </a:solidFill>
              </a:rPr>
              <a:t>new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i="1" dirty="0" err="1">
                <a:solidFill>
                  <a:schemeClr val="accent2"/>
                </a:solidFill>
              </a:rPr>
              <a:t>Integer</a:t>
            </a:r>
            <a:r>
              <a:rPr lang="it-IT" i="1" dirty="0">
                <a:solidFill>
                  <a:schemeClr val="accent2"/>
                </a:solidFill>
              </a:rPr>
              <a:t> (100);</a:t>
            </a:r>
          </a:p>
          <a:p>
            <a:endParaRPr lang="it-IT" sz="2400" dirty="0"/>
          </a:p>
          <a:p>
            <a:r>
              <a:rPr lang="it-IT" sz="2400" dirty="0"/>
              <a:t>Ad eccezione di </a:t>
            </a:r>
            <a:r>
              <a:rPr lang="it-IT" sz="2400" i="1" dirty="0" err="1">
                <a:solidFill>
                  <a:schemeClr val="accent2"/>
                </a:solidFill>
              </a:rPr>
              <a:t>Character</a:t>
            </a:r>
            <a:r>
              <a:rPr lang="it-IT" sz="2400" dirty="0"/>
              <a:t>, si può anche usare un costruttore al quale passare il valore primitivo descritto come stringa</a:t>
            </a:r>
          </a:p>
          <a:p>
            <a:pPr marL="342900" lvl="1" indent="-342900">
              <a:buNone/>
            </a:pPr>
            <a:r>
              <a:rPr lang="it-IT" i="1" dirty="0">
                <a:solidFill>
                  <a:schemeClr val="accent2"/>
                </a:solidFill>
              </a:rPr>
              <a:t>				</a:t>
            </a:r>
            <a:r>
              <a:rPr lang="it-IT" i="1" dirty="0" err="1">
                <a:solidFill>
                  <a:schemeClr val="accent2"/>
                </a:solidFill>
              </a:rPr>
              <a:t>new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i="1" dirty="0" err="1">
                <a:solidFill>
                  <a:schemeClr val="accent2"/>
                </a:solidFill>
              </a:rPr>
              <a:t>Integer</a:t>
            </a:r>
            <a:r>
              <a:rPr lang="it-IT" i="1" dirty="0">
                <a:solidFill>
                  <a:schemeClr val="accent2"/>
                </a:solidFill>
              </a:rPr>
              <a:t> (“100”);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200" dirty="0"/>
              <a:t>Metodi delle classi </a:t>
            </a:r>
            <a:r>
              <a:rPr lang="it-IT" sz="4200" dirty="0" err="1"/>
              <a:t>wrapper</a:t>
            </a:r>
            <a:endParaRPr lang="it-IT" sz="420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r>
              <a:rPr lang="it-IT" sz="2400" dirty="0"/>
              <a:t>Il metodo di istanza </a:t>
            </a:r>
            <a:r>
              <a:rPr lang="it-IT" sz="2400" i="1" dirty="0" err="1">
                <a:solidFill>
                  <a:schemeClr val="accent2"/>
                </a:solidFill>
              </a:rPr>
              <a:t>wValue</a:t>
            </a:r>
            <a:r>
              <a:rPr lang="it-IT" sz="2400" i="1" dirty="0">
                <a:solidFill>
                  <a:schemeClr val="accent2"/>
                </a:solidFill>
              </a:rPr>
              <a:t>() </a:t>
            </a:r>
            <a:r>
              <a:rPr lang="it-IT" sz="2400" dirty="0"/>
              <a:t>restituisce il valore primitivo incartato da un oggetto di tipo </a:t>
            </a:r>
            <a:r>
              <a:rPr lang="it-IT" sz="2400" i="1" dirty="0">
                <a:solidFill>
                  <a:schemeClr val="accent2"/>
                </a:solidFill>
              </a:rPr>
              <a:t>W</a:t>
            </a:r>
            <a:endParaRPr lang="it-IT" i="1" dirty="0">
              <a:solidFill>
                <a:schemeClr val="accent2"/>
              </a:solidFill>
            </a:endParaRPr>
          </a:p>
          <a:p>
            <a:pPr>
              <a:buNone/>
            </a:pPr>
            <a:r>
              <a:rPr lang="it-IT" sz="2400" i="1" dirty="0">
                <a:solidFill>
                  <a:schemeClr val="accent2"/>
                </a:solidFill>
              </a:rPr>
              <a:t>	</a:t>
            </a:r>
          </a:p>
          <a:p>
            <a:pPr>
              <a:buNone/>
            </a:pPr>
            <a:r>
              <a:rPr lang="it-IT" sz="2400" i="1" dirty="0">
                <a:solidFill>
                  <a:schemeClr val="accent2"/>
                </a:solidFill>
              </a:rPr>
              <a:t>	</a:t>
            </a:r>
            <a:r>
              <a:rPr lang="it-IT" sz="2400" i="1" dirty="0" err="1">
                <a:solidFill>
                  <a:schemeClr val="accent2"/>
                </a:solidFill>
              </a:rPr>
              <a:t>Integer</a:t>
            </a:r>
            <a:r>
              <a:rPr lang="it-IT" sz="2400" i="1" dirty="0">
                <a:solidFill>
                  <a:schemeClr val="accent2"/>
                </a:solidFill>
              </a:rPr>
              <a:t> </a:t>
            </a:r>
            <a:r>
              <a:rPr lang="it-IT" sz="2400" i="1" dirty="0" err="1">
                <a:solidFill>
                  <a:schemeClr val="accent2"/>
                </a:solidFill>
              </a:rPr>
              <a:t>ogg</a:t>
            </a:r>
            <a:r>
              <a:rPr lang="it-IT" sz="2400" i="1" dirty="0">
                <a:solidFill>
                  <a:schemeClr val="accent2"/>
                </a:solidFill>
              </a:rPr>
              <a:t> = </a:t>
            </a:r>
            <a:r>
              <a:rPr lang="it-IT" sz="2400" i="1" dirty="0" err="1">
                <a:solidFill>
                  <a:schemeClr val="accent2"/>
                </a:solidFill>
              </a:rPr>
              <a:t>new</a:t>
            </a:r>
            <a:r>
              <a:rPr lang="it-IT" sz="2400" i="1" dirty="0">
                <a:solidFill>
                  <a:schemeClr val="accent2"/>
                </a:solidFill>
              </a:rPr>
              <a:t> </a:t>
            </a:r>
            <a:r>
              <a:rPr lang="it-IT" sz="2400" i="1" dirty="0" err="1">
                <a:solidFill>
                  <a:schemeClr val="accent2"/>
                </a:solidFill>
              </a:rPr>
              <a:t>Integer</a:t>
            </a:r>
            <a:r>
              <a:rPr lang="it-IT" sz="2400" i="1" dirty="0">
                <a:solidFill>
                  <a:schemeClr val="accent2"/>
                </a:solidFill>
              </a:rPr>
              <a:t> (100);</a:t>
            </a:r>
          </a:p>
          <a:p>
            <a:pPr>
              <a:buNone/>
            </a:pPr>
            <a:r>
              <a:rPr lang="it-IT" sz="2400" i="1" dirty="0">
                <a:solidFill>
                  <a:schemeClr val="accent2"/>
                </a:solidFill>
              </a:rPr>
              <a:t>	</a:t>
            </a:r>
            <a:r>
              <a:rPr lang="it-IT" sz="2400" i="1" dirty="0" err="1">
                <a:solidFill>
                  <a:schemeClr val="accent2"/>
                </a:solidFill>
              </a:rPr>
              <a:t>int</a:t>
            </a:r>
            <a:r>
              <a:rPr lang="it-IT" sz="2400" i="1" dirty="0">
                <a:solidFill>
                  <a:schemeClr val="accent2"/>
                </a:solidFill>
              </a:rPr>
              <a:t> a = </a:t>
            </a:r>
            <a:r>
              <a:rPr lang="it-IT" sz="2400" i="1" dirty="0" err="1">
                <a:solidFill>
                  <a:schemeClr val="accent2"/>
                </a:solidFill>
              </a:rPr>
              <a:t>ogg.intValue</a:t>
            </a:r>
            <a:r>
              <a:rPr lang="it-IT" sz="2400" i="1" dirty="0">
                <a:solidFill>
                  <a:schemeClr val="accent2"/>
                </a:solidFill>
              </a:rPr>
              <a:t>();</a:t>
            </a:r>
          </a:p>
        </p:txBody>
      </p:sp>
      <p:cxnSp>
        <p:nvCxnSpPr>
          <p:cNvPr id="5" name="Connettore 2 4"/>
          <p:cNvCxnSpPr/>
          <p:nvPr/>
        </p:nvCxnSpPr>
        <p:spPr>
          <a:xfrm flipH="1" flipV="1">
            <a:off x="3923928" y="3284984"/>
            <a:ext cx="1656184" cy="288032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sellaDiTesto 5"/>
          <p:cNvSpPr txBox="1"/>
          <p:nvPr/>
        </p:nvSpPr>
        <p:spPr>
          <a:xfrm>
            <a:off x="5580112" y="3356992"/>
            <a:ext cx="26642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ad </a:t>
            </a:r>
            <a:r>
              <a:rPr lang="it-IT" sz="2000" i="1" dirty="0">
                <a:solidFill>
                  <a:schemeClr val="accent2"/>
                </a:solidFill>
              </a:rPr>
              <a:t>a</a:t>
            </a:r>
            <a:r>
              <a:rPr lang="it-IT" sz="2000" dirty="0"/>
              <a:t> viene assegnato il valore 100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200" dirty="0"/>
              <a:t>Metodi delle classi </a:t>
            </a:r>
            <a:r>
              <a:rPr lang="it-IT" sz="4200" dirty="0" err="1"/>
              <a:t>wrapper</a:t>
            </a:r>
            <a:endParaRPr lang="it-IT" sz="420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r>
              <a:rPr lang="it-IT" sz="2400" dirty="0"/>
              <a:t>Ogni classe </a:t>
            </a:r>
            <a:r>
              <a:rPr lang="it-IT" sz="2400" dirty="0" err="1"/>
              <a:t>wrapper</a:t>
            </a:r>
            <a:r>
              <a:rPr lang="it-IT" sz="2400" dirty="0"/>
              <a:t> </a:t>
            </a:r>
            <a:r>
              <a:rPr lang="it-IT" sz="2400" i="1" dirty="0">
                <a:solidFill>
                  <a:schemeClr val="accent2"/>
                </a:solidFill>
              </a:rPr>
              <a:t>W</a:t>
            </a:r>
            <a:r>
              <a:rPr lang="it-IT" sz="2400" dirty="0"/>
              <a:t>, tranne </a:t>
            </a:r>
            <a:r>
              <a:rPr lang="it-IT" sz="2400" i="1" dirty="0" err="1">
                <a:solidFill>
                  <a:schemeClr val="accent2"/>
                </a:solidFill>
              </a:rPr>
              <a:t>Character</a:t>
            </a:r>
            <a:r>
              <a:rPr lang="it-IT" sz="2400" dirty="0"/>
              <a:t>, ha un metodo di classe </a:t>
            </a:r>
            <a:r>
              <a:rPr lang="it-IT" sz="2400" i="1" dirty="0" err="1">
                <a:solidFill>
                  <a:schemeClr val="accent2"/>
                </a:solidFill>
              </a:rPr>
              <a:t>valueOf</a:t>
            </a:r>
            <a:r>
              <a:rPr lang="it-IT" sz="2400" i="1" dirty="0">
                <a:solidFill>
                  <a:schemeClr val="accent2"/>
                </a:solidFill>
              </a:rPr>
              <a:t> (</a:t>
            </a:r>
            <a:r>
              <a:rPr lang="it-IT" sz="2400" i="1" dirty="0" err="1">
                <a:solidFill>
                  <a:schemeClr val="accent2"/>
                </a:solidFill>
              </a:rPr>
              <a:t>String</a:t>
            </a:r>
            <a:r>
              <a:rPr lang="it-IT" sz="2400" i="1" dirty="0">
                <a:solidFill>
                  <a:schemeClr val="accent2"/>
                </a:solidFill>
              </a:rPr>
              <a:t> s) </a:t>
            </a:r>
            <a:r>
              <a:rPr lang="it-IT" sz="2400" dirty="0"/>
              <a:t>che</a:t>
            </a:r>
            <a:r>
              <a:rPr lang="it-IT" sz="2400" i="1" dirty="0">
                <a:solidFill>
                  <a:schemeClr val="accent2"/>
                </a:solidFill>
              </a:rPr>
              <a:t> </a:t>
            </a:r>
            <a:r>
              <a:rPr lang="it-IT" sz="2400" dirty="0"/>
              <a:t>restituisce un oggetto di tipo </a:t>
            </a:r>
            <a:r>
              <a:rPr lang="it-IT" sz="2400" i="1" dirty="0">
                <a:solidFill>
                  <a:schemeClr val="accent2"/>
                </a:solidFill>
              </a:rPr>
              <a:t>W</a:t>
            </a:r>
            <a:r>
              <a:rPr lang="it-IT" sz="2400" dirty="0"/>
              <a:t> che incarta il valore primitivo </a:t>
            </a:r>
            <a:r>
              <a:rPr lang="it-IT" sz="2400" i="1" dirty="0">
                <a:solidFill>
                  <a:schemeClr val="accent2"/>
                </a:solidFill>
              </a:rPr>
              <a:t>w</a:t>
            </a:r>
            <a:r>
              <a:rPr lang="it-IT" sz="2400" dirty="0"/>
              <a:t> descritto da </a:t>
            </a:r>
            <a:r>
              <a:rPr lang="it-IT" sz="2400" i="1" dirty="0">
                <a:solidFill>
                  <a:schemeClr val="accent2"/>
                </a:solidFill>
              </a:rPr>
              <a:t>s</a:t>
            </a:r>
            <a:r>
              <a:rPr lang="it-IT" sz="2400" dirty="0"/>
              <a:t> </a:t>
            </a:r>
            <a:endParaRPr lang="it-IT" i="1" dirty="0">
              <a:solidFill>
                <a:schemeClr val="accent2"/>
              </a:solidFill>
            </a:endParaRPr>
          </a:p>
          <a:p>
            <a:pPr>
              <a:buNone/>
            </a:pPr>
            <a:r>
              <a:rPr lang="it-IT" sz="2400" i="1" dirty="0">
                <a:solidFill>
                  <a:schemeClr val="accent2"/>
                </a:solidFill>
              </a:rPr>
              <a:t>	</a:t>
            </a:r>
          </a:p>
          <a:p>
            <a:pPr>
              <a:buNone/>
            </a:pPr>
            <a:r>
              <a:rPr lang="it-IT" sz="2400" i="1" dirty="0">
                <a:solidFill>
                  <a:schemeClr val="accent2"/>
                </a:solidFill>
              </a:rPr>
              <a:t>	</a:t>
            </a:r>
            <a:r>
              <a:rPr lang="it-IT" sz="2400" i="1" dirty="0" err="1">
                <a:solidFill>
                  <a:schemeClr val="accent2"/>
                </a:solidFill>
              </a:rPr>
              <a:t>Integer.valueOf</a:t>
            </a:r>
            <a:r>
              <a:rPr lang="it-IT" sz="2400" i="1" dirty="0">
                <a:solidFill>
                  <a:schemeClr val="accent2"/>
                </a:solidFill>
              </a:rPr>
              <a:t> (“100”);</a:t>
            </a:r>
          </a:p>
          <a:p>
            <a:pPr>
              <a:buNone/>
            </a:pPr>
            <a:endParaRPr lang="it-IT" sz="2400" i="1" dirty="0">
              <a:solidFill>
                <a:schemeClr val="accent2"/>
              </a:solidFill>
            </a:endParaRPr>
          </a:p>
          <a:p>
            <a:pPr>
              <a:buNone/>
            </a:pPr>
            <a:endParaRPr lang="it-IT" sz="2400" i="1" dirty="0">
              <a:solidFill>
                <a:schemeClr val="accent2"/>
              </a:solidFill>
            </a:endParaRPr>
          </a:p>
          <a:p>
            <a:r>
              <a:rPr lang="it-IT" sz="2400" dirty="0"/>
              <a:t>Ogni classe </a:t>
            </a:r>
            <a:r>
              <a:rPr lang="it-IT" sz="2400" dirty="0" err="1"/>
              <a:t>wrapper</a:t>
            </a:r>
            <a:r>
              <a:rPr lang="it-IT" sz="2400" dirty="0"/>
              <a:t> </a:t>
            </a:r>
            <a:r>
              <a:rPr lang="it-IT" sz="2400" i="1" dirty="0">
                <a:solidFill>
                  <a:schemeClr val="accent2"/>
                </a:solidFill>
              </a:rPr>
              <a:t>W</a:t>
            </a:r>
            <a:r>
              <a:rPr lang="it-IT" sz="2400" dirty="0"/>
              <a:t>, tranne </a:t>
            </a:r>
            <a:r>
              <a:rPr lang="it-IT" sz="2400" i="1" dirty="0" err="1">
                <a:solidFill>
                  <a:schemeClr val="accent2"/>
                </a:solidFill>
              </a:rPr>
              <a:t>Character</a:t>
            </a:r>
            <a:r>
              <a:rPr lang="it-IT" sz="2400" dirty="0"/>
              <a:t>, ha un metodo di classe </a:t>
            </a:r>
            <a:r>
              <a:rPr lang="it-IT" sz="2400" i="1" dirty="0" err="1">
                <a:solidFill>
                  <a:schemeClr val="accent2"/>
                </a:solidFill>
              </a:rPr>
              <a:t>parseX</a:t>
            </a:r>
            <a:r>
              <a:rPr lang="it-IT" sz="2400" i="1" dirty="0">
                <a:solidFill>
                  <a:schemeClr val="accent2"/>
                </a:solidFill>
              </a:rPr>
              <a:t>(</a:t>
            </a:r>
            <a:r>
              <a:rPr lang="it-IT" sz="2400" i="1" dirty="0" err="1">
                <a:solidFill>
                  <a:schemeClr val="accent2"/>
                </a:solidFill>
              </a:rPr>
              <a:t>String</a:t>
            </a:r>
            <a:r>
              <a:rPr lang="it-IT" sz="2400" i="1" dirty="0">
                <a:solidFill>
                  <a:schemeClr val="accent2"/>
                </a:solidFill>
              </a:rPr>
              <a:t> s) </a:t>
            </a:r>
            <a:r>
              <a:rPr lang="it-IT" sz="2400" dirty="0"/>
              <a:t>che</a:t>
            </a:r>
            <a:r>
              <a:rPr lang="it-IT" sz="2400" i="1" dirty="0">
                <a:solidFill>
                  <a:schemeClr val="accent2"/>
                </a:solidFill>
              </a:rPr>
              <a:t> </a:t>
            </a:r>
            <a:r>
              <a:rPr lang="it-IT" sz="2400" dirty="0"/>
              <a:t>restituisce il valore primitivo </a:t>
            </a:r>
            <a:r>
              <a:rPr lang="it-IT" sz="2400" i="1" dirty="0">
                <a:solidFill>
                  <a:schemeClr val="accent2"/>
                </a:solidFill>
              </a:rPr>
              <a:t>w</a:t>
            </a:r>
            <a:r>
              <a:rPr lang="it-IT" sz="2400" dirty="0"/>
              <a:t> descritto da </a:t>
            </a:r>
            <a:r>
              <a:rPr lang="it-IT" sz="2400" i="1" dirty="0">
                <a:solidFill>
                  <a:schemeClr val="accent2"/>
                </a:solidFill>
              </a:rPr>
              <a:t>s</a:t>
            </a:r>
            <a:r>
              <a:rPr lang="it-IT" sz="2400" dirty="0"/>
              <a:t> (</a:t>
            </a:r>
            <a:r>
              <a:rPr lang="it-IT" sz="2400" i="1" dirty="0">
                <a:solidFill>
                  <a:schemeClr val="accent2"/>
                </a:solidFill>
              </a:rPr>
              <a:t>X </a:t>
            </a:r>
            <a:r>
              <a:rPr lang="it-IT" sz="2400" dirty="0">
                <a:solidFill>
                  <a:schemeClr val="accent2"/>
                </a:solidFill>
                <a:sym typeface="Symbol"/>
              </a:rPr>
              <a:t></a:t>
            </a:r>
            <a:r>
              <a:rPr lang="it-IT" sz="2400" i="1" dirty="0">
                <a:solidFill>
                  <a:schemeClr val="accent2"/>
                </a:solidFill>
                <a:sym typeface="Symbol"/>
              </a:rPr>
              <a:t> {</a:t>
            </a:r>
            <a:r>
              <a:rPr lang="it-IT" sz="2400" i="1" dirty="0" err="1">
                <a:solidFill>
                  <a:schemeClr val="accent2"/>
                </a:solidFill>
                <a:sym typeface="Symbol"/>
              </a:rPr>
              <a:t>Int</a:t>
            </a:r>
            <a:r>
              <a:rPr lang="it-IT" sz="2400" i="1" dirty="0">
                <a:solidFill>
                  <a:schemeClr val="accent2"/>
                </a:solidFill>
                <a:sym typeface="Symbol"/>
              </a:rPr>
              <a:t>, </a:t>
            </a:r>
            <a:r>
              <a:rPr lang="it-IT" sz="2400" i="1" dirty="0" err="1">
                <a:solidFill>
                  <a:schemeClr val="accent2"/>
                </a:solidFill>
                <a:sym typeface="Symbol"/>
              </a:rPr>
              <a:t>Double</a:t>
            </a:r>
            <a:r>
              <a:rPr lang="it-IT" sz="2400" i="1" dirty="0">
                <a:solidFill>
                  <a:schemeClr val="accent2"/>
                </a:solidFill>
                <a:sym typeface="Symbol"/>
              </a:rPr>
              <a:t>, </a:t>
            </a:r>
            <a:r>
              <a:rPr lang="it-IT" sz="2400" i="1" dirty="0" err="1">
                <a:solidFill>
                  <a:schemeClr val="accent2"/>
                </a:solidFill>
                <a:sym typeface="Symbol"/>
              </a:rPr>
              <a:t>Boolean</a:t>
            </a:r>
            <a:r>
              <a:rPr lang="it-IT" sz="2400" i="1" dirty="0">
                <a:solidFill>
                  <a:schemeClr val="accent2"/>
                </a:solidFill>
                <a:sym typeface="Symbol"/>
              </a:rPr>
              <a:t>,…}</a:t>
            </a:r>
            <a:r>
              <a:rPr lang="it-IT" sz="2400" dirty="0">
                <a:sym typeface="Symbol"/>
              </a:rPr>
              <a:t>)</a:t>
            </a:r>
            <a:endParaRPr lang="it-IT" sz="2400" i="1" dirty="0">
              <a:solidFill>
                <a:schemeClr val="accent2"/>
              </a:solidFill>
            </a:endParaRPr>
          </a:p>
          <a:p>
            <a:pPr>
              <a:buNone/>
            </a:pPr>
            <a:r>
              <a:rPr lang="it-IT" sz="2400" i="1" dirty="0">
                <a:solidFill>
                  <a:schemeClr val="accent2"/>
                </a:solidFill>
              </a:rPr>
              <a:t>	</a:t>
            </a:r>
          </a:p>
          <a:p>
            <a:pPr>
              <a:buNone/>
            </a:pPr>
            <a:r>
              <a:rPr lang="it-IT" sz="2400" i="1" dirty="0">
                <a:solidFill>
                  <a:schemeClr val="accent2"/>
                </a:solidFill>
              </a:rPr>
              <a:t>	</a:t>
            </a:r>
            <a:r>
              <a:rPr lang="it-IT" sz="2400" i="1" dirty="0" err="1">
                <a:solidFill>
                  <a:schemeClr val="accent2"/>
                </a:solidFill>
              </a:rPr>
              <a:t>Integer.parseInt</a:t>
            </a:r>
            <a:r>
              <a:rPr lang="it-IT" sz="2400" i="1" dirty="0">
                <a:solidFill>
                  <a:schemeClr val="accent2"/>
                </a:solidFill>
              </a:rPr>
              <a:t> (“100” );</a:t>
            </a:r>
          </a:p>
          <a:p>
            <a:pPr>
              <a:buNone/>
            </a:pPr>
            <a:endParaRPr lang="it-IT" sz="2400" i="1" dirty="0">
              <a:solidFill>
                <a:schemeClr val="accent2"/>
              </a:solidFill>
            </a:endParaRPr>
          </a:p>
        </p:txBody>
      </p:sp>
      <p:cxnSp>
        <p:nvCxnSpPr>
          <p:cNvPr id="5" name="Connettore 2 4"/>
          <p:cNvCxnSpPr/>
          <p:nvPr/>
        </p:nvCxnSpPr>
        <p:spPr>
          <a:xfrm flipH="1">
            <a:off x="4211960" y="3212976"/>
            <a:ext cx="1512168" cy="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sellaDiTesto 5"/>
          <p:cNvSpPr txBox="1"/>
          <p:nvPr/>
        </p:nvSpPr>
        <p:spPr>
          <a:xfrm>
            <a:off x="5796136" y="2708920"/>
            <a:ext cx="26642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restituisce un oggetto </a:t>
            </a:r>
            <a:r>
              <a:rPr lang="it-IT" sz="2000" i="1" dirty="0" err="1">
                <a:solidFill>
                  <a:schemeClr val="accent2"/>
                </a:solidFill>
              </a:rPr>
              <a:t>Integer</a:t>
            </a:r>
            <a:r>
              <a:rPr lang="it-IT" sz="2000" dirty="0"/>
              <a:t> che incarta il valore 100</a:t>
            </a:r>
          </a:p>
        </p:txBody>
      </p:sp>
      <p:cxnSp>
        <p:nvCxnSpPr>
          <p:cNvPr id="8" name="Connettore 2 7"/>
          <p:cNvCxnSpPr/>
          <p:nvPr/>
        </p:nvCxnSpPr>
        <p:spPr>
          <a:xfrm flipH="1">
            <a:off x="4211960" y="6093296"/>
            <a:ext cx="1512168" cy="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/>
          <p:cNvSpPr txBox="1"/>
          <p:nvPr/>
        </p:nvSpPr>
        <p:spPr>
          <a:xfrm>
            <a:off x="5796136" y="5877272"/>
            <a:ext cx="2808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restituisce il valore 100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200" dirty="0"/>
              <a:t>Costanti nelle classi </a:t>
            </a:r>
            <a:r>
              <a:rPr lang="it-IT" sz="4200" dirty="0" err="1"/>
              <a:t>wrapper</a:t>
            </a:r>
            <a:endParaRPr lang="it-IT" sz="420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r>
              <a:rPr lang="it-IT" dirty="0"/>
              <a:t>All’interno di ogni classe </a:t>
            </a:r>
            <a:r>
              <a:rPr lang="it-IT" dirty="0" err="1"/>
              <a:t>wrapper</a:t>
            </a:r>
            <a:r>
              <a:rPr lang="it-IT" dirty="0"/>
              <a:t> </a:t>
            </a:r>
            <a:r>
              <a:rPr lang="it-IT" i="1" dirty="0">
                <a:solidFill>
                  <a:schemeClr val="accent2"/>
                </a:solidFill>
              </a:rPr>
              <a:t>W</a:t>
            </a:r>
            <a:r>
              <a:rPr lang="it-IT" dirty="0"/>
              <a:t> sono definite alcune utili costanti statiche:</a:t>
            </a:r>
          </a:p>
          <a:p>
            <a:pPr lvl="1"/>
            <a:r>
              <a:rPr lang="it-IT" i="1" dirty="0" err="1">
                <a:solidFill>
                  <a:schemeClr val="accent2"/>
                </a:solidFill>
              </a:rPr>
              <a:t>MIN_VALUE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dirty="0"/>
              <a:t>e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i="1" dirty="0" err="1">
                <a:solidFill>
                  <a:schemeClr val="accent2"/>
                </a:solidFill>
              </a:rPr>
              <a:t>MAX_VALUE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dirty="0"/>
              <a:t>indicano il minimo e il massimo valore di tipo </a:t>
            </a:r>
            <a:r>
              <a:rPr lang="it-IT" i="1" dirty="0">
                <a:solidFill>
                  <a:schemeClr val="accent2"/>
                </a:solidFill>
              </a:rPr>
              <a:t>w </a:t>
            </a:r>
            <a:r>
              <a:rPr lang="it-IT" dirty="0"/>
              <a:t>(ad esempio </a:t>
            </a:r>
            <a:r>
              <a:rPr lang="it-IT" i="1" dirty="0">
                <a:solidFill>
                  <a:schemeClr val="accent2"/>
                </a:solidFill>
              </a:rPr>
              <a:t>Integer.MIN_VALUE </a:t>
            </a:r>
            <a:r>
              <a:rPr lang="it-IT" dirty="0"/>
              <a:t>vale</a:t>
            </a:r>
            <a:r>
              <a:rPr lang="it-IT" i="1" dirty="0">
                <a:solidFill>
                  <a:schemeClr val="accent2"/>
                </a:solidFill>
              </a:rPr>
              <a:t> -2</a:t>
            </a:r>
            <a:r>
              <a:rPr lang="it-IT" i="1" baseline="30000" dirty="0">
                <a:solidFill>
                  <a:schemeClr val="accent2"/>
                </a:solidFill>
              </a:rPr>
              <a:t>31 </a:t>
            </a:r>
            <a:r>
              <a:rPr lang="it-IT" dirty="0"/>
              <a:t>e </a:t>
            </a:r>
            <a:r>
              <a:rPr lang="it-IT" i="1" dirty="0">
                <a:solidFill>
                  <a:schemeClr val="accent2"/>
                </a:solidFill>
              </a:rPr>
              <a:t>Integer.MAX_VALUE </a:t>
            </a:r>
            <a:r>
              <a:rPr lang="it-IT" dirty="0"/>
              <a:t>vale</a:t>
            </a:r>
            <a:r>
              <a:rPr lang="it-IT" i="1" dirty="0">
                <a:solidFill>
                  <a:schemeClr val="accent2"/>
                </a:solidFill>
              </a:rPr>
              <a:t> 2</a:t>
            </a:r>
            <a:r>
              <a:rPr lang="it-IT" i="1" baseline="30000" dirty="0">
                <a:solidFill>
                  <a:schemeClr val="accent2"/>
                </a:solidFill>
              </a:rPr>
              <a:t>31</a:t>
            </a:r>
            <a:r>
              <a:rPr lang="it-IT" i="1" dirty="0">
                <a:solidFill>
                  <a:schemeClr val="accent2"/>
                </a:solidFill>
              </a:rPr>
              <a:t>-1</a:t>
            </a:r>
            <a:r>
              <a:rPr lang="it-IT" dirty="0"/>
              <a:t>;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Double.NEGATIVE_INFINITY </a:t>
            </a:r>
            <a:r>
              <a:rPr lang="it-IT" dirty="0"/>
              <a:t>e</a:t>
            </a:r>
            <a:r>
              <a:rPr lang="it-IT" i="1" dirty="0">
                <a:solidFill>
                  <a:schemeClr val="accent2"/>
                </a:solidFill>
              </a:rPr>
              <a:t> Double.POSITIVE_INFINITY </a:t>
            </a:r>
            <a:r>
              <a:rPr lang="it-IT" dirty="0"/>
              <a:t>indicano i “valori”  </a:t>
            </a:r>
            <a:r>
              <a:rPr lang="it-IT" i="1" dirty="0">
                <a:solidFill>
                  <a:schemeClr val="accent2"/>
                </a:solidFill>
              </a:rPr>
              <a:t>-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</a:t>
            </a:r>
            <a:r>
              <a:rPr lang="it-IT" dirty="0">
                <a:sym typeface="Symbol"/>
              </a:rPr>
              <a:t> e 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+</a:t>
            </a:r>
            <a:r>
              <a:rPr lang="it-IT" i="1" baseline="30000" dirty="0">
                <a:solidFill>
                  <a:schemeClr val="accent2"/>
                </a:solidFill>
                <a:sym typeface="Symbol"/>
              </a:rPr>
              <a:t>,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 </a:t>
            </a:r>
            <a:r>
              <a:rPr lang="it-IT" dirty="0">
                <a:sym typeface="Symbol"/>
              </a:rPr>
              <a:t>mentre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 </a:t>
            </a:r>
            <a:r>
              <a:rPr lang="it-IT" i="1" dirty="0" err="1">
                <a:solidFill>
                  <a:schemeClr val="accent2"/>
                </a:solidFill>
              </a:rPr>
              <a:t>Double.NaN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dirty="0"/>
              <a:t>rappresenta una forma indeterminata;</a:t>
            </a:r>
          </a:p>
          <a:p>
            <a:pPr lvl="1"/>
            <a:r>
              <a:rPr lang="it-IT" dirty="0"/>
              <a:t>esistono analoghe costanti nella classe </a:t>
            </a:r>
            <a:r>
              <a:rPr lang="it-IT" i="1" dirty="0" err="1">
                <a:solidFill>
                  <a:schemeClr val="accent2"/>
                </a:solidFill>
              </a:rPr>
              <a:t>Float</a:t>
            </a:r>
            <a:endParaRPr lang="it-IT" i="1" baseline="30000" dirty="0">
              <a:solidFill>
                <a:schemeClr val="accent2"/>
              </a:solidFill>
            </a:endParaRPr>
          </a:p>
          <a:p>
            <a:pPr lvl="1">
              <a:buNone/>
            </a:pPr>
            <a:endParaRPr lang="it-IT" i="1" baseline="30000" dirty="0">
              <a:solidFill>
                <a:schemeClr val="accent2"/>
              </a:solidFill>
            </a:endParaRPr>
          </a:p>
          <a:p>
            <a:pPr>
              <a:buNone/>
            </a:pPr>
            <a:endParaRPr lang="it-IT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200" dirty="0" err="1"/>
              <a:t>Autoboxing</a:t>
            </a:r>
            <a:endParaRPr lang="it-IT" sz="420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r>
              <a:rPr lang="it-IT" sz="2600" dirty="0"/>
              <a:t>l’importanza delle classi </a:t>
            </a:r>
            <a:r>
              <a:rPr lang="it-IT" sz="2600" dirty="0" err="1"/>
              <a:t>wrapper</a:t>
            </a:r>
            <a:r>
              <a:rPr lang="it-IT" sz="2600" dirty="0"/>
              <a:t> è anche legata all’esigenza di poter creare collezioni di dati primitivi che possano essere manipolati come fossero degli oggetti (lo vedremo più avanti nel corso)</a:t>
            </a:r>
          </a:p>
          <a:p>
            <a:r>
              <a:rPr lang="it-IT" sz="2600" dirty="0"/>
              <a:t>Per agevolare il passaggio da un dato di tipo </a:t>
            </a:r>
            <a:r>
              <a:rPr lang="it-IT" sz="2600" i="1" dirty="0">
                <a:solidFill>
                  <a:schemeClr val="accent2"/>
                </a:solidFill>
              </a:rPr>
              <a:t>W</a:t>
            </a:r>
            <a:r>
              <a:rPr lang="it-IT" sz="2600" dirty="0"/>
              <a:t> ad un dato di tipo primitivo </a:t>
            </a:r>
            <a:r>
              <a:rPr lang="it-IT" sz="2600" i="1" dirty="0">
                <a:solidFill>
                  <a:schemeClr val="accent2"/>
                </a:solidFill>
              </a:rPr>
              <a:t>w</a:t>
            </a:r>
            <a:r>
              <a:rPr lang="it-IT" sz="2600" dirty="0"/>
              <a:t> e viceversa, le recenti versioni di Java adottano dei meccanismi automatici di conversione implicita, chiamati </a:t>
            </a:r>
            <a:r>
              <a:rPr lang="it-IT" sz="2600" u="sng" dirty="0" err="1">
                <a:solidFill>
                  <a:schemeClr val="accent1"/>
                </a:solidFill>
              </a:rPr>
              <a:t>autoboxing</a:t>
            </a:r>
            <a:endParaRPr lang="it-IT" sz="2600" u="sng" dirty="0">
              <a:solidFill>
                <a:schemeClr val="accent1"/>
              </a:solidFill>
            </a:endParaRPr>
          </a:p>
          <a:p>
            <a:r>
              <a:rPr lang="it-IT" sz="2600" dirty="0"/>
              <a:t>Si può ad esempio scrivere:</a:t>
            </a:r>
          </a:p>
          <a:p>
            <a:pPr lvl="1"/>
            <a:r>
              <a:rPr lang="it-IT" sz="2200" i="1" dirty="0" err="1">
                <a:solidFill>
                  <a:schemeClr val="accent2"/>
                </a:solidFill>
              </a:rPr>
              <a:t>int</a:t>
            </a:r>
            <a:r>
              <a:rPr lang="it-IT" sz="2200" i="1" dirty="0">
                <a:solidFill>
                  <a:schemeClr val="accent2"/>
                </a:solidFill>
              </a:rPr>
              <a:t> i = </a:t>
            </a:r>
            <a:r>
              <a:rPr lang="it-IT" sz="2200" i="1" dirty="0" err="1">
                <a:solidFill>
                  <a:schemeClr val="accent2"/>
                </a:solidFill>
              </a:rPr>
              <a:t>ogg</a:t>
            </a:r>
            <a:r>
              <a:rPr lang="it-IT" sz="2200" i="1" dirty="0">
                <a:solidFill>
                  <a:schemeClr val="accent2"/>
                </a:solidFill>
              </a:rPr>
              <a:t> 	            </a:t>
            </a:r>
            <a:r>
              <a:rPr lang="it-IT" sz="2200" dirty="0"/>
              <a:t>dove </a:t>
            </a:r>
            <a:r>
              <a:rPr lang="it-IT" sz="2200" i="1" dirty="0" err="1">
                <a:solidFill>
                  <a:schemeClr val="accent2"/>
                </a:solidFill>
              </a:rPr>
              <a:t>ogg</a:t>
            </a:r>
            <a:r>
              <a:rPr lang="it-IT" sz="2200" dirty="0"/>
              <a:t> è un </a:t>
            </a:r>
            <a:r>
              <a:rPr lang="it-IT" sz="2200" i="1" dirty="0" err="1">
                <a:solidFill>
                  <a:schemeClr val="accent2"/>
                </a:solidFill>
              </a:rPr>
              <a:t>Integer</a:t>
            </a:r>
            <a:r>
              <a:rPr lang="it-IT" sz="2200" i="1" dirty="0">
                <a:solidFill>
                  <a:schemeClr val="accent2"/>
                </a:solidFill>
              </a:rPr>
              <a:t> </a:t>
            </a:r>
            <a:r>
              <a:rPr lang="it-IT" sz="2200" dirty="0"/>
              <a:t>(</a:t>
            </a:r>
            <a:r>
              <a:rPr lang="it-IT" sz="2200" u="sng" dirty="0" err="1">
                <a:solidFill>
                  <a:schemeClr val="accent1"/>
                </a:solidFill>
              </a:rPr>
              <a:t>unboxing</a:t>
            </a:r>
            <a:r>
              <a:rPr lang="it-IT" sz="2200" dirty="0"/>
              <a:t>);</a:t>
            </a:r>
            <a:endParaRPr lang="it-IT" sz="2200" i="1" dirty="0">
              <a:solidFill>
                <a:schemeClr val="accent2"/>
              </a:solidFill>
            </a:endParaRPr>
          </a:p>
          <a:p>
            <a:pPr lvl="1"/>
            <a:r>
              <a:rPr lang="it-IT" sz="2200" i="1" dirty="0" err="1">
                <a:solidFill>
                  <a:schemeClr val="accent2"/>
                </a:solidFill>
              </a:rPr>
              <a:t>Integer</a:t>
            </a:r>
            <a:r>
              <a:rPr lang="it-IT" sz="2200" i="1" dirty="0">
                <a:solidFill>
                  <a:schemeClr val="accent2"/>
                </a:solidFill>
              </a:rPr>
              <a:t> </a:t>
            </a:r>
            <a:r>
              <a:rPr lang="it-IT" sz="2200" i="1" dirty="0" err="1">
                <a:solidFill>
                  <a:schemeClr val="accent2"/>
                </a:solidFill>
              </a:rPr>
              <a:t>ogg</a:t>
            </a:r>
            <a:r>
              <a:rPr lang="it-IT" sz="2200" i="1" dirty="0">
                <a:solidFill>
                  <a:schemeClr val="accent2"/>
                </a:solidFill>
              </a:rPr>
              <a:t> = 100 	</a:t>
            </a:r>
            <a:r>
              <a:rPr lang="it-IT" sz="2200" dirty="0"/>
              <a:t>(</a:t>
            </a:r>
            <a:r>
              <a:rPr lang="it-IT" sz="2200" u="sng" dirty="0" err="1">
                <a:solidFill>
                  <a:schemeClr val="accent1"/>
                </a:solidFill>
              </a:rPr>
              <a:t>inboxing</a:t>
            </a:r>
            <a:r>
              <a:rPr lang="it-IT" sz="2200" dirty="0"/>
              <a:t>);</a:t>
            </a:r>
            <a:endParaRPr lang="it-IT" sz="2200" i="1" dirty="0">
              <a:solidFill>
                <a:schemeClr val="accent2"/>
              </a:solidFill>
            </a:endParaRPr>
          </a:p>
          <a:p>
            <a:endParaRPr lang="it-IT" i="1" baseline="30000" dirty="0">
              <a:solidFill>
                <a:schemeClr val="accent2"/>
              </a:solidFill>
            </a:endParaRPr>
          </a:p>
          <a:p>
            <a:endParaRPr lang="it-IT" sz="2400" i="1" baseline="30000" dirty="0">
              <a:solidFill>
                <a:schemeClr val="accent2"/>
              </a:solidFill>
            </a:endParaRPr>
          </a:p>
          <a:p>
            <a:pPr lvl="1">
              <a:buNone/>
            </a:pPr>
            <a:endParaRPr lang="it-IT" i="1" baseline="30000" dirty="0">
              <a:solidFill>
                <a:schemeClr val="accent2"/>
              </a:solidFill>
            </a:endParaRPr>
          </a:p>
          <a:p>
            <a:pPr>
              <a:buNone/>
            </a:pPr>
            <a:endParaRPr lang="it-IT" i="1" dirty="0">
              <a:solidFill>
                <a:schemeClr val="accent2"/>
              </a:solidFill>
            </a:endParaRPr>
          </a:p>
        </p:txBody>
      </p:sp>
      <p:sp>
        <p:nvSpPr>
          <p:cNvPr id="4" name="Rettangolo arrotondato 3"/>
          <p:cNvSpPr/>
          <p:nvPr/>
        </p:nvSpPr>
        <p:spPr>
          <a:xfrm>
            <a:off x="216024" y="1340768"/>
            <a:ext cx="179512" cy="4680520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 classe </a:t>
            </a:r>
            <a:r>
              <a:rPr lang="it-IT" dirty="0" err="1"/>
              <a:t>Math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r>
              <a:rPr lang="it-IT" dirty="0"/>
              <a:t>Gli operatori matematici di base per i tipi primitivi non sono sempre sufficienti per effettuare calcoli matematici complessi</a:t>
            </a:r>
          </a:p>
          <a:p>
            <a:r>
              <a:rPr lang="it-IT" dirty="0"/>
              <a:t>Nel package </a:t>
            </a:r>
            <a:r>
              <a:rPr lang="it-IT" i="1" dirty="0" err="1">
                <a:solidFill>
                  <a:schemeClr val="accent2"/>
                </a:solidFill>
              </a:rPr>
              <a:t>java.lang</a:t>
            </a:r>
            <a:r>
              <a:rPr lang="it-IT" dirty="0"/>
              <a:t> è definita la classe </a:t>
            </a:r>
            <a:r>
              <a:rPr lang="it-IT" i="1" dirty="0" err="1">
                <a:solidFill>
                  <a:schemeClr val="accent2"/>
                </a:solidFill>
              </a:rPr>
              <a:t>Math</a:t>
            </a:r>
            <a:r>
              <a:rPr lang="it-IT" i="1" dirty="0">
                <a:solidFill>
                  <a:schemeClr val="accent2"/>
                </a:solidFill>
              </a:rPr>
              <a:t>, </a:t>
            </a:r>
            <a:r>
              <a:rPr lang="it-IT" dirty="0"/>
              <a:t>che non dispone di costruttori pubblici e che offre soltanto metodi pubblici statici</a:t>
            </a:r>
          </a:p>
          <a:p>
            <a:pPr lvl="1"/>
            <a:r>
              <a:rPr lang="it-IT" dirty="0"/>
              <a:t>ogni metodo statico è finalizzato al calcolo di una qualche specifica funzione matematica</a:t>
            </a:r>
          </a:p>
          <a:p>
            <a:endParaRPr lang="it-IT" sz="2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 classe </a:t>
            </a:r>
            <a:r>
              <a:rPr lang="it-IT" dirty="0" err="1"/>
              <a:t>Math</a:t>
            </a:r>
            <a:r>
              <a:rPr lang="it-IT" dirty="0"/>
              <a:t>: alcuni metodi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r>
              <a:rPr lang="it-IT" dirty="0"/>
              <a:t>La tabella seguente elenca alcuni dei metodo statici della classe </a:t>
            </a:r>
            <a:r>
              <a:rPr lang="it-IT" i="1" dirty="0" err="1">
                <a:solidFill>
                  <a:schemeClr val="accent2"/>
                </a:solidFill>
              </a:rPr>
              <a:t>Math</a:t>
            </a:r>
            <a:endParaRPr lang="it-IT" i="1" dirty="0">
              <a:solidFill>
                <a:schemeClr val="accent2"/>
              </a:solidFill>
            </a:endParaRPr>
          </a:p>
          <a:p>
            <a:endParaRPr lang="it-IT" sz="22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2496864"/>
            <a:ext cx="8424936" cy="3152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 classe </a:t>
            </a:r>
            <a:r>
              <a:rPr lang="it-IT" dirty="0" err="1"/>
              <a:t>Math</a:t>
            </a:r>
            <a:r>
              <a:rPr lang="it-IT" dirty="0"/>
              <a:t>: costanti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r>
              <a:rPr lang="it-IT" dirty="0"/>
              <a:t>Nella classe </a:t>
            </a:r>
            <a:r>
              <a:rPr lang="it-IT" i="1" dirty="0" err="1">
                <a:solidFill>
                  <a:schemeClr val="accent2"/>
                </a:solidFill>
              </a:rPr>
              <a:t>Math</a:t>
            </a:r>
            <a:r>
              <a:rPr lang="it-IT" dirty="0"/>
              <a:t> sono inoltre definite alcuni costanti notevoli:</a:t>
            </a:r>
          </a:p>
          <a:p>
            <a:endParaRPr lang="it-IT" dirty="0"/>
          </a:p>
          <a:p>
            <a:pPr lvl="1"/>
            <a:r>
              <a:rPr lang="it-IT" i="1" dirty="0" err="1">
                <a:solidFill>
                  <a:schemeClr val="accent2"/>
                </a:solidFill>
              </a:rPr>
              <a:t>Math</a:t>
            </a:r>
            <a:r>
              <a:rPr lang="it-IT" i="1" dirty="0">
                <a:solidFill>
                  <a:schemeClr val="accent2"/>
                </a:solidFill>
              </a:rPr>
              <a:t>.PI	</a:t>
            </a:r>
            <a:r>
              <a:rPr lang="it-IT" dirty="0"/>
              <a:t>il valore di </a:t>
            </a:r>
            <a:r>
              <a:rPr lang="it-IT" dirty="0">
                <a:sym typeface="Symbol"/>
              </a:rPr>
              <a:t>, con la migliore 				approssimazione possibile sotto forma 			di </a:t>
            </a:r>
            <a:r>
              <a:rPr lang="it-IT" i="1" dirty="0" err="1">
                <a:solidFill>
                  <a:schemeClr val="accent2"/>
                </a:solidFill>
                <a:sym typeface="Symbol"/>
              </a:rPr>
              <a:t>double</a:t>
            </a:r>
            <a:endParaRPr lang="it-IT" i="1" dirty="0">
              <a:solidFill>
                <a:schemeClr val="accent2"/>
              </a:solidFill>
              <a:sym typeface="Symbol"/>
            </a:endParaRPr>
          </a:p>
          <a:p>
            <a:pPr lvl="1"/>
            <a:r>
              <a:rPr lang="it-IT" i="1" dirty="0" err="1">
                <a:solidFill>
                  <a:schemeClr val="accent2"/>
                </a:solidFill>
              </a:rPr>
              <a:t>Math.E</a:t>
            </a:r>
            <a:r>
              <a:rPr lang="it-IT" i="1" dirty="0">
                <a:solidFill>
                  <a:schemeClr val="accent2"/>
                </a:solidFill>
              </a:rPr>
              <a:t>	</a:t>
            </a:r>
            <a:r>
              <a:rPr lang="it-IT" dirty="0"/>
              <a:t>la costante </a:t>
            </a:r>
            <a:r>
              <a:rPr lang="it-IT" i="1" dirty="0"/>
              <a:t>e, </a:t>
            </a:r>
            <a:r>
              <a:rPr lang="it-IT" dirty="0"/>
              <a:t>cioè il numero di </a:t>
            </a:r>
            <a:r>
              <a:rPr lang="it-IT" dirty="0" err="1"/>
              <a:t>Nepero</a:t>
            </a:r>
            <a:endParaRPr lang="it-IT" i="1" dirty="0">
              <a:solidFill>
                <a:schemeClr val="accent2"/>
              </a:solidFill>
            </a:endParaRPr>
          </a:p>
          <a:p>
            <a:endParaRPr lang="it-IT" sz="2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 classe </a:t>
            </a:r>
            <a:r>
              <a:rPr lang="it-IT" dirty="0" err="1"/>
              <a:t>Math</a:t>
            </a:r>
            <a:r>
              <a:rPr lang="it-IT" dirty="0"/>
              <a:t>: esempio 1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25658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import fond.io.*;</a:t>
            </a:r>
          </a:p>
          <a:p>
            <a:pPr>
              <a:buNone/>
            </a:pPr>
            <a:endParaRPr lang="it-IT" sz="1600" noProof="1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public class CalcoloMisureCerchio1{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</a:t>
            </a:r>
            <a:r>
              <a:rPr lang="it-IT" sz="1600" b="1" i="1" noProof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/* Calcola l'area e il perimetro di un cerchio di raggio inserito   </a:t>
            </a:r>
            <a:br>
              <a:rPr lang="it-IT" sz="1600" b="1" i="1" noProof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</a:br>
            <a:r>
              <a:rPr lang="it-IT" sz="1600" b="1" i="1" noProof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  dall'utente, facendo uso della classe Math */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public static void main(String[] args){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InputWindow in = new InputWindow();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double r = in.readDouble("Inserire il raggio");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double area = </a:t>
            </a:r>
            <a:r>
              <a:rPr lang="it-IT" sz="1600" b="1" noProof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Math.pow(r, 2)*Math.PI</a:t>
            </a:r>
            <a:r>
              <a:rPr lang="it-IT" sz="1600" noProof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double perimetro = </a:t>
            </a:r>
            <a:r>
              <a:rPr lang="it-IT" sz="1600" b="1" noProof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2*r*Math.PI</a:t>
            </a:r>
            <a:r>
              <a:rPr lang="it-IT" sz="1600" noProof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OutputWindow out = new OutputWindow();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out.write("Area del cerchio = ");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out.writeln(area);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out.write("Perimetro del cerchio = ");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out.writeln(perimetro);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endParaRPr lang="it-IT" sz="1600" noProof="1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 classe </a:t>
            </a:r>
            <a:r>
              <a:rPr lang="it-IT" dirty="0" err="1"/>
              <a:t>Math</a:t>
            </a:r>
            <a:r>
              <a:rPr lang="it-IT" dirty="0"/>
              <a:t>: esempio 2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25658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import fond.io.*;</a:t>
            </a:r>
          </a:p>
          <a:p>
            <a:pPr>
              <a:buNone/>
            </a:pPr>
            <a:endParaRPr lang="it-IT" sz="1600" noProof="1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public class CalcoloDistanzaPunti{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</a:t>
            </a:r>
            <a:r>
              <a:rPr lang="it-IT" sz="1600" b="1" i="1" noProof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/* Calcola la distanza tra due punti del piano</a:t>
            </a:r>
          </a:p>
          <a:p>
            <a:pPr>
              <a:buNone/>
            </a:pPr>
            <a:r>
              <a:rPr lang="it-IT" sz="1600" b="1" i="1" noProof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     p1=(x1,y1) e p2=(x2,y2) */</a:t>
            </a:r>
          </a:p>
          <a:p>
            <a:pPr>
              <a:buNone/>
            </a:pPr>
            <a:endParaRPr lang="it-IT" sz="1600" noProof="1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public static void main(String[] args){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InputWindow in = new InputWindow();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double x1 = in.readDouble("Punto 1: coordinata x?");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double y1 = in.readDouble("Punto 1: coordinata y?");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double x2 = in.readDouble("Punto 2: coordinata x?");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double y2 = in.readDouble("Punto 2: coordinata y?");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double d; // distanza tra p1 e p2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d = </a:t>
            </a:r>
            <a:r>
              <a:rPr lang="it-IT" sz="1600" b="1" noProof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Math.sqrt(Math.pow(x1-x2, 2)+Math.pow(y1-y2, 2))</a:t>
            </a:r>
            <a:r>
              <a:rPr lang="it-IT" sz="1600" noProof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OutputWindow out = new OutputWindow();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out.write("Distanza = ");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out.writeln(d);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200" dirty="0"/>
              <a:t>La classe </a:t>
            </a:r>
            <a:r>
              <a:rPr lang="it-IT" sz="4200" dirty="0" err="1"/>
              <a:t>String</a:t>
            </a:r>
            <a:endParaRPr lang="it-IT" sz="420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r>
              <a:rPr lang="it-IT" sz="2400" dirty="0"/>
              <a:t>Abbiamo detto che gli oggetti di tipo </a:t>
            </a:r>
            <a:r>
              <a:rPr lang="it-IT" sz="2400" i="1" dirty="0" err="1">
                <a:solidFill>
                  <a:schemeClr val="accent2"/>
                </a:solidFill>
              </a:rPr>
              <a:t>String</a:t>
            </a:r>
            <a:r>
              <a:rPr lang="it-IT" sz="2400" dirty="0"/>
              <a:t> rappresentano sequenze di caratteri (cioè sequenze di valori </a:t>
            </a:r>
            <a:r>
              <a:rPr lang="it-IT" sz="2400" i="1" dirty="0" err="1">
                <a:solidFill>
                  <a:schemeClr val="accent2"/>
                </a:solidFill>
              </a:rPr>
              <a:t>char</a:t>
            </a:r>
            <a:r>
              <a:rPr lang="it-IT" sz="2400" dirty="0"/>
              <a:t>)</a:t>
            </a:r>
          </a:p>
          <a:p>
            <a:pPr lvl="1"/>
            <a:r>
              <a:rPr lang="it-IT" sz="2000" dirty="0"/>
              <a:t>gli oggetti </a:t>
            </a:r>
            <a:r>
              <a:rPr lang="it-IT" sz="2000" i="1" dirty="0" err="1">
                <a:solidFill>
                  <a:schemeClr val="accent2"/>
                </a:solidFill>
              </a:rPr>
              <a:t>String</a:t>
            </a:r>
            <a:r>
              <a:rPr lang="it-IT" sz="2000" dirty="0"/>
              <a:t> sono usati molto di frequente, così come i tipi primitivi</a:t>
            </a:r>
          </a:p>
          <a:p>
            <a:pPr lvl="1"/>
            <a:r>
              <a:rPr lang="it-IT" sz="2000" dirty="0"/>
              <a:t>la classe </a:t>
            </a:r>
            <a:r>
              <a:rPr lang="it-IT" sz="2000" i="1" dirty="0" err="1">
                <a:solidFill>
                  <a:schemeClr val="accent2"/>
                </a:solidFill>
              </a:rPr>
              <a:t>String</a:t>
            </a:r>
            <a:r>
              <a:rPr lang="it-IT" sz="2000" dirty="0"/>
              <a:t> gode di alcune peculiarità che la accomunano ai tipi primitivi</a:t>
            </a:r>
          </a:p>
          <a:p>
            <a:pPr lvl="1"/>
            <a:endParaRPr lang="it-IT" sz="2000" dirty="0"/>
          </a:p>
          <a:p>
            <a:r>
              <a:rPr lang="it-IT" sz="2400" dirty="0"/>
              <a:t>La stringa rappresentata da un oggetto </a:t>
            </a:r>
            <a:r>
              <a:rPr lang="it-IT" sz="2400" i="1" dirty="0" err="1">
                <a:solidFill>
                  <a:schemeClr val="accent2"/>
                </a:solidFill>
              </a:rPr>
              <a:t>String</a:t>
            </a:r>
            <a:r>
              <a:rPr lang="it-IT" sz="2400" dirty="0"/>
              <a:t> costituisce lo stato dell’oggetto, e verrà anche chiamata </a:t>
            </a:r>
            <a:r>
              <a:rPr lang="it-IT" sz="2400" u="sng" dirty="0">
                <a:solidFill>
                  <a:schemeClr val="accent1"/>
                </a:solidFill>
              </a:rPr>
              <a:t>valore</a:t>
            </a:r>
            <a:r>
              <a:rPr lang="it-IT" sz="2400" dirty="0"/>
              <a:t> dell’oggetto </a:t>
            </a:r>
            <a:r>
              <a:rPr lang="it-IT" sz="2400" i="1" dirty="0" err="1">
                <a:solidFill>
                  <a:schemeClr val="accent2"/>
                </a:solidFill>
              </a:rPr>
              <a:t>String</a:t>
            </a:r>
            <a:endParaRPr lang="it-IT" sz="2400" i="1" dirty="0">
              <a:solidFill>
                <a:schemeClr val="accent2"/>
              </a:solidFill>
            </a:endParaRPr>
          </a:p>
          <a:p>
            <a:r>
              <a:rPr lang="it-IT" sz="2400" dirty="0"/>
              <a:t>Così come gli oggetti </a:t>
            </a:r>
            <a:r>
              <a:rPr lang="it-IT" sz="2400" dirty="0" err="1"/>
              <a:t>wrapper</a:t>
            </a:r>
            <a:r>
              <a:rPr lang="it-IT" sz="2400" dirty="0"/>
              <a:t>, anche gli oggetti </a:t>
            </a:r>
            <a:r>
              <a:rPr lang="it-IT" sz="2400" i="1" dirty="0" err="1">
                <a:solidFill>
                  <a:schemeClr val="accent2"/>
                </a:solidFill>
              </a:rPr>
              <a:t>String</a:t>
            </a:r>
            <a:r>
              <a:rPr lang="it-IT" sz="2400" dirty="0"/>
              <a:t> sono immutabili</a:t>
            </a:r>
          </a:p>
          <a:p>
            <a:pPr lvl="1"/>
            <a:endParaRPr lang="it-IT" sz="2000" dirty="0"/>
          </a:p>
          <a:p>
            <a:endParaRPr lang="it-IT" sz="2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000" dirty="0"/>
              <a:t>Creazione di oggetti </a:t>
            </a:r>
            <a:r>
              <a:rPr lang="it-IT" sz="4000" dirty="0" err="1"/>
              <a:t>String</a:t>
            </a:r>
            <a:r>
              <a:rPr lang="it-IT" sz="4000" dirty="0"/>
              <a:t>: letterali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r>
              <a:rPr lang="it-IT" sz="2400" dirty="0"/>
              <a:t>Sappiamo che un letterale stringa costituisce di fatto un oggetto della classe </a:t>
            </a:r>
            <a:r>
              <a:rPr lang="it-IT" sz="2400" i="1" dirty="0" err="1">
                <a:solidFill>
                  <a:schemeClr val="accent2"/>
                </a:solidFill>
              </a:rPr>
              <a:t>String</a:t>
            </a:r>
            <a:r>
              <a:rPr lang="it-IT" sz="2400" dirty="0"/>
              <a:t>;</a:t>
            </a:r>
            <a:r>
              <a:rPr lang="it-IT" sz="2400" i="1" dirty="0">
                <a:solidFill>
                  <a:schemeClr val="accent2"/>
                </a:solidFill>
              </a:rPr>
              <a:t> </a:t>
            </a:r>
            <a:r>
              <a:rPr lang="it-IT" sz="2400" dirty="0"/>
              <a:t>si può ad esempio scrivere la seguente istruzione</a:t>
            </a:r>
          </a:p>
          <a:p>
            <a:endParaRPr lang="it-IT" sz="2400" dirty="0"/>
          </a:p>
          <a:p>
            <a:pPr algn="ctr">
              <a:buNone/>
            </a:pPr>
            <a:r>
              <a:rPr lang="it-IT" sz="2400" i="1" dirty="0">
                <a:solidFill>
                  <a:schemeClr val="accent2"/>
                </a:solidFill>
              </a:rPr>
              <a:t>	</a:t>
            </a:r>
            <a:r>
              <a:rPr lang="it-IT" sz="2400" i="1" dirty="0" err="1">
                <a:solidFill>
                  <a:schemeClr val="accent2"/>
                </a:solidFill>
              </a:rPr>
              <a:t>String</a:t>
            </a:r>
            <a:r>
              <a:rPr lang="it-IT" sz="2400" i="1" dirty="0">
                <a:solidFill>
                  <a:schemeClr val="accent2"/>
                </a:solidFill>
              </a:rPr>
              <a:t> str = “ciao mondo!”;</a:t>
            </a:r>
          </a:p>
          <a:p>
            <a:endParaRPr lang="it-IT" sz="2000" dirty="0"/>
          </a:p>
          <a:p>
            <a:pPr lvl="0"/>
            <a:r>
              <a:rPr lang="it-IT" sz="2400" dirty="0">
                <a:solidFill>
                  <a:prstClr val="black"/>
                </a:solidFill>
              </a:rPr>
              <a:t>Nella variabile </a:t>
            </a:r>
            <a:r>
              <a:rPr lang="it-IT" sz="2400" i="1" dirty="0">
                <a:solidFill>
                  <a:schemeClr val="accent2"/>
                </a:solidFill>
              </a:rPr>
              <a:t>str</a:t>
            </a:r>
            <a:r>
              <a:rPr lang="it-IT" sz="2400" dirty="0">
                <a:solidFill>
                  <a:prstClr val="black"/>
                </a:solidFill>
              </a:rPr>
              <a:t> viene memorizzato il riferimento all’oggetto definito usando il letterale </a:t>
            </a:r>
            <a:r>
              <a:rPr lang="it-IT" sz="2400" i="1" dirty="0">
                <a:solidFill>
                  <a:schemeClr val="accent2"/>
                </a:solidFill>
              </a:rPr>
              <a:t>“ciao mondo!”</a:t>
            </a:r>
          </a:p>
          <a:p>
            <a:pPr lvl="0"/>
            <a:r>
              <a:rPr lang="it-IT" sz="2400" dirty="0"/>
              <a:t>Ad un letterale stringa rimane associato un solo oggetto!</a:t>
            </a:r>
          </a:p>
          <a:p>
            <a:pPr lvl="0"/>
            <a:r>
              <a:rPr lang="it-IT" sz="2400" dirty="0"/>
              <a:t>La stringa senza caratteri </a:t>
            </a:r>
            <a:r>
              <a:rPr lang="it-IT" sz="2400" i="1" dirty="0">
                <a:solidFill>
                  <a:schemeClr val="accent2"/>
                </a:solidFill>
              </a:rPr>
              <a:t>“”</a:t>
            </a:r>
            <a:r>
              <a:rPr lang="it-IT" sz="2400" dirty="0"/>
              <a:t> si chiama anche </a:t>
            </a:r>
            <a:r>
              <a:rPr lang="it-IT" sz="2400" u="sng" dirty="0">
                <a:solidFill>
                  <a:schemeClr val="accent1"/>
                </a:solidFill>
              </a:rPr>
              <a:t>stringa vuota</a:t>
            </a:r>
          </a:p>
          <a:p>
            <a:pPr>
              <a:buNone/>
            </a:pPr>
            <a:endParaRPr lang="it-IT" sz="2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000" dirty="0"/>
              <a:t>Creazione di oggetti </a:t>
            </a:r>
            <a:r>
              <a:rPr lang="it-IT" sz="4000" dirty="0" err="1"/>
              <a:t>String</a:t>
            </a:r>
            <a:r>
              <a:rPr lang="it-IT" sz="4000" dirty="0"/>
              <a:t> con </a:t>
            </a:r>
            <a:r>
              <a:rPr lang="it-IT" sz="4000" dirty="0" err="1"/>
              <a:t>new</a:t>
            </a:r>
            <a:endParaRPr lang="it-IT" sz="400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r>
              <a:rPr lang="it-IT" sz="2400" dirty="0"/>
              <a:t>Come per ogni altra classe, è possibile istanziare oggetti di tipo </a:t>
            </a:r>
            <a:r>
              <a:rPr lang="it-IT" sz="2400" i="1" dirty="0" err="1">
                <a:solidFill>
                  <a:schemeClr val="accent2"/>
                </a:solidFill>
              </a:rPr>
              <a:t>String</a:t>
            </a:r>
            <a:r>
              <a:rPr lang="it-IT" sz="2400" dirty="0"/>
              <a:t> anche usando l’operatore </a:t>
            </a:r>
            <a:r>
              <a:rPr lang="it-IT" sz="2400" i="1" dirty="0" err="1">
                <a:solidFill>
                  <a:schemeClr val="accent2"/>
                </a:solidFill>
              </a:rPr>
              <a:t>new</a:t>
            </a:r>
            <a:endParaRPr lang="it-IT" sz="2400" i="1" dirty="0">
              <a:solidFill>
                <a:schemeClr val="accent2"/>
              </a:solidFill>
            </a:endParaRPr>
          </a:p>
          <a:p>
            <a:r>
              <a:rPr lang="it-IT" sz="2400" dirty="0"/>
              <a:t>In particolare, il costruttore pubblico </a:t>
            </a:r>
            <a:br>
              <a:rPr lang="it-IT" sz="2400" dirty="0"/>
            </a:br>
            <a:r>
              <a:rPr lang="it-IT" sz="2400" i="1" dirty="0" err="1">
                <a:solidFill>
                  <a:schemeClr val="accent2"/>
                </a:solidFill>
              </a:rPr>
              <a:t>String</a:t>
            </a:r>
            <a:r>
              <a:rPr lang="it-IT" sz="2400" i="1" dirty="0">
                <a:solidFill>
                  <a:schemeClr val="accent2"/>
                </a:solidFill>
              </a:rPr>
              <a:t> (</a:t>
            </a:r>
            <a:r>
              <a:rPr lang="it-IT" sz="2400" i="1" dirty="0" err="1">
                <a:solidFill>
                  <a:schemeClr val="accent2"/>
                </a:solidFill>
              </a:rPr>
              <a:t>String</a:t>
            </a:r>
            <a:r>
              <a:rPr lang="it-IT" sz="2400" i="1" dirty="0">
                <a:solidFill>
                  <a:schemeClr val="accent2"/>
                </a:solidFill>
              </a:rPr>
              <a:t> s) </a:t>
            </a:r>
            <a:r>
              <a:rPr lang="it-IT" sz="2400" dirty="0"/>
              <a:t>permette di creare un oggetto </a:t>
            </a:r>
            <a:r>
              <a:rPr lang="it-IT" sz="2400" i="1" dirty="0" err="1">
                <a:solidFill>
                  <a:schemeClr val="accent2"/>
                </a:solidFill>
              </a:rPr>
              <a:t>String</a:t>
            </a:r>
            <a:r>
              <a:rPr lang="it-IT" sz="2400" dirty="0"/>
              <a:t> come copia di quello passato come parametro</a:t>
            </a:r>
          </a:p>
          <a:p>
            <a:pPr>
              <a:buNone/>
            </a:pPr>
            <a:r>
              <a:rPr lang="it-IT" sz="2400" dirty="0"/>
              <a:t>		</a:t>
            </a:r>
            <a:r>
              <a:rPr lang="it-IT" sz="2400" i="1" dirty="0" err="1">
                <a:solidFill>
                  <a:schemeClr val="accent2"/>
                </a:solidFill>
              </a:rPr>
              <a:t>String</a:t>
            </a:r>
            <a:r>
              <a:rPr lang="it-IT" sz="2400" i="1" dirty="0">
                <a:solidFill>
                  <a:schemeClr val="accent2"/>
                </a:solidFill>
              </a:rPr>
              <a:t> str = </a:t>
            </a:r>
            <a:r>
              <a:rPr lang="it-IT" sz="2400" i="1" dirty="0" err="1">
                <a:solidFill>
                  <a:schemeClr val="accent2"/>
                </a:solidFill>
              </a:rPr>
              <a:t>new</a:t>
            </a:r>
            <a:r>
              <a:rPr lang="it-IT" sz="2400" i="1" dirty="0">
                <a:solidFill>
                  <a:schemeClr val="accent2"/>
                </a:solidFill>
              </a:rPr>
              <a:t> </a:t>
            </a:r>
            <a:r>
              <a:rPr lang="it-IT" sz="2400" i="1" dirty="0" err="1">
                <a:solidFill>
                  <a:schemeClr val="accent2"/>
                </a:solidFill>
              </a:rPr>
              <a:t>String</a:t>
            </a:r>
            <a:r>
              <a:rPr lang="it-IT" sz="2400" i="1" dirty="0">
                <a:solidFill>
                  <a:schemeClr val="accent2"/>
                </a:solidFill>
              </a:rPr>
              <a:t>(“ciao mondo”);</a:t>
            </a:r>
          </a:p>
          <a:p>
            <a:pPr>
              <a:buNone/>
            </a:pPr>
            <a:endParaRPr lang="it-IT" sz="2400" i="1" dirty="0">
              <a:solidFill>
                <a:schemeClr val="accent2"/>
              </a:solidFill>
            </a:endParaRPr>
          </a:p>
          <a:p>
            <a:r>
              <a:rPr lang="it-IT" sz="2400" dirty="0"/>
              <a:t>A differenza dei letterali, l’uso dell’operatore </a:t>
            </a:r>
            <a:r>
              <a:rPr lang="it-IT" sz="2400" i="1" dirty="0" err="1">
                <a:solidFill>
                  <a:schemeClr val="accent2"/>
                </a:solidFill>
              </a:rPr>
              <a:t>new</a:t>
            </a:r>
            <a:r>
              <a:rPr lang="it-IT" sz="2400" dirty="0"/>
              <a:t> dà sempre luogo alla creazione di un oggetto </a:t>
            </a:r>
            <a:r>
              <a:rPr lang="it-IT" sz="2400" i="1" dirty="0" err="1">
                <a:solidFill>
                  <a:schemeClr val="accent2"/>
                </a:solidFill>
              </a:rPr>
              <a:t>String</a:t>
            </a:r>
            <a:r>
              <a:rPr lang="it-IT" sz="2400" dirty="0"/>
              <a:t> differente</a:t>
            </a:r>
          </a:p>
          <a:p>
            <a:pPr>
              <a:buNone/>
            </a:pPr>
            <a:endParaRPr lang="it-IT" sz="2400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600" dirty="0"/>
              <a:t>Creazione di oggetti </a:t>
            </a:r>
            <a:r>
              <a:rPr lang="it-IT" sz="3600" dirty="0" err="1"/>
              <a:t>String</a:t>
            </a:r>
            <a:r>
              <a:rPr lang="it-IT" sz="3600" dirty="0"/>
              <a:t>: esempio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3284984"/>
            <a:ext cx="7496175" cy="334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2400" i="1" dirty="0" err="1">
                <a:solidFill>
                  <a:schemeClr val="accent2"/>
                </a:solidFill>
              </a:rPr>
              <a:t>String</a:t>
            </a:r>
            <a:r>
              <a:rPr lang="it-IT" sz="2400" i="1" dirty="0">
                <a:solidFill>
                  <a:schemeClr val="accent2"/>
                </a:solidFill>
              </a:rPr>
              <a:t> str1 = “ciao mondo!”;</a:t>
            </a:r>
          </a:p>
          <a:p>
            <a:pPr>
              <a:buNone/>
            </a:pPr>
            <a:r>
              <a:rPr lang="it-IT" sz="2400" i="1" dirty="0" err="1">
                <a:solidFill>
                  <a:schemeClr val="accent2"/>
                </a:solidFill>
              </a:rPr>
              <a:t>String</a:t>
            </a:r>
            <a:r>
              <a:rPr lang="it-IT" sz="2400" i="1" dirty="0">
                <a:solidFill>
                  <a:schemeClr val="accent2"/>
                </a:solidFill>
              </a:rPr>
              <a:t> str2 = </a:t>
            </a:r>
            <a:r>
              <a:rPr lang="it-IT" sz="2400" i="1" dirty="0" err="1">
                <a:solidFill>
                  <a:schemeClr val="accent2"/>
                </a:solidFill>
              </a:rPr>
              <a:t>new</a:t>
            </a:r>
            <a:r>
              <a:rPr lang="it-IT" sz="2400" i="1" dirty="0">
                <a:solidFill>
                  <a:schemeClr val="accent2"/>
                </a:solidFill>
              </a:rPr>
              <a:t> </a:t>
            </a:r>
            <a:r>
              <a:rPr lang="it-IT" sz="2400" i="1" dirty="0" err="1">
                <a:solidFill>
                  <a:schemeClr val="accent2"/>
                </a:solidFill>
              </a:rPr>
              <a:t>String</a:t>
            </a:r>
            <a:r>
              <a:rPr lang="it-IT" sz="2400" i="1" dirty="0">
                <a:solidFill>
                  <a:schemeClr val="accent2"/>
                </a:solidFill>
              </a:rPr>
              <a:t>(“ciao mondo!”);</a:t>
            </a:r>
          </a:p>
          <a:p>
            <a:pPr>
              <a:buNone/>
            </a:pPr>
            <a:r>
              <a:rPr lang="it-IT" sz="2400" i="1" dirty="0" err="1">
                <a:solidFill>
                  <a:schemeClr val="accent2"/>
                </a:solidFill>
              </a:rPr>
              <a:t>String</a:t>
            </a:r>
            <a:r>
              <a:rPr lang="it-IT" sz="2400" i="1" dirty="0">
                <a:solidFill>
                  <a:schemeClr val="accent2"/>
                </a:solidFill>
              </a:rPr>
              <a:t> str3 = “ciao mondo!”;</a:t>
            </a:r>
          </a:p>
          <a:p>
            <a:pPr>
              <a:buNone/>
            </a:pPr>
            <a:r>
              <a:rPr lang="it-IT" sz="2400" i="1" dirty="0" err="1">
                <a:solidFill>
                  <a:schemeClr val="accent2"/>
                </a:solidFill>
              </a:rPr>
              <a:t>String</a:t>
            </a:r>
            <a:r>
              <a:rPr lang="it-IT" sz="2400" i="1" dirty="0">
                <a:solidFill>
                  <a:schemeClr val="accent2"/>
                </a:solidFill>
              </a:rPr>
              <a:t> str4 = </a:t>
            </a:r>
            <a:r>
              <a:rPr lang="it-IT" sz="2400" i="1" dirty="0" err="1">
                <a:solidFill>
                  <a:schemeClr val="accent2"/>
                </a:solidFill>
              </a:rPr>
              <a:t>new</a:t>
            </a:r>
            <a:r>
              <a:rPr lang="it-IT" sz="2400" i="1" dirty="0">
                <a:solidFill>
                  <a:schemeClr val="accent2"/>
                </a:solidFill>
              </a:rPr>
              <a:t> </a:t>
            </a:r>
            <a:r>
              <a:rPr lang="it-IT" sz="2400" i="1" dirty="0" err="1">
                <a:solidFill>
                  <a:schemeClr val="accent2"/>
                </a:solidFill>
              </a:rPr>
              <a:t>String</a:t>
            </a:r>
            <a:r>
              <a:rPr lang="it-IT" sz="2400" i="1" dirty="0">
                <a:solidFill>
                  <a:schemeClr val="accent2"/>
                </a:solidFill>
              </a:rPr>
              <a:t>(str1);</a:t>
            </a:r>
          </a:p>
          <a:p>
            <a:pPr>
              <a:buNone/>
            </a:pPr>
            <a:endParaRPr lang="it-IT" sz="2400" i="1" dirty="0">
              <a:solidFill>
                <a:schemeClr val="accent2"/>
              </a:solidFill>
            </a:endParaRPr>
          </a:p>
        </p:txBody>
      </p:sp>
      <p:cxnSp>
        <p:nvCxnSpPr>
          <p:cNvPr id="9" name="Connettore 1 8"/>
          <p:cNvCxnSpPr/>
          <p:nvPr/>
        </p:nvCxnSpPr>
        <p:spPr>
          <a:xfrm>
            <a:off x="611560" y="3284984"/>
            <a:ext cx="77048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L’operatore di concatenazione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r>
              <a:rPr lang="it-IT" sz="2400" dirty="0"/>
              <a:t>L’operatore </a:t>
            </a:r>
            <a:r>
              <a:rPr lang="it-IT" sz="2400" i="1" dirty="0">
                <a:solidFill>
                  <a:schemeClr val="accent2"/>
                </a:solidFill>
              </a:rPr>
              <a:t>+</a:t>
            </a:r>
            <a:r>
              <a:rPr lang="it-IT" sz="2400" dirty="0"/>
              <a:t> applicato a due oggetti </a:t>
            </a:r>
            <a:r>
              <a:rPr lang="it-IT" sz="2400" i="1" dirty="0" err="1">
                <a:solidFill>
                  <a:schemeClr val="accent2"/>
                </a:solidFill>
              </a:rPr>
              <a:t>String</a:t>
            </a:r>
            <a:r>
              <a:rPr lang="it-IT" sz="2400" dirty="0"/>
              <a:t>, </a:t>
            </a:r>
            <a:r>
              <a:rPr lang="it-IT" sz="2400" i="1" dirty="0">
                <a:solidFill>
                  <a:schemeClr val="accent2"/>
                </a:solidFill>
              </a:rPr>
              <a:t>str1</a:t>
            </a:r>
            <a:r>
              <a:rPr lang="it-IT" sz="2400" dirty="0"/>
              <a:t> e </a:t>
            </a:r>
            <a:r>
              <a:rPr lang="it-IT" sz="2400" i="1" dirty="0">
                <a:solidFill>
                  <a:schemeClr val="accent2"/>
                </a:solidFill>
              </a:rPr>
              <a:t>str2,</a:t>
            </a:r>
            <a:r>
              <a:rPr lang="it-IT" sz="2400" dirty="0"/>
              <a:t> fornisce un nuovo oggetto </a:t>
            </a:r>
            <a:r>
              <a:rPr lang="it-IT" sz="2400" i="1" dirty="0" err="1">
                <a:solidFill>
                  <a:schemeClr val="accent2"/>
                </a:solidFill>
              </a:rPr>
              <a:t>String</a:t>
            </a:r>
            <a:r>
              <a:rPr lang="it-IT" sz="2400" dirty="0"/>
              <a:t> il cui valore è la concatenazione (giustapposizione) dei valori di </a:t>
            </a:r>
            <a:r>
              <a:rPr lang="it-IT" sz="2400" i="1" dirty="0">
                <a:solidFill>
                  <a:schemeClr val="accent2"/>
                </a:solidFill>
              </a:rPr>
              <a:t>str1</a:t>
            </a:r>
            <a:r>
              <a:rPr lang="it-IT" sz="2400" dirty="0"/>
              <a:t> e di </a:t>
            </a:r>
            <a:r>
              <a:rPr lang="it-IT" sz="2400" i="1" dirty="0">
                <a:solidFill>
                  <a:schemeClr val="accent2"/>
                </a:solidFill>
              </a:rPr>
              <a:t>str2</a:t>
            </a:r>
          </a:p>
          <a:p>
            <a:r>
              <a:rPr lang="it-IT" sz="2400" dirty="0"/>
              <a:t>Ad esempio, la seguente istruzione memorizza in </a:t>
            </a:r>
            <a:r>
              <a:rPr lang="it-IT" sz="2400" i="1" dirty="0">
                <a:solidFill>
                  <a:schemeClr val="accent2"/>
                </a:solidFill>
              </a:rPr>
              <a:t>str</a:t>
            </a:r>
            <a:r>
              <a:rPr lang="it-IT" sz="2400" dirty="0"/>
              <a:t> il riferimento ad un oggetto </a:t>
            </a:r>
            <a:r>
              <a:rPr lang="it-IT" sz="2400" i="1" dirty="0" err="1">
                <a:solidFill>
                  <a:schemeClr val="accent2"/>
                </a:solidFill>
              </a:rPr>
              <a:t>String</a:t>
            </a:r>
            <a:r>
              <a:rPr lang="it-IT" sz="2400" dirty="0"/>
              <a:t> di valore </a:t>
            </a:r>
            <a:r>
              <a:rPr lang="it-IT" sz="2400" i="1" dirty="0">
                <a:solidFill>
                  <a:schemeClr val="accent2"/>
                </a:solidFill>
              </a:rPr>
              <a:t>“ciao mondo!”</a:t>
            </a:r>
          </a:p>
          <a:p>
            <a:pPr lvl="1">
              <a:buNone/>
            </a:pPr>
            <a:endParaRPr lang="it-IT" dirty="0"/>
          </a:p>
          <a:p>
            <a:pPr lvl="1">
              <a:buNone/>
            </a:pPr>
            <a:r>
              <a:rPr lang="it-IT" i="1" dirty="0" err="1">
                <a:solidFill>
                  <a:schemeClr val="accent2"/>
                </a:solidFill>
              </a:rPr>
              <a:t>String</a:t>
            </a:r>
            <a:r>
              <a:rPr lang="it-IT" i="1" dirty="0">
                <a:solidFill>
                  <a:schemeClr val="accent2"/>
                </a:solidFill>
              </a:rPr>
              <a:t> str = “ciao”+ “ mondo!”;</a:t>
            </a:r>
          </a:p>
          <a:p>
            <a:pPr>
              <a:buNone/>
            </a:pPr>
            <a:endParaRPr lang="it-IT" sz="2400" i="1" dirty="0">
              <a:solidFill>
                <a:schemeClr val="accent2"/>
              </a:solidFill>
            </a:endParaRPr>
          </a:p>
          <a:p>
            <a:r>
              <a:rPr lang="it-IT" sz="2400" dirty="0"/>
              <a:t>L’operatore </a:t>
            </a:r>
            <a:r>
              <a:rPr lang="it-IT" sz="2400" i="1" dirty="0">
                <a:solidFill>
                  <a:schemeClr val="accent2"/>
                </a:solidFill>
              </a:rPr>
              <a:t>+</a:t>
            </a:r>
            <a:r>
              <a:rPr lang="it-IT" sz="2400" dirty="0"/>
              <a:t> applicato alle stringhe si chiama dunque </a:t>
            </a:r>
            <a:r>
              <a:rPr lang="it-IT" sz="2400" u="sng" dirty="0">
                <a:solidFill>
                  <a:schemeClr val="accent1"/>
                </a:solidFill>
              </a:rPr>
              <a:t>operatore di concatenazione</a:t>
            </a:r>
            <a:endParaRPr lang="it-IT" sz="2400" i="1" u="sng" dirty="0">
              <a:solidFill>
                <a:schemeClr val="accent1"/>
              </a:solidFill>
            </a:endParaRPr>
          </a:p>
          <a:p>
            <a:pPr>
              <a:buNone/>
            </a:pPr>
            <a:endParaRPr lang="it-IT" sz="2400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L’operatore di concatenazione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r>
              <a:rPr lang="it-IT" sz="2400" dirty="0"/>
              <a:t>L’operatore </a:t>
            </a:r>
            <a:r>
              <a:rPr lang="it-IT" sz="2400" i="1" dirty="0">
                <a:solidFill>
                  <a:schemeClr val="accent2"/>
                </a:solidFill>
              </a:rPr>
              <a:t>+</a:t>
            </a:r>
            <a:r>
              <a:rPr lang="it-IT" sz="2400" dirty="0"/>
              <a:t> può anche essere applicato tra uno oggetto </a:t>
            </a:r>
            <a:r>
              <a:rPr lang="it-IT" sz="2400" i="1" dirty="0">
                <a:solidFill>
                  <a:schemeClr val="accent2"/>
                </a:solidFill>
              </a:rPr>
              <a:t>s</a:t>
            </a:r>
            <a:r>
              <a:rPr lang="it-IT" sz="2400" dirty="0"/>
              <a:t> di tipo </a:t>
            </a:r>
            <a:r>
              <a:rPr lang="it-IT" sz="2400" i="1" dirty="0" err="1">
                <a:solidFill>
                  <a:schemeClr val="accent2"/>
                </a:solidFill>
              </a:rPr>
              <a:t>String</a:t>
            </a:r>
            <a:r>
              <a:rPr lang="it-IT" sz="2400" dirty="0"/>
              <a:t> e un dato primitivo; in questo caso, il risultato sarà un oggetto </a:t>
            </a:r>
            <a:r>
              <a:rPr lang="it-IT" sz="2400" i="1" dirty="0" err="1">
                <a:solidFill>
                  <a:schemeClr val="accent2"/>
                </a:solidFill>
              </a:rPr>
              <a:t>String</a:t>
            </a:r>
            <a:r>
              <a:rPr lang="it-IT" sz="2400" dirty="0"/>
              <a:t> il cui valore è ottenuto concatenando il valore di </a:t>
            </a:r>
            <a:r>
              <a:rPr lang="it-IT" sz="2400" i="1" dirty="0">
                <a:solidFill>
                  <a:schemeClr val="accent2"/>
                </a:solidFill>
              </a:rPr>
              <a:t>s</a:t>
            </a:r>
            <a:r>
              <a:rPr lang="it-IT" sz="2400" dirty="0"/>
              <a:t> con la stringa che descrive il dato primitivo</a:t>
            </a:r>
          </a:p>
          <a:p>
            <a:r>
              <a:rPr lang="it-IT" sz="2400" i="1" dirty="0">
                <a:solidFill>
                  <a:schemeClr val="accent2"/>
                </a:solidFill>
              </a:rPr>
              <a:t>Esempio 1</a:t>
            </a:r>
            <a:r>
              <a:rPr lang="it-IT" sz="2400" dirty="0"/>
              <a:t>:     </a:t>
            </a:r>
            <a:r>
              <a:rPr lang="it-IT" sz="2400" i="1" dirty="0" err="1">
                <a:solidFill>
                  <a:schemeClr val="accent2"/>
                </a:solidFill>
              </a:rPr>
              <a:t>String</a:t>
            </a:r>
            <a:r>
              <a:rPr lang="it-IT" sz="2400" i="1" dirty="0">
                <a:solidFill>
                  <a:schemeClr val="accent2"/>
                </a:solidFill>
              </a:rPr>
              <a:t> str = 10 + “ rose”;</a:t>
            </a:r>
          </a:p>
          <a:p>
            <a:pPr lvl="1"/>
            <a:r>
              <a:rPr lang="it-IT" sz="2000" dirty="0"/>
              <a:t>l’oggetto referenziato da </a:t>
            </a:r>
            <a:r>
              <a:rPr lang="it-IT" sz="2000" i="1" dirty="0">
                <a:solidFill>
                  <a:schemeClr val="accent2"/>
                </a:solidFill>
              </a:rPr>
              <a:t>str</a:t>
            </a:r>
            <a:r>
              <a:rPr lang="it-IT" sz="2000" dirty="0"/>
              <a:t> ha il valore </a:t>
            </a:r>
            <a:r>
              <a:rPr lang="it-IT" sz="2000" i="1" dirty="0">
                <a:solidFill>
                  <a:schemeClr val="accent2"/>
                </a:solidFill>
              </a:rPr>
              <a:t>“10 rose” </a:t>
            </a:r>
            <a:r>
              <a:rPr lang="it-IT" sz="2000" dirty="0"/>
              <a:t>(il valore intero </a:t>
            </a:r>
            <a:r>
              <a:rPr lang="it-IT" sz="2000" i="1" dirty="0">
                <a:solidFill>
                  <a:schemeClr val="accent2"/>
                </a:solidFill>
              </a:rPr>
              <a:t>10</a:t>
            </a:r>
            <a:r>
              <a:rPr lang="it-IT" sz="2000" dirty="0"/>
              <a:t> è dapprima convertito nella stringa</a:t>
            </a:r>
            <a:r>
              <a:rPr lang="it-IT" sz="2000" i="1" dirty="0">
                <a:solidFill>
                  <a:schemeClr val="accent2"/>
                </a:solidFill>
              </a:rPr>
              <a:t>“10”, </a:t>
            </a:r>
            <a:r>
              <a:rPr lang="it-IT" sz="2000" dirty="0"/>
              <a:t>e quindi concatenato con </a:t>
            </a:r>
            <a:r>
              <a:rPr lang="it-IT" sz="2000" i="1" dirty="0">
                <a:solidFill>
                  <a:schemeClr val="accent2"/>
                </a:solidFill>
              </a:rPr>
              <a:t>“ rose”</a:t>
            </a:r>
            <a:r>
              <a:rPr lang="it-IT" sz="2000" dirty="0"/>
              <a:t>.</a:t>
            </a:r>
          </a:p>
          <a:p>
            <a:r>
              <a:rPr lang="it-IT" sz="2400" i="1" dirty="0">
                <a:solidFill>
                  <a:schemeClr val="accent2"/>
                </a:solidFill>
              </a:rPr>
              <a:t>Esempio 2</a:t>
            </a:r>
            <a:r>
              <a:rPr lang="it-IT" sz="2400" dirty="0"/>
              <a:t>:     </a:t>
            </a:r>
            <a:r>
              <a:rPr lang="it-IT" sz="2400" i="1" dirty="0" err="1">
                <a:solidFill>
                  <a:schemeClr val="accent2"/>
                </a:solidFill>
              </a:rPr>
              <a:t>String</a:t>
            </a:r>
            <a:r>
              <a:rPr lang="it-IT" sz="2400" i="1" dirty="0">
                <a:solidFill>
                  <a:schemeClr val="accent2"/>
                </a:solidFill>
              </a:rPr>
              <a:t> str = 10 + 15 + “ rose”;</a:t>
            </a:r>
          </a:p>
          <a:p>
            <a:pPr lvl="1"/>
            <a:r>
              <a:rPr lang="it-IT" sz="2000" dirty="0"/>
              <a:t>l’oggetto referenziato da </a:t>
            </a:r>
            <a:r>
              <a:rPr lang="it-IT" sz="2000" i="1" dirty="0">
                <a:solidFill>
                  <a:schemeClr val="accent2"/>
                </a:solidFill>
              </a:rPr>
              <a:t>str</a:t>
            </a:r>
            <a:r>
              <a:rPr lang="it-IT" sz="2000" dirty="0"/>
              <a:t> ha il valore </a:t>
            </a:r>
            <a:r>
              <a:rPr lang="it-IT" sz="2000" i="1" dirty="0">
                <a:solidFill>
                  <a:schemeClr val="accent2"/>
                </a:solidFill>
              </a:rPr>
              <a:t>“25 rose” </a:t>
            </a:r>
            <a:r>
              <a:rPr lang="it-IT" sz="2000" dirty="0"/>
              <a:t>(vengono prima sommati </a:t>
            </a:r>
            <a:r>
              <a:rPr lang="it-IT" sz="2000" i="1" dirty="0">
                <a:solidFill>
                  <a:schemeClr val="accent2"/>
                </a:solidFill>
              </a:rPr>
              <a:t>10</a:t>
            </a:r>
            <a:r>
              <a:rPr lang="it-IT" sz="2000" dirty="0"/>
              <a:t> e </a:t>
            </a:r>
            <a:r>
              <a:rPr lang="it-IT" sz="2000" i="1" dirty="0">
                <a:solidFill>
                  <a:schemeClr val="accent2"/>
                </a:solidFill>
              </a:rPr>
              <a:t>15</a:t>
            </a:r>
            <a:r>
              <a:rPr lang="it-IT" sz="2000" dirty="0"/>
              <a:t>; il risultato viene concatenato a </a:t>
            </a:r>
            <a:r>
              <a:rPr lang="it-IT" sz="2000" i="1" dirty="0">
                <a:solidFill>
                  <a:schemeClr val="accent2"/>
                </a:solidFill>
              </a:rPr>
              <a:t>“ rose”</a:t>
            </a:r>
            <a:r>
              <a:rPr lang="it-IT" sz="2000" dirty="0"/>
              <a:t>)</a:t>
            </a:r>
          </a:p>
          <a:p>
            <a:pPr>
              <a:buNone/>
            </a:pPr>
            <a:endParaRPr lang="it-IT" sz="2400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Metodi della classe </a:t>
            </a:r>
            <a:r>
              <a:rPr lang="it-IT" dirty="0" err="1"/>
              <a:t>String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r>
              <a:rPr lang="it-IT" dirty="0"/>
              <a:t>La classe </a:t>
            </a:r>
            <a:r>
              <a:rPr lang="it-IT" i="1" dirty="0" err="1">
                <a:solidFill>
                  <a:schemeClr val="accent2"/>
                </a:solidFill>
              </a:rPr>
              <a:t>String</a:t>
            </a:r>
            <a:r>
              <a:rPr lang="it-IT" dirty="0"/>
              <a:t> dispone di numerosi metodi di istanza e di classe, per la manipolazione di stringhe; nel seguito vedremo alcuni di questi metodi</a:t>
            </a:r>
            <a:endParaRPr lang="it-IT" i="1" dirty="0">
              <a:solidFill>
                <a:schemeClr val="accent2"/>
              </a:solidFill>
            </a:endParaRPr>
          </a:p>
          <a:p>
            <a:pPr>
              <a:buNone/>
            </a:pPr>
            <a:endParaRPr lang="it-IT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metodo </a:t>
            </a:r>
            <a:r>
              <a:rPr lang="it-IT" dirty="0" err="1"/>
              <a:t>length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r>
              <a:rPr lang="it-IT" dirty="0"/>
              <a:t>Metodo di istanza che restituisce il numero di caratteri della stringa</a:t>
            </a:r>
          </a:p>
          <a:p>
            <a:r>
              <a:rPr lang="it-IT" dirty="0"/>
              <a:t>Prototipo: </a:t>
            </a:r>
            <a:r>
              <a:rPr lang="it-IT" i="1" dirty="0" err="1">
                <a:solidFill>
                  <a:schemeClr val="accent2"/>
                </a:solidFill>
              </a:rPr>
              <a:t>int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i="1" dirty="0" err="1">
                <a:solidFill>
                  <a:schemeClr val="accent2"/>
                </a:solidFill>
              </a:rPr>
              <a:t>length</a:t>
            </a:r>
            <a:r>
              <a:rPr lang="it-IT" i="1" dirty="0">
                <a:solidFill>
                  <a:schemeClr val="accent2"/>
                </a:solidFill>
              </a:rPr>
              <a:t>()</a:t>
            </a:r>
          </a:p>
          <a:p>
            <a:r>
              <a:rPr lang="it-IT" dirty="0"/>
              <a:t>Ad esempio, l’istruzione </a:t>
            </a:r>
            <a:r>
              <a:rPr lang="it-IT" i="1" dirty="0">
                <a:solidFill>
                  <a:schemeClr val="accent2"/>
                </a:solidFill>
              </a:rPr>
              <a:t>“mondo”.</a:t>
            </a:r>
            <a:r>
              <a:rPr lang="it-IT" i="1" dirty="0" err="1">
                <a:solidFill>
                  <a:schemeClr val="accent2"/>
                </a:solidFill>
              </a:rPr>
              <a:t>length</a:t>
            </a:r>
            <a:r>
              <a:rPr lang="it-IT" i="1" dirty="0">
                <a:solidFill>
                  <a:schemeClr val="accent2"/>
                </a:solidFill>
              </a:rPr>
              <a:t>()</a:t>
            </a:r>
            <a:r>
              <a:rPr lang="it-IT" dirty="0"/>
              <a:t>, fornisce come risultato 5</a:t>
            </a:r>
          </a:p>
          <a:p>
            <a:pPr>
              <a:buNone/>
            </a:pPr>
            <a:endParaRPr lang="it-IT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metodo </a:t>
            </a:r>
            <a:r>
              <a:rPr lang="it-IT" dirty="0" err="1"/>
              <a:t>charAt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r>
              <a:rPr lang="it-IT" dirty="0"/>
              <a:t>Metodo di istanza che restituisce il carattere di dell’oggetto ricevente, che occupa la posizione specificata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dirty="0"/>
              <a:t>(il primo carattere ha sempre posizione 0!!) </a:t>
            </a:r>
          </a:p>
          <a:p>
            <a:r>
              <a:rPr lang="it-IT" dirty="0"/>
              <a:t>Prototipo: </a:t>
            </a:r>
            <a:r>
              <a:rPr lang="it-IT" i="1" dirty="0" err="1">
                <a:solidFill>
                  <a:schemeClr val="accent2"/>
                </a:solidFill>
              </a:rPr>
              <a:t>char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i="1" dirty="0" err="1">
                <a:solidFill>
                  <a:schemeClr val="accent2"/>
                </a:solidFill>
              </a:rPr>
              <a:t>charAt</a:t>
            </a:r>
            <a:r>
              <a:rPr lang="it-IT" i="1" dirty="0">
                <a:solidFill>
                  <a:schemeClr val="accent2"/>
                </a:solidFill>
              </a:rPr>
              <a:t>(</a:t>
            </a:r>
            <a:r>
              <a:rPr lang="it-IT" i="1" dirty="0" err="1">
                <a:solidFill>
                  <a:schemeClr val="accent2"/>
                </a:solidFill>
              </a:rPr>
              <a:t>int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i="1" dirty="0" err="1">
                <a:solidFill>
                  <a:schemeClr val="accent2"/>
                </a:solidFill>
              </a:rPr>
              <a:t>index</a:t>
            </a:r>
            <a:r>
              <a:rPr lang="it-IT" i="1" dirty="0">
                <a:solidFill>
                  <a:schemeClr val="accent2"/>
                </a:solidFill>
              </a:rPr>
              <a:t>);</a:t>
            </a:r>
          </a:p>
          <a:p>
            <a:r>
              <a:rPr lang="it-IT" dirty="0"/>
              <a:t>Ad esempio, l’istruzione </a:t>
            </a:r>
            <a:r>
              <a:rPr lang="it-IT" i="1" dirty="0" err="1">
                <a:solidFill>
                  <a:schemeClr val="accent2"/>
                </a:solidFill>
              </a:rPr>
              <a:t>System.out.print</a:t>
            </a:r>
            <a:r>
              <a:rPr lang="it-IT" i="1" dirty="0">
                <a:solidFill>
                  <a:schemeClr val="accent2"/>
                </a:solidFill>
              </a:rPr>
              <a:t>(“mondo”.</a:t>
            </a:r>
            <a:r>
              <a:rPr lang="it-IT" i="1" dirty="0" err="1">
                <a:solidFill>
                  <a:schemeClr val="accent2"/>
                </a:solidFill>
              </a:rPr>
              <a:t>charAt</a:t>
            </a:r>
            <a:r>
              <a:rPr lang="it-IT" i="1" dirty="0">
                <a:solidFill>
                  <a:schemeClr val="accent2"/>
                </a:solidFill>
              </a:rPr>
              <a:t>(2)) </a:t>
            </a:r>
            <a:r>
              <a:rPr lang="it-IT" dirty="0"/>
              <a:t>stampa a video il carattere </a:t>
            </a:r>
            <a:r>
              <a:rPr lang="it-IT" i="1" dirty="0">
                <a:solidFill>
                  <a:schemeClr val="accent2"/>
                </a:solidFill>
              </a:rPr>
              <a:t>‘n’</a:t>
            </a:r>
          </a:p>
          <a:p>
            <a:pPr>
              <a:buNone/>
            </a:pPr>
            <a:endParaRPr lang="it-IT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metodo </a:t>
            </a:r>
            <a:r>
              <a:rPr lang="it-IT" dirty="0" err="1"/>
              <a:t>equals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 lnSpcReduction="10000"/>
          </a:bodyPr>
          <a:lstStyle/>
          <a:p>
            <a:r>
              <a:rPr lang="it-IT" dirty="0"/>
              <a:t>Metodo di istanza che confronta il valore di due oggetti </a:t>
            </a:r>
            <a:r>
              <a:rPr lang="it-IT" i="1" dirty="0" err="1">
                <a:solidFill>
                  <a:schemeClr val="accent2"/>
                </a:solidFill>
              </a:rPr>
              <a:t>String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dirty="0"/>
              <a:t>e che restituisce </a:t>
            </a:r>
            <a:r>
              <a:rPr lang="it-IT" i="1" dirty="0" err="1">
                <a:solidFill>
                  <a:schemeClr val="accent2"/>
                </a:solidFill>
              </a:rPr>
              <a:t>true</a:t>
            </a:r>
            <a:r>
              <a:rPr lang="it-IT" dirty="0"/>
              <a:t> se tali valori sono uguali, e false altrimenti</a:t>
            </a:r>
          </a:p>
          <a:p>
            <a:r>
              <a:rPr lang="it-IT" dirty="0"/>
              <a:t>Prototipo: </a:t>
            </a:r>
            <a:r>
              <a:rPr lang="it-IT" i="1" dirty="0" err="1">
                <a:solidFill>
                  <a:schemeClr val="accent2"/>
                </a:solidFill>
              </a:rPr>
              <a:t>boolean</a:t>
            </a:r>
            <a:r>
              <a:rPr lang="it-IT" dirty="0"/>
              <a:t> </a:t>
            </a:r>
            <a:r>
              <a:rPr lang="it-IT" i="1" dirty="0" err="1">
                <a:solidFill>
                  <a:schemeClr val="accent2"/>
                </a:solidFill>
              </a:rPr>
              <a:t>equals</a:t>
            </a:r>
            <a:r>
              <a:rPr lang="it-IT" i="1" dirty="0">
                <a:solidFill>
                  <a:schemeClr val="accent2"/>
                </a:solidFill>
              </a:rPr>
              <a:t> (</a:t>
            </a:r>
            <a:r>
              <a:rPr lang="it-IT" i="1" dirty="0" err="1">
                <a:solidFill>
                  <a:schemeClr val="accent2"/>
                </a:solidFill>
              </a:rPr>
              <a:t>String</a:t>
            </a:r>
            <a:r>
              <a:rPr lang="it-IT" i="1" dirty="0">
                <a:solidFill>
                  <a:schemeClr val="accent2"/>
                </a:solidFill>
              </a:rPr>
              <a:t> s)</a:t>
            </a:r>
            <a:r>
              <a:rPr lang="it-IT" i="1" dirty="0"/>
              <a:t>; </a:t>
            </a:r>
            <a:r>
              <a:rPr lang="it-IT" dirty="0"/>
              <a:t>(in realtà il parametro formale è un oggetto della classe </a:t>
            </a:r>
            <a:r>
              <a:rPr lang="it-IT" i="1" dirty="0">
                <a:solidFill>
                  <a:schemeClr val="accent2"/>
                </a:solidFill>
              </a:rPr>
              <a:t>Object</a:t>
            </a:r>
            <a:r>
              <a:rPr lang="it-IT" dirty="0"/>
              <a:t>  (descritta in </a:t>
            </a:r>
            <a:r>
              <a:rPr lang="it-IT"/>
              <a:t>capitoli successivi))</a:t>
            </a:r>
            <a:endParaRPr lang="it-IT" dirty="0"/>
          </a:p>
          <a:p>
            <a:r>
              <a:rPr lang="it-IT" dirty="0"/>
              <a:t>Ad esempio, il seguente frammento di codice stampa </a:t>
            </a:r>
            <a:r>
              <a:rPr lang="it-IT" i="1" dirty="0" err="1">
                <a:solidFill>
                  <a:schemeClr val="accent2"/>
                </a:solidFill>
              </a:rPr>
              <a:t>true</a:t>
            </a:r>
            <a:endParaRPr lang="it-IT" i="1" dirty="0">
              <a:solidFill>
                <a:schemeClr val="accent2"/>
              </a:solidFill>
            </a:endParaRPr>
          </a:p>
          <a:p>
            <a:pPr>
              <a:buNone/>
            </a:pPr>
            <a:r>
              <a:rPr lang="en-US" dirty="0"/>
              <a:t>	</a:t>
            </a:r>
            <a:r>
              <a:rPr lang="en-US" i="1" dirty="0">
                <a:solidFill>
                  <a:schemeClr val="accent2"/>
                </a:solidFill>
              </a:rPr>
              <a:t>String str1 = new String("ciao mondo!");</a:t>
            </a:r>
          </a:p>
          <a:p>
            <a:pPr>
              <a:buNone/>
            </a:pPr>
            <a:r>
              <a:rPr lang="en-US" i="1" dirty="0">
                <a:solidFill>
                  <a:schemeClr val="accent2"/>
                </a:solidFill>
              </a:rPr>
              <a:t>	String str2 = new String("ciao mondo!");</a:t>
            </a:r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</a:t>
            </a:r>
            <a:r>
              <a:rPr lang="it-IT" i="1" dirty="0" err="1">
                <a:solidFill>
                  <a:schemeClr val="accent2"/>
                </a:solidFill>
              </a:rPr>
              <a:t>System.out.print</a:t>
            </a:r>
            <a:r>
              <a:rPr lang="it-IT" i="1" dirty="0">
                <a:solidFill>
                  <a:schemeClr val="accent2"/>
                </a:solidFill>
              </a:rPr>
              <a:t>(str1.equals(str2));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metodo </a:t>
            </a:r>
            <a:r>
              <a:rPr lang="it-IT" dirty="0" err="1"/>
              <a:t>equals</a:t>
            </a:r>
            <a:r>
              <a:rPr lang="it-IT" dirty="0"/>
              <a:t>: osservazione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</a:t>
            </a:r>
            <a:r>
              <a:rPr lang="it-IT" i="1" dirty="0" err="1">
                <a:solidFill>
                  <a:schemeClr val="accent2"/>
                </a:solidFill>
              </a:rPr>
              <a:t>String</a:t>
            </a:r>
            <a:r>
              <a:rPr lang="it-IT" i="1" dirty="0">
                <a:solidFill>
                  <a:schemeClr val="accent2"/>
                </a:solidFill>
              </a:rPr>
              <a:t> str1 = </a:t>
            </a:r>
            <a:r>
              <a:rPr lang="it-IT" i="1" dirty="0" err="1">
                <a:solidFill>
                  <a:schemeClr val="accent2"/>
                </a:solidFill>
              </a:rPr>
              <a:t>new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i="1" dirty="0" err="1">
                <a:solidFill>
                  <a:schemeClr val="accent2"/>
                </a:solidFill>
              </a:rPr>
              <a:t>String</a:t>
            </a:r>
            <a:r>
              <a:rPr lang="it-IT" i="1" dirty="0">
                <a:solidFill>
                  <a:schemeClr val="accent2"/>
                </a:solidFill>
              </a:rPr>
              <a:t>(“ciao mondo!”);</a:t>
            </a:r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</a:t>
            </a:r>
            <a:r>
              <a:rPr lang="it-IT" i="1" dirty="0" err="1">
                <a:solidFill>
                  <a:schemeClr val="accent2"/>
                </a:solidFill>
              </a:rPr>
              <a:t>String</a:t>
            </a:r>
            <a:r>
              <a:rPr lang="it-IT" i="1" dirty="0">
                <a:solidFill>
                  <a:schemeClr val="accent2"/>
                </a:solidFill>
              </a:rPr>
              <a:t> str2 = </a:t>
            </a:r>
            <a:r>
              <a:rPr lang="it-IT" i="1" dirty="0" err="1">
                <a:solidFill>
                  <a:schemeClr val="accent2"/>
                </a:solidFill>
              </a:rPr>
              <a:t>new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i="1" dirty="0" err="1">
                <a:solidFill>
                  <a:schemeClr val="accent2"/>
                </a:solidFill>
              </a:rPr>
              <a:t>String</a:t>
            </a:r>
            <a:r>
              <a:rPr lang="it-IT" i="1" dirty="0">
                <a:solidFill>
                  <a:schemeClr val="accent2"/>
                </a:solidFill>
              </a:rPr>
              <a:t>(“ciao mondo!);</a:t>
            </a:r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</a:t>
            </a:r>
            <a:r>
              <a:rPr lang="it-IT" i="1" dirty="0" err="1">
                <a:solidFill>
                  <a:schemeClr val="accent2"/>
                </a:solidFill>
              </a:rPr>
              <a:t>System.out.print</a:t>
            </a:r>
            <a:r>
              <a:rPr lang="it-IT" i="1" dirty="0">
                <a:solidFill>
                  <a:schemeClr val="accent2"/>
                </a:solidFill>
              </a:rPr>
              <a:t>(str1.equals(str2));</a:t>
            </a:r>
          </a:p>
          <a:p>
            <a:pPr>
              <a:buNone/>
            </a:pPr>
            <a:endParaRPr lang="it-IT" i="1" dirty="0">
              <a:solidFill>
                <a:schemeClr val="accent2"/>
              </a:solidFill>
            </a:endParaRPr>
          </a:p>
          <a:p>
            <a:r>
              <a:rPr lang="it-IT" dirty="0"/>
              <a:t>L’espressione </a:t>
            </a:r>
            <a:r>
              <a:rPr lang="it-IT" i="1" dirty="0">
                <a:solidFill>
                  <a:schemeClr val="accent2"/>
                </a:solidFill>
              </a:rPr>
              <a:t>str1.equals(str2)</a:t>
            </a:r>
            <a:r>
              <a:rPr lang="it-IT" dirty="0"/>
              <a:t> vale </a:t>
            </a:r>
            <a:r>
              <a:rPr lang="it-IT" i="1" dirty="0" err="1">
                <a:solidFill>
                  <a:schemeClr val="accent2"/>
                </a:solidFill>
              </a:rPr>
              <a:t>true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dirty="0"/>
              <a:t>perché gli oggetti referenziati da </a:t>
            </a:r>
            <a:r>
              <a:rPr lang="it-IT" i="1" dirty="0">
                <a:solidFill>
                  <a:schemeClr val="accent2"/>
                </a:solidFill>
              </a:rPr>
              <a:t>str1</a:t>
            </a:r>
            <a:r>
              <a:rPr lang="it-IT" dirty="0"/>
              <a:t> e da </a:t>
            </a:r>
            <a:r>
              <a:rPr lang="it-IT" i="1" dirty="0">
                <a:solidFill>
                  <a:schemeClr val="accent2"/>
                </a:solidFill>
              </a:rPr>
              <a:t>str2</a:t>
            </a:r>
            <a:r>
              <a:rPr lang="it-IT" dirty="0"/>
              <a:t>, sebbene siano diversi, hanno lo stesso valore</a:t>
            </a:r>
          </a:p>
          <a:p>
            <a:endParaRPr lang="it-IT" i="1" dirty="0">
              <a:solidFill>
                <a:schemeClr val="accent2"/>
              </a:solidFill>
            </a:endParaRPr>
          </a:p>
          <a:p>
            <a:endParaRPr lang="it-IT" i="1" dirty="0">
              <a:solidFill>
                <a:schemeClr val="accent2"/>
              </a:solidFill>
            </a:endParaRPr>
          </a:p>
          <a:p>
            <a:pPr>
              <a:buNone/>
            </a:pPr>
            <a:endParaRPr lang="it-IT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metodo </a:t>
            </a:r>
            <a:r>
              <a:rPr lang="it-IT" dirty="0" err="1"/>
              <a:t>compareTo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 fontScale="92500" lnSpcReduction="20000"/>
          </a:bodyPr>
          <a:lstStyle/>
          <a:p>
            <a:r>
              <a:rPr lang="it-IT" dirty="0"/>
              <a:t>Metodo di istanza che confronta “</a:t>
            </a:r>
            <a:r>
              <a:rPr lang="it-IT" dirty="0" err="1"/>
              <a:t>lessicograficamente</a:t>
            </a:r>
            <a:r>
              <a:rPr lang="it-IT" dirty="0"/>
              <a:t>” due stringhe</a:t>
            </a:r>
            <a:endParaRPr lang="it-IT" i="1" dirty="0">
              <a:solidFill>
                <a:schemeClr val="accent2"/>
              </a:solidFill>
            </a:endParaRPr>
          </a:p>
          <a:p>
            <a:r>
              <a:rPr lang="it-IT" dirty="0"/>
              <a:t>L’</a:t>
            </a:r>
            <a:r>
              <a:rPr lang="it-IT" u="sng" dirty="0">
                <a:solidFill>
                  <a:schemeClr val="accent1"/>
                </a:solidFill>
              </a:rPr>
              <a:t>ordine lessicografico </a:t>
            </a:r>
            <a:r>
              <a:rPr lang="it-IT" dirty="0"/>
              <a:t>è simile all’ordinamento alfabetico, ma distingue tra minuscola e maiuscola:</a:t>
            </a:r>
          </a:p>
          <a:p>
            <a:pPr lvl="1"/>
            <a:r>
              <a:rPr lang="it-IT" dirty="0"/>
              <a:t>“alfa” precede “alfabeto”</a:t>
            </a:r>
          </a:p>
          <a:p>
            <a:pPr lvl="1"/>
            <a:r>
              <a:rPr lang="it-IT" dirty="0"/>
              <a:t>“castello” segue “canile”</a:t>
            </a:r>
          </a:p>
          <a:p>
            <a:pPr lvl="1"/>
            <a:r>
              <a:rPr lang="it-IT" dirty="0"/>
              <a:t>“Beta” </a:t>
            </a:r>
            <a:r>
              <a:rPr lang="it-IT" u="sng" dirty="0"/>
              <a:t>precede</a:t>
            </a:r>
            <a:r>
              <a:rPr lang="it-IT" dirty="0"/>
              <a:t> “alfa”</a:t>
            </a:r>
          </a:p>
          <a:p>
            <a:pPr lvl="1"/>
            <a:endParaRPr lang="it-IT" dirty="0"/>
          </a:p>
          <a:p>
            <a:r>
              <a:rPr lang="it-IT" dirty="0"/>
              <a:t>Prototipo: </a:t>
            </a:r>
            <a:r>
              <a:rPr lang="it-IT" i="1" dirty="0" err="1">
                <a:solidFill>
                  <a:schemeClr val="accent2"/>
                </a:solidFill>
              </a:rPr>
              <a:t>int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i="1" dirty="0" err="1">
                <a:solidFill>
                  <a:schemeClr val="accent2"/>
                </a:solidFill>
              </a:rPr>
              <a:t>compareTo</a:t>
            </a:r>
            <a:r>
              <a:rPr lang="it-IT" i="1" dirty="0">
                <a:solidFill>
                  <a:schemeClr val="accent2"/>
                </a:solidFill>
              </a:rPr>
              <a:t>(</a:t>
            </a:r>
            <a:r>
              <a:rPr lang="it-IT" i="1" dirty="0" err="1">
                <a:solidFill>
                  <a:schemeClr val="accent2"/>
                </a:solidFill>
              </a:rPr>
              <a:t>String</a:t>
            </a:r>
            <a:r>
              <a:rPr lang="it-IT" i="1" dirty="0">
                <a:solidFill>
                  <a:schemeClr val="accent2"/>
                </a:solidFill>
              </a:rPr>
              <a:t> s);</a:t>
            </a:r>
            <a:r>
              <a:rPr lang="it-IT" dirty="0"/>
              <a:t> restituisce:</a:t>
            </a:r>
          </a:p>
          <a:p>
            <a:pPr lvl="1"/>
            <a:r>
              <a:rPr lang="it-IT" dirty="0"/>
              <a:t>un valore </a:t>
            </a:r>
            <a:r>
              <a:rPr lang="it-IT"/>
              <a:t>negativo se </a:t>
            </a:r>
            <a:r>
              <a:rPr lang="it-IT" dirty="0"/>
              <a:t>il ricevente precede </a:t>
            </a:r>
            <a:r>
              <a:rPr lang="it-IT" i="1" dirty="0">
                <a:solidFill>
                  <a:schemeClr val="accent2"/>
                </a:solidFill>
              </a:rPr>
              <a:t>s</a:t>
            </a:r>
            <a:r>
              <a:rPr lang="it-IT" dirty="0"/>
              <a:t> </a:t>
            </a:r>
            <a:r>
              <a:rPr lang="it-IT" dirty="0" err="1"/>
              <a:t>lessicograficamente</a:t>
            </a:r>
            <a:endParaRPr lang="it-IT" dirty="0"/>
          </a:p>
          <a:p>
            <a:pPr lvl="1"/>
            <a:r>
              <a:rPr lang="it-IT" dirty="0"/>
              <a:t>un valore positivo se il ricevente segue </a:t>
            </a:r>
            <a:r>
              <a:rPr lang="it-IT" i="1" dirty="0">
                <a:solidFill>
                  <a:schemeClr val="accent2"/>
                </a:solidFill>
              </a:rPr>
              <a:t>s</a:t>
            </a:r>
            <a:r>
              <a:rPr lang="it-IT" dirty="0"/>
              <a:t> </a:t>
            </a:r>
            <a:r>
              <a:rPr lang="it-IT" dirty="0" err="1"/>
              <a:t>lessicograficamente</a:t>
            </a:r>
            <a:endParaRPr lang="it-IT" dirty="0"/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0</a:t>
            </a:r>
            <a:r>
              <a:rPr lang="it-IT" dirty="0"/>
              <a:t> se le stringhe hanno lo stesso valore</a:t>
            </a:r>
          </a:p>
          <a:p>
            <a:pPr lvl="1"/>
            <a:endParaRPr lang="it-IT" i="1" dirty="0">
              <a:solidFill>
                <a:schemeClr val="accent2"/>
              </a:solidFill>
            </a:endParaRPr>
          </a:p>
          <a:p>
            <a:pPr lvl="1"/>
            <a:endParaRPr lang="it-IT" dirty="0"/>
          </a:p>
          <a:p>
            <a:endParaRPr lang="it-IT" i="1" dirty="0">
              <a:solidFill>
                <a:schemeClr val="accent2"/>
              </a:solidFill>
            </a:endParaRPr>
          </a:p>
          <a:p>
            <a:pPr>
              <a:buNone/>
            </a:pPr>
            <a:endParaRPr lang="it-IT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metodo </a:t>
            </a:r>
            <a:r>
              <a:rPr lang="it-IT" dirty="0" err="1"/>
              <a:t>indexOf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r>
              <a:rPr lang="it-IT" dirty="0"/>
              <a:t>Metodo di istanza che verifica se una stringa è contenuta in un’altra</a:t>
            </a:r>
            <a:endParaRPr lang="it-IT" i="1" dirty="0">
              <a:solidFill>
                <a:schemeClr val="accent2"/>
              </a:solidFill>
            </a:endParaRPr>
          </a:p>
          <a:p>
            <a:r>
              <a:rPr lang="it-IT" dirty="0"/>
              <a:t>Prototipo: </a:t>
            </a:r>
            <a:r>
              <a:rPr lang="it-IT" i="1" dirty="0" err="1">
                <a:solidFill>
                  <a:schemeClr val="accent2"/>
                </a:solidFill>
              </a:rPr>
              <a:t>int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i="1" dirty="0" err="1">
                <a:solidFill>
                  <a:schemeClr val="accent2"/>
                </a:solidFill>
              </a:rPr>
              <a:t>indexOf</a:t>
            </a:r>
            <a:r>
              <a:rPr lang="it-IT" i="1" dirty="0">
                <a:solidFill>
                  <a:schemeClr val="accent2"/>
                </a:solidFill>
              </a:rPr>
              <a:t>(</a:t>
            </a:r>
            <a:r>
              <a:rPr lang="it-IT" i="1" dirty="0" err="1">
                <a:solidFill>
                  <a:schemeClr val="accent2"/>
                </a:solidFill>
              </a:rPr>
              <a:t>String</a:t>
            </a:r>
            <a:r>
              <a:rPr lang="it-IT" i="1" dirty="0">
                <a:solidFill>
                  <a:schemeClr val="accent2"/>
                </a:solidFill>
              </a:rPr>
              <a:t> s)</a:t>
            </a:r>
          </a:p>
          <a:p>
            <a:pPr lvl="1"/>
            <a:r>
              <a:rPr lang="it-IT" dirty="0"/>
              <a:t>restituisce la posizione iniziale di </a:t>
            </a:r>
            <a:r>
              <a:rPr lang="it-IT" i="1" dirty="0">
                <a:solidFill>
                  <a:schemeClr val="accent2"/>
                </a:solidFill>
              </a:rPr>
              <a:t>s</a:t>
            </a:r>
            <a:r>
              <a:rPr lang="it-IT" dirty="0"/>
              <a:t> all’interno della stringa ricevente, se </a:t>
            </a:r>
            <a:r>
              <a:rPr lang="it-IT" i="1" dirty="0">
                <a:solidFill>
                  <a:schemeClr val="accent2"/>
                </a:solidFill>
              </a:rPr>
              <a:t>s</a:t>
            </a:r>
            <a:r>
              <a:rPr lang="it-IT" i="1" dirty="0"/>
              <a:t> </a:t>
            </a:r>
            <a:r>
              <a:rPr lang="it-IT" dirty="0"/>
              <a:t>è contenuta nella stringa ricevente, altrimenti restituisce </a:t>
            </a:r>
            <a:r>
              <a:rPr lang="it-IT" i="1" dirty="0">
                <a:solidFill>
                  <a:schemeClr val="accent2"/>
                </a:solidFill>
              </a:rPr>
              <a:t>-1</a:t>
            </a:r>
          </a:p>
          <a:p>
            <a:pPr lvl="1"/>
            <a:endParaRPr lang="it-IT" dirty="0"/>
          </a:p>
          <a:p>
            <a:r>
              <a:rPr lang="it-IT" i="1" dirty="0">
                <a:solidFill>
                  <a:schemeClr val="accent2"/>
                </a:solidFill>
              </a:rPr>
              <a:t>Esempi: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“ciao”.</a:t>
            </a:r>
            <a:r>
              <a:rPr lang="it-IT" i="1" dirty="0" err="1">
                <a:solidFill>
                  <a:schemeClr val="accent2"/>
                </a:solidFill>
              </a:rPr>
              <a:t>indexOf</a:t>
            </a:r>
            <a:r>
              <a:rPr lang="it-IT" i="1" dirty="0">
                <a:solidFill>
                  <a:schemeClr val="accent2"/>
                </a:solidFill>
              </a:rPr>
              <a:t>(“</a:t>
            </a:r>
            <a:r>
              <a:rPr lang="it-IT" i="1" dirty="0" err="1">
                <a:solidFill>
                  <a:schemeClr val="accent2"/>
                </a:solidFill>
              </a:rPr>
              <a:t>ia</a:t>
            </a:r>
            <a:r>
              <a:rPr lang="it-IT" i="1" dirty="0">
                <a:solidFill>
                  <a:schemeClr val="accent2"/>
                </a:solidFill>
              </a:rPr>
              <a:t>”) </a:t>
            </a:r>
            <a:r>
              <a:rPr lang="it-IT" i="1" dirty="0">
                <a:solidFill>
                  <a:schemeClr val="accent2"/>
                </a:solidFill>
                <a:sym typeface="Wingdings" pitchFamily="2" charset="2"/>
              </a:rPr>
              <a:t> vale  1</a:t>
            </a:r>
          </a:p>
          <a:p>
            <a:pPr lvl="1"/>
            <a:r>
              <a:rPr lang="it-IT" i="1" dirty="0">
                <a:solidFill>
                  <a:schemeClr val="accent2"/>
                </a:solidFill>
                <a:sym typeface="Wingdings" pitchFamily="2" charset="2"/>
              </a:rPr>
              <a:t>“ciao”.</a:t>
            </a:r>
            <a:r>
              <a:rPr lang="it-IT" i="1" dirty="0" err="1">
                <a:solidFill>
                  <a:schemeClr val="accent2"/>
                </a:solidFill>
                <a:sym typeface="Wingdings" pitchFamily="2" charset="2"/>
              </a:rPr>
              <a:t>indexOf</a:t>
            </a:r>
            <a:r>
              <a:rPr lang="it-IT" i="1" dirty="0">
                <a:solidFill>
                  <a:schemeClr val="accent2"/>
                </a:solidFill>
                <a:sym typeface="Wingdings" pitchFamily="2" charset="2"/>
              </a:rPr>
              <a:t>(“</a:t>
            </a:r>
            <a:r>
              <a:rPr lang="it-IT" i="1" dirty="0" err="1">
                <a:solidFill>
                  <a:schemeClr val="accent2"/>
                </a:solidFill>
                <a:sym typeface="Wingdings" pitchFamily="2" charset="2"/>
              </a:rPr>
              <a:t>cio</a:t>
            </a:r>
            <a:r>
              <a:rPr lang="it-IT" i="1" dirty="0">
                <a:solidFill>
                  <a:schemeClr val="accent2"/>
                </a:solidFill>
                <a:sym typeface="Wingdings" pitchFamily="2" charset="2"/>
              </a:rPr>
              <a:t>”)  vale -1</a:t>
            </a:r>
            <a:endParaRPr lang="it-IT" i="1" dirty="0">
              <a:solidFill>
                <a:schemeClr val="accent2"/>
              </a:solidFill>
            </a:endParaRPr>
          </a:p>
          <a:p>
            <a:pPr>
              <a:buNone/>
            </a:pPr>
            <a:endParaRPr lang="it-IT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metodo </a:t>
            </a:r>
            <a:r>
              <a:rPr lang="it-IT" dirty="0" err="1"/>
              <a:t>substring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r>
              <a:rPr lang="it-IT" dirty="0"/>
              <a:t>Estrae una sottostringa da una stringa</a:t>
            </a:r>
            <a:endParaRPr lang="it-IT" i="1" dirty="0">
              <a:solidFill>
                <a:schemeClr val="accent2"/>
              </a:solidFill>
            </a:endParaRPr>
          </a:p>
          <a:p>
            <a:r>
              <a:rPr lang="it-IT" dirty="0"/>
              <a:t>Prototipi: </a:t>
            </a:r>
          </a:p>
          <a:p>
            <a:pPr lvl="1"/>
            <a:r>
              <a:rPr lang="it-IT" i="1" dirty="0" err="1">
                <a:solidFill>
                  <a:schemeClr val="accent2"/>
                </a:solidFill>
              </a:rPr>
              <a:t>String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i="1" dirty="0" err="1">
                <a:solidFill>
                  <a:schemeClr val="accent2"/>
                </a:solidFill>
              </a:rPr>
              <a:t>substring</a:t>
            </a:r>
            <a:r>
              <a:rPr lang="it-IT" i="1" dirty="0">
                <a:solidFill>
                  <a:schemeClr val="accent2"/>
                </a:solidFill>
              </a:rPr>
              <a:t> (</a:t>
            </a:r>
            <a:r>
              <a:rPr lang="it-IT" i="1" dirty="0" err="1">
                <a:solidFill>
                  <a:schemeClr val="accent2"/>
                </a:solidFill>
              </a:rPr>
              <a:t>int</a:t>
            </a:r>
            <a:r>
              <a:rPr lang="it-IT" i="1" dirty="0">
                <a:solidFill>
                  <a:schemeClr val="accent2"/>
                </a:solidFill>
              </a:rPr>
              <a:t> a, </a:t>
            </a:r>
            <a:r>
              <a:rPr lang="it-IT" i="1" dirty="0" err="1">
                <a:solidFill>
                  <a:schemeClr val="accent2"/>
                </a:solidFill>
              </a:rPr>
              <a:t>int</a:t>
            </a:r>
            <a:r>
              <a:rPr lang="it-IT" i="1" dirty="0">
                <a:solidFill>
                  <a:schemeClr val="accent2"/>
                </a:solidFill>
              </a:rPr>
              <a:t> b): </a:t>
            </a:r>
            <a:r>
              <a:rPr lang="it-IT" dirty="0"/>
              <a:t>restituisce la sottostringa dell’oggetto ricevente dalla posizione </a:t>
            </a:r>
            <a:r>
              <a:rPr lang="it-IT" i="1" dirty="0">
                <a:solidFill>
                  <a:schemeClr val="accent2"/>
                </a:solidFill>
              </a:rPr>
              <a:t>a</a:t>
            </a:r>
            <a:r>
              <a:rPr lang="it-IT" dirty="0"/>
              <a:t> (inclusa) alla posizione </a:t>
            </a:r>
            <a:r>
              <a:rPr lang="it-IT" i="1" dirty="0">
                <a:solidFill>
                  <a:schemeClr val="accent2"/>
                </a:solidFill>
              </a:rPr>
              <a:t>b</a:t>
            </a:r>
            <a:r>
              <a:rPr lang="it-IT" dirty="0"/>
              <a:t> (escluso)</a:t>
            </a:r>
          </a:p>
          <a:p>
            <a:pPr lvl="1"/>
            <a:r>
              <a:rPr lang="it-IT" i="1" dirty="0" err="1">
                <a:solidFill>
                  <a:schemeClr val="accent2"/>
                </a:solidFill>
              </a:rPr>
              <a:t>String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i="1" dirty="0" err="1">
                <a:solidFill>
                  <a:schemeClr val="accent2"/>
                </a:solidFill>
              </a:rPr>
              <a:t>substring</a:t>
            </a:r>
            <a:r>
              <a:rPr lang="it-IT" i="1" dirty="0">
                <a:solidFill>
                  <a:schemeClr val="accent2"/>
                </a:solidFill>
              </a:rPr>
              <a:t> (</a:t>
            </a:r>
            <a:r>
              <a:rPr lang="it-IT" i="1" dirty="0" err="1">
                <a:solidFill>
                  <a:schemeClr val="accent2"/>
                </a:solidFill>
              </a:rPr>
              <a:t>int</a:t>
            </a:r>
            <a:r>
              <a:rPr lang="it-IT" i="1" dirty="0">
                <a:solidFill>
                  <a:schemeClr val="accent2"/>
                </a:solidFill>
              </a:rPr>
              <a:t> a): </a:t>
            </a:r>
            <a:r>
              <a:rPr lang="it-IT" dirty="0"/>
              <a:t>restituisce la sottostringa dell’oggetto ricevente dalla posizione </a:t>
            </a:r>
            <a:r>
              <a:rPr lang="it-IT" i="1" dirty="0">
                <a:solidFill>
                  <a:schemeClr val="accent2"/>
                </a:solidFill>
              </a:rPr>
              <a:t>a</a:t>
            </a:r>
            <a:r>
              <a:rPr lang="it-IT" dirty="0"/>
              <a:t> alla fine </a:t>
            </a:r>
          </a:p>
          <a:p>
            <a:pPr lvl="1"/>
            <a:endParaRPr lang="it-IT" dirty="0"/>
          </a:p>
          <a:p>
            <a:r>
              <a:rPr lang="it-IT" i="1" dirty="0">
                <a:solidFill>
                  <a:schemeClr val="accent2"/>
                </a:solidFill>
              </a:rPr>
              <a:t>Esempi: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“ciao mondo!”.</a:t>
            </a:r>
            <a:r>
              <a:rPr lang="it-IT" i="1" dirty="0" err="1">
                <a:solidFill>
                  <a:schemeClr val="accent2"/>
                </a:solidFill>
              </a:rPr>
              <a:t>substring</a:t>
            </a:r>
            <a:r>
              <a:rPr lang="it-IT" i="1" dirty="0">
                <a:solidFill>
                  <a:schemeClr val="accent2"/>
                </a:solidFill>
              </a:rPr>
              <a:t>(2, 6)</a:t>
            </a:r>
            <a:r>
              <a:rPr lang="it-IT" i="1" dirty="0">
                <a:solidFill>
                  <a:schemeClr val="accent2"/>
                </a:solidFill>
                <a:sym typeface="Wingdings" pitchFamily="2" charset="2"/>
              </a:rPr>
              <a:t> vale  “</a:t>
            </a:r>
            <a:r>
              <a:rPr lang="it-IT" i="1" dirty="0" err="1">
                <a:solidFill>
                  <a:schemeClr val="accent2"/>
                </a:solidFill>
                <a:sym typeface="Wingdings" pitchFamily="2" charset="2"/>
              </a:rPr>
              <a:t>ao</a:t>
            </a:r>
            <a:r>
              <a:rPr lang="it-IT" i="1" dirty="0">
                <a:solidFill>
                  <a:schemeClr val="accent2"/>
                </a:solidFill>
                <a:sym typeface="Wingdings" pitchFamily="2" charset="2"/>
              </a:rPr>
              <a:t> m”</a:t>
            </a:r>
          </a:p>
          <a:p>
            <a:pPr lvl="1"/>
            <a:r>
              <a:rPr lang="it-IT" i="1" dirty="0">
                <a:solidFill>
                  <a:schemeClr val="accent2"/>
                </a:solidFill>
                <a:sym typeface="Wingdings" pitchFamily="2" charset="2"/>
              </a:rPr>
              <a:t>“ciao mondo!”.</a:t>
            </a:r>
            <a:r>
              <a:rPr lang="it-IT" i="1" dirty="0" err="1">
                <a:solidFill>
                  <a:schemeClr val="accent2"/>
                </a:solidFill>
                <a:sym typeface="Wingdings" pitchFamily="2" charset="2"/>
              </a:rPr>
              <a:t>substring</a:t>
            </a:r>
            <a:r>
              <a:rPr lang="it-IT" i="1" dirty="0">
                <a:solidFill>
                  <a:schemeClr val="accent2"/>
                </a:solidFill>
                <a:sym typeface="Wingdings" pitchFamily="2" charset="2"/>
              </a:rPr>
              <a:t>(5)  vale “mondo!”</a:t>
            </a:r>
            <a:endParaRPr lang="it-IT" i="1" dirty="0">
              <a:solidFill>
                <a:schemeClr val="accent2"/>
              </a:solidFill>
            </a:endParaRPr>
          </a:p>
          <a:p>
            <a:pPr>
              <a:buNone/>
            </a:pPr>
            <a:endParaRPr lang="it-IT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600" dirty="0"/>
              <a:t>I metodi </a:t>
            </a:r>
            <a:r>
              <a:rPr lang="it-IT" sz="3600" dirty="0" err="1"/>
              <a:t>toUpperCase</a:t>
            </a:r>
            <a:r>
              <a:rPr lang="it-IT" sz="3600" dirty="0"/>
              <a:t> e </a:t>
            </a:r>
            <a:r>
              <a:rPr lang="it-IT" sz="3600" dirty="0" err="1"/>
              <a:t>toLowerCase</a:t>
            </a:r>
            <a:endParaRPr lang="it-IT" sz="360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r>
              <a:rPr lang="it-IT" dirty="0"/>
              <a:t>Metodi di istanza per creare stringhe con sole lettere maiuscole o sole lettere minuscole</a:t>
            </a:r>
            <a:endParaRPr lang="it-IT" i="1" dirty="0">
              <a:solidFill>
                <a:schemeClr val="accent2"/>
              </a:solidFill>
            </a:endParaRPr>
          </a:p>
          <a:p>
            <a:r>
              <a:rPr lang="it-IT" dirty="0"/>
              <a:t>Prototipo: </a:t>
            </a:r>
          </a:p>
          <a:p>
            <a:pPr lvl="1"/>
            <a:r>
              <a:rPr lang="it-IT" i="1" dirty="0" err="1">
                <a:solidFill>
                  <a:schemeClr val="accent2"/>
                </a:solidFill>
              </a:rPr>
              <a:t>String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i="1" dirty="0" err="1">
                <a:solidFill>
                  <a:schemeClr val="accent2"/>
                </a:solidFill>
              </a:rPr>
              <a:t>toUpperCase</a:t>
            </a:r>
            <a:r>
              <a:rPr lang="it-IT" i="1" dirty="0">
                <a:solidFill>
                  <a:schemeClr val="accent2"/>
                </a:solidFill>
              </a:rPr>
              <a:t>()</a:t>
            </a:r>
          </a:p>
          <a:p>
            <a:pPr lvl="1"/>
            <a:r>
              <a:rPr lang="it-IT" i="1" dirty="0" err="1">
                <a:solidFill>
                  <a:schemeClr val="accent2"/>
                </a:solidFill>
              </a:rPr>
              <a:t>String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i="1" dirty="0" err="1">
                <a:solidFill>
                  <a:schemeClr val="accent2"/>
                </a:solidFill>
              </a:rPr>
              <a:t>toLowerCase</a:t>
            </a:r>
            <a:r>
              <a:rPr lang="it-IT" i="1" dirty="0">
                <a:solidFill>
                  <a:schemeClr val="accent2"/>
                </a:solidFill>
              </a:rPr>
              <a:t> ()</a:t>
            </a:r>
          </a:p>
          <a:p>
            <a:endParaRPr lang="it-IT" i="1" dirty="0">
              <a:solidFill>
                <a:schemeClr val="accent2"/>
              </a:solidFill>
            </a:endParaRPr>
          </a:p>
          <a:p>
            <a:r>
              <a:rPr lang="it-IT" i="1" dirty="0">
                <a:solidFill>
                  <a:schemeClr val="accent2"/>
                </a:solidFill>
              </a:rPr>
              <a:t>Esempi: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“</a:t>
            </a:r>
            <a:r>
              <a:rPr lang="it-IT" i="1" dirty="0" err="1">
                <a:solidFill>
                  <a:schemeClr val="accent2"/>
                </a:solidFill>
              </a:rPr>
              <a:t>cIAo</a:t>
            </a:r>
            <a:r>
              <a:rPr lang="it-IT" i="1" dirty="0">
                <a:solidFill>
                  <a:schemeClr val="accent2"/>
                </a:solidFill>
              </a:rPr>
              <a:t>”.</a:t>
            </a:r>
            <a:r>
              <a:rPr lang="it-IT" i="1" dirty="0" err="1">
                <a:solidFill>
                  <a:schemeClr val="accent2"/>
                </a:solidFill>
              </a:rPr>
              <a:t>toLowerCase</a:t>
            </a:r>
            <a:r>
              <a:rPr lang="it-IT" i="1" dirty="0">
                <a:solidFill>
                  <a:schemeClr val="accent2"/>
                </a:solidFill>
              </a:rPr>
              <a:t>()</a:t>
            </a:r>
            <a:r>
              <a:rPr lang="it-IT" i="1" dirty="0">
                <a:solidFill>
                  <a:schemeClr val="accent2"/>
                </a:solidFill>
                <a:sym typeface="Wingdings" pitchFamily="2" charset="2"/>
              </a:rPr>
              <a:t> vale  “ciao”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“</a:t>
            </a:r>
            <a:r>
              <a:rPr lang="it-IT" i="1" dirty="0" err="1">
                <a:solidFill>
                  <a:schemeClr val="accent2"/>
                </a:solidFill>
              </a:rPr>
              <a:t>cIAo</a:t>
            </a:r>
            <a:r>
              <a:rPr lang="it-IT" i="1" dirty="0">
                <a:solidFill>
                  <a:schemeClr val="accent2"/>
                </a:solidFill>
              </a:rPr>
              <a:t>”.</a:t>
            </a:r>
            <a:r>
              <a:rPr lang="it-IT" i="1" dirty="0" err="1">
                <a:solidFill>
                  <a:schemeClr val="accent2"/>
                </a:solidFill>
              </a:rPr>
              <a:t>toUpperCase</a:t>
            </a:r>
            <a:r>
              <a:rPr lang="it-IT" i="1" dirty="0">
                <a:solidFill>
                  <a:schemeClr val="accent2"/>
                </a:solidFill>
              </a:rPr>
              <a:t>() </a:t>
            </a:r>
            <a:r>
              <a:rPr lang="it-IT" i="1" dirty="0">
                <a:solidFill>
                  <a:schemeClr val="accent2"/>
                </a:solidFill>
                <a:sym typeface="Wingdings" pitchFamily="2" charset="2"/>
              </a:rPr>
              <a:t> vale “CIAO”</a:t>
            </a:r>
            <a:endParaRPr lang="it-IT" i="1" dirty="0">
              <a:solidFill>
                <a:schemeClr val="accent2"/>
              </a:solidFill>
            </a:endParaRPr>
          </a:p>
          <a:p>
            <a:pPr>
              <a:buNone/>
            </a:pPr>
            <a:endParaRPr lang="it-IT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600" dirty="0"/>
              <a:t>Il metodo </a:t>
            </a:r>
            <a:r>
              <a:rPr lang="it-IT" sz="3600" dirty="0" err="1"/>
              <a:t>valueOf</a:t>
            </a:r>
            <a:endParaRPr lang="it-IT" sz="360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rmAutofit/>
          </a:bodyPr>
          <a:lstStyle/>
          <a:p>
            <a:r>
              <a:rPr lang="it-IT" dirty="0"/>
              <a:t>Metodo di classe che restituisce una stringa che descrive un valore primitivo</a:t>
            </a:r>
            <a:endParaRPr lang="it-IT" i="1" dirty="0">
              <a:solidFill>
                <a:schemeClr val="accent2"/>
              </a:solidFill>
            </a:endParaRPr>
          </a:p>
          <a:p>
            <a:r>
              <a:rPr lang="it-IT" dirty="0"/>
              <a:t>Prototipo: </a:t>
            </a:r>
          </a:p>
          <a:p>
            <a:pPr lvl="1"/>
            <a:r>
              <a:rPr lang="it-IT" i="1" dirty="0" err="1">
                <a:solidFill>
                  <a:schemeClr val="accent2"/>
                </a:solidFill>
              </a:rPr>
              <a:t>String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i="1" dirty="0" err="1">
                <a:solidFill>
                  <a:schemeClr val="accent2"/>
                </a:solidFill>
              </a:rPr>
              <a:t>valueOf</a:t>
            </a:r>
            <a:r>
              <a:rPr lang="it-IT" i="1" dirty="0">
                <a:solidFill>
                  <a:schemeClr val="accent2"/>
                </a:solidFill>
              </a:rPr>
              <a:t> (t  valore), dove t è un dato primitivo</a:t>
            </a:r>
          </a:p>
          <a:p>
            <a:r>
              <a:rPr lang="it-IT" i="1" dirty="0">
                <a:solidFill>
                  <a:schemeClr val="accent2"/>
                </a:solidFill>
              </a:rPr>
              <a:t>Esempi:</a:t>
            </a:r>
          </a:p>
          <a:p>
            <a:pPr lvl="1"/>
            <a:r>
              <a:rPr lang="it-IT" i="1" dirty="0" err="1">
                <a:solidFill>
                  <a:schemeClr val="accent2"/>
                </a:solidFill>
              </a:rPr>
              <a:t>String.valueOf</a:t>
            </a:r>
            <a:r>
              <a:rPr lang="it-IT" i="1" dirty="0">
                <a:solidFill>
                  <a:schemeClr val="accent2"/>
                </a:solidFill>
              </a:rPr>
              <a:t>(1500)</a:t>
            </a:r>
            <a:r>
              <a:rPr lang="it-IT" i="1" dirty="0">
                <a:solidFill>
                  <a:schemeClr val="accent2"/>
                </a:solidFill>
                <a:sym typeface="Wingdings" pitchFamily="2" charset="2"/>
              </a:rPr>
              <a:t> vale  “1500”</a:t>
            </a:r>
          </a:p>
          <a:p>
            <a:pPr lvl="1"/>
            <a:r>
              <a:rPr lang="it-IT" i="1" dirty="0" err="1">
                <a:solidFill>
                  <a:schemeClr val="accent2"/>
                </a:solidFill>
              </a:rPr>
              <a:t>String.valueOf</a:t>
            </a:r>
            <a:r>
              <a:rPr lang="it-IT" i="1" dirty="0">
                <a:solidFill>
                  <a:schemeClr val="accent2"/>
                </a:solidFill>
              </a:rPr>
              <a:t>(30.4) </a:t>
            </a:r>
            <a:r>
              <a:rPr lang="it-IT" i="1" dirty="0">
                <a:solidFill>
                  <a:schemeClr val="accent2"/>
                </a:solidFill>
                <a:sym typeface="Wingdings" pitchFamily="2" charset="2"/>
              </a:rPr>
              <a:t> vale  “30.4”</a:t>
            </a:r>
            <a:endParaRPr lang="it-IT" i="1" dirty="0">
              <a:solidFill>
                <a:schemeClr val="accent2"/>
              </a:solidFill>
            </a:endParaRPr>
          </a:p>
          <a:p>
            <a:pPr>
              <a:buNone/>
            </a:pPr>
            <a:endParaRPr lang="it-IT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ndamenti">
  <a:themeElements>
    <a:clrScheme name="Personalizzato 2">
      <a:dk1>
        <a:sysClr val="windowText" lastClr="000000"/>
      </a:dk1>
      <a:lt1>
        <a:sysClr val="window" lastClr="FFFFFF"/>
      </a:lt1>
      <a:dk2>
        <a:srgbClr val="990000"/>
      </a:dk2>
      <a:lt2>
        <a:srgbClr val="EEECE1"/>
      </a:lt2>
      <a:accent1>
        <a:srgbClr val="0000FF"/>
      </a:accent1>
      <a:accent2>
        <a:srgbClr val="006600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o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D65CA2515402D41A280901C776553D9" ma:contentTypeVersion="11" ma:contentTypeDescription="Creare un nuovo documento." ma:contentTypeScope="" ma:versionID="42a50dcfe7cdc16628150e4ed664f597">
  <xsd:schema xmlns:xsd="http://www.w3.org/2001/XMLSchema" xmlns:xs="http://www.w3.org/2001/XMLSchema" xmlns:p="http://schemas.microsoft.com/office/2006/metadata/properties" xmlns:ns2="b59b3c25-9a25-49d1-a0d3-94991f66772c" xmlns:ns3="276b7aae-0fa0-446d-a82e-a7696b2dbbea" targetNamespace="http://schemas.microsoft.com/office/2006/metadata/properties" ma:root="true" ma:fieldsID="5c83b0c1b3186f8798f8242386c1ecd8" ns2:_="" ns3:_="">
    <xsd:import namespace="b59b3c25-9a25-49d1-a0d3-94991f66772c"/>
    <xsd:import namespace="276b7aae-0fa0-446d-a82e-a7696b2dbbe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9b3c25-9a25-49d1-a0d3-94991f6677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Tag immagine" ma:readOnly="false" ma:fieldId="{5cf76f15-5ced-4ddc-b409-7134ff3c332f}" ma:taxonomyMulti="true" ma:sspId="9d414cec-426e-4329-9a45-dc9697900c5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6b7aae-0fa0-446d-a82e-a7696b2dbbe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4d34081-00a8-48ef-94a0-c9629acd59b6}" ma:internalName="TaxCatchAll" ma:showField="CatchAllData" ma:web="276b7aae-0fa0-446d-a82e-a7696b2dbbe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59b3c25-9a25-49d1-a0d3-94991f66772c">
      <Terms xmlns="http://schemas.microsoft.com/office/infopath/2007/PartnerControls"/>
    </lcf76f155ced4ddcb4097134ff3c332f>
    <TaxCatchAll xmlns="276b7aae-0fa0-446d-a82e-a7696b2dbbea" xsi:nil="true"/>
  </documentManagement>
</p:properties>
</file>

<file path=customXml/itemProps1.xml><?xml version="1.0" encoding="utf-8"?>
<ds:datastoreItem xmlns:ds="http://schemas.openxmlformats.org/officeDocument/2006/customXml" ds:itemID="{D224FDC8-9F38-4698-9396-F0F93EE9D5AE}"/>
</file>

<file path=customXml/itemProps2.xml><?xml version="1.0" encoding="utf-8"?>
<ds:datastoreItem xmlns:ds="http://schemas.openxmlformats.org/officeDocument/2006/customXml" ds:itemID="{495DA3F0-33E0-4624-A936-1214143D437F}"/>
</file>

<file path=customXml/itemProps3.xml><?xml version="1.0" encoding="utf-8"?>
<ds:datastoreItem xmlns:ds="http://schemas.openxmlformats.org/officeDocument/2006/customXml" ds:itemID="{64A5EFD2-A1EE-4E65-A271-907B7B62DF9D}"/>
</file>

<file path=docProps/app.xml><?xml version="1.0" encoding="utf-8"?>
<Properties xmlns="http://schemas.openxmlformats.org/officeDocument/2006/extended-properties" xmlns:vt="http://schemas.openxmlformats.org/officeDocument/2006/docPropsVTypes">
  <Template>Fondamenti</Template>
  <TotalTime>455</TotalTime>
  <Words>5992</Words>
  <Application>Microsoft Office PowerPoint</Application>
  <PresentationFormat>Presentazione su schermo (4:3)</PresentationFormat>
  <Paragraphs>578</Paragraphs>
  <Slides>83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83</vt:i4>
      </vt:variant>
    </vt:vector>
  </HeadingPairs>
  <TitlesOfParts>
    <vt:vector size="89" baseType="lpstr">
      <vt:lpstr>Arial</vt:lpstr>
      <vt:lpstr>Calibri</vt:lpstr>
      <vt:lpstr>Courier New</vt:lpstr>
      <vt:lpstr>Symbol</vt:lpstr>
      <vt:lpstr>Wingdings</vt:lpstr>
      <vt:lpstr>Fondamenti</vt:lpstr>
      <vt:lpstr>Tipi di dato, variabili ed espressioni</vt:lpstr>
      <vt:lpstr>Richiami generali</vt:lpstr>
      <vt:lpstr>Tipi riferimento</vt:lpstr>
      <vt:lpstr>Variabili riferimento</vt:lpstr>
      <vt:lpstr>Il letterale null</vt:lpstr>
      <vt:lpstr>Espressioni riferimento</vt:lpstr>
      <vt:lpstr>Assegnazioni a variabili</vt:lpstr>
      <vt:lpstr>Invocazione di metodi</vt:lpstr>
      <vt:lpstr>Tipi primitivi</vt:lpstr>
      <vt:lpstr>Definizione di variabili primitive</vt:lpstr>
      <vt:lpstr>Espressioni intere e letterali</vt:lpstr>
      <vt:lpstr>Esempi di letterali interi</vt:lpstr>
      <vt:lpstr>Operatori aritmetici di base</vt:lpstr>
      <vt:lpstr>Regole e precedenze</vt:lpstr>
      <vt:lpstr>L’operatore resto</vt:lpstr>
      <vt:lpstr>Parentesi</vt:lpstr>
      <vt:lpstr>Ancora sul tipo delle espressioni intere</vt:lpstr>
      <vt:lpstr>Assegnazioni di espressioni intere</vt:lpstr>
      <vt:lpstr>Un caso importante</vt:lpstr>
      <vt:lpstr>Operatori di assegnazione composta</vt:lpstr>
      <vt:lpstr>Operatori di incremento e decremento</vt:lpstr>
      <vt:lpstr>Operatori di incremento e decremento</vt:lpstr>
      <vt:lpstr>Overflow</vt:lpstr>
      <vt:lpstr>Overflow: motivo</vt:lpstr>
      <vt:lpstr>Operatori di manipolazione dei bit</vt:lpstr>
      <vt:lpstr>Espressioni in virgola mobile</vt:lpstr>
      <vt:lpstr>Osservazione sui letterali numerici</vt:lpstr>
      <vt:lpstr>Operatori per espressioni con virgola</vt:lpstr>
      <vt:lpstr>Espressioni numeriche miste</vt:lpstr>
      <vt:lpstr>Overflow e Underflow</vt:lpstr>
      <vt:lpstr>Forme indeterminate</vt:lpstr>
      <vt:lpstr>Espressioni di tipo char</vt:lpstr>
      <vt:lpstr>Operatori tra char</vt:lpstr>
      <vt:lpstr>Conversioni tra tipi di dati</vt:lpstr>
      <vt:lpstr>Perdita di precisione</vt:lpstr>
      <vt:lpstr>Conversione esplicita</vt:lpstr>
      <vt:lpstr>Conversione esplicita e char</vt:lpstr>
      <vt:lpstr>Ulteriori osservazioni sui char</vt:lpstr>
      <vt:lpstr>Ulteriori osservazioni sui char</vt:lpstr>
      <vt:lpstr>Il tipo boolean</vt:lpstr>
      <vt:lpstr>Espressioni di tipo boolean</vt:lpstr>
      <vt:lpstr>Operatori logici</vt:lpstr>
      <vt:lpstr>Operatori logici: semantica</vt:lpstr>
      <vt:lpstr>Operatori logici: precedenze</vt:lpstr>
      <vt:lpstr>Operatori logici: esempio</vt:lpstr>
      <vt:lpstr>Leggi di De Morgan</vt:lpstr>
      <vt:lpstr>Operatori relazionali</vt:lpstr>
      <vt:lpstr>Operatori relazionali: esempi</vt:lpstr>
      <vt:lpstr>Operatori relazionali e riferimenti</vt:lpstr>
      <vt:lpstr>Espressioni boolean complesse</vt:lpstr>
      <vt:lpstr>Le costanti in Java</vt:lpstr>
      <vt:lpstr>Costanti: un esempio</vt:lpstr>
      <vt:lpstr>L’importanza di usare costanti</vt:lpstr>
      <vt:lpstr>Perché i tipi primitivi?</vt:lpstr>
      <vt:lpstr>Le classi wrapper</vt:lpstr>
      <vt:lpstr>Struttura di un oggetto wrapper</vt:lpstr>
      <vt:lpstr>Immutabilità degli oggetti wrapper</vt:lpstr>
      <vt:lpstr>Creazione di oggetti wrapper</vt:lpstr>
      <vt:lpstr>Metodi delle classi wrapper</vt:lpstr>
      <vt:lpstr>Metodi delle classi wrapper</vt:lpstr>
      <vt:lpstr>Costanti nelle classi wrapper</vt:lpstr>
      <vt:lpstr>Autoboxing</vt:lpstr>
      <vt:lpstr>La classe Math</vt:lpstr>
      <vt:lpstr>La classe Math: alcuni metodi</vt:lpstr>
      <vt:lpstr>La classe Math: costanti</vt:lpstr>
      <vt:lpstr>La classe Math: esempio 1</vt:lpstr>
      <vt:lpstr>La classe Math: esempio 2</vt:lpstr>
      <vt:lpstr>La classe String</vt:lpstr>
      <vt:lpstr>Creazione di oggetti String: letterali</vt:lpstr>
      <vt:lpstr>Creazione di oggetti String con new</vt:lpstr>
      <vt:lpstr>Creazione di oggetti String: esempio</vt:lpstr>
      <vt:lpstr>L’operatore di concatenazione</vt:lpstr>
      <vt:lpstr>L’operatore di concatenazione</vt:lpstr>
      <vt:lpstr>Metodi della classe String</vt:lpstr>
      <vt:lpstr>Il metodo length</vt:lpstr>
      <vt:lpstr>Il metodo charAt</vt:lpstr>
      <vt:lpstr>Il metodo equals</vt:lpstr>
      <vt:lpstr>Il metodo equals: osservazione</vt:lpstr>
      <vt:lpstr>Il metodo compareTo</vt:lpstr>
      <vt:lpstr>Il metodo indexOf</vt:lpstr>
      <vt:lpstr>Il metodo substring</vt:lpstr>
      <vt:lpstr>I metodi toUpperCase e toLowerCase</vt:lpstr>
      <vt:lpstr>Il metodo valueOf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Algoritmi, linguaggi e programmi</dc:title>
  <dc:creator>Walter</dc:creator>
  <cp:lastModifiedBy>cristian agliani</cp:lastModifiedBy>
  <cp:revision>387</cp:revision>
  <dcterms:created xsi:type="dcterms:W3CDTF">2014-02-04T14:25:56Z</dcterms:created>
  <dcterms:modified xsi:type="dcterms:W3CDTF">2026-01-16T14:05:33Z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0x0101000D65CA2515402D41A280901C776553D9</vt:lpwstr>
  </property>
</Properties>
</file>