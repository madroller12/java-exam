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426" r:id="rId3"/>
    <p:sldId id="427" r:id="rId4"/>
    <p:sldId id="428" r:id="rId5"/>
    <p:sldId id="430" r:id="rId6"/>
    <p:sldId id="431" r:id="rId7"/>
    <p:sldId id="432" r:id="rId8"/>
    <p:sldId id="429" r:id="rId9"/>
    <p:sldId id="433" r:id="rId10"/>
    <p:sldId id="434" r:id="rId11"/>
    <p:sldId id="435" r:id="rId12"/>
    <p:sldId id="436" r:id="rId13"/>
    <p:sldId id="437" r:id="rId14"/>
    <p:sldId id="438" r:id="rId15"/>
    <p:sldId id="439" r:id="rId16"/>
    <p:sldId id="447" r:id="rId17"/>
    <p:sldId id="440" r:id="rId18"/>
    <p:sldId id="441" r:id="rId19"/>
    <p:sldId id="442" r:id="rId20"/>
    <p:sldId id="443" r:id="rId21"/>
    <p:sldId id="444" r:id="rId22"/>
    <p:sldId id="445" r:id="rId23"/>
    <p:sldId id="448" r:id="rId24"/>
    <p:sldId id="449" r:id="rId25"/>
    <p:sldId id="450" r:id="rId26"/>
    <p:sldId id="452" r:id="rId27"/>
    <p:sldId id="453" r:id="rId28"/>
    <p:sldId id="454" r:id="rId29"/>
    <p:sldId id="455" r:id="rId30"/>
    <p:sldId id="456" r:id="rId31"/>
    <p:sldId id="457" r:id="rId32"/>
    <p:sldId id="458" r:id="rId33"/>
    <p:sldId id="459" r:id="rId34"/>
    <p:sldId id="460" r:id="rId35"/>
    <p:sldId id="461" r:id="rId36"/>
    <p:sldId id="462" r:id="rId37"/>
    <p:sldId id="463" r:id="rId38"/>
    <p:sldId id="464" r:id="rId39"/>
    <p:sldId id="465" r:id="rId40"/>
    <p:sldId id="466" r:id="rId41"/>
    <p:sldId id="467" r:id="rId42"/>
    <p:sldId id="468" r:id="rId43"/>
    <p:sldId id="469" r:id="rId44"/>
    <p:sldId id="471" r:id="rId45"/>
    <p:sldId id="474" r:id="rId46"/>
    <p:sldId id="473" r:id="rId47"/>
    <p:sldId id="475" r:id="rId48"/>
    <p:sldId id="476" r:id="rId49"/>
    <p:sldId id="477" r:id="rId50"/>
    <p:sldId id="481" r:id="rId51"/>
    <p:sldId id="482" r:id="rId52"/>
    <p:sldId id="478" r:id="rId53"/>
    <p:sldId id="479" r:id="rId54"/>
    <p:sldId id="480" r:id="rId55"/>
    <p:sldId id="483" r:id="rId56"/>
    <p:sldId id="484" r:id="rId57"/>
    <p:sldId id="485" r:id="rId58"/>
    <p:sldId id="486" r:id="rId59"/>
    <p:sldId id="487" r:id="rId60"/>
    <p:sldId id="488" r:id="rId61"/>
    <p:sldId id="489" r:id="rId62"/>
    <p:sldId id="490" r:id="rId63"/>
    <p:sldId id="491" r:id="rId64"/>
    <p:sldId id="492" r:id="rId65"/>
    <p:sldId id="493" r:id="rId66"/>
    <p:sldId id="494" r:id="rId67"/>
    <p:sldId id="495" r:id="rId68"/>
    <p:sldId id="496" r:id="rId69"/>
    <p:sldId id="497" r:id="rId70"/>
    <p:sldId id="498" r:id="rId71"/>
    <p:sldId id="499" r:id="rId72"/>
    <p:sldId id="500" r:id="rId73"/>
    <p:sldId id="502" r:id="rId74"/>
    <p:sldId id="503" r:id="rId75"/>
    <p:sldId id="504" r:id="rId76"/>
    <p:sldId id="505" r:id="rId77"/>
    <p:sldId id="506" r:id="rId78"/>
    <p:sldId id="507" r:id="rId79"/>
    <p:sldId id="501" r:id="rId80"/>
    <p:sldId id="508" r:id="rId81"/>
    <p:sldId id="509" r:id="rId82"/>
    <p:sldId id="510" r:id="rId83"/>
    <p:sldId id="511" r:id="rId84"/>
    <p:sldId id="512" r:id="rId85"/>
    <p:sldId id="514" r:id="rId86"/>
    <p:sldId id="515" r:id="rId87"/>
    <p:sldId id="516" r:id="rId88"/>
    <p:sldId id="517" r:id="rId89"/>
    <p:sldId id="518" r:id="rId90"/>
    <p:sldId id="519" r:id="rId91"/>
    <p:sldId id="520" r:id="rId92"/>
    <p:sldId id="521" r:id="rId93"/>
    <p:sldId id="522" r:id="rId94"/>
    <p:sldId id="523" r:id="rId95"/>
    <p:sldId id="524" r:id="rId96"/>
    <p:sldId id="525" r:id="rId97"/>
    <p:sldId id="526" r:id="rId9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customXml" Target="../customXml/item2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105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412467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228600" y="1905000"/>
            <a:ext cx="8610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28600" y="3886200"/>
            <a:ext cx="8610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dirty="0"/>
              <a:t>Fare clic per modificare lo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4785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Secondo livello</a:t>
            </a:r>
          </a:p>
          <a:p>
            <a: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Terzo livello</a:t>
            </a:r>
          </a:p>
          <a:p>
            <a: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spcBef>
          <a:spcPct val="0"/>
        </a:spcBef>
        <a:buNone/>
        <a:defRPr lang="it-IT" sz="4400" kern="1200" dirty="0" smtClean="0">
          <a:solidFill>
            <a:srgbClr val="99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8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9144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Calibri" pitchFamily="34" charset="0"/>
        <a:buChar char="‒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3716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Wingdings" pitchFamily="2" charset="2"/>
        <a:buChar char="§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8288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286000" indent="-2304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Istruzioni di Controllo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Limite delle istruzioni viste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it-IT" dirty="0"/>
              <a:t>L’insieme delle istruzioni che abbiamo visto fino ad ora consiste per lo più di:</a:t>
            </a:r>
          </a:p>
          <a:p>
            <a:pPr lvl="1">
              <a:spcBef>
                <a:spcPct val="50000"/>
              </a:spcBef>
            </a:pPr>
            <a:r>
              <a:rPr lang="it-IT" dirty="0"/>
              <a:t>dichiarazioni e assegnazioni di variabili</a:t>
            </a:r>
          </a:p>
          <a:p>
            <a:pPr lvl="1">
              <a:spcBef>
                <a:spcPct val="50000"/>
              </a:spcBef>
            </a:pPr>
            <a:r>
              <a:rPr lang="it-IT" dirty="0"/>
              <a:t>invocazione di metodi</a:t>
            </a:r>
          </a:p>
          <a:p>
            <a:pPr lvl="1">
              <a:spcBef>
                <a:spcPct val="50000"/>
              </a:spcBef>
            </a:pPr>
            <a:r>
              <a:rPr lang="it-IT" dirty="0"/>
              <a:t>restituzione di valori (</a:t>
            </a:r>
            <a:r>
              <a:rPr lang="it-IT" dirty="0" err="1"/>
              <a:t>return</a:t>
            </a:r>
            <a:r>
              <a:rPr lang="it-IT" dirty="0"/>
              <a:t>)</a:t>
            </a:r>
          </a:p>
          <a:p>
            <a:endParaRPr lang="it-IT" dirty="0"/>
          </a:p>
          <a:p>
            <a:r>
              <a:rPr lang="it-IT" dirty="0"/>
              <a:t>Con queste istruzioni non sono molte le cose che possiamo fare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Istruzioni di controllo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 questa lezione introduciamo le </a:t>
            </a:r>
            <a:br>
              <a:rPr lang="it-IT" dirty="0"/>
            </a:br>
            <a:r>
              <a:rPr lang="it-IT" u="sng" dirty="0">
                <a:solidFill>
                  <a:schemeClr val="accent1"/>
                </a:solidFill>
              </a:rPr>
              <a:t>istruzioni di controllo</a:t>
            </a:r>
            <a:r>
              <a:rPr lang="it-IT" dirty="0"/>
              <a:t>; esse consentono di:</a:t>
            </a:r>
          </a:p>
          <a:p>
            <a:pPr lvl="1"/>
            <a:r>
              <a:rPr lang="it-IT" dirty="0"/>
              <a:t>confrontare dei dati e stabilire comportamenti diversi in funzione dell’esito del confronto </a:t>
            </a:r>
            <a:br>
              <a:rPr lang="it-IT" dirty="0"/>
            </a:br>
            <a:r>
              <a:rPr lang="it-IT" dirty="0"/>
              <a:t>(</a:t>
            </a:r>
            <a:r>
              <a:rPr lang="it-IT" u="sng" dirty="0">
                <a:solidFill>
                  <a:schemeClr val="accent1"/>
                </a:solidFill>
              </a:rPr>
              <a:t>istruzioni condizionali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ripetere una stessa sequenza di istruzioni più volte, fintanto che certe condizioni permangono </a:t>
            </a:r>
            <a:br>
              <a:rPr lang="it-IT" dirty="0"/>
            </a:br>
            <a:r>
              <a:rPr lang="it-IT" dirty="0"/>
              <a:t>(</a:t>
            </a:r>
            <a:r>
              <a:rPr lang="it-IT" u="sng" dirty="0">
                <a:solidFill>
                  <a:schemeClr val="accent1"/>
                </a:solidFill>
              </a:rPr>
              <a:t>istruzioni iterative</a:t>
            </a:r>
            <a:r>
              <a:rPr lang="it-IT" dirty="0"/>
              <a:t>)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Istruzioni condizionali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Un’istruzione condizionale serve a verificare se una determinata condizione è vera o falsa</a:t>
            </a:r>
          </a:p>
          <a:p>
            <a:pPr lvl="1"/>
            <a:r>
              <a:rPr lang="it-IT" dirty="0"/>
              <a:t>la condizione deve essere un predicato, ossia un’espressione di tipo </a:t>
            </a:r>
            <a:r>
              <a:rPr lang="it-IT" dirty="0" err="1"/>
              <a:t>boolean</a:t>
            </a:r>
            <a:r>
              <a:rPr lang="it-IT" dirty="0"/>
              <a:t> </a:t>
            </a:r>
          </a:p>
          <a:p>
            <a:r>
              <a:rPr lang="it-IT" dirty="0"/>
              <a:t>In funzione dell’esito, l’istruzione condizionale stabilisce le prossime istruzioni da eseguire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Istruzioni condizionali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 Java esistono tre istruzioni condizionali:</a:t>
            </a:r>
          </a:p>
          <a:p>
            <a:pPr lvl="1"/>
            <a:r>
              <a:rPr lang="it-IT" u="sng" dirty="0" err="1">
                <a:solidFill>
                  <a:schemeClr val="accent1"/>
                </a:solidFill>
              </a:rPr>
              <a:t>if</a:t>
            </a:r>
            <a:endParaRPr lang="it-IT" u="sng" dirty="0">
              <a:solidFill>
                <a:schemeClr val="accent1"/>
              </a:solidFill>
            </a:endParaRPr>
          </a:p>
          <a:p>
            <a:pPr lvl="1"/>
            <a:r>
              <a:rPr lang="it-IT" u="sng" dirty="0" err="1">
                <a:solidFill>
                  <a:schemeClr val="accent1"/>
                </a:solidFill>
              </a:rPr>
              <a:t>if-else</a:t>
            </a:r>
            <a:endParaRPr lang="it-IT" u="sng" dirty="0">
              <a:solidFill>
                <a:schemeClr val="accent1"/>
              </a:solidFill>
            </a:endParaRPr>
          </a:p>
          <a:p>
            <a:pPr lvl="1"/>
            <a:r>
              <a:rPr lang="it-IT" u="sng" dirty="0" err="1">
                <a:solidFill>
                  <a:schemeClr val="accent1"/>
                </a:solidFill>
              </a:rPr>
              <a:t>switch-case</a:t>
            </a:r>
            <a:endParaRPr lang="it-IT" u="sng" dirty="0">
              <a:solidFill>
                <a:schemeClr val="accent1"/>
              </a:solidFill>
            </a:endParaRPr>
          </a:p>
          <a:p>
            <a:r>
              <a:rPr lang="it-IT" dirty="0"/>
              <a:t>Esiste inoltre un operatore simile all’</a:t>
            </a:r>
            <a:r>
              <a:rPr lang="it-IT" dirty="0" err="1"/>
              <a:t>if-else</a:t>
            </a:r>
            <a:endParaRPr lang="it-IT" dirty="0"/>
          </a:p>
          <a:p>
            <a:pPr lvl="1"/>
            <a:r>
              <a:rPr lang="it-IT" u="sng" dirty="0">
                <a:solidFill>
                  <a:schemeClr val="accent1"/>
                </a:solidFill>
              </a:rPr>
              <a:t>operatore condizionale</a:t>
            </a:r>
            <a:r>
              <a:rPr lang="it-IT" dirty="0">
                <a:solidFill>
                  <a:schemeClr val="accent1"/>
                </a:solidFill>
              </a:rPr>
              <a:t> </a:t>
            </a:r>
            <a:r>
              <a:rPr lang="it-IT" dirty="0"/>
              <a:t>(o </a:t>
            </a:r>
            <a:r>
              <a:rPr lang="it-IT" u="sng" dirty="0">
                <a:solidFill>
                  <a:schemeClr val="accent1"/>
                </a:solidFill>
              </a:rPr>
              <a:t>operatore ternario</a:t>
            </a:r>
            <a:r>
              <a:rPr lang="it-IT" dirty="0"/>
              <a:t>)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if</a:t>
            </a:r>
            <a:r>
              <a:rPr lang="it-IT" dirty="0"/>
              <a:t>: sintassi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sintassi dell’istruzione </a:t>
            </a:r>
            <a:r>
              <a:rPr lang="it-IT" i="1" dirty="0" err="1">
                <a:solidFill>
                  <a:schemeClr val="accent2"/>
                </a:solidFill>
              </a:rPr>
              <a:t>if</a:t>
            </a:r>
            <a:r>
              <a:rPr lang="it-IT" dirty="0"/>
              <a:t> è la seguente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if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>
                <a:solidFill>
                  <a:schemeClr val="accent2"/>
                </a:solidFill>
              </a:rPr>
              <a:t>(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  <a:r>
              <a:rPr lang="it-IT" dirty="0">
                <a:solidFill>
                  <a:schemeClr val="accent2"/>
                </a:solidFill>
              </a:rPr>
              <a:t>)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istruzione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</a:p>
          <a:p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è un’espressione di tipo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boolean</a:t>
            </a:r>
            <a:r>
              <a:rPr lang="it-IT" dirty="0">
                <a:sym typeface="Symbol"/>
              </a:rPr>
              <a:t> detta </a:t>
            </a:r>
            <a:r>
              <a:rPr lang="it-IT" u="sng" dirty="0">
                <a:solidFill>
                  <a:schemeClr val="accent1"/>
                </a:solidFill>
                <a:sym typeface="Symbol"/>
              </a:rPr>
              <a:t>condizione</a:t>
            </a:r>
            <a:r>
              <a:rPr lang="it-IT" dirty="0">
                <a:sym typeface="Symbol"/>
              </a:rPr>
              <a:t> dell’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if</a:t>
            </a:r>
            <a:endParaRPr lang="it-IT" i="1" dirty="0">
              <a:solidFill>
                <a:schemeClr val="accent2"/>
              </a:solidFill>
              <a:sym typeface="Symbol"/>
            </a:endParaRPr>
          </a:p>
          <a:p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istruzione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è una qualunque istruzione Java detta </a:t>
            </a:r>
            <a:r>
              <a:rPr lang="it-IT" u="sng" dirty="0">
                <a:solidFill>
                  <a:schemeClr val="accent1"/>
                </a:solidFill>
                <a:sym typeface="Symbol"/>
              </a:rPr>
              <a:t>corpo</a:t>
            </a:r>
            <a:r>
              <a:rPr lang="it-IT" dirty="0">
                <a:sym typeface="Symbol"/>
              </a:rPr>
              <a:t> dell’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if</a:t>
            </a:r>
            <a:endParaRPr lang="it-IT" i="1" dirty="0">
              <a:solidFill>
                <a:schemeClr val="accent2"/>
              </a:solidFill>
            </a:endParaRPr>
          </a:p>
          <a:p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if</a:t>
            </a:r>
            <a:r>
              <a:rPr lang="it-IT" dirty="0"/>
              <a:t>: semantica 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if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>
                <a:solidFill>
                  <a:schemeClr val="accent2"/>
                </a:solidFill>
              </a:rPr>
              <a:t>(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  <a:r>
              <a:rPr lang="it-IT" dirty="0">
                <a:solidFill>
                  <a:schemeClr val="accent2"/>
                </a:solidFill>
              </a:rPr>
              <a:t>)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istruzione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</a:p>
          <a:p>
            <a:r>
              <a:rPr lang="it-IT" dirty="0">
                <a:sym typeface="Symbol"/>
              </a:rPr>
              <a:t>la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  <a:r>
              <a:rPr lang="it-IT" dirty="0">
                <a:sym typeface="Symbol"/>
              </a:rPr>
              <a:t> viene valutata</a:t>
            </a:r>
          </a:p>
          <a:p>
            <a:r>
              <a:rPr lang="it-IT" dirty="0">
                <a:sym typeface="Symbol"/>
              </a:rPr>
              <a:t>se il suo valore è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true</a:t>
            </a:r>
            <a:r>
              <a:rPr lang="it-IT" dirty="0">
                <a:sym typeface="Symbol"/>
              </a:rPr>
              <a:t> viene eseguito il corpo dell’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if</a:t>
            </a:r>
            <a:endParaRPr lang="it-IT" i="1" dirty="0">
              <a:solidFill>
                <a:schemeClr val="accent2"/>
              </a:solidFill>
              <a:sym typeface="Symbol"/>
            </a:endParaRPr>
          </a:p>
          <a:p>
            <a:r>
              <a:rPr lang="it-IT" dirty="0">
                <a:sym typeface="Symbol"/>
              </a:rPr>
              <a:t>se il valore della condizione è 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false </a:t>
            </a:r>
            <a:r>
              <a:rPr lang="it-IT" dirty="0">
                <a:sym typeface="Symbol"/>
              </a:rPr>
              <a:t>il corpo non viene eseguito</a:t>
            </a:r>
            <a:endParaRPr lang="it-IT" i="1" dirty="0">
              <a:solidFill>
                <a:schemeClr val="accent2"/>
              </a:solidFill>
              <a:sym typeface="Symbol"/>
            </a:endParaRPr>
          </a:p>
          <a:p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Istruzione </a:t>
            </a:r>
            <a:r>
              <a:rPr lang="it-IT" dirty="0" err="1"/>
              <a:t>if</a:t>
            </a:r>
            <a:r>
              <a:rPr lang="it-IT" dirty="0"/>
              <a:t>: 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Vogliamo scrivere un metodo statico che presi due numeri interi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 come parametri, restituisce il minore dei due</a:t>
            </a:r>
          </a:p>
          <a:p>
            <a:r>
              <a:rPr lang="it-IT" dirty="0"/>
              <a:t>Se i numeri sono uguali, restituirà indifferentemente il valore di uno dei due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Istruzione </a:t>
            </a:r>
            <a:r>
              <a:rPr lang="it-IT" dirty="0" err="1"/>
              <a:t>if</a:t>
            </a:r>
            <a:r>
              <a:rPr lang="it-IT" dirty="0"/>
              <a:t>: 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public static int minoreTra(int a, int b){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min = a;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(b&lt;a)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min = b;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min;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it-IT" dirty="0"/>
              <a:t>La variabile </a:t>
            </a:r>
            <a:r>
              <a:rPr lang="it-IT" i="1" dirty="0">
                <a:solidFill>
                  <a:schemeClr val="accent2"/>
                </a:solidFill>
              </a:rPr>
              <a:t>min</a:t>
            </a:r>
            <a:r>
              <a:rPr lang="it-IT" dirty="0"/>
              <a:t> viene inizializzata con il valore di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</a:p>
          <a:p>
            <a:r>
              <a:rPr lang="it-IT" dirty="0"/>
              <a:t>Se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 è più piccolo di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, il valore di </a:t>
            </a:r>
            <a:r>
              <a:rPr lang="it-IT" i="1" dirty="0">
                <a:solidFill>
                  <a:schemeClr val="accent2"/>
                </a:solidFill>
              </a:rPr>
              <a:t>min</a:t>
            </a:r>
            <a:r>
              <a:rPr lang="it-IT" dirty="0"/>
              <a:t> viene cambiato in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</a:p>
          <a:p>
            <a:r>
              <a:rPr lang="it-IT" dirty="0"/>
              <a:t>Altrimenti non accade nulla e </a:t>
            </a:r>
            <a:r>
              <a:rPr lang="it-IT" i="1" dirty="0">
                <a:solidFill>
                  <a:schemeClr val="accent2"/>
                </a:solidFill>
              </a:rPr>
              <a:t>min</a:t>
            </a:r>
            <a:r>
              <a:rPr lang="it-IT" dirty="0"/>
              <a:t> resta pari ad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Istruzioni multiple nel corpo dell’</a:t>
            </a:r>
            <a:r>
              <a:rPr lang="it-IT" dirty="0" err="1"/>
              <a:t>if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sintassi dell’</a:t>
            </a:r>
            <a:r>
              <a:rPr lang="it-IT" i="1" dirty="0" err="1">
                <a:solidFill>
                  <a:schemeClr val="accent2"/>
                </a:solidFill>
              </a:rPr>
              <a:t>if</a:t>
            </a:r>
            <a:r>
              <a:rPr lang="it-IT" dirty="0"/>
              <a:t> impone che il corpo sia costituito da una sola istruzione</a:t>
            </a:r>
          </a:p>
          <a:p>
            <a:r>
              <a:rPr lang="it-IT" dirty="0"/>
              <a:t>È possibile eseguire più istruzioni nel corpo dell’</a:t>
            </a:r>
            <a:r>
              <a:rPr lang="it-IT" i="1" dirty="0" err="1">
                <a:solidFill>
                  <a:schemeClr val="accent2"/>
                </a:solidFill>
              </a:rPr>
              <a:t>if</a:t>
            </a:r>
            <a:r>
              <a:rPr lang="it-IT" dirty="0"/>
              <a:t>?</a:t>
            </a:r>
          </a:p>
          <a:p>
            <a:r>
              <a:rPr lang="it-IT" dirty="0"/>
              <a:t>Sì, bisogna racchiuderle tra parentesi graffe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Supponiamo di voler scrivere un metodo statico che prenda come parametri due stringhe </a:t>
            </a:r>
            <a:r>
              <a:rPr lang="it-IT" i="1" dirty="0">
                <a:solidFill>
                  <a:schemeClr val="accent2"/>
                </a:solidFill>
              </a:rPr>
              <a:t>str1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str2</a:t>
            </a:r>
            <a:r>
              <a:rPr lang="it-IT" dirty="0"/>
              <a:t> e che, se </a:t>
            </a:r>
            <a:r>
              <a:rPr lang="it-IT" i="1" dirty="0">
                <a:solidFill>
                  <a:schemeClr val="accent2"/>
                </a:solidFill>
              </a:rPr>
              <a:t>str1</a:t>
            </a:r>
            <a:r>
              <a:rPr lang="it-IT" dirty="0"/>
              <a:t> è un prefisso di </a:t>
            </a:r>
            <a:r>
              <a:rPr lang="it-IT" i="1" dirty="0">
                <a:solidFill>
                  <a:schemeClr val="accent2"/>
                </a:solidFill>
              </a:rPr>
              <a:t>str2</a:t>
            </a:r>
            <a:r>
              <a:rPr lang="it-IT" dirty="0"/>
              <a:t>, restituisca la sottostringa ottenuta “rimuovendo” </a:t>
            </a:r>
            <a:r>
              <a:rPr lang="it-IT" i="1" dirty="0">
                <a:solidFill>
                  <a:schemeClr val="accent2"/>
                </a:solidFill>
              </a:rPr>
              <a:t>str1</a:t>
            </a:r>
            <a:r>
              <a:rPr lang="it-IT" dirty="0"/>
              <a:t> da </a:t>
            </a:r>
            <a:r>
              <a:rPr lang="it-IT" i="1" dirty="0">
                <a:solidFill>
                  <a:schemeClr val="accent2"/>
                </a:solidFill>
              </a:rPr>
              <a:t>str2</a:t>
            </a:r>
            <a:endParaRPr lang="it-IT" dirty="0"/>
          </a:p>
          <a:p>
            <a:r>
              <a:rPr lang="it-IT" dirty="0"/>
              <a:t>Nel caso in cui </a:t>
            </a:r>
            <a:r>
              <a:rPr lang="it-IT" i="1" dirty="0">
                <a:solidFill>
                  <a:schemeClr val="accent2"/>
                </a:solidFill>
              </a:rPr>
              <a:t>str1</a:t>
            </a:r>
            <a:r>
              <a:rPr lang="it-IT" dirty="0"/>
              <a:t> non sia un prefisso di </a:t>
            </a:r>
            <a:r>
              <a:rPr lang="it-IT" i="1" dirty="0">
                <a:solidFill>
                  <a:schemeClr val="accent2"/>
                </a:solidFill>
              </a:rPr>
              <a:t>str2</a:t>
            </a:r>
            <a:r>
              <a:rPr lang="it-IT" dirty="0"/>
              <a:t>, allora il metodo restituirà </a:t>
            </a:r>
            <a:r>
              <a:rPr lang="it-IT" i="1" dirty="0">
                <a:solidFill>
                  <a:schemeClr val="accent2"/>
                </a:solidFill>
              </a:rPr>
              <a:t>str2</a:t>
            </a:r>
            <a:r>
              <a:rPr lang="it-IT" dirty="0"/>
              <a:t> inalterata.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Esempio 1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str1=“gatto”</a:t>
            </a:r>
            <a:endParaRPr lang="it-IT" dirty="0"/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str2=“gattopardo”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</a:t>
            </a:r>
            <a:r>
              <a:rPr lang="it-IT" dirty="0"/>
              <a:t>risultato: </a:t>
            </a:r>
            <a:r>
              <a:rPr lang="it-IT" i="1" dirty="0">
                <a:solidFill>
                  <a:schemeClr val="accent2"/>
                </a:solidFill>
              </a:rPr>
              <a:t>“pardo” </a:t>
            </a:r>
          </a:p>
          <a:p>
            <a:endParaRPr lang="it-IT" dirty="0"/>
          </a:p>
          <a:p>
            <a:r>
              <a:rPr lang="it-IT" dirty="0"/>
              <a:t>Esempio 2</a:t>
            </a:r>
          </a:p>
          <a:p>
            <a:pPr>
              <a:buNone/>
            </a:pPr>
            <a:r>
              <a:rPr lang="it-IT" dirty="0"/>
              <a:t>		</a:t>
            </a:r>
            <a:r>
              <a:rPr lang="it-IT" i="1" dirty="0">
                <a:solidFill>
                  <a:schemeClr val="accent2"/>
                </a:solidFill>
              </a:rPr>
              <a:t>str1=“sole”</a:t>
            </a:r>
            <a:endParaRPr lang="it-IT" dirty="0"/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str2=“mattino”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</a:t>
            </a:r>
            <a:r>
              <a:rPr lang="it-IT" dirty="0"/>
              <a:t>risultato: </a:t>
            </a:r>
            <a:r>
              <a:rPr lang="it-IT" i="1" dirty="0">
                <a:solidFill>
                  <a:schemeClr val="accent2"/>
                </a:solidFill>
              </a:rPr>
              <a:t>“mattino”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public static String tagliaDa(String str1,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str2){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str = str2;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(str2.indexOf(str1)==0)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pos = str1.length();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str = str2.substring(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pos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}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str;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it-IT" dirty="0"/>
              <a:t>Il corpo dell’</a:t>
            </a:r>
            <a:r>
              <a:rPr lang="it-IT" i="1" dirty="0" err="1">
                <a:solidFill>
                  <a:schemeClr val="accent2"/>
                </a:solidFill>
              </a:rPr>
              <a:t>if</a:t>
            </a:r>
            <a:r>
              <a:rPr lang="it-IT" dirty="0"/>
              <a:t> è costituito da due istruzioni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Blocchi di istruzioni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Le due istruzioni racchiuse tra graffe dell’esempio precedente costituiscono un </a:t>
            </a:r>
            <a:r>
              <a:rPr lang="it-IT" u="sng" dirty="0">
                <a:solidFill>
                  <a:schemeClr val="accent1"/>
                </a:solidFill>
              </a:rPr>
              <a:t>blocco di istruzioni</a:t>
            </a:r>
            <a:r>
              <a:rPr lang="it-IT" dirty="0"/>
              <a:t> </a:t>
            </a:r>
          </a:p>
          <a:p>
            <a:r>
              <a:rPr lang="it-IT" dirty="0"/>
              <a:t>Un blocco di istruzioni è una istruzione:</a:t>
            </a:r>
          </a:p>
          <a:p>
            <a:pPr lvl="1"/>
            <a:r>
              <a:rPr lang="it-IT" dirty="0"/>
              <a:t>può essere utilizzato in qualunque punto ci si aspetti una istruzione</a:t>
            </a:r>
          </a:p>
          <a:p>
            <a:pPr lvl="1"/>
            <a:r>
              <a:rPr lang="it-IT" dirty="0"/>
              <a:t>ad esempio nel corpo dell’istruzione </a:t>
            </a:r>
            <a:r>
              <a:rPr lang="it-IT" i="1" dirty="0" err="1">
                <a:solidFill>
                  <a:schemeClr val="accent2"/>
                </a:solidFill>
              </a:rPr>
              <a:t>if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È possibile annidare blocchi cioè definire un blocco in un altro blocco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Blocchi e variabili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Le variabili definite in un blocco sono visibili solo in quel blocco e in tutti quelli in esso annidati</a:t>
            </a:r>
          </a:p>
          <a:p>
            <a:r>
              <a:rPr lang="it-IT" dirty="0"/>
              <a:t>Non è possibile definire una variabile in un blocco se ne esiste una con lo stesso nome visibile in quel blocco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ttore 2 6"/>
          <p:cNvCxnSpPr/>
          <p:nvPr/>
        </p:nvCxnSpPr>
        <p:spPr>
          <a:xfrm flipH="1">
            <a:off x="3275856" y="1700808"/>
            <a:ext cx="3312368" cy="2376264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Blocchi e variabili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Nel codice precedente la variabile </a:t>
            </a:r>
            <a:r>
              <a:rPr lang="it-IT" i="1" dirty="0" err="1">
                <a:solidFill>
                  <a:schemeClr val="accent2"/>
                </a:solidFill>
              </a:rPr>
              <a:t>pos</a:t>
            </a:r>
            <a:r>
              <a:rPr lang="it-IT" dirty="0"/>
              <a:t> è visibile solo nel corpo dell’</a:t>
            </a:r>
            <a:r>
              <a:rPr lang="it-IT" i="1" dirty="0" err="1">
                <a:solidFill>
                  <a:schemeClr val="accent2"/>
                </a:solidFill>
              </a:rPr>
              <a:t>if</a:t>
            </a:r>
            <a:r>
              <a:rPr lang="it-IT" dirty="0"/>
              <a:t> </a:t>
            </a:r>
          </a:p>
          <a:p>
            <a:pPr>
              <a:buNone/>
            </a:pPr>
            <a:r>
              <a:rPr lang="it-IT" sz="2200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>
              <a:buNone/>
            </a:pPr>
            <a:r>
              <a:rPr lang="it-IT" sz="2200" dirty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it-IT" sz="2200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sz="2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2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2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200" dirty="0" err="1">
                <a:latin typeface="Courier New" pitchFamily="49" charset="0"/>
                <a:cs typeface="Courier New" pitchFamily="49" charset="0"/>
              </a:rPr>
              <a:t>tagliaDa</a:t>
            </a:r>
            <a:r>
              <a:rPr lang="it-IT" sz="22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22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2200" dirty="0">
                <a:latin typeface="Courier New" pitchFamily="49" charset="0"/>
                <a:cs typeface="Courier New" pitchFamily="49" charset="0"/>
              </a:rPr>
              <a:t> str1, </a:t>
            </a:r>
            <a:r>
              <a:rPr lang="it-IT" sz="22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2200" dirty="0">
                <a:latin typeface="Courier New" pitchFamily="49" charset="0"/>
                <a:cs typeface="Courier New" pitchFamily="49" charset="0"/>
              </a:rPr>
              <a:t> str2){</a:t>
            </a:r>
          </a:p>
          <a:p>
            <a:pPr>
              <a:buNone/>
            </a:pPr>
            <a:r>
              <a:rPr lang="it-IT" sz="22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2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2200" dirty="0">
                <a:latin typeface="Courier New" pitchFamily="49" charset="0"/>
                <a:cs typeface="Courier New" pitchFamily="49" charset="0"/>
              </a:rPr>
              <a:t> str = str2;</a:t>
            </a:r>
          </a:p>
          <a:p>
            <a:pPr>
              <a:buNone/>
            </a:pPr>
            <a:r>
              <a:rPr lang="it-IT" sz="22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2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2200" dirty="0">
                <a:latin typeface="Courier New" pitchFamily="49" charset="0"/>
                <a:cs typeface="Courier New" pitchFamily="49" charset="0"/>
              </a:rPr>
              <a:t> (str2.indexOf(str1)==0)</a:t>
            </a:r>
            <a:r>
              <a:rPr lang="it-IT" sz="2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it-IT" sz="2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it-IT" sz="22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2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pos</a:t>
            </a:r>
            <a:r>
              <a:rPr lang="it-IT" sz="2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= str1.length();</a:t>
            </a:r>
          </a:p>
          <a:p>
            <a:pPr>
              <a:buNone/>
            </a:pPr>
            <a:r>
              <a:rPr lang="it-IT" sz="2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str = str2.substring(</a:t>
            </a:r>
            <a:r>
              <a:rPr lang="it-IT" sz="22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pos</a:t>
            </a:r>
            <a:r>
              <a:rPr lang="it-IT" sz="2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it-IT" sz="22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}</a:t>
            </a:r>
          </a:p>
          <a:p>
            <a:pPr>
              <a:buNone/>
            </a:pPr>
            <a:r>
              <a:rPr lang="it-IT" sz="22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2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200" dirty="0">
                <a:latin typeface="Courier New" pitchFamily="49" charset="0"/>
                <a:cs typeface="Courier New" pitchFamily="49" charset="0"/>
              </a:rPr>
              <a:t> str;</a:t>
            </a:r>
          </a:p>
          <a:p>
            <a:pPr>
              <a:buNone/>
            </a:pPr>
            <a:r>
              <a:rPr lang="it-IT" sz="22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Blocchi annidati e variabili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met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a = 10;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{// inizio blocco 1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b = 5;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  a += b;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	{// inizio blocco 2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	 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c = 2;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	  b += c;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	  a += c;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	}// fine blocco 2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(b);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}// fine blocco 1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(a);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Blocchi annidati e variabili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met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a = 10;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{// inizio blocco 1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 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b = 5;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  a += b;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{// inizio blocco 2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 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c = 2;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  b += c;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  a += c;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}// fine blocco 2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 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(b);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}// fine blocco 1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(a);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6156176" y="3429000"/>
            <a:ext cx="1524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blocco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Blocchi annidati e variabili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met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a = 10;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{// inizio blocco 1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b = 5;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  a += b;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{// inizio blocco 2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 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c = 2;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  b += c;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  a += c;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}// fine blocco 2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(b);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}// fine blocco 1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(a);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6156176" y="3429000"/>
            <a:ext cx="1524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blocco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Blocchi annidati e variabili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met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a = 10;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{// inizio blocco 1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 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b = 5;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  a += b;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{// inizio blocco 2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 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c = 2;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  b += c;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  a += c;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}// fine blocco 2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 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(b);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}// fine blocco 1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(a);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6156176" y="3429000"/>
            <a:ext cx="2124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visibilità di </a:t>
            </a:r>
            <a:r>
              <a:rPr lang="it-IT" sz="2800" i="1" dirty="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Blocchi annidati e variabili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met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a = 10;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{// inizio blocco 1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 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b = 5;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  a += b;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{// inizio blocco 2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 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c = 2;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  b += c;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  a += c;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}// fine blocco 2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 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(b);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}// fine blocco 1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(a);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6156176" y="3429000"/>
            <a:ext cx="21242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visibilità di </a:t>
            </a:r>
            <a:r>
              <a:rPr lang="it-IT" sz="2800" i="1" dirty="0">
                <a:solidFill>
                  <a:schemeClr val="accent2"/>
                </a:solidFill>
              </a:rPr>
              <a:t>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Blocchi annidati e variabili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met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a = 10;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{// inizio blocco 1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 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b = 5;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  a += b;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{// inizio blocco 2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 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c = 2;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  b += c;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  a += c;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}// fine blocco 2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 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(b);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}// fine blocco 1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(a);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6156176" y="3429000"/>
            <a:ext cx="21034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visibilità di </a:t>
            </a:r>
            <a:r>
              <a:rPr lang="it-IT" sz="2800" i="1" dirty="0">
                <a:solidFill>
                  <a:schemeClr val="accent2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If</a:t>
            </a:r>
            <a:r>
              <a:rPr lang="it-IT" dirty="0"/>
              <a:t> annidati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Poiché l’</a:t>
            </a:r>
            <a:r>
              <a:rPr lang="it-IT" i="1" dirty="0" err="1">
                <a:solidFill>
                  <a:schemeClr val="accent2"/>
                </a:solidFill>
              </a:rPr>
              <a:t>if</a:t>
            </a:r>
            <a:r>
              <a:rPr lang="it-IT" dirty="0"/>
              <a:t> è una istruzione Java al pari di tutte le altre, è possibile che il corpo di una istruzione </a:t>
            </a:r>
            <a:r>
              <a:rPr lang="it-IT" i="1" dirty="0" err="1">
                <a:solidFill>
                  <a:schemeClr val="accent2"/>
                </a:solidFill>
              </a:rPr>
              <a:t>if</a:t>
            </a:r>
            <a:r>
              <a:rPr lang="it-IT" dirty="0"/>
              <a:t> sia un’altra istruzione </a:t>
            </a:r>
            <a:r>
              <a:rPr lang="it-IT" i="1" dirty="0" err="1">
                <a:solidFill>
                  <a:schemeClr val="accent2"/>
                </a:solidFill>
              </a:rPr>
              <a:t>if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Si parla in questo caso di </a:t>
            </a:r>
            <a:r>
              <a:rPr lang="it-IT" i="1" dirty="0" err="1">
                <a:solidFill>
                  <a:schemeClr val="accent2"/>
                </a:solidFill>
              </a:rPr>
              <a:t>if</a:t>
            </a:r>
            <a:r>
              <a:rPr lang="it-IT" dirty="0"/>
              <a:t> annidati</a:t>
            </a:r>
          </a:p>
          <a:p>
            <a:r>
              <a:rPr lang="it-IT" dirty="0"/>
              <a:t>Esempio: modifichiamo il metodo </a:t>
            </a:r>
            <a:r>
              <a:rPr lang="it-IT" i="1" dirty="0" err="1">
                <a:solidFill>
                  <a:schemeClr val="accent2"/>
                </a:solidFill>
              </a:rPr>
              <a:t>tagliaDa</a:t>
            </a:r>
            <a:r>
              <a:rPr lang="it-IT" i="1" dirty="0">
                <a:solidFill>
                  <a:schemeClr val="accent2"/>
                </a:solidFill>
              </a:rPr>
              <a:t>(...) </a:t>
            </a:r>
            <a:r>
              <a:rPr lang="it-IT" dirty="0"/>
              <a:t>in modo da rimuovere </a:t>
            </a:r>
            <a:r>
              <a:rPr lang="it-IT" i="1" dirty="0">
                <a:solidFill>
                  <a:schemeClr val="accent2"/>
                </a:solidFill>
              </a:rPr>
              <a:t>str1</a:t>
            </a:r>
            <a:r>
              <a:rPr lang="it-IT" dirty="0"/>
              <a:t> da </a:t>
            </a:r>
            <a:r>
              <a:rPr lang="it-IT" i="1" dirty="0">
                <a:solidFill>
                  <a:schemeClr val="accent2"/>
                </a:solidFill>
              </a:rPr>
              <a:t>str2</a:t>
            </a:r>
            <a:r>
              <a:rPr lang="it-IT" dirty="0"/>
              <a:t> solo nel caso in cui </a:t>
            </a:r>
            <a:r>
              <a:rPr lang="it-IT" i="1" dirty="0">
                <a:solidFill>
                  <a:schemeClr val="accent2"/>
                </a:solidFill>
              </a:rPr>
              <a:t>str1</a:t>
            </a:r>
            <a:r>
              <a:rPr lang="it-IT" dirty="0"/>
              <a:t> non coincida con </a:t>
            </a:r>
            <a:r>
              <a:rPr lang="it-IT" i="1" dirty="0">
                <a:solidFill>
                  <a:schemeClr val="accent2"/>
                </a:solidFill>
              </a:rPr>
              <a:t>str2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If</a:t>
            </a:r>
            <a:r>
              <a:rPr lang="it-IT" dirty="0"/>
              <a:t> annidati: 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static String tagliaDa(String str1, String str2){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str = str2;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(!str2.equals(str1))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(str2.indexOf(str1)==0){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pos = str1.length();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	str = str2.substring(pos);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str;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dirty="0"/>
              <a:t>La seconda istruzione </a:t>
            </a:r>
            <a:r>
              <a:rPr lang="it-IT" i="1" dirty="0" err="1">
                <a:solidFill>
                  <a:schemeClr val="accent2"/>
                </a:solidFill>
              </a:rPr>
              <a:t>if</a:t>
            </a:r>
            <a:r>
              <a:rPr lang="it-IT" dirty="0"/>
              <a:t> verrà eseguita solo se la condizione della prima è vera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If</a:t>
            </a:r>
            <a:r>
              <a:rPr lang="it-IT" dirty="0"/>
              <a:t> annidati: 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static String tagliaDa(String str1, String str2){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str = str2;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(!str2.equals(str1))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(str2.indexOf(str1)==0){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pos = str1.length();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str = str2.substring(pos);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}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str;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dirty="0"/>
              <a:t>Nota: il secondo </a:t>
            </a:r>
            <a:r>
              <a:rPr lang="it-IT" i="1" dirty="0" err="1">
                <a:solidFill>
                  <a:schemeClr val="accent2"/>
                </a:solidFill>
              </a:rPr>
              <a:t>if</a:t>
            </a:r>
            <a:r>
              <a:rPr lang="it-IT" dirty="0">
                <a:solidFill>
                  <a:schemeClr val="accent2"/>
                </a:solidFill>
              </a:rPr>
              <a:t> </a:t>
            </a:r>
            <a:r>
              <a:rPr lang="it-IT" dirty="0"/>
              <a:t>non è racchiuso tra graffe</a:t>
            </a:r>
          </a:p>
          <a:p>
            <a:r>
              <a:rPr lang="it-IT" dirty="0"/>
              <a:t>Questa è infatti un’unica istruzione</a:t>
            </a:r>
          </a:p>
        </p:txBody>
      </p:sp>
      <p:sp>
        <p:nvSpPr>
          <p:cNvPr id="4" name="Rettangolo arrotondato 3"/>
          <p:cNvSpPr/>
          <p:nvPr/>
        </p:nvSpPr>
        <p:spPr>
          <a:xfrm>
            <a:off x="1247232" y="2752792"/>
            <a:ext cx="5184576" cy="1512168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Figura a mano libera 4"/>
          <p:cNvSpPr/>
          <p:nvPr/>
        </p:nvSpPr>
        <p:spPr>
          <a:xfrm>
            <a:off x="2011680" y="4290646"/>
            <a:ext cx="2307102" cy="1420837"/>
          </a:xfrm>
          <a:custGeom>
            <a:avLst/>
            <a:gdLst>
              <a:gd name="connsiteX0" fmla="*/ 0 w 2307102"/>
              <a:gd name="connsiteY0" fmla="*/ 1420837 h 1420837"/>
              <a:gd name="connsiteX1" fmla="*/ 1702191 w 2307102"/>
              <a:gd name="connsiteY1" fmla="*/ 675249 h 1420837"/>
              <a:gd name="connsiteX2" fmla="*/ 2307102 w 2307102"/>
              <a:gd name="connsiteY2" fmla="*/ 0 h 142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7102" h="1420837">
                <a:moveTo>
                  <a:pt x="0" y="1420837"/>
                </a:moveTo>
                <a:cubicBezTo>
                  <a:pt x="658837" y="1166446"/>
                  <a:pt x="1317674" y="912055"/>
                  <a:pt x="1702191" y="675249"/>
                </a:cubicBezTo>
                <a:cubicBezTo>
                  <a:pt x="2086708" y="438443"/>
                  <a:pt x="2196905" y="219221"/>
                  <a:pt x="2307102" y="0"/>
                </a:cubicBezTo>
              </a:path>
            </a:pathLst>
          </a:cu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if-else</a:t>
            </a:r>
            <a:r>
              <a:rPr lang="it-IT" dirty="0"/>
              <a:t>: sintassi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La sintassi dell’istruzione </a:t>
            </a:r>
            <a:r>
              <a:rPr lang="it-IT" i="1" dirty="0" err="1">
                <a:solidFill>
                  <a:schemeClr val="accent2"/>
                </a:solidFill>
              </a:rPr>
              <a:t>if-else</a:t>
            </a:r>
            <a:r>
              <a:rPr lang="it-IT" dirty="0"/>
              <a:t> è la seguente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if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>
                <a:solidFill>
                  <a:schemeClr val="accent2"/>
                </a:solidFill>
              </a:rPr>
              <a:t>(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  <a:r>
              <a:rPr lang="it-IT" dirty="0">
                <a:solidFill>
                  <a:schemeClr val="accent2"/>
                </a:solidFill>
              </a:rPr>
              <a:t>)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istruzione 1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</a:p>
          <a:p>
            <a:pPr>
              <a:buNone/>
            </a:pPr>
            <a:r>
              <a:rPr lang="it-IT" dirty="0">
                <a:solidFill>
                  <a:schemeClr val="accent2"/>
                </a:solidFill>
                <a:sym typeface="Symbol"/>
              </a:rPr>
              <a:t>	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else</a:t>
            </a:r>
          </a:p>
          <a:p>
            <a:pPr>
              <a:buNone/>
            </a:pPr>
            <a:r>
              <a:rPr lang="it-IT" dirty="0">
                <a:solidFill>
                  <a:schemeClr val="accent2"/>
                </a:solidFill>
                <a:sym typeface="Symbol"/>
              </a:rPr>
              <a:t>		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istruzione 2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</a:p>
          <a:p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è un’espressione di tipo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boolean</a:t>
            </a:r>
            <a:r>
              <a:rPr lang="it-IT" dirty="0">
                <a:sym typeface="Symbol"/>
              </a:rPr>
              <a:t> detta </a:t>
            </a:r>
            <a:r>
              <a:rPr lang="it-IT" u="sng" dirty="0">
                <a:solidFill>
                  <a:schemeClr val="accent1"/>
                </a:solidFill>
                <a:sym typeface="Symbol"/>
              </a:rPr>
              <a:t>condizione</a:t>
            </a:r>
            <a:r>
              <a:rPr lang="it-IT" dirty="0">
                <a:sym typeface="Symbol"/>
              </a:rPr>
              <a:t> dell’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if-else</a:t>
            </a:r>
            <a:endParaRPr lang="it-IT" i="1" dirty="0">
              <a:solidFill>
                <a:schemeClr val="accent2"/>
              </a:solidFill>
              <a:sym typeface="Symbol"/>
            </a:endParaRPr>
          </a:p>
          <a:p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istruzione 1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è una qualunque istruzione Java (anche un blocco) detta </a:t>
            </a:r>
            <a:r>
              <a:rPr lang="it-IT" u="sng" dirty="0">
                <a:solidFill>
                  <a:schemeClr val="accent1"/>
                </a:solidFill>
                <a:sym typeface="Symbol"/>
              </a:rPr>
              <a:t>corpo</a:t>
            </a:r>
            <a:r>
              <a:rPr lang="it-IT" dirty="0">
                <a:sym typeface="Symbol"/>
              </a:rPr>
              <a:t> dell’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if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 </a:t>
            </a:r>
          </a:p>
          <a:p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istruzione 2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è una qualunque istruzione Java (anche un blocco) detta </a:t>
            </a:r>
            <a:r>
              <a:rPr lang="it-IT" u="sng" dirty="0">
                <a:solidFill>
                  <a:schemeClr val="accent1"/>
                </a:solidFill>
                <a:sym typeface="Symbol"/>
              </a:rPr>
              <a:t>corpo</a:t>
            </a:r>
            <a:r>
              <a:rPr lang="it-IT" dirty="0">
                <a:sym typeface="Symbol"/>
              </a:rPr>
              <a:t> dell’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else</a:t>
            </a:r>
            <a:endParaRPr lang="it-IT" i="1" dirty="0">
              <a:solidFill>
                <a:schemeClr val="accent2"/>
              </a:solidFill>
            </a:endParaRPr>
          </a:p>
          <a:p>
            <a:endParaRPr lang="it-IT" i="1" dirty="0">
              <a:solidFill>
                <a:schemeClr val="accent2"/>
              </a:solidFill>
            </a:endParaRPr>
          </a:p>
          <a:p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if-else</a:t>
            </a:r>
            <a:r>
              <a:rPr lang="it-IT" dirty="0"/>
              <a:t>: semantica 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 </a:t>
            </a:r>
            <a:r>
              <a:rPr lang="it-IT" i="1" dirty="0" err="1">
                <a:solidFill>
                  <a:schemeClr val="accent2"/>
                </a:solidFill>
              </a:rPr>
              <a:t>if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>
                <a:solidFill>
                  <a:schemeClr val="accent2"/>
                </a:solidFill>
              </a:rPr>
              <a:t>(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  <a:r>
              <a:rPr lang="it-IT" dirty="0">
                <a:solidFill>
                  <a:schemeClr val="accent2"/>
                </a:solidFill>
              </a:rPr>
              <a:t>)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istruzione 1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</a:p>
          <a:p>
            <a:pPr>
              <a:buNone/>
            </a:pPr>
            <a:r>
              <a:rPr lang="it-IT" dirty="0">
                <a:solidFill>
                  <a:schemeClr val="accent2"/>
                </a:solidFill>
                <a:sym typeface="Symbol"/>
              </a:rPr>
              <a:t>	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else</a:t>
            </a:r>
          </a:p>
          <a:p>
            <a:pPr>
              <a:buNone/>
            </a:pPr>
            <a:r>
              <a:rPr lang="it-IT" dirty="0">
                <a:solidFill>
                  <a:schemeClr val="accent2"/>
                </a:solidFill>
                <a:sym typeface="Symbol"/>
              </a:rPr>
              <a:t>		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istruzione 2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</a:p>
          <a:p>
            <a:r>
              <a:rPr lang="it-IT" dirty="0">
                <a:sym typeface="Symbol"/>
              </a:rPr>
              <a:t>la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  <a:r>
              <a:rPr lang="it-IT" dirty="0">
                <a:sym typeface="Symbol"/>
              </a:rPr>
              <a:t> viene valutata</a:t>
            </a:r>
          </a:p>
          <a:p>
            <a:r>
              <a:rPr lang="it-IT" dirty="0">
                <a:sym typeface="Symbol"/>
              </a:rPr>
              <a:t>se il suo valore è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true</a:t>
            </a:r>
            <a:r>
              <a:rPr lang="it-IT" dirty="0">
                <a:sym typeface="Symbol"/>
              </a:rPr>
              <a:t> viene eseguito il corpo dell’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if</a:t>
            </a:r>
            <a:endParaRPr lang="it-IT" i="1" dirty="0">
              <a:solidFill>
                <a:schemeClr val="accent2"/>
              </a:solidFill>
              <a:sym typeface="Symbol"/>
            </a:endParaRPr>
          </a:p>
          <a:p>
            <a:r>
              <a:rPr lang="it-IT" dirty="0">
                <a:sym typeface="Symbol"/>
              </a:rPr>
              <a:t>se il valore della condizione è 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false </a:t>
            </a:r>
            <a:r>
              <a:rPr lang="it-IT" dirty="0">
                <a:sym typeface="Symbol"/>
              </a:rPr>
              <a:t>viene eseguito il corpo dell’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else</a:t>
            </a:r>
          </a:p>
          <a:p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Istruzione </a:t>
            </a:r>
            <a:r>
              <a:rPr lang="it-IT" dirty="0" err="1"/>
              <a:t>if-else</a:t>
            </a:r>
            <a:r>
              <a:rPr lang="it-IT" dirty="0"/>
              <a:t>: 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Vogliamo riscrivere il metodo </a:t>
            </a:r>
            <a:r>
              <a:rPr lang="it-IT" i="1" dirty="0" err="1">
                <a:solidFill>
                  <a:schemeClr val="accent2"/>
                </a:solidFill>
              </a:rPr>
              <a:t>minoreTra</a:t>
            </a:r>
            <a:r>
              <a:rPr lang="it-IT" dirty="0"/>
              <a:t> già visto utilizzando l’istruzione </a:t>
            </a:r>
            <a:r>
              <a:rPr lang="it-IT" i="1" dirty="0" err="1">
                <a:solidFill>
                  <a:schemeClr val="accent2"/>
                </a:solidFill>
              </a:rPr>
              <a:t>if-else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Ricordiamo che il metodo </a:t>
            </a:r>
            <a:r>
              <a:rPr lang="it-IT" i="1" dirty="0" err="1">
                <a:solidFill>
                  <a:schemeClr val="accent2"/>
                </a:solidFill>
              </a:rPr>
              <a:t>minoreTra</a:t>
            </a:r>
            <a:r>
              <a:rPr lang="it-IT" dirty="0"/>
              <a:t> prende due numeri interi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 come parametri e restituisce il minore dei due. Se i numeri sono uguali, restituisce indifferentemente il valore di uno dei due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Istruzione </a:t>
            </a:r>
            <a:r>
              <a:rPr lang="it-IT" dirty="0" err="1"/>
              <a:t>if-else</a:t>
            </a:r>
            <a:r>
              <a:rPr lang="it-IT" dirty="0"/>
              <a:t>: 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public static int minoreTra(int a, int b){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min;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(b&lt;a)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min = b;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else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min = a;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min;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it-IT" dirty="0"/>
              <a:t>Se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 è più piccolo di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, il valore di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 viene assegnato a </a:t>
            </a:r>
            <a:r>
              <a:rPr lang="it-IT" i="1" dirty="0">
                <a:solidFill>
                  <a:schemeClr val="accent2"/>
                </a:solidFill>
              </a:rPr>
              <a:t>min</a:t>
            </a:r>
          </a:p>
          <a:p>
            <a:r>
              <a:rPr lang="it-IT" dirty="0"/>
              <a:t>Altrimenti a </a:t>
            </a:r>
            <a:r>
              <a:rPr lang="it-IT" i="1" dirty="0">
                <a:solidFill>
                  <a:schemeClr val="accent2"/>
                </a:solidFill>
              </a:rPr>
              <a:t>min</a:t>
            </a:r>
            <a:r>
              <a:rPr lang="it-IT" dirty="0"/>
              <a:t> viene assegnato il valore di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MinoreTra</a:t>
            </a:r>
            <a:r>
              <a:rPr lang="it-IT" dirty="0"/>
              <a:t>: codice alternativo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public static int minoreTra(int a, int b){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(b&lt;a)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b;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else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a;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it-IT" dirty="0"/>
              <a:t>Se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 è più piccolo di </a:t>
            </a:r>
            <a:r>
              <a:rPr lang="it-IT" i="1" dirty="0">
                <a:solidFill>
                  <a:schemeClr val="accent2"/>
                </a:solidFill>
              </a:rPr>
              <a:t>a </a:t>
            </a:r>
            <a:r>
              <a:rPr lang="it-IT" dirty="0"/>
              <a:t>viene restituito il valore di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</a:p>
          <a:p>
            <a:r>
              <a:rPr lang="it-IT" dirty="0"/>
              <a:t>Altrimenti viene restituito il valore di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Commenti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Un metodo con </a:t>
            </a:r>
            <a:r>
              <a:rPr lang="it-IT" i="1" dirty="0" err="1">
                <a:solidFill>
                  <a:schemeClr val="accent2"/>
                </a:solidFill>
              </a:rPr>
              <a:t>return</a:t>
            </a:r>
            <a:r>
              <a:rPr lang="it-IT" dirty="0"/>
              <a:t> multipli può essere più difficile da comprendere e più soggetto ad errori</a:t>
            </a:r>
          </a:p>
          <a:p>
            <a:r>
              <a:rPr lang="it-IT" dirty="0"/>
              <a:t>In base ai principi della programmazione strutturata ogni metodo dovrebbe avere un solo punto di ingresso e un solo punto di uscita</a:t>
            </a:r>
          </a:p>
          <a:p>
            <a:r>
              <a:rPr lang="it-IT" dirty="0"/>
              <a:t>È quindi preferibile avere un’unica istruzione </a:t>
            </a:r>
            <a:r>
              <a:rPr lang="it-IT" i="1" dirty="0" err="1">
                <a:solidFill>
                  <a:schemeClr val="accent2"/>
                </a:solidFill>
              </a:rPr>
              <a:t>return</a:t>
            </a:r>
            <a:r>
              <a:rPr lang="it-IT" dirty="0"/>
              <a:t> al termine del metodo.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Cascate di </a:t>
            </a:r>
            <a:r>
              <a:rPr lang="it-IT" dirty="0" err="1"/>
              <a:t>if-else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Scriviamo un metodo che ricevuto un intero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  <a:r>
              <a:rPr lang="it-IT" dirty="0"/>
              <a:t> come parametro:</a:t>
            </a:r>
          </a:p>
          <a:p>
            <a:pPr lvl="1"/>
            <a:r>
              <a:rPr lang="it-IT" dirty="0"/>
              <a:t>decide se il numero è pari o dispari</a:t>
            </a:r>
          </a:p>
          <a:p>
            <a:pPr lvl="1"/>
            <a:r>
              <a:rPr lang="it-IT" dirty="0"/>
              <a:t>se è pari stampa il risultato della divisione di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  <a:r>
              <a:rPr lang="it-IT" dirty="0"/>
              <a:t> per 2</a:t>
            </a:r>
          </a:p>
          <a:p>
            <a:pPr lvl="1"/>
            <a:r>
              <a:rPr lang="it-IT" dirty="0"/>
              <a:t>se è dispari verifica se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  <a:r>
              <a:rPr lang="it-IT" dirty="0"/>
              <a:t> è divisibile per 3</a:t>
            </a:r>
          </a:p>
          <a:p>
            <a:pPr lvl="1"/>
            <a:r>
              <a:rPr lang="it-IT" dirty="0"/>
              <a:t>se lo è stampa il risultato della divisione di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  <a:r>
              <a:rPr lang="it-IT" dirty="0"/>
              <a:t> per 3</a:t>
            </a:r>
          </a:p>
          <a:p>
            <a:pPr lvl="1"/>
            <a:r>
              <a:rPr lang="it-IT" dirty="0"/>
              <a:t>se non lo è verifica se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  <a:r>
              <a:rPr lang="it-IT" dirty="0"/>
              <a:t> è divisibile per 5</a:t>
            </a:r>
          </a:p>
          <a:p>
            <a:pPr lvl="1"/>
            <a:r>
              <a:rPr lang="it-IT" dirty="0"/>
              <a:t>se lo è stampa il risultato della divisione di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  <a:r>
              <a:rPr lang="it-IT" dirty="0"/>
              <a:t> per 5</a:t>
            </a:r>
          </a:p>
          <a:p>
            <a:pPr lvl="1"/>
            <a:r>
              <a:rPr lang="it-IT" dirty="0"/>
              <a:t>se non lo è stampa un messaggio opportuno</a:t>
            </a:r>
          </a:p>
          <a:p>
            <a:pPr lvl="1"/>
            <a:endParaRPr lang="it-IT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Cascate di </a:t>
            </a:r>
            <a:r>
              <a:rPr lang="it-IT" dirty="0" err="1"/>
              <a:t>if-else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public static void divisibilePer235(int n){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(n%2==0){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Num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. pari");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pt-BR" dirty="0">
                <a:latin typeface="Courier New" pitchFamily="49" charset="0"/>
                <a:cs typeface="Courier New" pitchFamily="49" charset="0"/>
              </a:rPr>
              <a:t>System.out.println("Quoziente "+n+"/2: "+n/2);</a:t>
            </a:r>
          </a:p>
          <a:p>
            <a:pPr>
              <a:buNone/>
            </a:pPr>
            <a:r>
              <a:rPr lang="pt-BR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else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(n%3==0){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Num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. dispari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divis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. per 3");</a:t>
            </a:r>
          </a:p>
          <a:p>
            <a:pPr>
              <a:buNone/>
            </a:pPr>
            <a:r>
              <a:rPr lang="pt-BR" dirty="0">
                <a:latin typeface="Courier New" pitchFamily="49" charset="0"/>
                <a:cs typeface="Courier New" pitchFamily="49" charset="0"/>
              </a:rPr>
              <a:t>      System.out.println("Quoziente "+n+"/3: "+n/3);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 else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(n%5==0){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Num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. dispari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divis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. per 5 ma non per 3");</a:t>
            </a:r>
          </a:p>
          <a:p>
            <a:pPr>
              <a:buNone/>
            </a:pPr>
            <a:r>
              <a:rPr lang="pt-BR" dirty="0">
                <a:latin typeface="Courier New" pitchFamily="49" charset="0"/>
                <a:cs typeface="Courier New" pitchFamily="49" charset="0"/>
              </a:rPr>
              <a:t>        System.out.println("Quoziente "+n+"/5: "+n/5);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else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Num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. dispari non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divis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. per 3 o per 5");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Indentazione alternativa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public static void divisibilePer235(int n){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(n%2==0){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Num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. pari");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pt-BR" sz="1600" dirty="0">
                <a:latin typeface="Courier New" pitchFamily="49" charset="0"/>
                <a:cs typeface="Courier New" pitchFamily="49" charset="0"/>
              </a:rPr>
              <a:t>System.out.println("Quoziente "+n+"/2: "+n/2);</a:t>
            </a:r>
          </a:p>
          <a:p>
            <a:pPr>
              <a:buNone/>
            </a:pPr>
            <a:r>
              <a:rPr lang="pt-BR" sz="16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} else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(n%3==0){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Num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. dispari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divis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. per 3");</a:t>
            </a:r>
          </a:p>
          <a:p>
            <a:pPr>
              <a:buNone/>
            </a:pPr>
            <a:r>
              <a:rPr lang="pt-BR" sz="1600" dirty="0">
                <a:latin typeface="Courier New" pitchFamily="49" charset="0"/>
                <a:cs typeface="Courier New" pitchFamily="49" charset="0"/>
              </a:rPr>
              <a:t>    System.out.println("Quoziente "+n+"/3: "+n/3);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} else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(n%5==0){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Num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. dispari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divis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. per 5 ma non per 3");</a:t>
            </a:r>
          </a:p>
          <a:p>
            <a:pPr>
              <a:buNone/>
            </a:pPr>
            <a:r>
              <a:rPr lang="pt-BR" sz="1600" dirty="0">
                <a:latin typeface="Courier New" pitchFamily="49" charset="0"/>
                <a:cs typeface="Courier New" pitchFamily="49" charset="0"/>
              </a:rPr>
              <a:t>    System.out.println("Quoziente "+n+"/5: "+n/5);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} else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Num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. dispari non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divis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. per 3 o per 5");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Altre istruzioni condizionali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Java mette a disposizione un’altra istruzione condizionale:</a:t>
            </a:r>
          </a:p>
          <a:p>
            <a:pPr lvl="1"/>
            <a:r>
              <a:rPr lang="it-IT" u="sng" dirty="0" err="1">
                <a:solidFill>
                  <a:schemeClr val="accent1"/>
                </a:solidFill>
              </a:rPr>
              <a:t>switch-case</a:t>
            </a:r>
            <a:endParaRPr lang="it-IT" u="sng" dirty="0">
              <a:solidFill>
                <a:schemeClr val="accent1"/>
              </a:solidFill>
            </a:endParaRPr>
          </a:p>
          <a:p>
            <a:r>
              <a:rPr lang="it-IT" dirty="0"/>
              <a:t>e un operatore simile all’</a:t>
            </a:r>
            <a:r>
              <a:rPr lang="it-IT" dirty="0" err="1"/>
              <a:t>if-else</a:t>
            </a:r>
            <a:endParaRPr lang="it-IT" dirty="0"/>
          </a:p>
          <a:p>
            <a:pPr lvl="1"/>
            <a:r>
              <a:rPr lang="it-IT" u="sng" dirty="0">
                <a:solidFill>
                  <a:schemeClr val="accent1"/>
                </a:solidFill>
              </a:rPr>
              <a:t>operatore condizionale</a:t>
            </a:r>
            <a:r>
              <a:rPr lang="it-IT" dirty="0">
                <a:solidFill>
                  <a:schemeClr val="accent1"/>
                </a:solidFill>
              </a:rPr>
              <a:t> </a:t>
            </a:r>
            <a:r>
              <a:rPr lang="it-IT" dirty="0"/>
              <a:t>(o </a:t>
            </a:r>
            <a:r>
              <a:rPr lang="it-IT" u="sng" dirty="0">
                <a:solidFill>
                  <a:schemeClr val="accent1"/>
                </a:solidFill>
              </a:rPr>
              <a:t>operatore ternario</a:t>
            </a:r>
            <a:r>
              <a:rPr lang="it-IT" dirty="0"/>
              <a:t>) </a:t>
            </a:r>
          </a:p>
          <a:p>
            <a:endParaRPr lang="it-IT" dirty="0"/>
          </a:p>
          <a:p>
            <a:r>
              <a:rPr lang="it-IT" dirty="0"/>
              <a:t>Per i dettagli su tali istruzioni si rimanda al libro di testo</a:t>
            </a:r>
          </a:p>
        </p:txBody>
      </p:sp>
      <p:sp>
        <p:nvSpPr>
          <p:cNvPr id="5" name="Rettangolo arrotondato 4"/>
          <p:cNvSpPr/>
          <p:nvPr/>
        </p:nvSpPr>
        <p:spPr>
          <a:xfrm>
            <a:off x="216024" y="1340768"/>
            <a:ext cx="179512" cy="468052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Istruzioni iterative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le istruzioni iterative consentono di ripetere più volte l’esecuzione di una sequenza di istruzioni all’interno di un metodo</a:t>
            </a:r>
          </a:p>
          <a:p>
            <a:r>
              <a:rPr lang="it-IT" dirty="0"/>
              <a:t>un’istruzione iterativa è anche chiamata </a:t>
            </a:r>
            <a:r>
              <a:rPr lang="it-IT" u="sng" dirty="0">
                <a:solidFill>
                  <a:schemeClr val="accent1"/>
                </a:solidFill>
              </a:rPr>
              <a:t>ciclo</a:t>
            </a:r>
            <a:endParaRPr lang="it-IT" dirty="0"/>
          </a:p>
          <a:p>
            <a:r>
              <a:rPr lang="it-IT" dirty="0"/>
              <a:t>Java mette a disposizione tre diversi tipi di istruzioni iterative: </a:t>
            </a:r>
          </a:p>
          <a:p>
            <a:pPr lvl="1"/>
            <a:r>
              <a:rPr lang="it-IT" u="sng" dirty="0" err="1">
                <a:solidFill>
                  <a:schemeClr val="accent1"/>
                </a:solidFill>
              </a:rPr>
              <a:t>while</a:t>
            </a:r>
            <a:endParaRPr lang="it-IT" u="sng" dirty="0">
              <a:solidFill>
                <a:schemeClr val="accent1"/>
              </a:solidFill>
            </a:endParaRPr>
          </a:p>
          <a:p>
            <a:pPr lvl="1"/>
            <a:r>
              <a:rPr lang="it-IT" u="sng" dirty="0" err="1">
                <a:solidFill>
                  <a:schemeClr val="accent1"/>
                </a:solidFill>
              </a:rPr>
              <a:t>do-while</a:t>
            </a:r>
            <a:endParaRPr lang="it-IT" u="sng" dirty="0">
              <a:solidFill>
                <a:schemeClr val="accent1"/>
              </a:solidFill>
            </a:endParaRPr>
          </a:p>
          <a:p>
            <a:pPr lvl="1"/>
            <a:r>
              <a:rPr lang="it-IT" u="sng" dirty="0" err="1">
                <a:solidFill>
                  <a:schemeClr val="accent1"/>
                </a:solidFill>
              </a:rPr>
              <a:t>for</a:t>
            </a:r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while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Supponiamo di voler scrivere un metodo che, ricevuto un intero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  <a:r>
              <a:rPr lang="it-IT" dirty="0"/>
              <a:t> come parametro, stampi tutti i numeri pari da </a:t>
            </a:r>
            <a:r>
              <a:rPr lang="it-IT" i="1" dirty="0">
                <a:solidFill>
                  <a:schemeClr val="accent2"/>
                </a:solidFill>
              </a:rPr>
              <a:t>0</a:t>
            </a:r>
            <a:r>
              <a:rPr lang="it-IT" dirty="0"/>
              <a:t> a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Un’idea per la soluzione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it-IT" dirty="0"/>
              <a:t>Generiamo tutti i numeri da </a:t>
            </a:r>
            <a:r>
              <a:rPr lang="it-IT" i="1" dirty="0">
                <a:solidFill>
                  <a:schemeClr val="accent2"/>
                </a:solidFill>
              </a:rPr>
              <a:t>0</a:t>
            </a:r>
            <a:r>
              <a:rPr lang="it-IT" dirty="0"/>
              <a:t> a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  <a:r>
              <a:rPr lang="it-IT" dirty="0"/>
              <a:t> e per ognuno controlliamo se è pari. Partiamo da </a:t>
            </a:r>
            <a:r>
              <a:rPr lang="it-IT" i="1" dirty="0">
                <a:solidFill>
                  <a:schemeClr val="accent2"/>
                </a:solidFill>
              </a:rPr>
              <a:t>i=0</a:t>
            </a:r>
            <a:r>
              <a:rPr lang="it-IT" dirty="0"/>
              <a:t> e ripetiamo i seguenti passi:</a:t>
            </a:r>
            <a:endParaRPr lang="it-IT" i="1" dirty="0">
              <a:solidFill>
                <a:schemeClr val="accent2"/>
              </a:solidFill>
            </a:endParaRPr>
          </a:p>
          <a:p>
            <a:pPr marL="1085850" lvl="1" indent="-514350">
              <a:buFont typeface="+mj-lt"/>
              <a:buAutoNum type="arabicPeriod"/>
            </a:pPr>
            <a:r>
              <a:rPr lang="it-IT" dirty="0"/>
              <a:t>controlla se </a:t>
            </a:r>
            <a:r>
              <a:rPr lang="it-IT" i="1" dirty="0">
                <a:solidFill>
                  <a:schemeClr val="accent2"/>
                </a:solidFill>
              </a:rPr>
              <a:t>i&lt;n+1</a:t>
            </a:r>
            <a:r>
              <a:rPr lang="it-IT" dirty="0"/>
              <a:t>: se no termina, altrimenti prosegui</a:t>
            </a:r>
          </a:p>
          <a:p>
            <a:pPr marL="1085850" lvl="1" indent="-514350">
              <a:buFont typeface="+mj-lt"/>
              <a:buAutoNum type="arabicPeriod"/>
            </a:pPr>
            <a:r>
              <a:rPr lang="it-IT" dirty="0"/>
              <a:t>controlla se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/>
              <a:t> è pari: se sì stampa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</a:p>
          <a:p>
            <a:pPr marL="1085850" lvl="1" indent="-514350">
              <a:buFont typeface="+mj-lt"/>
              <a:buAutoNum type="arabicPeriod"/>
            </a:pPr>
            <a:r>
              <a:rPr lang="it-IT" dirty="0"/>
              <a:t>incrementa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/>
              <a:t> di un’unità</a:t>
            </a:r>
          </a:p>
          <a:p>
            <a:pPr marL="1085850" lvl="1" indent="-514350">
              <a:buFont typeface="+mj-lt"/>
              <a:buAutoNum type="arabicPeriod"/>
            </a:pPr>
            <a:r>
              <a:rPr lang="it-IT" dirty="0"/>
              <a:t>torna al passo 1</a:t>
            </a:r>
          </a:p>
          <a:p>
            <a:pPr marL="514350" indent="-514350"/>
            <a:r>
              <a:rPr lang="it-IT" dirty="0"/>
              <a:t>Questa strategia può essere realizzata con l’istruzione </a:t>
            </a:r>
            <a:r>
              <a:rPr lang="it-IT" i="1" dirty="0" err="1">
                <a:solidFill>
                  <a:schemeClr val="accent2"/>
                </a:solidFill>
              </a:rPr>
              <a:t>while</a:t>
            </a: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while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La sintassi dell’istruzione </a:t>
            </a:r>
            <a:r>
              <a:rPr lang="it-IT" i="1" dirty="0" err="1">
                <a:solidFill>
                  <a:schemeClr val="accent2"/>
                </a:solidFill>
              </a:rPr>
              <a:t>while</a:t>
            </a:r>
            <a:r>
              <a:rPr lang="it-IT" dirty="0"/>
              <a:t> è la seguente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while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>
                <a:solidFill>
                  <a:schemeClr val="accent2"/>
                </a:solidFill>
              </a:rPr>
              <a:t>(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  <a:r>
              <a:rPr lang="it-IT" dirty="0">
                <a:solidFill>
                  <a:schemeClr val="accent2"/>
                </a:solidFill>
              </a:rPr>
              <a:t>)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istruzione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</a:p>
          <a:p>
            <a:endParaRPr lang="it-IT" dirty="0">
              <a:solidFill>
                <a:schemeClr val="accent2"/>
              </a:solidFill>
              <a:sym typeface="Symbol"/>
            </a:endParaRPr>
          </a:p>
          <a:p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è un’espressione di tipo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boolean</a:t>
            </a:r>
            <a:r>
              <a:rPr lang="it-IT" dirty="0">
                <a:sym typeface="Symbol"/>
              </a:rPr>
              <a:t> detta </a:t>
            </a:r>
            <a:r>
              <a:rPr lang="it-IT" u="sng" dirty="0">
                <a:solidFill>
                  <a:schemeClr val="accent1"/>
                </a:solidFill>
                <a:sym typeface="Symbol"/>
              </a:rPr>
              <a:t>condizione</a:t>
            </a:r>
            <a:r>
              <a:rPr lang="it-IT" dirty="0">
                <a:sym typeface="Symbol"/>
              </a:rPr>
              <a:t> del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while</a:t>
            </a:r>
            <a:endParaRPr lang="it-IT" i="1" dirty="0">
              <a:solidFill>
                <a:schemeClr val="accent2"/>
              </a:solidFill>
              <a:sym typeface="Symbol"/>
            </a:endParaRPr>
          </a:p>
          <a:p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istruzione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è una qualunque istruzione Java (anche un blocco) detta </a:t>
            </a:r>
            <a:r>
              <a:rPr lang="it-IT" u="sng" dirty="0">
                <a:solidFill>
                  <a:schemeClr val="accent1"/>
                </a:solidFill>
                <a:sym typeface="Symbol"/>
              </a:rPr>
              <a:t>corpo</a:t>
            </a:r>
            <a:r>
              <a:rPr lang="it-IT" dirty="0">
                <a:sym typeface="Symbol"/>
              </a:rPr>
              <a:t> del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while</a:t>
            </a:r>
            <a:endParaRPr lang="it-IT" i="1" dirty="0">
              <a:solidFill>
                <a:schemeClr val="accent2"/>
              </a:solidFill>
              <a:sym typeface="Symbol"/>
            </a:endParaRPr>
          </a:p>
          <a:p>
            <a:endParaRPr lang="it-IT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while</a:t>
            </a:r>
            <a:r>
              <a:rPr lang="it-IT" dirty="0"/>
              <a:t>: semantica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while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>
                <a:solidFill>
                  <a:schemeClr val="accent2"/>
                </a:solidFill>
              </a:rPr>
              <a:t>(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  <a:r>
              <a:rPr lang="it-IT" dirty="0">
                <a:solidFill>
                  <a:schemeClr val="accent2"/>
                </a:solidFill>
              </a:rPr>
              <a:t>)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istruzione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</a:p>
          <a:p>
            <a:endParaRPr lang="it-IT" dirty="0">
              <a:solidFill>
                <a:schemeClr val="accent2"/>
              </a:solidFill>
              <a:sym typeface="Symbol"/>
            </a:endParaRPr>
          </a:p>
          <a:p>
            <a:r>
              <a:rPr lang="it-IT" dirty="0">
                <a:sym typeface="Symbol"/>
              </a:rPr>
              <a:t>la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viene valutata; se è falsa il corpo non viene eseguito e si passa oltre</a:t>
            </a:r>
          </a:p>
          <a:p>
            <a:r>
              <a:rPr lang="it-IT" dirty="0">
                <a:sym typeface="Symbol"/>
              </a:rPr>
              <a:t>se invece la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è vera si esegue il corpo del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while</a:t>
            </a:r>
            <a:endParaRPr lang="it-IT" i="1" dirty="0">
              <a:solidFill>
                <a:schemeClr val="accent2"/>
              </a:solidFill>
              <a:sym typeface="Symbol"/>
            </a:endParaRPr>
          </a:p>
          <a:p>
            <a:r>
              <a:rPr lang="it-IT" dirty="0">
                <a:sym typeface="Symbol"/>
              </a:rPr>
              <a:t>al termine dell’esecuzione del corpo si torna a valutare la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e si itera il comportamento precedente</a:t>
            </a:r>
            <a:endParaRPr lang="it-IT" i="1" dirty="0">
              <a:sym typeface="Symbol"/>
            </a:endParaRPr>
          </a:p>
          <a:p>
            <a:endParaRPr lang="it-IT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public static void stampaPariDa0A(int n){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i = 0;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(i&lt;n+1){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(i%2==0)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(i);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i++;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sz="2000" dirty="0"/>
              <a:t>La variabile </a:t>
            </a:r>
            <a:r>
              <a:rPr lang="it-IT" sz="2000" i="1" dirty="0">
                <a:solidFill>
                  <a:schemeClr val="accent2"/>
                </a:solidFill>
              </a:rPr>
              <a:t>i</a:t>
            </a:r>
            <a:r>
              <a:rPr lang="it-IT" sz="2000" dirty="0"/>
              <a:t> viene inizializzata con il valore </a:t>
            </a:r>
            <a:r>
              <a:rPr lang="it-IT" sz="2000" i="1" dirty="0">
                <a:solidFill>
                  <a:schemeClr val="accent2"/>
                </a:solidFill>
              </a:rPr>
              <a:t>0</a:t>
            </a:r>
            <a:r>
              <a:rPr lang="it-IT" sz="2000" dirty="0"/>
              <a:t> e viene incrementata di una unità alla fine di ogni iterazione del ciclo </a:t>
            </a:r>
            <a:r>
              <a:rPr lang="it-IT" sz="2000" i="1" dirty="0" err="1">
                <a:solidFill>
                  <a:schemeClr val="accent2"/>
                </a:solidFill>
              </a:rPr>
              <a:t>while</a:t>
            </a:r>
            <a:endParaRPr lang="it-IT" sz="2000" i="1" dirty="0">
              <a:solidFill>
                <a:schemeClr val="accent2"/>
              </a:solidFill>
            </a:endParaRPr>
          </a:p>
          <a:p>
            <a:r>
              <a:rPr lang="it-IT" sz="2000" dirty="0"/>
              <a:t>Si continua a ripetere il ciclo finché il valore di </a:t>
            </a:r>
            <a:r>
              <a:rPr lang="it-IT" sz="2000" i="1" dirty="0">
                <a:solidFill>
                  <a:schemeClr val="accent2"/>
                </a:solidFill>
              </a:rPr>
              <a:t>i</a:t>
            </a:r>
            <a:r>
              <a:rPr lang="it-IT" sz="2000" dirty="0"/>
              <a:t> si mantiene non superiore a  </a:t>
            </a:r>
            <a:r>
              <a:rPr lang="it-IT" sz="2000" i="1" dirty="0">
                <a:solidFill>
                  <a:schemeClr val="accent2"/>
                </a:solidFill>
              </a:rPr>
              <a:t>n</a:t>
            </a:r>
          </a:p>
          <a:p>
            <a:r>
              <a:rPr lang="it-IT" sz="2000" dirty="0"/>
              <a:t>Quando</a:t>
            </a:r>
            <a:r>
              <a:rPr lang="it-IT" sz="2000" i="1" dirty="0">
                <a:solidFill>
                  <a:schemeClr val="accent2"/>
                </a:solidFill>
              </a:rPr>
              <a:t> i</a:t>
            </a:r>
            <a:r>
              <a:rPr lang="it-IT" sz="2000" dirty="0"/>
              <a:t> assume il valore </a:t>
            </a:r>
            <a:r>
              <a:rPr lang="it-IT" sz="2000" i="1" dirty="0">
                <a:solidFill>
                  <a:schemeClr val="accent2"/>
                </a:solidFill>
              </a:rPr>
              <a:t>n+1</a:t>
            </a:r>
            <a:r>
              <a:rPr lang="it-IT" sz="2000" dirty="0"/>
              <a:t>, il ciclo termina.</a:t>
            </a:r>
            <a:endParaRPr lang="it-IT" sz="2000" dirty="0">
              <a:latin typeface="Courier New" pitchFamily="49" charset="0"/>
              <a:cs typeface="Courier New" pitchFamily="49" charset="0"/>
            </a:endParaRPr>
          </a:p>
          <a:p>
            <a:endParaRPr lang="it-IT" sz="20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while</a:t>
            </a:r>
            <a:r>
              <a:rPr lang="it-IT" dirty="0"/>
              <a:t>: commenti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È necessario fare in modo che la condizione del </a:t>
            </a:r>
            <a:r>
              <a:rPr lang="it-IT" i="1" dirty="0" err="1">
                <a:solidFill>
                  <a:schemeClr val="accent2"/>
                </a:solidFill>
              </a:rPr>
              <a:t>while</a:t>
            </a:r>
            <a:r>
              <a:rPr lang="it-IT" dirty="0"/>
              <a:t> prima o poi diventi falsa</a:t>
            </a:r>
          </a:p>
          <a:p>
            <a:r>
              <a:rPr lang="it-IT" dirty="0"/>
              <a:t>Se così non fosse, il corpo del ciclo verrebbe ripetuto all’infinito (</a:t>
            </a:r>
            <a:r>
              <a:rPr lang="it-IT" u="sng" dirty="0" err="1">
                <a:solidFill>
                  <a:schemeClr val="accent1"/>
                </a:solidFill>
              </a:rPr>
              <a:t>loop</a:t>
            </a:r>
            <a:r>
              <a:rPr lang="it-IT" u="sng" dirty="0">
                <a:solidFill>
                  <a:schemeClr val="accent1"/>
                </a:solidFill>
              </a:rPr>
              <a:t> infinito</a:t>
            </a:r>
            <a:r>
              <a:rPr lang="it-IT" dirty="0"/>
              <a:t>)</a:t>
            </a:r>
          </a:p>
          <a:p>
            <a:r>
              <a:rPr lang="it-IT" dirty="0"/>
              <a:t>Le istruzioni del corpo del </a:t>
            </a:r>
            <a:r>
              <a:rPr lang="it-IT" i="1" dirty="0" err="1">
                <a:solidFill>
                  <a:schemeClr val="accent2"/>
                </a:solidFill>
              </a:rPr>
              <a:t>while</a:t>
            </a:r>
            <a:r>
              <a:rPr lang="it-IT" dirty="0"/>
              <a:t> devono modificare la condizione</a:t>
            </a:r>
          </a:p>
          <a:p>
            <a:pPr lvl="1"/>
            <a:r>
              <a:rPr lang="it-IT" dirty="0"/>
              <a:t>nell’esempio precedente l’istruzione </a:t>
            </a:r>
            <a:r>
              <a:rPr lang="it-IT" i="1" dirty="0">
                <a:solidFill>
                  <a:schemeClr val="accent2"/>
                </a:solidFill>
              </a:rPr>
              <a:t>i++</a:t>
            </a:r>
            <a:r>
              <a:rPr lang="it-IT" dirty="0"/>
              <a:t> modifica il valore di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/>
              <a:t> e fa sì che </a:t>
            </a:r>
            <a:r>
              <a:rPr lang="it-IT" i="1">
                <a:solidFill>
                  <a:schemeClr val="accent2"/>
                </a:solidFill>
              </a:rPr>
              <a:t>i</a:t>
            </a:r>
            <a:r>
              <a:rPr lang="it-IT"/>
              <a:t> diventi </a:t>
            </a:r>
            <a:r>
              <a:rPr lang="it-IT" dirty="0"/>
              <a:t>ad un certo punto pari a </a:t>
            </a:r>
            <a:r>
              <a:rPr lang="it-IT" i="1" dirty="0">
                <a:solidFill>
                  <a:schemeClr val="accent2"/>
                </a:solidFill>
              </a:rPr>
              <a:t>n+1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while</a:t>
            </a:r>
            <a:r>
              <a:rPr lang="it-IT" dirty="0"/>
              <a:t>: commenti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Il corpo del </a:t>
            </a:r>
            <a:r>
              <a:rPr lang="it-IT" i="1" dirty="0" err="1">
                <a:solidFill>
                  <a:schemeClr val="accent2"/>
                </a:solidFill>
              </a:rPr>
              <a:t>while</a:t>
            </a:r>
            <a:r>
              <a:rPr lang="it-IT" dirty="0"/>
              <a:t> potrebbe anche non essere eseguito mai</a:t>
            </a:r>
          </a:p>
          <a:p>
            <a:r>
              <a:rPr lang="it-IT" dirty="0"/>
              <a:t>Ciò accade se la condizione è falsa la prima volta che viene valutata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codice alternativo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2600" dirty="0">
                <a:latin typeface="Courier New" pitchFamily="49" charset="0"/>
                <a:cs typeface="Courier New" pitchFamily="49" charset="0"/>
              </a:rPr>
              <a:t>public static void stampaPariDa0A(int n){</a:t>
            </a:r>
          </a:p>
          <a:p>
            <a:pPr>
              <a:buNone/>
            </a:pPr>
            <a:r>
              <a:rPr lang="it-IT" sz="2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600" dirty="0">
                <a:latin typeface="Courier New" pitchFamily="49" charset="0"/>
                <a:cs typeface="Courier New" pitchFamily="49" charset="0"/>
              </a:rPr>
              <a:t> i = 0;</a:t>
            </a:r>
          </a:p>
          <a:p>
            <a:pPr>
              <a:buNone/>
            </a:pPr>
            <a:r>
              <a:rPr lang="it-IT" sz="2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6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it-IT" sz="2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(i&lt;n+1){</a:t>
            </a:r>
          </a:p>
          <a:p>
            <a:pPr>
              <a:buNone/>
            </a:pPr>
            <a:r>
              <a:rPr lang="it-IT" sz="2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6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2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(i);</a:t>
            </a:r>
          </a:p>
          <a:p>
            <a:pPr>
              <a:buNone/>
            </a:pPr>
            <a:r>
              <a:rPr lang="it-IT" sz="2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i+=2;</a:t>
            </a:r>
          </a:p>
          <a:p>
            <a:pPr>
              <a:buNone/>
            </a:pPr>
            <a:r>
              <a:rPr lang="it-IT" sz="2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it-IT" sz="2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dirty="0"/>
              <a:t>La variabile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/>
              <a:t> viene inizializzata con il valore </a:t>
            </a:r>
            <a:r>
              <a:rPr lang="it-IT" i="1" dirty="0">
                <a:solidFill>
                  <a:schemeClr val="accent2"/>
                </a:solidFill>
              </a:rPr>
              <a:t>0</a:t>
            </a:r>
            <a:r>
              <a:rPr lang="it-IT" dirty="0"/>
              <a:t> e viene incrementata di due unità ad ogni iterazione del ciclo </a:t>
            </a:r>
            <a:r>
              <a:rPr lang="it-IT" i="1" dirty="0" err="1">
                <a:solidFill>
                  <a:schemeClr val="accent2"/>
                </a:solidFill>
              </a:rPr>
              <a:t>while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In questo modo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/>
              <a:t> assume soltanto i valori pari</a:t>
            </a:r>
          </a:p>
          <a:p>
            <a:r>
              <a:rPr lang="it-IT" dirty="0"/>
              <a:t>Si continua a ripetere il ciclo finché il valore di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/>
              <a:t> si mantiene non superiore a 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</a:p>
          <a:p>
            <a:r>
              <a:rPr lang="it-IT" dirty="0"/>
              <a:t>Quando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/>
              <a:t> assume un valore superiore a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  <a:r>
              <a:rPr lang="it-IT" dirty="0"/>
              <a:t>, il ciclo termina.</a:t>
            </a:r>
          </a:p>
          <a:p>
            <a:endParaRPr lang="it-IT" sz="20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do-while</a:t>
            </a:r>
            <a:r>
              <a:rPr lang="it-IT" dirty="0"/>
              <a:t>: sintassi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i="1" dirty="0" err="1">
                <a:solidFill>
                  <a:schemeClr val="accent2"/>
                </a:solidFill>
              </a:rPr>
              <a:t>do-while</a:t>
            </a:r>
            <a:r>
              <a:rPr lang="it-IT" dirty="0"/>
              <a:t> è simile all’istruzione </a:t>
            </a:r>
            <a:r>
              <a:rPr lang="it-IT" i="1" dirty="0" err="1">
                <a:solidFill>
                  <a:schemeClr val="accent2"/>
                </a:solidFill>
              </a:rPr>
              <a:t>while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La sintassi dell’istruzione </a:t>
            </a:r>
            <a:r>
              <a:rPr lang="it-IT" i="1" dirty="0" err="1">
                <a:solidFill>
                  <a:schemeClr val="accent2"/>
                </a:solidFill>
              </a:rPr>
              <a:t>do-while</a:t>
            </a:r>
            <a:r>
              <a:rPr lang="it-IT" dirty="0"/>
              <a:t> è la seguente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do</a:t>
            </a:r>
            <a:endParaRPr lang="it-IT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istruzione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while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>
                <a:solidFill>
                  <a:schemeClr val="accent2"/>
                </a:solidFill>
              </a:rPr>
              <a:t>(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  <a:r>
              <a:rPr lang="it-IT" dirty="0">
                <a:solidFill>
                  <a:schemeClr val="accent2"/>
                </a:solidFill>
              </a:rPr>
              <a:t>)</a:t>
            </a:r>
            <a:endParaRPr lang="it-IT" dirty="0">
              <a:solidFill>
                <a:schemeClr val="accent2"/>
              </a:solidFill>
              <a:sym typeface="Symbol"/>
            </a:endParaRPr>
          </a:p>
          <a:p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è un’espressione di tipo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boolean</a:t>
            </a:r>
            <a:r>
              <a:rPr lang="it-IT" dirty="0">
                <a:sym typeface="Symbol"/>
              </a:rPr>
              <a:t> detta </a:t>
            </a:r>
            <a:r>
              <a:rPr lang="it-IT" u="sng" dirty="0">
                <a:solidFill>
                  <a:schemeClr val="accent1"/>
                </a:solidFill>
                <a:sym typeface="Symbol"/>
              </a:rPr>
              <a:t>condizione</a:t>
            </a:r>
            <a:r>
              <a:rPr lang="it-IT" dirty="0">
                <a:sym typeface="Symbol"/>
              </a:rPr>
              <a:t> del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do-while</a:t>
            </a:r>
            <a:endParaRPr lang="it-IT" i="1" dirty="0">
              <a:solidFill>
                <a:schemeClr val="accent2"/>
              </a:solidFill>
              <a:sym typeface="Symbol"/>
            </a:endParaRPr>
          </a:p>
          <a:p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istruzione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è una qualunque istruzione Java (anche un blocco) detta </a:t>
            </a:r>
            <a:r>
              <a:rPr lang="it-IT" u="sng" dirty="0">
                <a:solidFill>
                  <a:schemeClr val="accent1"/>
                </a:solidFill>
                <a:sym typeface="Symbol"/>
              </a:rPr>
              <a:t>corpo</a:t>
            </a:r>
            <a:r>
              <a:rPr lang="it-IT" dirty="0">
                <a:sym typeface="Symbol"/>
              </a:rPr>
              <a:t> del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do-while</a:t>
            </a:r>
            <a:endParaRPr lang="it-IT" i="1" dirty="0">
              <a:solidFill>
                <a:schemeClr val="accent2"/>
              </a:solidFill>
              <a:sym typeface="Symbol"/>
            </a:endParaRPr>
          </a:p>
          <a:p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do-while</a:t>
            </a:r>
            <a:r>
              <a:rPr lang="it-IT" dirty="0"/>
              <a:t>: semantica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do</a:t>
            </a:r>
            <a:endParaRPr lang="it-IT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	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istruzione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i="1" dirty="0" err="1">
                <a:solidFill>
                  <a:schemeClr val="accent2"/>
                </a:solidFill>
              </a:rPr>
              <a:t>while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>
                <a:solidFill>
                  <a:schemeClr val="accent2"/>
                </a:solidFill>
              </a:rPr>
              <a:t>(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  <a:r>
              <a:rPr lang="it-IT" dirty="0">
                <a:solidFill>
                  <a:schemeClr val="accent2"/>
                </a:solidFill>
              </a:rPr>
              <a:t>)</a:t>
            </a:r>
            <a:endParaRPr lang="it-IT" dirty="0">
              <a:solidFill>
                <a:schemeClr val="accent2"/>
              </a:solidFill>
              <a:sym typeface="Symbol"/>
            </a:endParaRPr>
          </a:p>
          <a:p>
            <a:r>
              <a:rPr lang="it-IT" dirty="0">
                <a:sym typeface="Symbol"/>
              </a:rPr>
              <a:t>viene eseguito il corpo una prima volta </a:t>
            </a:r>
          </a:p>
          <a:p>
            <a:r>
              <a:rPr lang="it-IT" dirty="0">
                <a:sym typeface="Symbol"/>
              </a:rPr>
              <a:t>viene poi valutata la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</a:p>
          <a:p>
            <a:r>
              <a:rPr lang="it-IT" dirty="0">
                <a:sym typeface="Symbol"/>
              </a:rPr>
              <a:t>se è falsa l’esecuzione del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do-while</a:t>
            </a:r>
            <a:r>
              <a:rPr lang="it-IT" dirty="0">
                <a:sym typeface="Symbol"/>
              </a:rPr>
              <a:t> termina</a:t>
            </a:r>
          </a:p>
          <a:p>
            <a:r>
              <a:rPr lang="it-IT" dirty="0">
                <a:sym typeface="Symbol"/>
              </a:rPr>
              <a:t>se invece la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è vera si torna ad eseguire il corpo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 </a:t>
            </a:r>
            <a:r>
              <a:rPr lang="it-IT" dirty="0">
                <a:sym typeface="Symbol"/>
              </a:rPr>
              <a:t>e si itera il comportamento precedente</a:t>
            </a:r>
            <a:endParaRPr lang="it-IT" i="1" dirty="0">
              <a:sym typeface="Symbol"/>
            </a:endParaRPr>
          </a:p>
          <a:p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do-while</a:t>
            </a:r>
            <a:r>
              <a:rPr lang="it-IT" dirty="0"/>
              <a:t>: commenti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Così come per il </a:t>
            </a:r>
            <a:r>
              <a:rPr lang="it-IT" i="1" dirty="0" err="1">
                <a:solidFill>
                  <a:schemeClr val="accent2"/>
                </a:solidFill>
              </a:rPr>
              <a:t>while</a:t>
            </a:r>
            <a:r>
              <a:rPr lang="it-IT" dirty="0"/>
              <a:t>, il corpo del </a:t>
            </a:r>
            <a:r>
              <a:rPr lang="it-IT" i="1" dirty="0" err="1">
                <a:solidFill>
                  <a:schemeClr val="accent2"/>
                </a:solidFill>
              </a:rPr>
              <a:t>do-while</a:t>
            </a:r>
            <a:r>
              <a:rPr lang="it-IT" dirty="0"/>
              <a:t> viene eseguito fintanto che la condizione rimane vera</a:t>
            </a:r>
          </a:p>
          <a:p>
            <a:r>
              <a:rPr lang="it-IT" dirty="0">
                <a:sym typeface="Symbol"/>
              </a:rPr>
              <a:t>La differenza è che, nel caso del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do-while</a:t>
            </a:r>
            <a:r>
              <a:rPr lang="it-IT" dirty="0">
                <a:sym typeface="Symbol"/>
              </a:rPr>
              <a:t>, il corpo viene eseguito almeno una volta</a:t>
            </a:r>
          </a:p>
          <a:p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public static void stampaPariDa0A(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0;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do{</a:t>
            </a:r>
          </a:p>
          <a:p>
            <a:pPr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+= 2;</a:t>
            </a:r>
          </a:p>
          <a:p>
            <a:pPr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while (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&lt;n+1);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  <a:endParaRPr lang="it-IT" sz="2000" dirty="0">
              <a:latin typeface="Courier New" pitchFamily="49" charset="0"/>
              <a:cs typeface="Courier New" pitchFamily="49" charset="0"/>
            </a:endParaRPr>
          </a:p>
          <a:p>
            <a:r>
              <a:rPr lang="it-IT" dirty="0"/>
              <a:t>Poiché il primo valore (cioè </a:t>
            </a:r>
            <a:r>
              <a:rPr lang="it-IT" i="1" dirty="0">
                <a:solidFill>
                  <a:schemeClr val="accent2"/>
                </a:solidFill>
              </a:rPr>
              <a:t>0</a:t>
            </a:r>
            <a:r>
              <a:rPr lang="it-IT" dirty="0"/>
              <a:t>) è pari, la prima iterazione deve essere eseguita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for</a:t>
            </a:r>
            <a:r>
              <a:rPr lang="it-IT" dirty="0"/>
              <a:t>: sintassi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L’istruzione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 è abbastanza diversa dalle due precedenti</a:t>
            </a:r>
          </a:p>
          <a:p>
            <a:r>
              <a:rPr lang="it-IT" dirty="0"/>
              <a:t>La sintassi dell’istruzione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 è la seguente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sz="2400" i="1" dirty="0" err="1">
                <a:solidFill>
                  <a:schemeClr val="accent2"/>
                </a:solidFill>
              </a:rPr>
              <a:t>for</a:t>
            </a:r>
            <a:r>
              <a:rPr lang="it-IT" sz="2400" i="1" dirty="0">
                <a:solidFill>
                  <a:schemeClr val="accent2"/>
                </a:solidFill>
              </a:rPr>
              <a:t> </a:t>
            </a:r>
            <a:r>
              <a:rPr lang="it-IT" sz="2400" dirty="0">
                <a:solidFill>
                  <a:schemeClr val="accent2"/>
                </a:solidFill>
              </a:rPr>
              <a:t>(</a:t>
            </a:r>
            <a:r>
              <a:rPr lang="it-IT" sz="2400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sz="2400" i="1" dirty="0">
                <a:solidFill>
                  <a:schemeClr val="accent2"/>
                </a:solidFill>
                <a:sym typeface="Symbol"/>
              </a:rPr>
              <a:t>inizializzazione</a:t>
            </a:r>
            <a:r>
              <a:rPr lang="it-IT" sz="2400" dirty="0">
                <a:solidFill>
                  <a:schemeClr val="accent2"/>
                </a:solidFill>
                <a:sym typeface="Symbol"/>
              </a:rPr>
              <a:t>;</a:t>
            </a:r>
            <a:r>
              <a:rPr lang="it-IT" sz="2400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sz="2400" dirty="0">
                <a:solidFill>
                  <a:schemeClr val="accent2"/>
                </a:solidFill>
                <a:sym typeface="Symbol"/>
              </a:rPr>
              <a:t>; </a:t>
            </a:r>
            <a:r>
              <a:rPr lang="it-IT" sz="2400" i="1" dirty="0">
                <a:solidFill>
                  <a:schemeClr val="accent2"/>
                </a:solidFill>
                <a:sym typeface="Symbol"/>
              </a:rPr>
              <a:t>aggiornamento</a:t>
            </a:r>
            <a:r>
              <a:rPr lang="it-IT" sz="2400" dirty="0">
                <a:solidFill>
                  <a:schemeClr val="accent2"/>
                </a:solidFill>
                <a:sym typeface="Symbol"/>
              </a:rPr>
              <a:t>)</a:t>
            </a:r>
          </a:p>
          <a:p>
            <a:pPr>
              <a:buNone/>
            </a:pPr>
            <a:r>
              <a:rPr lang="it-IT" sz="2000" dirty="0">
                <a:solidFill>
                  <a:schemeClr val="accent2"/>
                </a:solidFill>
                <a:sym typeface="Symbol"/>
              </a:rPr>
              <a:t>	</a:t>
            </a:r>
            <a:r>
              <a:rPr lang="it-IT" sz="2400" dirty="0">
                <a:solidFill>
                  <a:schemeClr val="accent2"/>
                </a:solidFill>
                <a:sym typeface="Symbol"/>
              </a:rPr>
              <a:t> 	</a:t>
            </a:r>
            <a:r>
              <a:rPr lang="it-IT" sz="2400" i="1" dirty="0">
                <a:solidFill>
                  <a:schemeClr val="accent2"/>
                </a:solidFill>
                <a:sym typeface="Symbol"/>
              </a:rPr>
              <a:t>istruzione</a:t>
            </a:r>
            <a:r>
              <a:rPr lang="it-IT" sz="2400" dirty="0">
                <a:solidFill>
                  <a:schemeClr val="accent2"/>
                </a:solidFill>
                <a:sym typeface="Symbol"/>
              </a:rPr>
              <a:t></a:t>
            </a:r>
            <a:endParaRPr lang="it-IT" dirty="0">
              <a:solidFill>
                <a:schemeClr val="accent2"/>
              </a:solidFill>
              <a:sym typeface="Symbol"/>
            </a:endParaRPr>
          </a:p>
          <a:p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inizializzazione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è un’espressione di qualunque tipo (anche l’invocazione di un metodo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void</a:t>
            </a:r>
            <a:r>
              <a:rPr lang="it-IT" dirty="0">
                <a:sym typeface="Symbol"/>
              </a:rPr>
              <a:t>):</a:t>
            </a:r>
          </a:p>
          <a:p>
            <a:pPr lvl="1"/>
            <a:r>
              <a:rPr lang="it-IT" dirty="0">
                <a:sym typeface="Symbol"/>
              </a:rPr>
              <a:t>quasi sempre è un’istruzione di assegnazione</a:t>
            </a:r>
          </a:p>
          <a:p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  <a:r>
              <a:rPr lang="it-IT" dirty="0">
                <a:sym typeface="Symbol"/>
              </a:rPr>
              <a:t> è un’espressione di tipo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boolean</a:t>
            </a:r>
            <a:endParaRPr lang="it-IT" i="1" dirty="0">
              <a:solidFill>
                <a:schemeClr val="accent2"/>
              </a:solidFill>
              <a:sym typeface="Symbo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for</a:t>
            </a:r>
            <a:r>
              <a:rPr lang="it-IT" dirty="0"/>
              <a:t>: sintassi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L’istruzione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 è abbastanza diversa dalle due precedenti</a:t>
            </a:r>
          </a:p>
          <a:p>
            <a:r>
              <a:rPr lang="it-IT" dirty="0"/>
              <a:t>La sintassi dell’istruzione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 è la seguente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r>
              <a:rPr lang="it-IT" sz="2400" i="1" dirty="0" err="1">
                <a:solidFill>
                  <a:schemeClr val="accent2"/>
                </a:solidFill>
              </a:rPr>
              <a:t>for</a:t>
            </a:r>
            <a:r>
              <a:rPr lang="it-IT" sz="2400" i="1" dirty="0">
                <a:solidFill>
                  <a:schemeClr val="accent2"/>
                </a:solidFill>
              </a:rPr>
              <a:t> </a:t>
            </a:r>
            <a:r>
              <a:rPr lang="it-IT" sz="2400" dirty="0">
                <a:solidFill>
                  <a:schemeClr val="accent2"/>
                </a:solidFill>
              </a:rPr>
              <a:t>(</a:t>
            </a:r>
            <a:r>
              <a:rPr lang="it-IT" sz="2400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sz="2400" i="1" dirty="0">
                <a:solidFill>
                  <a:schemeClr val="accent2"/>
                </a:solidFill>
                <a:sym typeface="Symbol"/>
              </a:rPr>
              <a:t>inizializzazione</a:t>
            </a:r>
            <a:r>
              <a:rPr lang="it-IT" sz="2400" dirty="0">
                <a:solidFill>
                  <a:schemeClr val="accent2"/>
                </a:solidFill>
                <a:sym typeface="Symbol"/>
              </a:rPr>
              <a:t>;</a:t>
            </a:r>
            <a:r>
              <a:rPr lang="it-IT" sz="2400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sz="2400" dirty="0">
                <a:solidFill>
                  <a:schemeClr val="accent2"/>
                </a:solidFill>
                <a:sym typeface="Symbol"/>
              </a:rPr>
              <a:t>; </a:t>
            </a:r>
            <a:r>
              <a:rPr lang="it-IT" sz="2400" i="1" dirty="0">
                <a:solidFill>
                  <a:schemeClr val="accent2"/>
                </a:solidFill>
                <a:sym typeface="Symbol"/>
              </a:rPr>
              <a:t>aggiornamento</a:t>
            </a:r>
            <a:r>
              <a:rPr lang="it-IT" sz="2400" dirty="0">
                <a:solidFill>
                  <a:schemeClr val="accent2"/>
                </a:solidFill>
                <a:sym typeface="Symbol"/>
              </a:rPr>
              <a:t>)</a:t>
            </a:r>
          </a:p>
          <a:p>
            <a:pPr>
              <a:buNone/>
            </a:pPr>
            <a:r>
              <a:rPr lang="it-IT" sz="2000" dirty="0">
                <a:solidFill>
                  <a:schemeClr val="accent2"/>
                </a:solidFill>
                <a:sym typeface="Symbol"/>
              </a:rPr>
              <a:t>	</a:t>
            </a:r>
            <a:r>
              <a:rPr lang="it-IT" sz="2400" dirty="0">
                <a:solidFill>
                  <a:schemeClr val="accent2"/>
                </a:solidFill>
                <a:sym typeface="Symbol"/>
              </a:rPr>
              <a:t> 	</a:t>
            </a:r>
            <a:r>
              <a:rPr lang="it-IT" sz="2400" i="1" dirty="0">
                <a:solidFill>
                  <a:schemeClr val="accent2"/>
                </a:solidFill>
                <a:sym typeface="Symbol"/>
              </a:rPr>
              <a:t>istruzione</a:t>
            </a:r>
            <a:r>
              <a:rPr lang="it-IT" sz="2400" dirty="0">
                <a:solidFill>
                  <a:schemeClr val="accent2"/>
                </a:solidFill>
                <a:sym typeface="Symbol"/>
              </a:rPr>
              <a:t></a:t>
            </a:r>
            <a:endParaRPr lang="it-IT" dirty="0">
              <a:solidFill>
                <a:schemeClr val="accent2"/>
              </a:solidFill>
              <a:sym typeface="Symbol"/>
            </a:endParaRPr>
          </a:p>
          <a:p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aggiornamento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è un’espressione di qualunque tipo (anche l’invocazione di un metodo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void</a:t>
            </a:r>
            <a:r>
              <a:rPr lang="it-IT" dirty="0">
                <a:sym typeface="Symbol"/>
              </a:rPr>
              <a:t>):</a:t>
            </a:r>
          </a:p>
          <a:p>
            <a:pPr lvl="1"/>
            <a:r>
              <a:rPr lang="it-IT" dirty="0">
                <a:sym typeface="Symbol"/>
              </a:rPr>
              <a:t>quasi sempre è un incremento o decremento di una variabile </a:t>
            </a:r>
          </a:p>
          <a:p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istruzione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  <a:r>
              <a:rPr lang="it-IT" dirty="0">
                <a:sym typeface="Symbol"/>
              </a:rPr>
              <a:t> è una qualunque istruzione Java (anche un blocco)</a:t>
            </a:r>
            <a:endParaRPr lang="it-IT" i="1" dirty="0">
              <a:solidFill>
                <a:schemeClr val="accent2"/>
              </a:solidFill>
              <a:sym typeface="Symbo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for</a:t>
            </a:r>
            <a:r>
              <a:rPr lang="it-IT" dirty="0"/>
              <a:t>: sintassi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inizializzazione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, 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condizione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 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aggiornamento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 </a:t>
            </a:r>
            <a:r>
              <a:rPr lang="it-IT" dirty="0">
                <a:sym typeface="Symbol"/>
              </a:rPr>
              <a:t>sono dette rispettivamente </a:t>
            </a:r>
            <a:r>
              <a:rPr lang="it-IT" u="sng" dirty="0">
                <a:solidFill>
                  <a:schemeClr val="accent1"/>
                </a:solidFill>
                <a:sym typeface="Symbol"/>
              </a:rPr>
              <a:t>inizializzazione</a:t>
            </a:r>
            <a:r>
              <a:rPr lang="it-IT" dirty="0">
                <a:sym typeface="Symbol"/>
              </a:rPr>
              <a:t>, </a:t>
            </a:r>
            <a:r>
              <a:rPr lang="it-IT" u="sng" dirty="0">
                <a:solidFill>
                  <a:schemeClr val="accent1"/>
                </a:solidFill>
                <a:sym typeface="Symbol"/>
              </a:rPr>
              <a:t>condizione</a:t>
            </a:r>
            <a:r>
              <a:rPr lang="it-IT" dirty="0">
                <a:sym typeface="Symbol"/>
              </a:rPr>
              <a:t> e </a:t>
            </a:r>
            <a:r>
              <a:rPr lang="it-IT" u="sng" dirty="0">
                <a:solidFill>
                  <a:schemeClr val="accent1"/>
                </a:solidFill>
                <a:sym typeface="Symbol"/>
              </a:rPr>
              <a:t>aggiornamento</a:t>
            </a:r>
            <a:r>
              <a:rPr lang="it-IT" dirty="0">
                <a:sym typeface="Symbol"/>
              </a:rPr>
              <a:t> del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for</a:t>
            </a:r>
            <a:endParaRPr lang="it-IT" i="1" dirty="0">
              <a:solidFill>
                <a:schemeClr val="accent2"/>
              </a:solidFill>
              <a:sym typeface="Symbol"/>
            </a:endParaRPr>
          </a:p>
          <a:p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  <a:sym typeface="Symbol"/>
              </a:rPr>
              <a:t>istruzione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  <a:r>
              <a:rPr lang="it-IT" dirty="0">
                <a:sym typeface="Symbol"/>
              </a:rPr>
              <a:t> è detta, come al solito, </a:t>
            </a:r>
            <a:r>
              <a:rPr lang="it-IT" u="sng" dirty="0">
                <a:solidFill>
                  <a:schemeClr val="accent1"/>
                </a:solidFill>
                <a:sym typeface="Symbol"/>
              </a:rPr>
              <a:t>corpo</a:t>
            </a:r>
            <a:r>
              <a:rPr lang="it-IT" dirty="0">
                <a:sym typeface="Symbol"/>
              </a:rPr>
              <a:t> del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for</a:t>
            </a:r>
            <a:endParaRPr lang="it-IT" i="1" dirty="0">
              <a:solidFill>
                <a:schemeClr val="accent2"/>
              </a:solidFill>
              <a:sym typeface="Symbo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for</a:t>
            </a:r>
            <a:r>
              <a:rPr lang="it-IT" dirty="0"/>
              <a:t>: semantica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Quando la JVM incontra un’istruzione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, esegue le seguenti azioni:</a:t>
            </a:r>
          </a:p>
          <a:p>
            <a:pPr lvl="1">
              <a:buFont typeface="+mj-lt"/>
              <a:buAutoNum type="arabicPeriod"/>
            </a:pPr>
            <a:r>
              <a:rPr lang="it-IT" dirty="0"/>
              <a:t>esegue l’inizializzazione</a:t>
            </a:r>
          </a:p>
          <a:p>
            <a:pPr lvl="1">
              <a:buFont typeface="+mj-lt"/>
              <a:buAutoNum type="arabicPeriod"/>
            </a:pPr>
            <a:r>
              <a:rPr lang="it-IT" dirty="0">
                <a:sym typeface="Symbol"/>
              </a:rPr>
              <a:t>valuta la condizione; se essa è falsa l’esecuzione del </a:t>
            </a:r>
            <a:r>
              <a:rPr lang="it-IT" i="1" dirty="0" err="1">
                <a:solidFill>
                  <a:schemeClr val="accent2"/>
                </a:solidFill>
                <a:sym typeface="Symbol"/>
              </a:rPr>
              <a:t>for</a:t>
            </a:r>
            <a:r>
              <a:rPr lang="it-IT" dirty="0">
                <a:sym typeface="Symbol"/>
              </a:rPr>
              <a:t> termina</a:t>
            </a:r>
          </a:p>
          <a:p>
            <a:pPr lvl="1">
              <a:buFont typeface="+mj-lt"/>
              <a:buAutoNum type="arabicPeriod"/>
            </a:pPr>
            <a:r>
              <a:rPr lang="it-IT" dirty="0">
                <a:sym typeface="Symbol"/>
              </a:rPr>
              <a:t>se la condizione è vera viene eseguito il corpo</a:t>
            </a:r>
          </a:p>
          <a:p>
            <a:pPr lvl="1">
              <a:buFont typeface="+mj-lt"/>
              <a:buAutoNum type="arabicPeriod"/>
            </a:pPr>
            <a:r>
              <a:rPr lang="it-IT" dirty="0">
                <a:sym typeface="Symbol"/>
              </a:rPr>
              <a:t>una volta eseguito il corpo viene eseguito l’aggiornamento e si torna al punto 2</a:t>
            </a:r>
          </a:p>
          <a:p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for</a:t>
            </a:r>
            <a:r>
              <a:rPr lang="it-IT" dirty="0"/>
              <a:t>: commenti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In base a quanto detto, l’inizializzazione viene eseguita una ed una sola volta in ogni caso, prima di qualunque iterazione</a:t>
            </a:r>
          </a:p>
          <a:p>
            <a:r>
              <a:rPr lang="it-IT" dirty="0"/>
              <a:t>dopo di ciò ogni iterazione consisterà di:</a:t>
            </a:r>
          </a:p>
          <a:p>
            <a:pPr lvl="1"/>
            <a:r>
              <a:rPr lang="it-IT" dirty="0"/>
              <a:t>verifica condizione</a:t>
            </a:r>
          </a:p>
          <a:p>
            <a:pPr lvl="1"/>
            <a:r>
              <a:rPr lang="it-IT" dirty="0"/>
              <a:t>esecuzione del corpo</a:t>
            </a:r>
          </a:p>
          <a:p>
            <a:pPr lvl="1"/>
            <a:r>
              <a:rPr lang="it-IT" dirty="0"/>
              <a:t>aggiornamento</a:t>
            </a:r>
          </a:p>
          <a:p>
            <a:endParaRPr lang="it-IT" dirty="0">
              <a:sym typeface="Symbol"/>
            </a:endParaRPr>
          </a:p>
          <a:p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public static void stampaPariDa0A(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for(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&lt;n+1;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+= 2)</a:t>
            </a:r>
          </a:p>
          <a:p>
            <a:pPr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  <a:endParaRPr lang="it-IT" sz="2000" dirty="0">
              <a:latin typeface="Courier New" pitchFamily="49" charset="0"/>
              <a:cs typeface="Courier New" pitchFamily="49" charset="0"/>
            </a:endParaRPr>
          </a:p>
          <a:p>
            <a:r>
              <a:rPr lang="it-IT" dirty="0"/>
              <a:t>La variabile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/>
              <a:t> viene inizializzata a </a:t>
            </a:r>
            <a:r>
              <a:rPr lang="it-IT" i="1" dirty="0">
                <a:solidFill>
                  <a:schemeClr val="accent2"/>
                </a:solidFill>
              </a:rPr>
              <a:t>0</a:t>
            </a:r>
            <a:r>
              <a:rPr lang="it-IT" dirty="0"/>
              <a:t> prima di qualunque iterazione</a:t>
            </a:r>
          </a:p>
          <a:p>
            <a:r>
              <a:rPr lang="it-IT" dirty="0"/>
              <a:t>Ad ogni iterazione viene valutato se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/>
              <a:t> è minore o uguale a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</a:p>
          <a:p>
            <a:r>
              <a:rPr lang="it-IT" dirty="0"/>
              <a:t>in caso positivo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/>
              <a:t> viene stampata e incrementata di due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commenti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Il codice precedente è molto compatto</a:t>
            </a:r>
          </a:p>
          <a:p>
            <a:pPr lvl="1"/>
            <a:r>
              <a:rPr lang="it-IT" dirty="0"/>
              <a:t>in particolare, poiché l’incremento della variabile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/>
              <a:t> avviene con l’istruzione di aggiornamento, il corpo è costituito dalla sola istruzione di stampa</a:t>
            </a:r>
          </a:p>
          <a:p>
            <a:r>
              <a:rPr lang="it-IT" dirty="0"/>
              <a:t>L’istruzione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 precedente può essere letta come: “</a:t>
            </a:r>
            <a:r>
              <a:rPr lang="it-IT" i="1" dirty="0"/>
              <a:t>Per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i="1" dirty="0"/>
              <a:t> che va da </a:t>
            </a:r>
            <a:r>
              <a:rPr lang="it-IT" i="1" dirty="0">
                <a:solidFill>
                  <a:schemeClr val="accent2"/>
                </a:solidFill>
              </a:rPr>
              <a:t>0 </a:t>
            </a:r>
            <a:r>
              <a:rPr lang="it-IT" i="1" dirty="0"/>
              <a:t>a </a:t>
            </a:r>
            <a:r>
              <a:rPr lang="it-IT" i="1" dirty="0">
                <a:solidFill>
                  <a:schemeClr val="accent2"/>
                </a:solidFill>
              </a:rPr>
              <a:t>n</a:t>
            </a:r>
            <a:r>
              <a:rPr lang="it-IT" i="1" dirty="0"/>
              <a:t>, stampa il valore di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i="1" dirty="0"/>
              <a:t> e poi incrementalo di </a:t>
            </a:r>
            <a:r>
              <a:rPr lang="it-IT" i="1" dirty="0">
                <a:solidFill>
                  <a:schemeClr val="accent2"/>
                </a:solidFill>
              </a:rPr>
              <a:t>2</a:t>
            </a:r>
            <a:r>
              <a:rPr lang="it-IT" i="1" dirty="0"/>
              <a:t> unità</a:t>
            </a:r>
            <a:r>
              <a:rPr lang="it-IT" dirty="0"/>
              <a:t>”</a:t>
            </a:r>
          </a:p>
          <a:p>
            <a:r>
              <a:rPr lang="it-IT" dirty="0"/>
              <a:t>In effetti l’istruzione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 viene tipicamente utilizzata per far assumere ad una variabile un numero discreto di valori in un intervallo fissato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Esempio: versione alternativa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public static void stampaPariDa0A(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for(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= 0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&lt;n+1;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+= 2)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  <a:endParaRPr lang="it-IT" sz="2000" dirty="0">
              <a:latin typeface="Courier New" pitchFamily="49" charset="0"/>
              <a:cs typeface="Courier New" pitchFamily="49" charset="0"/>
            </a:endParaRPr>
          </a:p>
          <a:p>
            <a:r>
              <a:rPr lang="it-IT" dirty="0"/>
              <a:t>In questo caso la variabile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/>
              <a:t> viene definita all’interno del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 (nell’inizializzazione)</a:t>
            </a:r>
          </a:p>
          <a:p>
            <a:r>
              <a:rPr lang="it-IT" dirty="0"/>
              <a:t>Così facendo la variabile </a:t>
            </a:r>
            <a:r>
              <a:rPr lang="it-IT" i="1" dirty="0">
                <a:solidFill>
                  <a:schemeClr val="accent2"/>
                </a:solidFill>
              </a:rPr>
              <a:t>i</a:t>
            </a:r>
            <a:r>
              <a:rPr lang="it-IT" dirty="0"/>
              <a:t> è visibile solo all’interno del ciclo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endParaRPr lang="it-IT" i="1" dirty="0">
              <a:solidFill>
                <a:schemeClr val="accent2"/>
              </a:solidFill>
            </a:endParaRPr>
          </a:p>
          <a:p>
            <a:pPr lvl="1"/>
            <a:r>
              <a:rPr lang="it-IT" dirty="0"/>
              <a:t>nelle tre parti tra parentesi e nel corpo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Istruzione </a:t>
            </a:r>
            <a:r>
              <a:rPr lang="it-IT" dirty="0" err="1"/>
              <a:t>for</a:t>
            </a:r>
            <a:r>
              <a:rPr lang="it-IT" dirty="0"/>
              <a:t>: commenti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Ciascuna delle tre parti del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 è opzionale e può essere omessa</a:t>
            </a:r>
          </a:p>
          <a:p>
            <a:r>
              <a:rPr lang="it-IT" dirty="0"/>
              <a:t>Nelle parti di inizializzazione e aggiornamento è possibile scrivere un elenco di istruzioni separate da virgole</a:t>
            </a:r>
          </a:p>
          <a:p>
            <a:r>
              <a:rPr lang="it-IT" dirty="0"/>
              <a:t>Per i dettagli su entrambi gli aspetti si rimanda al libro di testo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Confronto tra le istruzioni iterative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Abbiamo visto tre diversi tipi di istruzioni iterative...</a:t>
            </a:r>
          </a:p>
          <a:p>
            <a:r>
              <a:rPr lang="it-IT" dirty="0"/>
              <a:t>...ed un problema che poteva essere risolto con tutte e tre</a:t>
            </a:r>
          </a:p>
          <a:p>
            <a:r>
              <a:rPr lang="it-IT" dirty="0"/>
              <a:t>Ci sono situazioni in cui è necessario l’uso di una specifica istruzione iterativa?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Equivalenza di istruzioni iterative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 e l’istruzione </a:t>
            </a:r>
            <a:r>
              <a:rPr lang="it-IT" i="1" dirty="0" err="1">
                <a:solidFill>
                  <a:schemeClr val="accent2"/>
                </a:solidFill>
              </a:rPr>
              <a:t>while</a:t>
            </a:r>
            <a:r>
              <a:rPr lang="it-IT" dirty="0"/>
              <a:t> sono equivalenti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endParaRPr lang="it-IT" dirty="0"/>
          </a:p>
        </p:txBody>
      </p:sp>
      <p:graphicFrame>
        <p:nvGraphicFramePr>
          <p:cNvPr id="4" name="Tabella 3"/>
          <p:cNvGraphicFramePr>
            <a:graphicFrameLocks noGrp="1"/>
          </p:cNvGraphicFramePr>
          <p:nvPr/>
        </p:nvGraphicFramePr>
        <p:xfrm>
          <a:off x="611560" y="2636912"/>
          <a:ext cx="7920879" cy="1615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8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it-IT" sz="2000" i="1" dirty="0">
                        <a:solidFill>
                          <a:schemeClr val="accent2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it-IT" sz="2000" i="1" dirty="0" err="1">
                          <a:solidFill>
                            <a:schemeClr val="accent2"/>
                          </a:solidFill>
                        </a:rPr>
                        <a:t>for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</a:rPr>
                        <a:t>(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</a:t>
                      </a:r>
                      <a:r>
                        <a:rPr lang="it-IT" sz="2000" i="1" dirty="0" err="1">
                          <a:solidFill>
                            <a:schemeClr val="accent2"/>
                          </a:solidFill>
                          <a:sym typeface="Symbol"/>
                        </a:rPr>
                        <a:t>iniz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.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; 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cond.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; </a:t>
                      </a:r>
                      <a:r>
                        <a:rPr lang="it-IT" sz="2000" i="1" dirty="0" err="1">
                          <a:solidFill>
                            <a:schemeClr val="accent2"/>
                          </a:solidFill>
                          <a:sym typeface="Symbol"/>
                        </a:rPr>
                        <a:t>aggior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.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)</a:t>
                      </a:r>
                    </a:p>
                    <a:p>
                      <a:pPr>
                        <a:buNone/>
                      </a:pPr>
                      <a:r>
                        <a:rPr lang="it-IT" sz="2000" baseline="0" dirty="0">
                          <a:solidFill>
                            <a:schemeClr val="accent2"/>
                          </a:solidFill>
                          <a:sym typeface="Symbol"/>
                        </a:rPr>
                        <a:t>      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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istruzione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</a:t>
                      </a:r>
                    </a:p>
                    <a:p>
                      <a:endParaRPr lang="it-IT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4000" dirty="0">
                          <a:sym typeface="Symbol"/>
                        </a:rPr>
                        <a:t></a:t>
                      </a:r>
                      <a:endParaRPr lang="it-IT" sz="4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</a:t>
                      </a:r>
                      <a:r>
                        <a:rPr lang="it-IT" sz="2000" i="1" dirty="0" err="1">
                          <a:solidFill>
                            <a:schemeClr val="accent2"/>
                          </a:solidFill>
                          <a:sym typeface="Symbol"/>
                        </a:rPr>
                        <a:t>iniz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.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</a:t>
                      </a:r>
                      <a:endParaRPr lang="it-IT" sz="2000" i="1" dirty="0">
                        <a:solidFill>
                          <a:schemeClr val="accent2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it-IT" sz="2000" i="1" dirty="0" err="1">
                          <a:solidFill>
                            <a:schemeClr val="accent2"/>
                          </a:solidFill>
                        </a:rPr>
                        <a:t>while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</a:rPr>
                        <a:t>(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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cond.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){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       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istruzione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aseline="0" dirty="0">
                          <a:solidFill>
                            <a:schemeClr val="accent2"/>
                          </a:solidFill>
                          <a:sym typeface="Symbol"/>
                        </a:rPr>
                        <a:t>       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</a:t>
                      </a:r>
                      <a:r>
                        <a:rPr lang="it-IT" sz="2000" i="1" dirty="0" err="1">
                          <a:solidFill>
                            <a:schemeClr val="accent2"/>
                          </a:solidFill>
                          <a:sym typeface="Symbol"/>
                        </a:rPr>
                        <a:t>aggior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.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</a:t>
                      </a:r>
                    </a:p>
                    <a:p>
                      <a:pPr>
                        <a:buNone/>
                      </a:pP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Equivalenza di istruzioni iterative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</a:t>
            </a:r>
            <a:r>
              <a:rPr lang="it-IT" i="1" dirty="0" err="1">
                <a:solidFill>
                  <a:schemeClr val="accent2"/>
                </a:solidFill>
              </a:rPr>
              <a:t>do-while</a:t>
            </a:r>
            <a:r>
              <a:rPr lang="it-IT" dirty="0"/>
              <a:t> è meno flessibile delle altre due in quanto esegue il corpo almeno una volta</a:t>
            </a:r>
          </a:p>
          <a:p>
            <a:r>
              <a:rPr lang="it-IT" dirty="0"/>
              <a:t>Usando le istruzioni condizionali, è possibile superare tale vincolo 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endParaRPr lang="it-IT" dirty="0"/>
          </a:p>
        </p:txBody>
      </p:sp>
      <p:graphicFrame>
        <p:nvGraphicFramePr>
          <p:cNvPr id="4" name="Tabella 3"/>
          <p:cNvGraphicFramePr>
            <a:graphicFrameLocks noGrp="1"/>
          </p:cNvGraphicFramePr>
          <p:nvPr/>
        </p:nvGraphicFramePr>
        <p:xfrm>
          <a:off x="539552" y="3284984"/>
          <a:ext cx="7920879" cy="1615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8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 i="1" dirty="0" err="1">
                          <a:solidFill>
                            <a:schemeClr val="accent2"/>
                          </a:solidFill>
                        </a:rPr>
                        <a:t>while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</a:rPr>
                        <a:t>(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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condizione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)</a:t>
                      </a:r>
                    </a:p>
                    <a:p>
                      <a:pPr>
                        <a:buNone/>
                      </a:pPr>
                      <a:r>
                        <a:rPr lang="it-IT" sz="2000" baseline="0" dirty="0">
                          <a:solidFill>
                            <a:schemeClr val="accent2"/>
                          </a:solidFill>
                          <a:sym typeface="Symbol"/>
                        </a:rPr>
                        <a:t>      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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istruzione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</a:t>
                      </a:r>
                    </a:p>
                    <a:p>
                      <a:endParaRPr lang="it-IT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4000" dirty="0">
                          <a:sym typeface="Symbol"/>
                        </a:rPr>
                        <a:t></a:t>
                      </a:r>
                      <a:endParaRPr lang="it-IT" sz="4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 i="1" dirty="0" err="1">
                          <a:solidFill>
                            <a:schemeClr val="accent2"/>
                          </a:solidFill>
                          <a:sym typeface="Symbol"/>
                        </a:rPr>
                        <a:t>if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 </a:t>
                      </a:r>
                      <a:r>
                        <a:rPr lang="it-IT" sz="2000" i="0" dirty="0">
                          <a:solidFill>
                            <a:schemeClr val="accent2"/>
                          </a:solidFill>
                          <a:sym typeface="Symbol"/>
                        </a:rPr>
                        <a:t>(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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condizione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){</a:t>
                      </a:r>
                      <a:endParaRPr lang="it-IT" sz="2000" i="1" dirty="0">
                        <a:solidFill>
                          <a:schemeClr val="accent2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it-IT" sz="2000" i="1" dirty="0">
                          <a:solidFill>
                            <a:schemeClr val="accent2"/>
                          </a:solidFill>
                        </a:rPr>
                        <a:t>     do</a:t>
                      </a:r>
                    </a:p>
                    <a:p>
                      <a:pPr>
                        <a:buNone/>
                      </a:pPr>
                      <a:r>
                        <a:rPr lang="it-IT" sz="2000" baseline="0" dirty="0">
                          <a:solidFill>
                            <a:schemeClr val="accent2"/>
                          </a:solidFill>
                          <a:sym typeface="Symbol"/>
                        </a:rPr>
                        <a:t>       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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istruzione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baseline="0" dirty="0">
                          <a:solidFill>
                            <a:schemeClr val="accent2"/>
                          </a:solidFill>
                          <a:sym typeface="Symbol"/>
                        </a:rPr>
                        <a:t>     </a:t>
                      </a:r>
                      <a:r>
                        <a:rPr lang="it-IT" sz="2000" i="1" baseline="0" dirty="0" err="1">
                          <a:solidFill>
                            <a:schemeClr val="accent2"/>
                          </a:solidFill>
                          <a:sym typeface="Symbol"/>
                        </a:rPr>
                        <a:t>while</a:t>
                      </a:r>
                      <a:r>
                        <a:rPr lang="it-IT" sz="2000" i="0" baseline="0" dirty="0">
                          <a:solidFill>
                            <a:schemeClr val="accent2"/>
                          </a:solidFill>
                          <a:sym typeface="Symbol"/>
                        </a:rPr>
                        <a:t>(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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condizione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)</a:t>
                      </a:r>
                    </a:p>
                    <a:p>
                      <a:pPr>
                        <a:buNone/>
                      </a:pP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ella 4"/>
          <p:cNvGraphicFramePr>
            <a:graphicFrameLocks noGrp="1"/>
          </p:cNvGraphicFramePr>
          <p:nvPr/>
        </p:nvGraphicFramePr>
        <p:xfrm>
          <a:off x="539552" y="5375488"/>
          <a:ext cx="7920879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8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 i="1" dirty="0">
                          <a:solidFill>
                            <a:schemeClr val="accent2"/>
                          </a:solidFill>
                        </a:rPr>
                        <a:t>do</a:t>
                      </a:r>
                    </a:p>
                    <a:p>
                      <a:pPr>
                        <a:buNone/>
                      </a:pPr>
                      <a:r>
                        <a:rPr lang="it-IT" sz="2000" i="1" dirty="0">
                          <a:solidFill>
                            <a:schemeClr val="accent2"/>
                          </a:solidFill>
                        </a:rPr>
                        <a:t>    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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istruzione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</a:t>
                      </a:r>
                      <a:endParaRPr lang="it-IT" sz="2000" i="1" dirty="0">
                        <a:solidFill>
                          <a:schemeClr val="accent2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it-IT" sz="2000" i="1" dirty="0" err="1">
                          <a:solidFill>
                            <a:schemeClr val="accent2"/>
                          </a:solidFill>
                        </a:rPr>
                        <a:t>while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</a:rPr>
                        <a:t>(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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condizione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4000" dirty="0">
                          <a:sym typeface="Symbol"/>
                        </a:rPr>
                        <a:t></a:t>
                      </a:r>
                      <a:endParaRPr lang="it-IT" sz="4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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istruzione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</a:t>
                      </a:r>
                      <a:endParaRPr lang="it-IT" sz="2000" i="1" dirty="0">
                        <a:solidFill>
                          <a:schemeClr val="accent2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000" i="1" baseline="0" dirty="0" err="1">
                          <a:solidFill>
                            <a:schemeClr val="accent2"/>
                          </a:solidFill>
                          <a:sym typeface="Symbol"/>
                        </a:rPr>
                        <a:t>while</a:t>
                      </a:r>
                      <a:r>
                        <a:rPr lang="it-IT" sz="2000" i="0" baseline="0" dirty="0">
                          <a:solidFill>
                            <a:schemeClr val="accent2"/>
                          </a:solidFill>
                          <a:sym typeface="Symbol"/>
                        </a:rPr>
                        <a:t>(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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condizione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)</a:t>
                      </a:r>
                    </a:p>
                    <a:p>
                      <a:pPr>
                        <a:buNone/>
                      </a:pPr>
                      <a:r>
                        <a:rPr lang="it-IT" sz="2000" baseline="0" dirty="0">
                          <a:solidFill>
                            <a:schemeClr val="accent2"/>
                          </a:solidFill>
                          <a:sym typeface="Symbol"/>
                        </a:rPr>
                        <a:t>       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</a:t>
                      </a:r>
                      <a:r>
                        <a:rPr lang="it-IT" sz="2000" i="1" dirty="0">
                          <a:solidFill>
                            <a:schemeClr val="accent2"/>
                          </a:solidFill>
                          <a:sym typeface="Symbol"/>
                        </a:rPr>
                        <a:t>istruzione</a:t>
                      </a:r>
                      <a:r>
                        <a:rPr lang="it-IT" sz="2000" dirty="0">
                          <a:solidFill>
                            <a:schemeClr val="accent2"/>
                          </a:solidFill>
                          <a:sym typeface="Symbol"/>
                        </a:rPr>
                        <a:t>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Equivalenza di istruzioni iterative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 definitiva le tre istruzioni iterative sono equivalenti</a:t>
            </a:r>
          </a:p>
          <a:p>
            <a:r>
              <a:rPr lang="it-IT" dirty="0"/>
              <a:t>In linea di principio se ne potrebbe utilizzare una soltanto</a:t>
            </a:r>
          </a:p>
          <a:p>
            <a:r>
              <a:rPr lang="it-IT" dirty="0"/>
              <a:t>Tuttavia ci sono casi in cui usare un tipo di istruzione piuttosto che un’altra rende la scrittura del codice più semplice ed immediata</a:t>
            </a:r>
          </a:p>
          <a:p>
            <a:r>
              <a:rPr lang="it-IT" dirty="0"/>
              <a:t>La scelta del tipo di istruzione da utilizzare è questione di esperienza e gusto personale</a:t>
            </a:r>
          </a:p>
          <a:p>
            <a:pPr>
              <a:buNone/>
            </a:pPr>
            <a:r>
              <a:rPr lang="it-IT" i="1" dirty="0">
                <a:solidFill>
                  <a:schemeClr val="accent2"/>
                </a:solidFill>
              </a:rPr>
              <a:t>	</a:t>
            </a:r>
            <a:endParaRPr lang="it-IT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Alcune indicazioni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Vista la minor flessibilità del </a:t>
            </a:r>
            <a:r>
              <a:rPr lang="it-IT" i="1" dirty="0" err="1">
                <a:solidFill>
                  <a:schemeClr val="accent2"/>
                </a:solidFill>
              </a:rPr>
              <a:t>do-while</a:t>
            </a:r>
            <a:r>
              <a:rPr lang="it-IT" dirty="0"/>
              <a:t>, esso è meno usato delle altre due</a:t>
            </a:r>
          </a:p>
          <a:p>
            <a:pPr lvl="1"/>
            <a:r>
              <a:rPr lang="it-IT" dirty="0"/>
              <a:t>si usa in quei casi in cui si vuole sfruttare la sua caratteristica di eseguire il corpo almeno una volta</a:t>
            </a:r>
          </a:p>
          <a:p>
            <a:r>
              <a:rPr lang="it-IT" dirty="0"/>
              <a:t>L’istruzione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 viene preferita quando il numero di iterazioni da eseguire è noto (anche in forma parametrica) al momento della scrittura del codice</a:t>
            </a:r>
          </a:p>
          <a:p>
            <a:pPr lvl="1"/>
            <a:r>
              <a:rPr lang="it-IT" dirty="0"/>
              <a:t>Ad esempio per far assumere ad una variabile una serie di valori in un intervallo noto (come nell’esempio visto)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Alcune indicazioni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L’istruzione </a:t>
            </a:r>
            <a:r>
              <a:rPr lang="it-IT" i="1" dirty="0" err="1">
                <a:solidFill>
                  <a:schemeClr val="accent2"/>
                </a:solidFill>
              </a:rPr>
              <a:t>while</a:t>
            </a:r>
            <a:r>
              <a:rPr lang="it-IT" dirty="0"/>
              <a:t> viene preferita quando non è noto il numero di iterazioni all’atto della scrittura del codice</a:t>
            </a:r>
          </a:p>
          <a:p>
            <a:pPr lvl="1"/>
            <a:r>
              <a:rPr lang="it-IT" dirty="0"/>
              <a:t>ad esempio il ciclo potrebbe essere ripetuto finché l’utente non immette un valore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 istruzioni break e continue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All’interno di un ciclo è possibile utilizzare le istruzioni </a:t>
            </a:r>
            <a:r>
              <a:rPr lang="it-IT" i="1" dirty="0">
                <a:solidFill>
                  <a:schemeClr val="accent2"/>
                </a:solidFill>
              </a:rPr>
              <a:t>break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continue</a:t>
            </a:r>
            <a:r>
              <a:rPr lang="it-IT" dirty="0"/>
              <a:t> per alterare la normale esecuzione del ciclo</a:t>
            </a:r>
          </a:p>
          <a:p>
            <a:r>
              <a:rPr lang="it-IT" dirty="0"/>
              <a:t>L’istruzione </a:t>
            </a:r>
            <a:r>
              <a:rPr lang="it-IT" i="1" dirty="0">
                <a:solidFill>
                  <a:schemeClr val="accent2"/>
                </a:solidFill>
              </a:rPr>
              <a:t>break</a:t>
            </a:r>
            <a:r>
              <a:rPr lang="it-IT" dirty="0"/>
              <a:t> causa la terminazione del ciclo più interno in cui si trova</a:t>
            </a:r>
          </a:p>
          <a:p>
            <a:r>
              <a:rPr lang="it-IT" dirty="0"/>
              <a:t>L’istruzione </a:t>
            </a:r>
            <a:r>
              <a:rPr lang="it-IT" i="1" dirty="0">
                <a:solidFill>
                  <a:schemeClr val="accent2"/>
                </a:solidFill>
              </a:rPr>
              <a:t>continue </a:t>
            </a:r>
            <a:r>
              <a:rPr lang="it-IT" dirty="0"/>
              <a:t>interrompe l’iterazione corrente e: </a:t>
            </a:r>
          </a:p>
          <a:p>
            <a:pPr lvl="1"/>
            <a:r>
              <a:rPr lang="it-IT" dirty="0"/>
              <a:t>nel caso del </a:t>
            </a:r>
            <a:r>
              <a:rPr lang="it-IT" i="1" dirty="0" err="1">
                <a:solidFill>
                  <a:schemeClr val="accent2"/>
                </a:solidFill>
              </a:rPr>
              <a:t>while</a:t>
            </a:r>
            <a:r>
              <a:rPr lang="it-IT" dirty="0"/>
              <a:t> torna a valutare la condizione</a:t>
            </a:r>
          </a:p>
          <a:p>
            <a:pPr lvl="1"/>
            <a:r>
              <a:rPr lang="it-IT" dirty="0"/>
              <a:t>nel caso del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 esegue l’aggiornamento e poi torna a valutare la condizione</a:t>
            </a:r>
          </a:p>
        </p:txBody>
      </p:sp>
      <p:sp>
        <p:nvSpPr>
          <p:cNvPr id="4" name="Rettangolo arrotondato 3"/>
          <p:cNvSpPr/>
          <p:nvPr/>
        </p:nvSpPr>
        <p:spPr>
          <a:xfrm>
            <a:off x="216024" y="1340768"/>
            <a:ext cx="179512" cy="468052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Istruzione break: 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InputWindow in = new InputWindow();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while (true){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str = in.readString("Inserisci una parola");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(str.equals("FINE"))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break;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("lunghezza="+str.length());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dirty="0"/>
              <a:t>Il codice chiede all’utente di inserire ripetutamente una parola; se questa è FINE termina altrimenti la stampa</a:t>
            </a:r>
          </a:p>
          <a:p>
            <a:r>
              <a:rPr lang="it-IT" dirty="0"/>
              <a:t>Si noti che in questo caso il </a:t>
            </a:r>
            <a:r>
              <a:rPr lang="it-IT" i="1" dirty="0">
                <a:solidFill>
                  <a:schemeClr val="accent2"/>
                </a:solidFill>
              </a:rPr>
              <a:t>break</a:t>
            </a:r>
            <a:r>
              <a:rPr lang="it-IT" dirty="0"/>
              <a:t> interrompe un ciclo la cui condizione è sempre vera</a:t>
            </a:r>
          </a:p>
        </p:txBody>
      </p:sp>
      <p:sp>
        <p:nvSpPr>
          <p:cNvPr id="4" name="Rettangolo arrotondato 3"/>
          <p:cNvSpPr/>
          <p:nvPr/>
        </p:nvSpPr>
        <p:spPr>
          <a:xfrm>
            <a:off x="216024" y="1340768"/>
            <a:ext cx="179512" cy="468052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Istruzione continue: esempio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InputWindow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in =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InputWindow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();</a:t>
            </a:r>
            <a:endParaRPr lang="nn-NO" sz="18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nn-NO" sz="1800" dirty="0">
                <a:latin typeface="Courier New" pitchFamily="49" charset="0"/>
                <a:cs typeface="Courier New" pitchFamily="49" charset="0"/>
              </a:rPr>
              <a:t>int soglia =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in.readInt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("Inserisci un valore");</a:t>
            </a:r>
            <a:endParaRPr lang="nn-NO" sz="18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nn-NO" sz="1800" dirty="0">
                <a:latin typeface="Courier New" pitchFamily="49" charset="0"/>
                <a:cs typeface="Courier New" pitchFamily="49" charset="0"/>
              </a:rPr>
              <a:t>for (int i = 0; i&lt;=100; i++){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(i&lt;soglia)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18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continue;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(i);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dirty="0"/>
              <a:t>Il codice scandisce tutti i numeri da zero a 100 e stampa tutti quelli sotto la soglia inserita dall’utente</a:t>
            </a:r>
          </a:p>
        </p:txBody>
      </p:sp>
      <p:sp>
        <p:nvSpPr>
          <p:cNvPr id="4" name="Rettangolo arrotondato 3"/>
          <p:cNvSpPr/>
          <p:nvPr/>
        </p:nvSpPr>
        <p:spPr>
          <a:xfrm>
            <a:off x="216024" y="1340768"/>
            <a:ext cx="179512" cy="468052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Break e continue: commenti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Le istruzioni </a:t>
            </a:r>
            <a:r>
              <a:rPr lang="it-IT" i="1" dirty="0">
                <a:solidFill>
                  <a:schemeClr val="accent2"/>
                </a:solidFill>
              </a:rPr>
              <a:t>break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continue</a:t>
            </a:r>
            <a:r>
              <a:rPr lang="it-IT" dirty="0"/>
              <a:t> permettono di semplificare la scrittura del codice</a:t>
            </a:r>
          </a:p>
          <a:p>
            <a:r>
              <a:rPr lang="it-IT" dirty="0"/>
              <a:t>Tuttavia non sono indispensabili:</a:t>
            </a:r>
          </a:p>
          <a:p>
            <a:pPr lvl="1"/>
            <a:r>
              <a:rPr lang="it-IT" dirty="0"/>
              <a:t>qualunque codice usi le istruzioni </a:t>
            </a:r>
            <a:r>
              <a:rPr lang="it-IT" i="1" dirty="0">
                <a:solidFill>
                  <a:schemeClr val="accent2"/>
                </a:solidFill>
              </a:rPr>
              <a:t>break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continue</a:t>
            </a:r>
            <a:r>
              <a:rPr lang="it-IT" dirty="0"/>
              <a:t> può essere riscritto senza di esse</a:t>
            </a:r>
          </a:p>
          <a:p>
            <a:r>
              <a:rPr lang="it-IT" dirty="0"/>
              <a:t>L’uso di tali istruzioni tende a destrutturare il codice rendendolo poco leggibile </a:t>
            </a:r>
          </a:p>
          <a:p>
            <a:r>
              <a:rPr lang="it-IT" dirty="0"/>
              <a:t>Per questo motivo si tende a farne un uso limitato o nullo</a:t>
            </a:r>
          </a:p>
        </p:txBody>
      </p:sp>
      <p:sp>
        <p:nvSpPr>
          <p:cNvPr id="4" name="Rettangolo arrotondato 3"/>
          <p:cNvSpPr/>
          <p:nvPr/>
        </p:nvSpPr>
        <p:spPr>
          <a:xfrm>
            <a:off x="216024" y="1340768"/>
            <a:ext cx="179512" cy="468052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Esempi di uso delle istruzioni di controllo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Es. 1: la classe </a:t>
            </a:r>
            <a:r>
              <a:rPr lang="it-IT" dirty="0" err="1"/>
              <a:t>NumeroNaturale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Vogliamo realizzare una classe di nome </a:t>
            </a:r>
            <a:r>
              <a:rPr lang="it-IT" i="1" dirty="0">
                <a:solidFill>
                  <a:schemeClr val="accent2"/>
                </a:solidFill>
              </a:rPr>
              <a:t>NumeroNaturale</a:t>
            </a:r>
            <a:r>
              <a:rPr lang="it-IT" dirty="0"/>
              <a:t> in base alle seguenti specifiche:</a:t>
            </a:r>
          </a:p>
          <a:p>
            <a:pPr lvl="1"/>
            <a:r>
              <a:rPr lang="it-IT" dirty="0"/>
              <a:t>un oggetto di tipo </a:t>
            </a:r>
            <a:r>
              <a:rPr lang="it-IT" i="1" dirty="0">
                <a:solidFill>
                  <a:schemeClr val="accent2"/>
                </a:solidFill>
              </a:rPr>
              <a:t>NumeroNaturale</a:t>
            </a:r>
            <a:r>
              <a:rPr lang="it-IT" dirty="0"/>
              <a:t> rappresenta un singolo numero intero non negativo;</a:t>
            </a:r>
          </a:p>
          <a:p>
            <a:pPr lvl="1"/>
            <a:r>
              <a:rPr lang="it-IT" dirty="0"/>
              <a:t>un oggetto </a:t>
            </a:r>
            <a:r>
              <a:rPr lang="it-IT" i="1" dirty="0">
                <a:solidFill>
                  <a:schemeClr val="accent2"/>
                </a:solidFill>
              </a:rPr>
              <a:t>NumeroNaturale</a:t>
            </a:r>
            <a:r>
              <a:rPr lang="it-IT" dirty="0"/>
              <a:t> viene creato attraverso un costruttore che prende come parametro il numero rappresentato sotto forma di valore di tipo </a:t>
            </a:r>
            <a:r>
              <a:rPr lang="it-IT" dirty="0" err="1"/>
              <a:t>int</a:t>
            </a:r>
            <a:r>
              <a:rPr lang="it-IT" dirty="0"/>
              <a:t>;</a:t>
            </a:r>
          </a:p>
          <a:p>
            <a:pPr lvl="1"/>
            <a:r>
              <a:rPr lang="it-IT" dirty="0"/>
              <a:t>la classe </a:t>
            </a:r>
            <a:r>
              <a:rPr lang="it-IT" i="1" dirty="0">
                <a:solidFill>
                  <a:schemeClr val="accent2"/>
                </a:solidFill>
              </a:rPr>
              <a:t>NumeroNaturale</a:t>
            </a:r>
            <a:r>
              <a:rPr lang="it-IT" dirty="0"/>
              <a:t> dispone di alcuni metodi pubblici di istanza, che consentono di verificare se il numero rappresentato gode di certe proprietà o di effettuare specifiche elaborazioni su tale numero.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Es. 1: la classe </a:t>
            </a:r>
            <a:r>
              <a:rPr lang="it-IT" dirty="0" err="1"/>
              <a:t>NumeroNaturale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I metodi della classe </a:t>
            </a:r>
            <a:r>
              <a:rPr lang="it-IT" i="1" dirty="0" err="1">
                <a:solidFill>
                  <a:schemeClr val="accent2"/>
                </a:solidFill>
              </a:rPr>
              <a:t>NumeroNaturale</a:t>
            </a:r>
            <a:r>
              <a:rPr lang="it-IT" dirty="0"/>
              <a:t> sono i seguenti</a:t>
            </a:r>
          </a:p>
          <a:p>
            <a:pPr lvl="1"/>
            <a:r>
              <a:rPr lang="it-IT" dirty="0"/>
              <a:t>Il metodo </a:t>
            </a:r>
            <a:r>
              <a:rPr lang="it-IT" i="1" dirty="0">
                <a:solidFill>
                  <a:schemeClr val="accent2"/>
                </a:solidFill>
              </a:rPr>
              <a:t>getValue()</a:t>
            </a:r>
            <a:r>
              <a:rPr lang="it-IT" dirty="0"/>
              <a:t> restituisce il numero naturale rappresentato dall’oggetto</a:t>
            </a:r>
          </a:p>
          <a:p>
            <a:pPr lvl="1"/>
            <a:r>
              <a:rPr lang="it-IT" dirty="0"/>
              <a:t>Il metodo </a:t>
            </a:r>
            <a:r>
              <a:rPr lang="it-IT" i="1" dirty="0">
                <a:solidFill>
                  <a:schemeClr val="accent2"/>
                </a:solidFill>
              </a:rPr>
              <a:t>isPrimo()</a:t>
            </a:r>
            <a:r>
              <a:rPr lang="it-IT" dirty="0"/>
              <a:t> verifica se il numero rappresentato dall’oggetto è primo oppure no; se lo è restituisce </a:t>
            </a:r>
            <a:r>
              <a:rPr lang="it-IT" i="1" dirty="0">
                <a:solidFill>
                  <a:schemeClr val="accent2"/>
                </a:solidFill>
              </a:rPr>
              <a:t>true</a:t>
            </a:r>
            <a:r>
              <a:rPr lang="it-IT" dirty="0"/>
              <a:t>, altrimenti restituisce </a:t>
            </a:r>
            <a:r>
              <a:rPr lang="it-IT" i="1" dirty="0">
                <a:solidFill>
                  <a:schemeClr val="accent2"/>
                </a:solidFill>
              </a:rPr>
              <a:t>false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Il metodo </a:t>
            </a:r>
            <a:r>
              <a:rPr lang="it-IT" i="1" dirty="0">
                <a:solidFill>
                  <a:schemeClr val="accent2"/>
                </a:solidFill>
              </a:rPr>
              <a:t>isPerfetto() </a:t>
            </a:r>
            <a:r>
              <a:rPr lang="it-IT" dirty="0"/>
              <a:t>restituisce </a:t>
            </a:r>
            <a:r>
              <a:rPr lang="it-IT" i="1" dirty="0">
                <a:solidFill>
                  <a:schemeClr val="accent2"/>
                </a:solidFill>
              </a:rPr>
              <a:t>true</a:t>
            </a:r>
            <a:r>
              <a:rPr lang="it-IT" dirty="0"/>
              <a:t> se il numero rappresentato dall’oggetto è un numero perfetto e </a:t>
            </a:r>
            <a:r>
              <a:rPr lang="it-IT" i="1" dirty="0">
                <a:solidFill>
                  <a:schemeClr val="accent2"/>
                </a:solidFill>
              </a:rPr>
              <a:t>false</a:t>
            </a:r>
            <a:r>
              <a:rPr lang="it-IT" dirty="0"/>
              <a:t> in caso contrario.</a:t>
            </a:r>
          </a:p>
          <a:p>
            <a:pPr lvl="1"/>
            <a:r>
              <a:rPr lang="it-IT" dirty="0"/>
              <a:t>Il metodo </a:t>
            </a:r>
            <a:r>
              <a:rPr lang="it-IT" i="1" dirty="0">
                <a:solidFill>
                  <a:schemeClr val="accent2"/>
                </a:solidFill>
              </a:rPr>
              <a:t>stampaDivisori(OutputWindow out) </a:t>
            </a:r>
            <a:r>
              <a:rPr lang="it-IT" dirty="0"/>
              <a:t>stampa nella finestra grafica </a:t>
            </a:r>
            <a:r>
              <a:rPr lang="it-IT" i="1" dirty="0">
                <a:solidFill>
                  <a:schemeClr val="accent2"/>
                </a:solidFill>
              </a:rPr>
              <a:t>out</a:t>
            </a:r>
            <a:r>
              <a:rPr lang="it-IT" dirty="0"/>
              <a:t> i divisori interi del numero rappresentato dall’oggetto.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Es. 1: la classe </a:t>
            </a:r>
            <a:r>
              <a:rPr lang="it-IT" dirty="0" err="1"/>
              <a:t>NumeroNaturale</a:t>
            </a:r>
            <a:endParaRPr lang="it-IT" dirty="0"/>
          </a:p>
        </p:txBody>
      </p:sp>
      <p:grpSp>
        <p:nvGrpSpPr>
          <p:cNvPr id="8" name="Gruppo 7"/>
          <p:cNvGrpSpPr/>
          <p:nvPr/>
        </p:nvGrpSpPr>
        <p:grpSpPr>
          <a:xfrm>
            <a:off x="2426018" y="2780928"/>
            <a:ext cx="4291965" cy="2631758"/>
            <a:chOff x="1799310" y="3104885"/>
            <a:chExt cx="4291965" cy="2631758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799310" y="3104885"/>
              <a:ext cx="4291965" cy="2631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Rettangolo 4"/>
            <p:cNvSpPr/>
            <p:nvPr/>
          </p:nvSpPr>
          <p:spPr>
            <a:xfrm>
              <a:off x="1799692" y="3104964"/>
              <a:ext cx="4291200" cy="2631600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NumeroNaturale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import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fond.io.OutputWindow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NumeroNaturale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private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numero;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/* crea un oggetto Numero che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rappresenta il numero n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*/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NumeroNaturale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this.numero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= n;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/* restituisce il numero rappresentato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da questo oggetto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*/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getValue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this.numero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...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isPrimo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Ricordiamo che </a:t>
            </a:r>
            <a:r>
              <a:rPr lang="it-IT" i="1" dirty="0"/>
              <a:t>N</a:t>
            </a:r>
            <a:r>
              <a:rPr lang="it-IT" dirty="0"/>
              <a:t> è primo se </a:t>
            </a:r>
            <a:r>
              <a:rPr lang="it-IT" i="1" dirty="0"/>
              <a:t>N</a:t>
            </a:r>
            <a:r>
              <a:rPr lang="it-IT" dirty="0"/>
              <a:t>&gt;1 e non ha divisori interi oltre a 1 e a se stesso</a:t>
            </a:r>
          </a:p>
          <a:p>
            <a:r>
              <a:rPr lang="it-IT" i="1" dirty="0">
                <a:solidFill>
                  <a:schemeClr val="accent2"/>
                </a:solidFill>
              </a:rPr>
              <a:t>Algoritmo 1</a:t>
            </a:r>
            <a:r>
              <a:rPr lang="it-IT" dirty="0"/>
              <a:t>: scandiamo tutti i numeri nell’intervallo (1,</a:t>
            </a:r>
            <a:r>
              <a:rPr lang="it-IT" i="1" dirty="0"/>
              <a:t>N</a:t>
            </a:r>
            <a:r>
              <a:rPr lang="it-IT" dirty="0"/>
              <a:t>) e verifichiamo se uno di essi divide </a:t>
            </a:r>
            <a:r>
              <a:rPr lang="it-IT" i="1" dirty="0"/>
              <a:t>N</a:t>
            </a:r>
          </a:p>
          <a:p>
            <a:r>
              <a:rPr lang="it-IT" i="1" dirty="0">
                <a:solidFill>
                  <a:schemeClr val="accent2"/>
                </a:solidFill>
              </a:rPr>
              <a:t>Algoritmo 2</a:t>
            </a:r>
            <a:r>
              <a:rPr lang="it-IT" dirty="0"/>
              <a:t>: scandiamo tutti i numeri nell’intervallo (1,</a:t>
            </a:r>
            <a:r>
              <a:rPr lang="it-IT">
                <a:sym typeface="Symbol"/>
              </a:rPr>
              <a:t></a:t>
            </a:r>
            <a:r>
              <a:rPr lang="it-IT" i="1">
                <a:sym typeface="Symbol"/>
              </a:rPr>
              <a:t>N </a:t>
            </a:r>
            <a:r>
              <a:rPr lang="it-IT">
                <a:sym typeface="Symbol"/>
              </a:rPr>
              <a:t>] </a:t>
            </a:r>
            <a:r>
              <a:rPr lang="it-IT" dirty="0">
                <a:sym typeface="Symbol"/>
              </a:rPr>
              <a:t>e verifichiamo se uno di essi divide </a:t>
            </a:r>
            <a:r>
              <a:rPr lang="it-IT" i="1" dirty="0">
                <a:sym typeface="Symbol"/>
              </a:rPr>
              <a:t>N</a:t>
            </a:r>
          </a:p>
          <a:p>
            <a:r>
              <a:rPr lang="it-IT" dirty="0">
                <a:sym typeface="Symbol"/>
              </a:rPr>
              <a:t>In entrambi gli algoritmi appena trovo un divisore posso interrompere la scansione</a:t>
            </a:r>
            <a:endParaRPr lang="it-IT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isPrimo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/* restituisce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true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se il numero rappresentato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da questo oggetto e' un numero primo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*/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isPrimo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primo;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this.numero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&lt;2)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primo = false;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else{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primo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true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i = 2;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while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(primo &amp;&amp; i&lt;=Math.sqrt(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this.numero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)){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(this.numero%i==0)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    primo = false;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  i++;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primo;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isPerfetto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Ricordiamo che </a:t>
            </a:r>
            <a:r>
              <a:rPr lang="it-IT" i="1" dirty="0"/>
              <a:t>N</a:t>
            </a:r>
            <a:r>
              <a:rPr lang="it-IT" dirty="0"/>
              <a:t> è perfetto se è uguale alla somma dei suoi divisori interi (compreso 1 ed escluso </a:t>
            </a:r>
            <a:r>
              <a:rPr lang="it-IT" i="1" dirty="0"/>
              <a:t>N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I primi numeri perfetti sono 6, 28, 496, …</a:t>
            </a:r>
          </a:p>
          <a:p>
            <a:r>
              <a:rPr lang="it-IT" dirty="0"/>
              <a:t>Algoritmo: </a:t>
            </a:r>
          </a:p>
          <a:p>
            <a:pPr lvl="1"/>
            <a:r>
              <a:rPr lang="it-IT" dirty="0"/>
              <a:t>scandiamo tutti i numeri da 1 fino ad </a:t>
            </a:r>
            <a:r>
              <a:rPr lang="it-IT" i="1" dirty="0"/>
              <a:t>N</a:t>
            </a:r>
            <a:r>
              <a:rPr lang="it-IT" dirty="0"/>
              <a:t>/2 alla ricerca di divisori interi di </a:t>
            </a:r>
            <a:r>
              <a:rPr lang="it-IT" i="1" dirty="0"/>
              <a:t>N</a:t>
            </a:r>
          </a:p>
          <a:p>
            <a:pPr lvl="1"/>
            <a:r>
              <a:rPr lang="it-IT" dirty="0"/>
              <a:t>ogni volta che viene trovato un nuovo divisore, esso viene sommato a quelli già incontrati in precedenza </a:t>
            </a:r>
          </a:p>
          <a:p>
            <a:pPr lvl="1"/>
            <a:r>
              <a:rPr lang="it-IT" dirty="0"/>
              <a:t>al termine della ricerca, si concluderà che </a:t>
            </a:r>
            <a:r>
              <a:rPr lang="it-IT" i="1" dirty="0"/>
              <a:t>N</a:t>
            </a:r>
            <a:r>
              <a:rPr lang="it-IT" dirty="0"/>
              <a:t> è un numero perfetto se e solo se la somma dei divisori trovati varrà </a:t>
            </a:r>
            <a:r>
              <a:rPr lang="it-IT" i="1" dirty="0"/>
              <a:t>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isPerfetto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/* restituisce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true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se il numero rappresentato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da questo oggetto e' un numero perfetto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*/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isPerfetto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	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perfetto;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	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somma = 1;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	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i = 2;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	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while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(somma&lt;=this.numero &amp;&amp; i&lt;=this.numero/2){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		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(this.numero%i == 0)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			somma += i;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		i++;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	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	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(somma==this.numero)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		perfetto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true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	else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		perfetto = false;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	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perfetto;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}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5364089" y="4509120"/>
            <a:ext cx="288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Nota: se </a:t>
            </a:r>
            <a:r>
              <a:rPr lang="it-IT" i="1" dirty="0">
                <a:solidFill>
                  <a:schemeClr val="accent2"/>
                </a:solidFill>
              </a:rPr>
              <a:t>somma</a:t>
            </a:r>
            <a:r>
              <a:rPr lang="it-IT" dirty="0"/>
              <a:t> diviene maggiore di </a:t>
            </a:r>
            <a:r>
              <a:rPr lang="it-IT" i="1" dirty="0" err="1">
                <a:solidFill>
                  <a:schemeClr val="accent2"/>
                </a:solidFill>
              </a:rPr>
              <a:t>this.numero</a:t>
            </a:r>
            <a:r>
              <a:rPr lang="it-IT" dirty="0"/>
              <a:t> il ciclo si interrompe</a:t>
            </a:r>
          </a:p>
        </p:txBody>
      </p:sp>
      <p:sp>
        <p:nvSpPr>
          <p:cNvPr id="6" name="Rettangolo 5"/>
          <p:cNvSpPr/>
          <p:nvPr/>
        </p:nvSpPr>
        <p:spPr>
          <a:xfrm>
            <a:off x="1691680" y="2951839"/>
            <a:ext cx="2088232" cy="2160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1 7"/>
          <p:cNvCxnSpPr>
            <a:stCxn id="6" idx="3"/>
            <a:endCxn id="4" idx="0"/>
          </p:cNvCxnSpPr>
          <p:nvPr/>
        </p:nvCxnSpPr>
        <p:spPr>
          <a:xfrm>
            <a:off x="3779912" y="3059851"/>
            <a:ext cx="3024337" cy="14492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stampaDivisori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Algoritmo: </a:t>
            </a:r>
          </a:p>
          <a:p>
            <a:pPr lvl="1"/>
            <a:r>
              <a:rPr lang="it-IT" dirty="0"/>
              <a:t>scandiamo tutti i numeri da 1 fino ad </a:t>
            </a:r>
            <a:r>
              <a:rPr lang="it-IT" i="1" dirty="0"/>
              <a:t>N</a:t>
            </a:r>
            <a:r>
              <a:rPr lang="it-IT" dirty="0"/>
              <a:t>/2</a:t>
            </a:r>
            <a:endParaRPr lang="it-IT" i="1" dirty="0"/>
          </a:p>
          <a:p>
            <a:pPr lvl="1"/>
            <a:r>
              <a:rPr lang="it-IT" dirty="0"/>
              <a:t>per ogni numero considerato testiamo se è un divisore di </a:t>
            </a:r>
            <a:r>
              <a:rPr lang="it-IT" i="1" dirty="0"/>
              <a:t>N</a:t>
            </a:r>
          </a:p>
          <a:p>
            <a:pPr lvl="1"/>
            <a:r>
              <a:rPr lang="it-IT" dirty="0"/>
              <a:t>in caso affermativo stampiamo il numero</a:t>
            </a:r>
          </a:p>
          <a:p>
            <a:r>
              <a:rPr lang="it-IT" dirty="0"/>
              <a:t>Nota: la ricerca non può interrompersi prima di aver considerato tutti i possibili divisori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stampaDivisori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  /* stampa nella finestra grafica out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     tutti i divisori interi del numero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     rappresentato da questo oggetto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  */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stampaDivisori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OutputWindow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out){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i = 1; i&lt;=this.numero/2; i++)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(this.numero%i==0)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(i);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di test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dirty="0"/>
              <a:t>Vediamo adesso una classe di test per la classe </a:t>
            </a:r>
            <a:r>
              <a:rPr lang="it-IT" i="1" dirty="0" err="1">
                <a:solidFill>
                  <a:schemeClr val="accent2"/>
                </a:solidFill>
              </a:rPr>
              <a:t>NumeroNaturale</a:t>
            </a:r>
            <a:endParaRPr lang="it-IT" i="1" dirty="0">
              <a:solidFill>
                <a:schemeClr val="accent2"/>
              </a:solidFill>
            </a:endParaRP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TestNumeroNaturale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in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OutputWindow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out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OutputWindow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n;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// inserimento numero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do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 n =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in.readInt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("Inserisci un numero naturale");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while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(n&lt;0);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  ...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it-IT" i="1" dirty="0">
              <a:solidFill>
                <a:schemeClr val="accent2"/>
              </a:solidFill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5004048" y="5661248"/>
            <a:ext cx="3816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Nota l’uso del </a:t>
            </a:r>
            <a:r>
              <a:rPr lang="it-IT" i="1" dirty="0" err="1">
                <a:solidFill>
                  <a:schemeClr val="accent2"/>
                </a:solidFill>
              </a:rPr>
              <a:t>do-while</a:t>
            </a:r>
            <a:r>
              <a:rPr lang="it-IT" dirty="0"/>
              <a:t> per ripetere la lettura nel caso venga inserito un numero negativo</a:t>
            </a:r>
          </a:p>
        </p:txBody>
      </p:sp>
      <p:sp>
        <p:nvSpPr>
          <p:cNvPr id="6" name="Rettangolo 5"/>
          <p:cNvSpPr/>
          <p:nvPr/>
        </p:nvSpPr>
        <p:spPr>
          <a:xfrm>
            <a:off x="971600" y="4103966"/>
            <a:ext cx="6912768" cy="83720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1 6"/>
          <p:cNvCxnSpPr>
            <a:stCxn id="6" idx="2"/>
            <a:endCxn id="5" idx="0"/>
          </p:cNvCxnSpPr>
          <p:nvPr/>
        </p:nvCxnSpPr>
        <p:spPr>
          <a:xfrm>
            <a:off x="4427984" y="4941168"/>
            <a:ext cx="2484276" cy="7200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di test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400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sz="11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TestNumeroNaturale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    ...</a:t>
            </a: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    // test del costruttore</a:t>
            </a: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NumeroNaturale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num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NumeroNaturale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(n);</a:t>
            </a:r>
          </a:p>
          <a:p>
            <a:pPr>
              <a:buNone/>
            </a:pPr>
            <a:endParaRPr lang="it-IT" sz="11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    // test dei metodi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isPrimo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 e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getValue</a:t>
            </a:r>
            <a:endParaRPr lang="it-IT" sz="11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num.isPrimo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())</a:t>
            </a: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num.getValue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()+" e' primo");</a:t>
            </a: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    else</a:t>
            </a: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num.getValue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()+" non e' primo");</a:t>
            </a:r>
          </a:p>
          <a:p>
            <a:pPr>
              <a:buNone/>
            </a:pPr>
            <a:endParaRPr lang="it-IT" sz="11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    // test del metodo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stampaDivisori</a:t>
            </a:r>
            <a:endParaRPr lang="it-IT" sz="11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("Divisori del numero "+n+":");</a:t>
            </a: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num.stampaDivisori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(out);</a:t>
            </a:r>
          </a:p>
          <a:p>
            <a:pPr>
              <a:buNone/>
            </a:pPr>
            <a:endParaRPr lang="it-IT" sz="11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    // test del metodo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isPerfetto</a:t>
            </a:r>
            <a:endParaRPr lang="it-IT" sz="11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out.write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("Numeri perfetti fino a "+n+": ");</a:t>
            </a: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 i = 0; i&lt;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=n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; i++){</a:t>
            </a: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NumeroNaturale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(i).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isPerfetto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())</a:t>
            </a: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	   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out.write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100" dirty="0" err="1">
                <a:latin typeface="Courier New" pitchFamily="49" charset="0"/>
                <a:cs typeface="Courier New" pitchFamily="49" charset="0"/>
              </a:rPr>
              <a:t>i+</a:t>
            </a:r>
            <a:r>
              <a:rPr lang="it-IT" sz="1100" dirty="0">
                <a:latin typeface="Courier New" pitchFamily="49" charset="0"/>
                <a:cs typeface="Courier New" pitchFamily="49" charset="0"/>
              </a:rPr>
              <a:t>" ");</a:t>
            </a: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1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Es. 2: </a:t>
            </a:r>
            <a:r>
              <a:rPr lang="it-IT" dirty="0" err="1"/>
              <a:t>AnalizzatoreDiStringa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Vogliamo ora realizzare una classe di nome </a:t>
            </a:r>
            <a:r>
              <a:rPr lang="it-IT" i="1" dirty="0">
                <a:solidFill>
                  <a:schemeClr val="accent2"/>
                </a:solidFill>
              </a:rPr>
              <a:t>AnalizzatoreDiStringa</a:t>
            </a:r>
            <a:r>
              <a:rPr lang="it-IT" dirty="0"/>
              <a:t>, tale che una sua istanza rappresenti una qualunque stringa di caratteri</a:t>
            </a:r>
          </a:p>
          <a:p>
            <a:r>
              <a:rPr lang="it-IT" dirty="0"/>
              <a:t>La classe sarà dotata di metodi di istanza che permetteranno di estrarre alcune statistiche relative alla stringa rappresentata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Es. 2: </a:t>
            </a:r>
            <a:r>
              <a:rPr lang="it-IT" dirty="0" err="1"/>
              <a:t>AnalizzatoreDiStringa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Metodi della classe </a:t>
            </a:r>
            <a:r>
              <a:rPr lang="it-IT" i="1" dirty="0" err="1">
                <a:solidFill>
                  <a:schemeClr val="accent2"/>
                </a:solidFill>
              </a:rPr>
              <a:t>AnalizzatoreDiStringa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Il metodo </a:t>
            </a:r>
            <a:r>
              <a:rPr lang="it-IT" i="1" dirty="0">
                <a:solidFill>
                  <a:schemeClr val="accent2"/>
                </a:solidFill>
              </a:rPr>
              <a:t>getValue</a:t>
            </a:r>
            <a:r>
              <a:rPr lang="it-IT" dirty="0">
                <a:solidFill>
                  <a:schemeClr val="accent2"/>
                </a:solidFill>
              </a:rPr>
              <a:t>()</a:t>
            </a:r>
            <a:r>
              <a:rPr lang="it-IT" dirty="0"/>
              <a:t> restituisce la stringa rappresentata dall’oggetto</a:t>
            </a:r>
          </a:p>
          <a:p>
            <a:pPr lvl="1"/>
            <a:r>
              <a:rPr lang="it-IT" dirty="0"/>
              <a:t>Il metodo </a:t>
            </a:r>
            <a:r>
              <a:rPr lang="it-IT" i="1" dirty="0">
                <a:solidFill>
                  <a:schemeClr val="accent2"/>
                </a:solidFill>
              </a:rPr>
              <a:t>frequenza</a:t>
            </a:r>
            <a:r>
              <a:rPr lang="it-IT" dirty="0">
                <a:solidFill>
                  <a:schemeClr val="accent2"/>
                </a:solidFill>
              </a:rPr>
              <a:t>(</a:t>
            </a:r>
            <a:r>
              <a:rPr lang="it-IT" i="1" dirty="0" err="1">
                <a:solidFill>
                  <a:schemeClr val="accent2"/>
                </a:solidFill>
              </a:rPr>
              <a:t>char</a:t>
            </a:r>
            <a:r>
              <a:rPr lang="it-IT" i="1" dirty="0">
                <a:solidFill>
                  <a:schemeClr val="accent2"/>
                </a:solidFill>
              </a:rPr>
              <a:t> ch</a:t>
            </a:r>
            <a:r>
              <a:rPr lang="it-IT" dirty="0">
                <a:solidFill>
                  <a:schemeClr val="accent2"/>
                </a:solidFill>
              </a:rPr>
              <a:t>)</a:t>
            </a:r>
            <a:r>
              <a:rPr lang="it-IT" dirty="0"/>
              <a:t> restituisce il numero di occorrenze del carattere </a:t>
            </a:r>
            <a:r>
              <a:rPr lang="it-IT" i="1" dirty="0">
                <a:solidFill>
                  <a:schemeClr val="accent2"/>
                </a:solidFill>
              </a:rPr>
              <a:t>ch</a:t>
            </a:r>
            <a:r>
              <a:rPr lang="it-IT" dirty="0"/>
              <a:t> nella stringa rappresentata dall’oggetto</a:t>
            </a:r>
          </a:p>
          <a:p>
            <a:pPr lvl="1"/>
            <a:r>
              <a:rPr lang="it-IT" dirty="0"/>
              <a:t>Il metodo </a:t>
            </a:r>
            <a:r>
              <a:rPr lang="it-IT" i="1" dirty="0" err="1">
                <a:solidFill>
                  <a:schemeClr val="accent2"/>
                </a:solidFill>
              </a:rPr>
              <a:t>numVocali</a:t>
            </a:r>
            <a:r>
              <a:rPr lang="it-IT" dirty="0">
                <a:solidFill>
                  <a:schemeClr val="accent2"/>
                </a:solidFill>
              </a:rPr>
              <a:t>()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restituisce il numero di vocali presenti nella stringa rappresentata dall’oggetto</a:t>
            </a:r>
          </a:p>
          <a:p>
            <a:pPr lvl="1"/>
            <a:r>
              <a:rPr lang="it-IT" dirty="0"/>
              <a:t>Il metodo </a:t>
            </a:r>
            <a:r>
              <a:rPr lang="it-IT" i="1" dirty="0" err="1">
                <a:solidFill>
                  <a:schemeClr val="accent2"/>
                </a:solidFill>
              </a:rPr>
              <a:t>numConsonanti</a:t>
            </a:r>
            <a:r>
              <a:rPr lang="it-IT" i="1" dirty="0">
                <a:solidFill>
                  <a:schemeClr val="accent2"/>
                </a:solidFill>
              </a:rPr>
              <a:t>() </a:t>
            </a:r>
            <a:r>
              <a:rPr lang="it-IT" dirty="0"/>
              <a:t>restituisce il numero di consonanti presenti nella stringa rappresentata dall’oggetto</a:t>
            </a:r>
          </a:p>
          <a:p>
            <a:pPr lvl="1"/>
            <a:r>
              <a:rPr lang="it-IT" dirty="0"/>
              <a:t>Il metodo </a:t>
            </a:r>
            <a:r>
              <a:rPr lang="it-IT" i="1" dirty="0" err="1">
                <a:solidFill>
                  <a:schemeClr val="accent2"/>
                </a:solidFill>
              </a:rPr>
              <a:t>stampaFreqCarMinuscoli</a:t>
            </a:r>
            <a:r>
              <a:rPr lang="it-IT" i="1" dirty="0">
                <a:solidFill>
                  <a:schemeClr val="accent2"/>
                </a:solidFill>
              </a:rPr>
              <a:t>(</a:t>
            </a:r>
            <a:r>
              <a:rPr lang="it-IT" i="1" dirty="0" err="1">
                <a:solidFill>
                  <a:schemeClr val="accent2"/>
                </a:solidFill>
              </a:rPr>
              <a:t>OutputWindow</a:t>
            </a:r>
            <a:r>
              <a:rPr lang="it-IT" i="1" dirty="0">
                <a:solidFill>
                  <a:schemeClr val="accent2"/>
                </a:solidFill>
              </a:rPr>
              <a:t> out</a:t>
            </a:r>
            <a:r>
              <a:rPr lang="it-IT" dirty="0"/>
              <a:t>) stampa nella finestra grafica </a:t>
            </a:r>
            <a:r>
              <a:rPr lang="it-IT" i="1" dirty="0">
                <a:solidFill>
                  <a:schemeClr val="accent2"/>
                </a:solidFill>
              </a:rPr>
              <a:t>out</a:t>
            </a:r>
            <a:r>
              <a:rPr lang="it-IT" dirty="0">
                <a:solidFill>
                  <a:schemeClr val="accent2"/>
                </a:solidFill>
              </a:rPr>
              <a:t> </a:t>
            </a:r>
            <a:r>
              <a:rPr lang="it-IT" dirty="0"/>
              <a:t>la frequenza di ogni carattere minuscolo presente nella stringa rappresentata dall’oggetto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Es. 2: </a:t>
            </a:r>
            <a:r>
              <a:rPr lang="it-IT" dirty="0" err="1"/>
              <a:t>AnalizzatoreDiStringa</a:t>
            </a:r>
            <a:endParaRPr lang="it-IT" dirty="0"/>
          </a:p>
        </p:txBody>
      </p:sp>
      <p:grpSp>
        <p:nvGrpSpPr>
          <p:cNvPr id="8" name="Gruppo 7"/>
          <p:cNvGrpSpPr/>
          <p:nvPr/>
        </p:nvGrpSpPr>
        <p:grpSpPr>
          <a:xfrm>
            <a:off x="2413159" y="3121233"/>
            <a:ext cx="4317683" cy="2631758"/>
            <a:chOff x="2196436" y="3121233"/>
            <a:chExt cx="4317683" cy="2631758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196436" y="3121233"/>
              <a:ext cx="4317683" cy="2631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Rettangolo 6"/>
            <p:cNvSpPr/>
            <p:nvPr/>
          </p:nvSpPr>
          <p:spPr>
            <a:xfrm>
              <a:off x="2197077" y="3121312"/>
              <a:ext cx="4316400" cy="26316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</a:t>
            </a:r>
            <a:r>
              <a:rPr lang="it-IT" dirty="0" err="1"/>
              <a:t>AnalizzatoreDiStringa</a:t>
            </a:r>
            <a:endParaRPr lang="it-IT" dirty="0"/>
          </a:p>
        </p:txBody>
      </p:sp>
      <p:sp>
        <p:nvSpPr>
          <p:cNvPr id="6" name="Segnaposto contenuto 5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AnalizzatoreDiStringa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private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stringa;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/* crea un oggetto che rappresenta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la stringa str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*/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AnalizzatoreDiStringa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str){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this.stringa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= str;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/* restituisce la stringa rappresentata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 da questo oggetto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*/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getValue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this.stringa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 ...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frequenza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Algoritmo: </a:t>
            </a:r>
          </a:p>
          <a:p>
            <a:pPr lvl="1"/>
            <a:r>
              <a:rPr lang="it-IT" dirty="0"/>
              <a:t>scandiamo tutti i caratteri della stringa</a:t>
            </a:r>
            <a:endParaRPr lang="it-IT" i="1" dirty="0"/>
          </a:p>
          <a:p>
            <a:pPr lvl="1"/>
            <a:r>
              <a:rPr lang="it-IT" dirty="0"/>
              <a:t>ogni carattere considerato viene confrontato con il carattere cercato</a:t>
            </a:r>
          </a:p>
          <a:p>
            <a:pPr lvl="1"/>
            <a:r>
              <a:rPr lang="it-IT" dirty="0"/>
              <a:t>se il carattere corrente è uguale a quello cercato incrementiamo di uno un contatore inizialmente posto a zero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frequenza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/* restituisce la frequenza del carattere ch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all'interno della stringa rappresentata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da questo oggetto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*/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frequenza(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char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ch){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f = 0;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i = 0; i&lt;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this.stringa.length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(); i++){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char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chTemp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this.stringa.charAt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(i);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(chTemp==ch)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		f++;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f;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numVocali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Algoritmo: </a:t>
            </a:r>
          </a:p>
          <a:p>
            <a:pPr lvl="1"/>
            <a:r>
              <a:rPr lang="it-IT" dirty="0"/>
              <a:t>scandiamo tutti i caratteri della stringa</a:t>
            </a:r>
            <a:endParaRPr lang="it-IT" i="1" dirty="0"/>
          </a:p>
          <a:p>
            <a:pPr lvl="1"/>
            <a:r>
              <a:rPr lang="it-IT" dirty="0"/>
              <a:t>se il carattere corrente è una vocale incrementiamo di uno un contatore inizialmente posto a zero</a:t>
            </a:r>
          </a:p>
          <a:p>
            <a:r>
              <a:rPr lang="it-IT" dirty="0"/>
              <a:t>Per evitare di dover confrontare il carattere corrente sia con le vocali maiuscole che con le minuscole utilizziamo una stringa </a:t>
            </a:r>
            <a:r>
              <a:rPr lang="it-IT" i="1" dirty="0" err="1">
                <a:solidFill>
                  <a:schemeClr val="accent2"/>
                </a:solidFill>
              </a:rPr>
              <a:t>temp</a:t>
            </a:r>
            <a:r>
              <a:rPr lang="it-IT" dirty="0"/>
              <a:t> ottenuta da quella di partenza utilizzando il metodo </a:t>
            </a:r>
            <a:r>
              <a:rPr lang="it-IT" i="1" dirty="0" err="1">
                <a:solidFill>
                  <a:schemeClr val="accent2"/>
                </a:solidFill>
              </a:rPr>
              <a:t>toUpperCase</a:t>
            </a: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numVocali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/* restituisce il numero di vocali della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stringa rappresentata da questo oggetto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*/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numVocali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vocali = 0;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temp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this.stringa.toUpperCase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i = 0; i&lt;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temp.length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(); i++){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char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chTemp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temp.charAt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(i);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((chTemp=='A') ||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    (chTemp=='E') ||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    (chTemp=='I') ||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    (chTemp=='O') ||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    (chTemp=='U'))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      vocali++;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vocali;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numConsonanti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Il metodo </a:t>
            </a:r>
            <a:r>
              <a:rPr lang="it-IT" i="1" dirty="0" err="1">
                <a:solidFill>
                  <a:schemeClr val="accent2"/>
                </a:solidFill>
              </a:rPr>
              <a:t>numConsonanti</a:t>
            </a:r>
            <a:r>
              <a:rPr lang="it-IT" dirty="0"/>
              <a:t> è analogo al metodo </a:t>
            </a:r>
            <a:r>
              <a:rPr lang="it-IT" i="1" dirty="0" err="1">
                <a:solidFill>
                  <a:schemeClr val="accent2"/>
                </a:solidFill>
              </a:rPr>
              <a:t>numVocali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Poiché però le consonanti sono più delle vocali sarebbe scomodo elencarle tutte come abbiamo fatto per le vocali</a:t>
            </a:r>
          </a:p>
          <a:p>
            <a:endParaRPr lang="it-IT" dirty="0"/>
          </a:p>
          <a:p>
            <a:r>
              <a:rPr lang="it-IT" dirty="0"/>
              <a:t>Nota: non è possibile ottenere il numero di consonanti sottraendo il numero di vocali al numero complessivo di caratteri:</a:t>
            </a:r>
          </a:p>
          <a:p>
            <a:pPr lvl="1"/>
            <a:r>
              <a:rPr lang="it-IT" dirty="0"/>
              <a:t>esistono caratteri che non sono né vocali né consonanti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numConsonanti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/* restituisce il numero di consonanti della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stringa rappresentata da questo oggetto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*/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numConsonanti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consonanti = 0;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temp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this.stringa.toUpperCase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i = 0; i&lt;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temp.length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(); i++){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char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chTemp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temp.charAt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(i);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((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chTemp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&gt;='B' &amp;&amp;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chTemp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&lt;='D') ||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        (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chTemp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&gt;='F' &amp;&amp;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chTemp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&lt;='H') ||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        (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chTemp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&gt;='J' &amp;&amp;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chTemp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&lt;='N') ||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        (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chTemp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&gt;='P' &amp;&amp;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chTemp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&lt;='T') ||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        (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chTemp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&gt;='V' &amp;&amp;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chTemp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&lt;='Z'))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	          consonanti++;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consonanti;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Il metodo </a:t>
            </a:r>
            <a:r>
              <a:rPr lang="it-IT" dirty="0" err="1"/>
              <a:t>stampaFreqCarMinuscoli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La strategia è la stessa vista per il metodo </a:t>
            </a:r>
            <a:r>
              <a:rPr lang="it-IT" i="1" dirty="0">
                <a:solidFill>
                  <a:schemeClr val="accent2"/>
                </a:solidFill>
              </a:rPr>
              <a:t>frequenza</a:t>
            </a:r>
            <a:r>
              <a:rPr lang="it-IT" dirty="0"/>
              <a:t> applicata a tutti i possibili caratteri minuscoli dell’alfabeto</a:t>
            </a:r>
          </a:p>
          <a:p>
            <a:r>
              <a:rPr lang="it-IT" dirty="0"/>
              <a:t>Scandiamo tutti i caratteri minuscoli dell’alfabeto</a:t>
            </a:r>
          </a:p>
          <a:p>
            <a:r>
              <a:rPr lang="it-IT" dirty="0"/>
              <a:t>per ognuno di essi applichiamo la strategia descritta per il metodo </a:t>
            </a:r>
            <a:r>
              <a:rPr lang="it-IT" i="1" dirty="0">
                <a:solidFill>
                  <a:schemeClr val="accent2"/>
                </a:solidFill>
              </a:rPr>
              <a:t>frequenza 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Il metodo </a:t>
            </a:r>
            <a:r>
              <a:rPr lang="it-IT" dirty="0" err="1"/>
              <a:t>stampaFreqCarMinuscoli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public void stampaFreqCarMinuscoli(OutputWindow out){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for (char ch = ’a’; ch&lt;=’z’; ch++){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f = 0; // frequenza del carattere ch</a:t>
            </a:r>
          </a:p>
          <a:p>
            <a:pPr>
              <a:buNone/>
            </a:pPr>
            <a:r>
              <a:rPr lang="nn-NO" sz="1600" dirty="0">
                <a:latin typeface="Courier New" pitchFamily="49" charset="0"/>
                <a:cs typeface="Courier New" pitchFamily="49" charset="0"/>
              </a:rPr>
              <a:t>    for (int i = 0; i&lt;this.stringa.length(); i++){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char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chTemp = this.stringa.charAt(i);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(chTemp</a:t>
            </a:r>
            <a:r>
              <a:rPr lang="it-IT" sz="1600">
                <a:latin typeface="Courier New" pitchFamily="49" charset="0"/>
                <a:cs typeface="Courier New" pitchFamily="49" charset="0"/>
              </a:rPr>
              <a:t>==ch)</a:t>
            </a:r>
            <a:endParaRPr lang="it-IT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  f++;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(f&gt;0)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("frequenza di "+ch+": "+f);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Il metodo </a:t>
            </a:r>
            <a:r>
              <a:rPr lang="it-IT" dirty="0" err="1"/>
              <a:t>stampaFreqCarMinuscoli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Si noti l’uso di due cicli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 annidati:</a:t>
            </a:r>
          </a:p>
          <a:p>
            <a:pPr lvl="1"/>
            <a:r>
              <a:rPr lang="it-IT" dirty="0"/>
              <a:t>il primo scandisce tutti i caratteri da </a:t>
            </a:r>
            <a:r>
              <a:rPr lang="it-IT" i="1" dirty="0">
                <a:solidFill>
                  <a:schemeClr val="accent2"/>
                </a:solidFill>
              </a:rPr>
              <a:t>‘a’</a:t>
            </a:r>
            <a:r>
              <a:rPr lang="it-IT" dirty="0"/>
              <a:t> </a:t>
            </a:r>
            <a:r>
              <a:rPr lang="it-IT" dirty="0" err="1"/>
              <a:t>a</a:t>
            </a:r>
            <a:r>
              <a:rPr lang="it-IT" dirty="0"/>
              <a:t> </a:t>
            </a:r>
            <a:r>
              <a:rPr lang="it-IT" i="1" dirty="0">
                <a:solidFill>
                  <a:schemeClr val="accent2"/>
                </a:solidFill>
              </a:rPr>
              <a:t>‘z’</a:t>
            </a:r>
          </a:p>
          <a:p>
            <a:pPr lvl="1"/>
            <a:r>
              <a:rPr lang="it-IT" dirty="0"/>
              <a:t>per ogni valore fissato di </a:t>
            </a:r>
            <a:r>
              <a:rPr lang="it-IT" i="1" dirty="0">
                <a:solidFill>
                  <a:schemeClr val="accent2"/>
                </a:solidFill>
              </a:rPr>
              <a:t>ch</a:t>
            </a:r>
            <a:r>
              <a:rPr lang="it-IT" dirty="0"/>
              <a:t> si scandisce l’intera stringa (secondo ciclo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) in maniera analoga a quanto fatto nel metodo </a:t>
            </a:r>
            <a:r>
              <a:rPr lang="it-IT" i="1" dirty="0">
                <a:solidFill>
                  <a:schemeClr val="accent2"/>
                </a:solidFill>
              </a:rPr>
              <a:t>frequenza</a:t>
            </a: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11430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a</a:t>
            </a: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14478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b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17526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c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20574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d</a:t>
            </a: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23622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e</a:t>
            </a: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26670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f</a:t>
            </a: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53340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z</a:t>
            </a: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2971800" y="4652963"/>
            <a:ext cx="2667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……………………….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11430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c</a:t>
            </a:r>
          </a:p>
        </p:txBody>
      </p:sp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14478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i</a:t>
            </a:r>
          </a:p>
        </p:txBody>
      </p:sp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17526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a</a:t>
            </a:r>
          </a:p>
        </p:txBody>
      </p:sp>
      <p:sp>
        <p:nvSpPr>
          <p:cNvPr id="15" name="Text Box 24"/>
          <p:cNvSpPr txBox="1">
            <a:spLocks noChangeArrowheads="1"/>
          </p:cNvSpPr>
          <p:nvPr/>
        </p:nvSpPr>
        <p:spPr bwMode="auto">
          <a:xfrm>
            <a:off x="20574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o</a:t>
            </a:r>
          </a:p>
        </p:txBody>
      </p:sp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23622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 </a:t>
            </a:r>
          </a:p>
        </p:txBody>
      </p:sp>
      <p:sp>
        <p:nvSpPr>
          <p:cNvPr id="17" name="Text Box 26"/>
          <p:cNvSpPr txBox="1">
            <a:spLocks noChangeArrowheads="1"/>
          </p:cNvSpPr>
          <p:nvPr/>
        </p:nvSpPr>
        <p:spPr bwMode="auto">
          <a:xfrm>
            <a:off x="2667000" y="5562600"/>
            <a:ext cx="3810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m</a:t>
            </a:r>
          </a:p>
        </p:txBody>
      </p:sp>
      <p:sp>
        <p:nvSpPr>
          <p:cNvPr id="18" name="Text Box 29"/>
          <p:cNvSpPr txBox="1">
            <a:spLocks noChangeArrowheads="1"/>
          </p:cNvSpPr>
          <p:nvPr/>
        </p:nvSpPr>
        <p:spPr bwMode="auto">
          <a:xfrm>
            <a:off x="30480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o</a:t>
            </a:r>
          </a:p>
        </p:txBody>
      </p:sp>
      <p:sp>
        <p:nvSpPr>
          <p:cNvPr id="19" name="Text Box 30"/>
          <p:cNvSpPr txBox="1">
            <a:spLocks noChangeArrowheads="1"/>
          </p:cNvSpPr>
          <p:nvPr/>
        </p:nvSpPr>
        <p:spPr bwMode="auto">
          <a:xfrm>
            <a:off x="33528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n</a:t>
            </a:r>
          </a:p>
        </p:txBody>
      </p:sp>
      <p:sp>
        <p:nvSpPr>
          <p:cNvPr id="20" name="Text Box 31"/>
          <p:cNvSpPr txBox="1">
            <a:spLocks noChangeArrowheads="1"/>
          </p:cNvSpPr>
          <p:nvPr/>
        </p:nvSpPr>
        <p:spPr bwMode="auto">
          <a:xfrm>
            <a:off x="36576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d</a:t>
            </a:r>
          </a:p>
        </p:txBody>
      </p:sp>
      <p:sp>
        <p:nvSpPr>
          <p:cNvPr id="21" name="Text Box 32"/>
          <p:cNvSpPr txBox="1">
            <a:spLocks noChangeArrowheads="1"/>
          </p:cNvSpPr>
          <p:nvPr/>
        </p:nvSpPr>
        <p:spPr bwMode="auto">
          <a:xfrm>
            <a:off x="39624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o</a:t>
            </a:r>
          </a:p>
        </p:txBody>
      </p:sp>
      <p:sp>
        <p:nvSpPr>
          <p:cNvPr id="22" name="AutoShape 36"/>
          <p:cNvSpPr>
            <a:spLocks noChangeArrowheads="1"/>
          </p:cNvSpPr>
          <p:nvPr/>
        </p:nvSpPr>
        <p:spPr bwMode="auto">
          <a:xfrm>
            <a:off x="1219200" y="42672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3" name="AutoShape 37"/>
          <p:cNvSpPr>
            <a:spLocks noChangeArrowheads="1"/>
          </p:cNvSpPr>
          <p:nvPr/>
        </p:nvSpPr>
        <p:spPr bwMode="auto">
          <a:xfrm>
            <a:off x="11811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4" name="AutoShape 38"/>
          <p:cNvSpPr>
            <a:spLocks noChangeArrowheads="1"/>
          </p:cNvSpPr>
          <p:nvPr/>
        </p:nvSpPr>
        <p:spPr bwMode="auto">
          <a:xfrm>
            <a:off x="15240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5" name="AutoShape 39"/>
          <p:cNvSpPr>
            <a:spLocks noChangeArrowheads="1"/>
          </p:cNvSpPr>
          <p:nvPr/>
        </p:nvSpPr>
        <p:spPr bwMode="auto">
          <a:xfrm>
            <a:off x="18288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6" name="AutoShape 40"/>
          <p:cNvSpPr>
            <a:spLocks noChangeArrowheads="1"/>
          </p:cNvSpPr>
          <p:nvPr/>
        </p:nvSpPr>
        <p:spPr bwMode="auto">
          <a:xfrm>
            <a:off x="21336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7" name="AutoShape 41"/>
          <p:cNvSpPr>
            <a:spLocks noChangeArrowheads="1"/>
          </p:cNvSpPr>
          <p:nvPr/>
        </p:nvSpPr>
        <p:spPr bwMode="auto">
          <a:xfrm>
            <a:off x="24384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8" name="AutoShape 42"/>
          <p:cNvSpPr>
            <a:spLocks noChangeArrowheads="1"/>
          </p:cNvSpPr>
          <p:nvPr/>
        </p:nvSpPr>
        <p:spPr bwMode="auto">
          <a:xfrm>
            <a:off x="27432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9" name="AutoShape 43"/>
          <p:cNvSpPr>
            <a:spLocks noChangeArrowheads="1"/>
          </p:cNvSpPr>
          <p:nvPr/>
        </p:nvSpPr>
        <p:spPr bwMode="auto">
          <a:xfrm>
            <a:off x="30480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0" name="AutoShape 44"/>
          <p:cNvSpPr>
            <a:spLocks noChangeArrowheads="1"/>
          </p:cNvSpPr>
          <p:nvPr/>
        </p:nvSpPr>
        <p:spPr bwMode="auto">
          <a:xfrm>
            <a:off x="33528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1" name="AutoShape 45"/>
          <p:cNvSpPr>
            <a:spLocks noChangeArrowheads="1"/>
          </p:cNvSpPr>
          <p:nvPr/>
        </p:nvSpPr>
        <p:spPr bwMode="auto">
          <a:xfrm>
            <a:off x="36576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2" name="AutoShape 46"/>
          <p:cNvSpPr>
            <a:spLocks noChangeArrowheads="1"/>
          </p:cNvSpPr>
          <p:nvPr/>
        </p:nvSpPr>
        <p:spPr bwMode="auto">
          <a:xfrm>
            <a:off x="40386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Il metodo </a:t>
            </a:r>
            <a:r>
              <a:rPr lang="it-IT" dirty="0" err="1"/>
              <a:t>stampaFreqCarMinuscoli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Si noti l’uso di due cicli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 annidati:</a:t>
            </a:r>
          </a:p>
          <a:p>
            <a:pPr lvl="1"/>
            <a:r>
              <a:rPr lang="it-IT" dirty="0"/>
              <a:t>il primo scandisce tutti i caratteri da </a:t>
            </a:r>
            <a:r>
              <a:rPr lang="it-IT" i="1" dirty="0">
                <a:solidFill>
                  <a:schemeClr val="accent2"/>
                </a:solidFill>
              </a:rPr>
              <a:t>‘a’</a:t>
            </a:r>
            <a:r>
              <a:rPr lang="it-IT" dirty="0"/>
              <a:t> </a:t>
            </a:r>
            <a:r>
              <a:rPr lang="it-IT" dirty="0" err="1"/>
              <a:t>a</a:t>
            </a:r>
            <a:r>
              <a:rPr lang="it-IT" dirty="0"/>
              <a:t> </a:t>
            </a:r>
            <a:r>
              <a:rPr lang="it-IT" i="1" dirty="0">
                <a:solidFill>
                  <a:schemeClr val="accent2"/>
                </a:solidFill>
              </a:rPr>
              <a:t>‘z’</a:t>
            </a:r>
          </a:p>
          <a:p>
            <a:pPr lvl="1"/>
            <a:r>
              <a:rPr lang="it-IT" dirty="0"/>
              <a:t>per ogni valore fissato di </a:t>
            </a:r>
            <a:r>
              <a:rPr lang="it-IT" i="1" dirty="0">
                <a:solidFill>
                  <a:schemeClr val="accent2"/>
                </a:solidFill>
              </a:rPr>
              <a:t>ch</a:t>
            </a:r>
            <a:r>
              <a:rPr lang="it-IT" dirty="0"/>
              <a:t> si scandisce l’intera stringa (secondo ciclo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) in maniera analoga a quanto fatto nel metodo </a:t>
            </a:r>
            <a:r>
              <a:rPr lang="it-IT" i="1" dirty="0">
                <a:solidFill>
                  <a:schemeClr val="accent2"/>
                </a:solidFill>
              </a:rPr>
              <a:t>frequenza</a:t>
            </a: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11430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a</a:t>
            </a: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14478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b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17526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c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20574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d</a:t>
            </a: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23622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e</a:t>
            </a: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26670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f</a:t>
            </a: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53340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z</a:t>
            </a: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2971800" y="4652963"/>
            <a:ext cx="2667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……………………….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11430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c</a:t>
            </a:r>
          </a:p>
        </p:txBody>
      </p:sp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14478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i</a:t>
            </a:r>
          </a:p>
        </p:txBody>
      </p:sp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17526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a</a:t>
            </a:r>
          </a:p>
        </p:txBody>
      </p:sp>
      <p:sp>
        <p:nvSpPr>
          <p:cNvPr id="15" name="Text Box 24"/>
          <p:cNvSpPr txBox="1">
            <a:spLocks noChangeArrowheads="1"/>
          </p:cNvSpPr>
          <p:nvPr/>
        </p:nvSpPr>
        <p:spPr bwMode="auto">
          <a:xfrm>
            <a:off x="20574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o</a:t>
            </a:r>
          </a:p>
        </p:txBody>
      </p:sp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23622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 </a:t>
            </a:r>
          </a:p>
        </p:txBody>
      </p:sp>
      <p:sp>
        <p:nvSpPr>
          <p:cNvPr id="17" name="Text Box 26"/>
          <p:cNvSpPr txBox="1">
            <a:spLocks noChangeArrowheads="1"/>
          </p:cNvSpPr>
          <p:nvPr/>
        </p:nvSpPr>
        <p:spPr bwMode="auto">
          <a:xfrm>
            <a:off x="2667000" y="5562600"/>
            <a:ext cx="3810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m</a:t>
            </a:r>
          </a:p>
        </p:txBody>
      </p:sp>
      <p:sp>
        <p:nvSpPr>
          <p:cNvPr id="18" name="Text Box 29"/>
          <p:cNvSpPr txBox="1">
            <a:spLocks noChangeArrowheads="1"/>
          </p:cNvSpPr>
          <p:nvPr/>
        </p:nvSpPr>
        <p:spPr bwMode="auto">
          <a:xfrm>
            <a:off x="30480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o</a:t>
            </a:r>
          </a:p>
        </p:txBody>
      </p:sp>
      <p:sp>
        <p:nvSpPr>
          <p:cNvPr id="19" name="Text Box 30"/>
          <p:cNvSpPr txBox="1">
            <a:spLocks noChangeArrowheads="1"/>
          </p:cNvSpPr>
          <p:nvPr/>
        </p:nvSpPr>
        <p:spPr bwMode="auto">
          <a:xfrm>
            <a:off x="33528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n</a:t>
            </a:r>
          </a:p>
        </p:txBody>
      </p:sp>
      <p:sp>
        <p:nvSpPr>
          <p:cNvPr id="20" name="Text Box 31"/>
          <p:cNvSpPr txBox="1">
            <a:spLocks noChangeArrowheads="1"/>
          </p:cNvSpPr>
          <p:nvPr/>
        </p:nvSpPr>
        <p:spPr bwMode="auto">
          <a:xfrm>
            <a:off x="36576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d</a:t>
            </a:r>
          </a:p>
        </p:txBody>
      </p:sp>
      <p:sp>
        <p:nvSpPr>
          <p:cNvPr id="21" name="Text Box 32"/>
          <p:cNvSpPr txBox="1">
            <a:spLocks noChangeArrowheads="1"/>
          </p:cNvSpPr>
          <p:nvPr/>
        </p:nvSpPr>
        <p:spPr bwMode="auto">
          <a:xfrm>
            <a:off x="39624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o</a:t>
            </a:r>
          </a:p>
        </p:txBody>
      </p:sp>
      <p:sp>
        <p:nvSpPr>
          <p:cNvPr id="22" name="AutoShape 36"/>
          <p:cNvSpPr>
            <a:spLocks noChangeArrowheads="1"/>
          </p:cNvSpPr>
          <p:nvPr/>
        </p:nvSpPr>
        <p:spPr bwMode="auto">
          <a:xfrm>
            <a:off x="1497115" y="42672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3" name="AutoShape 37"/>
          <p:cNvSpPr>
            <a:spLocks noChangeArrowheads="1"/>
          </p:cNvSpPr>
          <p:nvPr/>
        </p:nvSpPr>
        <p:spPr bwMode="auto">
          <a:xfrm>
            <a:off x="11811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4" name="AutoShape 38"/>
          <p:cNvSpPr>
            <a:spLocks noChangeArrowheads="1"/>
          </p:cNvSpPr>
          <p:nvPr/>
        </p:nvSpPr>
        <p:spPr bwMode="auto">
          <a:xfrm>
            <a:off x="15240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5" name="AutoShape 39"/>
          <p:cNvSpPr>
            <a:spLocks noChangeArrowheads="1"/>
          </p:cNvSpPr>
          <p:nvPr/>
        </p:nvSpPr>
        <p:spPr bwMode="auto">
          <a:xfrm>
            <a:off x="18288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6" name="AutoShape 40"/>
          <p:cNvSpPr>
            <a:spLocks noChangeArrowheads="1"/>
          </p:cNvSpPr>
          <p:nvPr/>
        </p:nvSpPr>
        <p:spPr bwMode="auto">
          <a:xfrm>
            <a:off x="21336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7" name="AutoShape 41"/>
          <p:cNvSpPr>
            <a:spLocks noChangeArrowheads="1"/>
          </p:cNvSpPr>
          <p:nvPr/>
        </p:nvSpPr>
        <p:spPr bwMode="auto">
          <a:xfrm>
            <a:off x="24384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8" name="AutoShape 42"/>
          <p:cNvSpPr>
            <a:spLocks noChangeArrowheads="1"/>
          </p:cNvSpPr>
          <p:nvPr/>
        </p:nvSpPr>
        <p:spPr bwMode="auto">
          <a:xfrm>
            <a:off x="27432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9" name="AutoShape 43"/>
          <p:cNvSpPr>
            <a:spLocks noChangeArrowheads="1"/>
          </p:cNvSpPr>
          <p:nvPr/>
        </p:nvSpPr>
        <p:spPr bwMode="auto">
          <a:xfrm>
            <a:off x="30480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0" name="AutoShape 44"/>
          <p:cNvSpPr>
            <a:spLocks noChangeArrowheads="1"/>
          </p:cNvSpPr>
          <p:nvPr/>
        </p:nvSpPr>
        <p:spPr bwMode="auto">
          <a:xfrm>
            <a:off x="33528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1" name="AutoShape 45"/>
          <p:cNvSpPr>
            <a:spLocks noChangeArrowheads="1"/>
          </p:cNvSpPr>
          <p:nvPr/>
        </p:nvSpPr>
        <p:spPr bwMode="auto">
          <a:xfrm>
            <a:off x="36576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2" name="AutoShape 46"/>
          <p:cNvSpPr>
            <a:spLocks noChangeArrowheads="1"/>
          </p:cNvSpPr>
          <p:nvPr/>
        </p:nvSpPr>
        <p:spPr bwMode="auto">
          <a:xfrm>
            <a:off x="40386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Il metodo </a:t>
            </a:r>
            <a:r>
              <a:rPr lang="it-IT" dirty="0" err="1"/>
              <a:t>stampaFreqCarMinuscoli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Si noti l’uso di due cicli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 annidati:</a:t>
            </a:r>
          </a:p>
          <a:p>
            <a:pPr lvl="1"/>
            <a:r>
              <a:rPr lang="it-IT" dirty="0"/>
              <a:t>il primo scandisce tutti i caratteri da </a:t>
            </a:r>
            <a:r>
              <a:rPr lang="it-IT" i="1" dirty="0">
                <a:solidFill>
                  <a:schemeClr val="accent2"/>
                </a:solidFill>
              </a:rPr>
              <a:t>‘a’</a:t>
            </a:r>
            <a:r>
              <a:rPr lang="it-IT" dirty="0"/>
              <a:t> </a:t>
            </a:r>
            <a:r>
              <a:rPr lang="it-IT" dirty="0" err="1"/>
              <a:t>a</a:t>
            </a:r>
            <a:r>
              <a:rPr lang="it-IT" dirty="0"/>
              <a:t> </a:t>
            </a:r>
            <a:r>
              <a:rPr lang="it-IT" i="1" dirty="0">
                <a:solidFill>
                  <a:schemeClr val="accent2"/>
                </a:solidFill>
              </a:rPr>
              <a:t>‘z’</a:t>
            </a:r>
          </a:p>
          <a:p>
            <a:pPr lvl="1"/>
            <a:r>
              <a:rPr lang="it-IT" dirty="0"/>
              <a:t>per ogni valore fissato di </a:t>
            </a:r>
            <a:r>
              <a:rPr lang="it-IT" i="1" dirty="0">
                <a:solidFill>
                  <a:schemeClr val="accent2"/>
                </a:solidFill>
              </a:rPr>
              <a:t>ch</a:t>
            </a:r>
            <a:r>
              <a:rPr lang="it-IT" dirty="0"/>
              <a:t> si scandisce l’intera stringa (secondo ciclo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) in maniera analoga a quanto fatto nel metodo </a:t>
            </a:r>
            <a:r>
              <a:rPr lang="it-IT" i="1" dirty="0">
                <a:solidFill>
                  <a:schemeClr val="accent2"/>
                </a:solidFill>
              </a:rPr>
              <a:t>frequenza</a:t>
            </a: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11430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a</a:t>
            </a: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14478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b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17526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c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20574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d</a:t>
            </a: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23622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e</a:t>
            </a: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26670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f</a:t>
            </a: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5334000" y="4652963"/>
            <a:ext cx="30480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z</a:t>
            </a: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2971800" y="4652963"/>
            <a:ext cx="2667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……………………….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11430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c</a:t>
            </a:r>
          </a:p>
        </p:txBody>
      </p:sp>
      <p:sp>
        <p:nvSpPr>
          <p:cNvPr id="13" name="Text Box 22"/>
          <p:cNvSpPr txBox="1">
            <a:spLocks noChangeArrowheads="1"/>
          </p:cNvSpPr>
          <p:nvPr/>
        </p:nvSpPr>
        <p:spPr bwMode="auto">
          <a:xfrm>
            <a:off x="14478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i</a:t>
            </a:r>
          </a:p>
        </p:txBody>
      </p:sp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17526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a</a:t>
            </a:r>
          </a:p>
        </p:txBody>
      </p:sp>
      <p:sp>
        <p:nvSpPr>
          <p:cNvPr id="15" name="Text Box 24"/>
          <p:cNvSpPr txBox="1">
            <a:spLocks noChangeArrowheads="1"/>
          </p:cNvSpPr>
          <p:nvPr/>
        </p:nvSpPr>
        <p:spPr bwMode="auto">
          <a:xfrm>
            <a:off x="20574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o</a:t>
            </a:r>
          </a:p>
        </p:txBody>
      </p:sp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23622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 </a:t>
            </a:r>
          </a:p>
        </p:txBody>
      </p:sp>
      <p:sp>
        <p:nvSpPr>
          <p:cNvPr id="17" name="Text Box 26"/>
          <p:cNvSpPr txBox="1">
            <a:spLocks noChangeArrowheads="1"/>
          </p:cNvSpPr>
          <p:nvPr/>
        </p:nvSpPr>
        <p:spPr bwMode="auto">
          <a:xfrm>
            <a:off x="2667000" y="5562600"/>
            <a:ext cx="3810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m</a:t>
            </a:r>
          </a:p>
        </p:txBody>
      </p:sp>
      <p:sp>
        <p:nvSpPr>
          <p:cNvPr id="18" name="Text Box 29"/>
          <p:cNvSpPr txBox="1">
            <a:spLocks noChangeArrowheads="1"/>
          </p:cNvSpPr>
          <p:nvPr/>
        </p:nvSpPr>
        <p:spPr bwMode="auto">
          <a:xfrm>
            <a:off x="30480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o</a:t>
            </a:r>
          </a:p>
        </p:txBody>
      </p:sp>
      <p:sp>
        <p:nvSpPr>
          <p:cNvPr id="19" name="Text Box 30"/>
          <p:cNvSpPr txBox="1">
            <a:spLocks noChangeArrowheads="1"/>
          </p:cNvSpPr>
          <p:nvPr/>
        </p:nvSpPr>
        <p:spPr bwMode="auto">
          <a:xfrm>
            <a:off x="33528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n</a:t>
            </a:r>
          </a:p>
        </p:txBody>
      </p:sp>
      <p:sp>
        <p:nvSpPr>
          <p:cNvPr id="20" name="Text Box 31"/>
          <p:cNvSpPr txBox="1">
            <a:spLocks noChangeArrowheads="1"/>
          </p:cNvSpPr>
          <p:nvPr/>
        </p:nvSpPr>
        <p:spPr bwMode="auto">
          <a:xfrm>
            <a:off x="36576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d</a:t>
            </a:r>
          </a:p>
        </p:txBody>
      </p:sp>
      <p:sp>
        <p:nvSpPr>
          <p:cNvPr id="21" name="Text Box 32"/>
          <p:cNvSpPr txBox="1">
            <a:spLocks noChangeArrowheads="1"/>
          </p:cNvSpPr>
          <p:nvPr/>
        </p:nvSpPr>
        <p:spPr bwMode="auto">
          <a:xfrm>
            <a:off x="3962400" y="5562600"/>
            <a:ext cx="304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t-IT"/>
              <a:t>o</a:t>
            </a:r>
          </a:p>
        </p:txBody>
      </p:sp>
      <p:sp>
        <p:nvSpPr>
          <p:cNvPr id="22" name="AutoShape 36"/>
          <p:cNvSpPr>
            <a:spLocks noChangeArrowheads="1"/>
          </p:cNvSpPr>
          <p:nvPr/>
        </p:nvSpPr>
        <p:spPr bwMode="auto">
          <a:xfrm>
            <a:off x="1801925" y="42672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3" name="AutoShape 37"/>
          <p:cNvSpPr>
            <a:spLocks noChangeArrowheads="1"/>
          </p:cNvSpPr>
          <p:nvPr/>
        </p:nvSpPr>
        <p:spPr bwMode="auto">
          <a:xfrm>
            <a:off x="11811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4" name="AutoShape 38"/>
          <p:cNvSpPr>
            <a:spLocks noChangeArrowheads="1"/>
          </p:cNvSpPr>
          <p:nvPr/>
        </p:nvSpPr>
        <p:spPr bwMode="auto">
          <a:xfrm>
            <a:off x="15240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5" name="AutoShape 39"/>
          <p:cNvSpPr>
            <a:spLocks noChangeArrowheads="1"/>
          </p:cNvSpPr>
          <p:nvPr/>
        </p:nvSpPr>
        <p:spPr bwMode="auto">
          <a:xfrm>
            <a:off x="18288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6" name="AutoShape 40"/>
          <p:cNvSpPr>
            <a:spLocks noChangeArrowheads="1"/>
          </p:cNvSpPr>
          <p:nvPr/>
        </p:nvSpPr>
        <p:spPr bwMode="auto">
          <a:xfrm>
            <a:off x="21336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7" name="AutoShape 41"/>
          <p:cNvSpPr>
            <a:spLocks noChangeArrowheads="1"/>
          </p:cNvSpPr>
          <p:nvPr/>
        </p:nvSpPr>
        <p:spPr bwMode="auto">
          <a:xfrm>
            <a:off x="24384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8" name="AutoShape 42"/>
          <p:cNvSpPr>
            <a:spLocks noChangeArrowheads="1"/>
          </p:cNvSpPr>
          <p:nvPr/>
        </p:nvSpPr>
        <p:spPr bwMode="auto">
          <a:xfrm>
            <a:off x="27432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29" name="AutoShape 43"/>
          <p:cNvSpPr>
            <a:spLocks noChangeArrowheads="1"/>
          </p:cNvSpPr>
          <p:nvPr/>
        </p:nvSpPr>
        <p:spPr bwMode="auto">
          <a:xfrm>
            <a:off x="30480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0" name="AutoShape 44"/>
          <p:cNvSpPr>
            <a:spLocks noChangeArrowheads="1"/>
          </p:cNvSpPr>
          <p:nvPr/>
        </p:nvSpPr>
        <p:spPr bwMode="auto">
          <a:xfrm>
            <a:off x="33528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1" name="AutoShape 45"/>
          <p:cNvSpPr>
            <a:spLocks noChangeArrowheads="1"/>
          </p:cNvSpPr>
          <p:nvPr/>
        </p:nvSpPr>
        <p:spPr bwMode="auto">
          <a:xfrm>
            <a:off x="36576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32" name="AutoShape 46"/>
          <p:cNvSpPr>
            <a:spLocks noChangeArrowheads="1"/>
          </p:cNvSpPr>
          <p:nvPr/>
        </p:nvSpPr>
        <p:spPr bwMode="auto">
          <a:xfrm>
            <a:off x="4038600" y="5181600"/>
            <a:ext cx="228600" cy="304800"/>
          </a:xfrm>
          <a:prstGeom prst="downArrow">
            <a:avLst>
              <a:gd name="adj1" fmla="val 50000"/>
              <a:gd name="adj2" fmla="val 33333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Il metodo </a:t>
            </a:r>
            <a:r>
              <a:rPr lang="it-IT" dirty="0" err="1"/>
              <a:t>stampaFreqCarMinuscoli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Si noti l’uso di due cicli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 annidati:</a:t>
            </a:r>
          </a:p>
          <a:p>
            <a:pPr lvl="1"/>
            <a:r>
              <a:rPr lang="it-IT" dirty="0"/>
              <a:t>il primo scandisce tutti i caratteri da </a:t>
            </a:r>
            <a:r>
              <a:rPr lang="it-IT" i="1" dirty="0">
                <a:solidFill>
                  <a:schemeClr val="accent2"/>
                </a:solidFill>
              </a:rPr>
              <a:t>‘a’</a:t>
            </a:r>
            <a:r>
              <a:rPr lang="it-IT" dirty="0"/>
              <a:t> </a:t>
            </a:r>
            <a:r>
              <a:rPr lang="it-IT" dirty="0" err="1"/>
              <a:t>a</a:t>
            </a:r>
            <a:r>
              <a:rPr lang="it-IT" dirty="0"/>
              <a:t> </a:t>
            </a:r>
            <a:r>
              <a:rPr lang="it-IT" i="1" dirty="0">
                <a:solidFill>
                  <a:schemeClr val="accent2"/>
                </a:solidFill>
              </a:rPr>
              <a:t>‘z’</a:t>
            </a:r>
          </a:p>
          <a:p>
            <a:pPr lvl="1"/>
            <a:r>
              <a:rPr lang="it-IT" dirty="0"/>
              <a:t>per ogni valore fissato di </a:t>
            </a:r>
            <a:r>
              <a:rPr lang="it-IT" i="1" dirty="0">
                <a:solidFill>
                  <a:schemeClr val="accent2"/>
                </a:solidFill>
              </a:rPr>
              <a:t>ch</a:t>
            </a:r>
            <a:r>
              <a:rPr lang="it-IT" dirty="0"/>
              <a:t> si scandisce l’intera stringa (secondo ciclo </a:t>
            </a:r>
            <a:r>
              <a:rPr lang="it-IT" i="1" dirty="0" err="1">
                <a:solidFill>
                  <a:schemeClr val="accent2"/>
                </a:solidFill>
              </a:rPr>
              <a:t>for</a:t>
            </a:r>
            <a:r>
              <a:rPr lang="it-IT" dirty="0"/>
              <a:t>) in maniera analoga a quanto fatto nel metodo </a:t>
            </a:r>
            <a:r>
              <a:rPr lang="it-IT" i="1" dirty="0">
                <a:solidFill>
                  <a:schemeClr val="accent2"/>
                </a:solidFill>
              </a:rPr>
              <a:t>frequenza</a:t>
            </a:r>
          </a:p>
          <a:p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È possibile implementare il metodo </a:t>
            </a:r>
            <a:r>
              <a:rPr lang="it-IT" i="1" dirty="0" err="1">
                <a:solidFill>
                  <a:schemeClr val="accent2"/>
                </a:solidFill>
              </a:rPr>
              <a:t>stampaFreqCarMinuscoli</a:t>
            </a:r>
            <a:r>
              <a:rPr lang="it-IT" dirty="0"/>
              <a:t> in maniera più compatta riutilizzando il metodo </a:t>
            </a:r>
            <a:r>
              <a:rPr lang="it-IT" i="1" dirty="0">
                <a:solidFill>
                  <a:schemeClr val="accent2"/>
                </a:solidFill>
              </a:rPr>
              <a:t>frequenza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Il metodo </a:t>
            </a:r>
            <a:r>
              <a:rPr lang="it-IT" dirty="0" err="1"/>
              <a:t>stampaFreqCarMinuscoli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/* visualizza nella finestra grafica out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la frequenza di ogni carattere minuscolo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presente nella stringa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*/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public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stampaFreqCarMinuscoli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OutputWindow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out){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for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char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ch = 'a'; ch&lt;='z'; ch++){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f = </a:t>
            </a:r>
            <a:r>
              <a:rPr lang="it-IT" sz="16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this.frequenza</a:t>
            </a:r>
            <a:r>
              <a:rPr lang="it-IT" sz="16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(ch)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 (f&gt;0)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("frequenza di "+ch+": "</a:t>
            </a:r>
            <a:r>
              <a:rPr lang="it-IT" sz="1600" dirty="0" err="1">
                <a:latin typeface="Courier New" pitchFamily="49" charset="0"/>
                <a:cs typeface="Courier New" pitchFamily="49" charset="0"/>
              </a:rPr>
              <a:t>+f</a:t>
            </a:r>
            <a:r>
              <a:rPr lang="it-IT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r>
              <a:rPr lang="it-IT" sz="1600" dirty="0">
                <a:latin typeface="Courier New" pitchFamily="49" charset="0"/>
                <a:cs typeface="Courier New" pitchFamily="49" charset="0"/>
              </a:rPr>
              <a:t> 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ndamenti">
  <a:themeElements>
    <a:clrScheme name="Personalizzato 2">
      <a:dk1>
        <a:sysClr val="windowText" lastClr="000000"/>
      </a:dk1>
      <a:lt1>
        <a:sysClr val="window" lastClr="FFFFFF"/>
      </a:lt1>
      <a:dk2>
        <a:srgbClr val="990000"/>
      </a:dk2>
      <a:lt2>
        <a:srgbClr val="EEECE1"/>
      </a:lt2>
      <a:accent1>
        <a:srgbClr val="0000FF"/>
      </a:accent1>
      <a:accent2>
        <a:srgbClr val="0066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D65CA2515402D41A280901C776553D9" ma:contentTypeVersion="11" ma:contentTypeDescription="Creare un nuovo documento." ma:contentTypeScope="" ma:versionID="42a50dcfe7cdc16628150e4ed664f597">
  <xsd:schema xmlns:xsd="http://www.w3.org/2001/XMLSchema" xmlns:xs="http://www.w3.org/2001/XMLSchema" xmlns:p="http://schemas.microsoft.com/office/2006/metadata/properties" xmlns:ns2="b59b3c25-9a25-49d1-a0d3-94991f66772c" xmlns:ns3="276b7aae-0fa0-446d-a82e-a7696b2dbbea" targetNamespace="http://schemas.microsoft.com/office/2006/metadata/properties" ma:root="true" ma:fieldsID="5c83b0c1b3186f8798f8242386c1ecd8" ns2:_="" ns3:_="">
    <xsd:import namespace="b59b3c25-9a25-49d1-a0d3-94991f66772c"/>
    <xsd:import namespace="276b7aae-0fa0-446d-a82e-a7696b2dbb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9b3c25-9a25-49d1-a0d3-94991f6677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 immagine" ma:readOnly="false" ma:fieldId="{5cf76f15-5ced-4ddc-b409-7134ff3c332f}" ma:taxonomyMulti="true" ma:sspId="9d414cec-426e-4329-9a45-dc9697900c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b7aae-0fa0-446d-a82e-a7696b2dbbe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4d34081-00a8-48ef-94a0-c9629acd59b6}" ma:internalName="TaxCatchAll" ma:showField="CatchAllData" ma:web="276b7aae-0fa0-446d-a82e-a7696b2dbb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9b3c25-9a25-49d1-a0d3-94991f66772c">
      <Terms xmlns="http://schemas.microsoft.com/office/infopath/2007/PartnerControls"/>
    </lcf76f155ced4ddcb4097134ff3c332f>
    <TaxCatchAll xmlns="276b7aae-0fa0-446d-a82e-a7696b2dbbea" xsi:nil="true"/>
  </documentManagement>
</p:properties>
</file>

<file path=customXml/itemProps1.xml><?xml version="1.0" encoding="utf-8"?>
<ds:datastoreItem xmlns:ds="http://schemas.openxmlformats.org/officeDocument/2006/customXml" ds:itemID="{2E3067D6-6E19-473E-BDDA-54D8AB27D0C4}"/>
</file>

<file path=customXml/itemProps2.xml><?xml version="1.0" encoding="utf-8"?>
<ds:datastoreItem xmlns:ds="http://schemas.openxmlformats.org/officeDocument/2006/customXml" ds:itemID="{2FC0131F-1852-4164-8C11-F95A7B91DA3D}"/>
</file>

<file path=customXml/itemProps3.xml><?xml version="1.0" encoding="utf-8"?>
<ds:datastoreItem xmlns:ds="http://schemas.openxmlformats.org/officeDocument/2006/customXml" ds:itemID="{3D9D7CEC-FCC6-4FA5-823F-85BFB592F23B}"/>
</file>

<file path=docProps/app.xml><?xml version="1.0" encoding="utf-8"?>
<Properties xmlns="http://schemas.openxmlformats.org/officeDocument/2006/extended-properties" xmlns:vt="http://schemas.openxmlformats.org/officeDocument/2006/docPropsVTypes">
  <Template>Fondamenti</Template>
  <TotalTime>38</TotalTime>
  <Words>6696</Words>
  <Application>Microsoft Office PowerPoint</Application>
  <PresentationFormat>Presentazione su schermo (4:3)</PresentationFormat>
  <Paragraphs>886</Paragraphs>
  <Slides>97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97</vt:i4>
      </vt:variant>
    </vt:vector>
  </HeadingPairs>
  <TitlesOfParts>
    <vt:vector size="103" baseType="lpstr">
      <vt:lpstr>Arial</vt:lpstr>
      <vt:lpstr>Calibri</vt:lpstr>
      <vt:lpstr>Courier New</vt:lpstr>
      <vt:lpstr>Symbol</vt:lpstr>
      <vt:lpstr>Wingdings</vt:lpstr>
      <vt:lpstr>Fondamenti</vt:lpstr>
      <vt:lpstr>Istruzioni di Controllo</vt:lpstr>
      <vt:lpstr>Limite delle istruzioni viste</vt:lpstr>
      <vt:lpstr>Istruzioni di controllo</vt:lpstr>
      <vt:lpstr>Istruzioni condizionali</vt:lpstr>
      <vt:lpstr>Istruzioni condizionali</vt:lpstr>
      <vt:lpstr>L’istruzione if: sintassi</vt:lpstr>
      <vt:lpstr>L’istruzione if: semantica </vt:lpstr>
      <vt:lpstr>Istruzione if: esempio</vt:lpstr>
      <vt:lpstr>Istruzione if: esempio</vt:lpstr>
      <vt:lpstr>Istruzioni multiple nel corpo dell’if</vt:lpstr>
      <vt:lpstr>Esempio</vt:lpstr>
      <vt:lpstr>Esempio</vt:lpstr>
      <vt:lpstr>Esempio</vt:lpstr>
      <vt:lpstr>Blocchi di istruzioni</vt:lpstr>
      <vt:lpstr>Blocchi e variabili</vt:lpstr>
      <vt:lpstr>Blocchi e variabili</vt:lpstr>
      <vt:lpstr>Blocchi annidati e variabili</vt:lpstr>
      <vt:lpstr>Blocchi annidati e variabili</vt:lpstr>
      <vt:lpstr>Blocchi annidati e variabili</vt:lpstr>
      <vt:lpstr>Blocchi annidati e variabili</vt:lpstr>
      <vt:lpstr>Blocchi annidati e variabili</vt:lpstr>
      <vt:lpstr>Blocchi annidati e variabili</vt:lpstr>
      <vt:lpstr>If annidati</vt:lpstr>
      <vt:lpstr>If annidati: esempio</vt:lpstr>
      <vt:lpstr>If annidati: esempio</vt:lpstr>
      <vt:lpstr>L’istruzione if-else: sintassi</vt:lpstr>
      <vt:lpstr>L’istruzione if-else: semantica </vt:lpstr>
      <vt:lpstr>Istruzione if-else: esempio</vt:lpstr>
      <vt:lpstr>Istruzione if-else: esempio</vt:lpstr>
      <vt:lpstr>MinoreTra: codice alternativo</vt:lpstr>
      <vt:lpstr>Commenti</vt:lpstr>
      <vt:lpstr>Cascate di if-else</vt:lpstr>
      <vt:lpstr>Cascate di if-else</vt:lpstr>
      <vt:lpstr>Indentazione alternativa</vt:lpstr>
      <vt:lpstr>Altre istruzioni condizionali</vt:lpstr>
      <vt:lpstr>Istruzioni iterative</vt:lpstr>
      <vt:lpstr>L’istruzione while</vt:lpstr>
      <vt:lpstr>Un’idea per la soluzione</vt:lpstr>
      <vt:lpstr>L’istruzione while</vt:lpstr>
      <vt:lpstr>L’istruzione while: semantica</vt:lpstr>
      <vt:lpstr>Esempio</vt:lpstr>
      <vt:lpstr>L’istruzione while: commenti</vt:lpstr>
      <vt:lpstr>L’istruzione while: commenti</vt:lpstr>
      <vt:lpstr>Esempio: codice alternativo</vt:lpstr>
      <vt:lpstr>L’istruzione do-while: sintassi</vt:lpstr>
      <vt:lpstr>L’istruzione do-while: semantica</vt:lpstr>
      <vt:lpstr>L’istruzione do-while: commenti</vt:lpstr>
      <vt:lpstr>Esempio</vt:lpstr>
      <vt:lpstr>L’istruzione for: sintassi</vt:lpstr>
      <vt:lpstr>L’istruzione for: sintassi</vt:lpstr>
      <vt:lpstr>L’istruzione for: sintassi</vt:lpstr>
      <vt:lpstr>L’istruzione for: semantica</vt:lpstr>
      <vt:lpstr>L’istruzione for: commenti</vt:lpstr>
      <vt:lpstr>Esempio</vt:lpstr>
      <vt:lpstr>Esempio: commenti</vt:lpstr>
      <vt:lpstr>Esempio: versione alternativa</vt:lpstr>
      <vt:lpstr>Istruzione for: commenti</vt:lpstr>
      <vt:lpstr>Confronto tra le istruzioni iterative</vt:lpstr>
      <vt:lpstr>Equivalenza di istruzioni iterative</vt:lpstr>
      <vt:lpstr>Equivalenza di istruzioni iterative</vt:lpstr>
      <vt:lpstr>Equivalenza di istruzioni iterative</vt:lpstr>
      <vt:lpstr>Alcune indicazioni</vt:lpstr>
      <vt:lpstr>Alcune indicazioni</vt:lpstr>
      <vt:lpstr>Le istruzioni break e continue</vt:lpstr>
      <vt:lpstr>Istruzione break: esempio</vt:lpstr>
      <vt:lpstr>Istruzione continue: esempio</vt:lpstr>
      <vt:lpstr>Break e continue: commenti</vt:lpstr>
      <vt:lpstr>Esempi di uso delle istruzioni di controllo</vt:lpstr>
      <vt:lpstr>Es. 1: la classe NumeroNaturale</vt:lpstr>
      <vt:lpstr>Es. 1: la classe NumeroNaturale</vt:lpstr>
      <vt:lpstr>Es. 1: la classe NumeroNaturale</vt:lpstr>
      <vt:lpstr>la classe NumeroNaturale</vt:lpstr>
      <vt:lpstr>Il metodo isPrimo</vt:lpstr>
      <vt:lpstr>Il metodo isPrimo</vt:lpstr>
      <vt:lpstr>Il metodo isPerfetto</vt:lpstr>
      <vt:lpstr>Il metodo isPerfetto</vt:lpstr>
      <vt:lpstr>Il metodo stampaDivisori</vt:lpstr>
      <vt:lpstr>Il metodo stampaDivisori</vt:lpstr>
      <vt:lpstr>la classe di test</vt:lpstr>
      <vt:lpstr>la classe di test</vt:lpstr>
      <vt:lpstr>Es. 2: AnalizzatoreDiStringa</vt:lpstr>
      <vt:lpstr>Es. 2: AnalizzatoreDiStringa</vt:lpstr>
      <vt:lpstr>Es. 2: AnalizzatoreDiStringa</vt:lpstr>
      <vt:lpstr>La classe AnalizzatoreDiStringa</vt:lpstr>
      <vt:lpstr>Il metodo frequenza</vt:lpstr>
      <vt:lpstr>Il metodo frequenza</vt:lpstr>
      <vt:lpstr>Il metodo numVocali</vt:lpstr>
      <vt:lpstr>Il metodo numVocali</vt:lpstr>
      <vt:lpstr>Il metodo numConsonanti</vt:lpstr>
      <vt:lpstr>Il metodo numConsonanti</vt:lpstr>
      <vt:lpstr>Il metodo stampaFreqCarMinuscoli</vt:lpstr>
      <vt:lpstr>Il metodo stampaFreqCarMinuscoli</vt:lpstr>
      <vt:lpstr>Il metodo stampaFreqCarMinuscoli</vt:lpstr>
      <vt:lpstr>Il metodo stampaFreqCarMinuscoli</vt:lpstr>
      <vt:lpstr>Il metodo stampaFreqCarMinuscoli</vt:lpstr>
      <vt:lpstr>Il metodo stampaFreqCarMinuscoli</vt:lpstr>
      <vt:lpstr>Il metodo stampaFreqCarMinuscoli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Architettura del Calcolatore </dc:title>
  <dc:creator>digiacomo</dc:creator>
  <cp:lastModifiedBy>cristian agliani</cp:lastModifiedBy>
  <cp:revision>204</cp:revision>
  <dcterms:created xsi:type="dcterms:W3CDTF">2014-02-06T21:49:44Z</dcterms:created>
  <dcterms:modified xsi:type="dcterms:W3CDTF">2026-01-16T14:05:52Z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0x0101000D65CA2515402D41A280901C776553D9</vt:lpwstr>
  </property>
</Properties>
</file>