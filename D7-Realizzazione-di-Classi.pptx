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421" r:id="rId10"/>
    <p:sldId id="422" r:id="rId11"/>
    <p:sldId id="268" r:id="rId12"/>
    <p:sldId id="275" r:id="rId13"/>
    <p:sldId id="273" r:id="rId14"/>
    <p:sldId id="277" r:id="rId15"/>
    <p:sldId id="274" r:id="rId16"/>
    <p:sldId id="276" r:id="rId17"/>
    <p:sldId id="279" r:id="rId18"/>
    <p:sldId id="280" r:id="rId19"/>
    <p:sldId id="283" r:id="rId20"/>
    <p:sldId id="284" r:id="rId21"/>
    <p:sldId id="285" r:id="rId22"/>
    <p:sldId id="287" r:id="rId23"/>
    <p:sldId id="286" r:id="rId24"/>
    <p:sldId id="288" r:id="rId25"/>
    <p:sldId id="290" r:id="rId26"/>
    <p:sldId id="317" r:id="rId27"/>
    <p:sldId id="297" r:id="rId28"/>
    <p:sldId id="298" r:id="rId29"/>
    <p:sldId id="299" r:id="rId30"/>
    <p:sldId id="373" r:id="rId31"/>
    <p:sldId id="300" r:id="rId32"/>
    <p:sldId id="301" r:id="rId33"/>
    <p:sldId id="302" r:id="rId34"/>
    <p:sldId id="310" r:id="rId35"/>
    <p:sldId id="311" r:id="rId36"/>
    <p:sldId id="378" r:id="rId37"/>
    <p:sldId id="380" r:id="rId38"/>
    <p:sldId id="382" r:id="rId39"/>
    <p:sldId id="381" r:id="rId40"/>
    <p:sldId id="383" r:id="rId41"/>
    <p:sldId id="327" r:id="rId42"/>
    <p:sldId id="328" r:id="rId43"/>
    <p:sldId id="329" r:id="rId44"/>
    <p:sldId id="330" r:id="rId45"/>
    <p:sldId id="331" r:id="rId46"/>
    <p:sldId id="332" r:id="rId47"/>
    <p:sldId id="333" r:id="rId48"/>
    <p:sldId id="334" r:id="rId49"/>
    <p:sldId id="335" r:id="rId50"/>
    <p:sldId id="344" r:id="rId51"/>
    <p:sldId id="345" r:id="rId52"/>
    <p:sldId id="384" r:id="rId53"/>
    <p:sldId id="385" r:id="rId54"/>
    <p:sldId id="386" r:id="rId55"/>
    <p:sldId id="387" r:id="rId56"/>
    <p:sldId id="388" r:id="rId57"/>
    <p:sldId id="389" r:id="rId58"/>
    <p:sldId id="390" r:id="rId59"/>
    <p:sldId id="391" r:id="rId60"/>
    <p:sldId id="392" r:id="rId61"/>
    <p:sldId id="393" r:id="rId62"/>
    <p:sldId id="395" r:id="rId63"/>
    <p:sldId id="394" r:id="rId64"/>
    <p:sldId id="396" r:id="rId65"/>
    <p:sldId id="398" r:id="rId66"/>
    <p:sldId id="399" r:id="rId67"/>
    <p:sldId id="400" r:id="rId68"/>
    <p:sldId id="397" r:id="rId69"/>
    <p:sldId id="401" r:id="rId70"/>
    <p:sldId id="402" r:id="rId71"/>
    <p:sldId id="403" r:id="rId72"/>
    <p:sldId id="404" r:id="rId73"/>
    <p:sldId id="406" r:id="rId74"/>
    <p:sldId id="405" r:id="rId75"/>
    <p:sldId id="346" r:id="rId76"/>
    <p:sldId id="347" r:id="rId77"/>
    <p:sldId id="408" r:id="rId78"/>
    <p:sldId id="409" r:id="rId79"/>
    <p:sldId id="407" r:id="rId80"/>
    <p:sldId id="410" r:id="rId81"/>
    <p:sldId id="351" r:id="rId82"/>
    <p:sldId id="413" r:id="rId83"/>
    <p:sldId id="411" r:id="rId84"/>
    <p:sldId id="349" r:id="rId85"/>
    <p:sldId id="414" r:id="rId86"/>
    <p:sldId id="415" r:id="rId87"/>
    <p:sldId id="416" r:id="rId88"/>
    <p:sldId id="417" r:id="rId89"/>
    <p:sldId id="418" r:id="rId90"/>
    <p:sldId id="419" r:id="rId91"/>
    <p:sldId id="420" r:id="rId92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BEE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Stile medio 2 - Color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Stile medio 2 - Color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theme" Target="theme/theme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viewProps" Target="viewProps.xml"/><Relationship Id="rId9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customXml" Target="../customXml/item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presProps" Target="presProps.xml"/><Relationship Id="rId98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it-IT"/>
              <a:t>Fare clic per modificare lo stile del titolo</a:t>
            </a:r>
            <a:endParaRPr lang="it-IT" dirty="0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4124672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16/01/2026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7" name="Line 4"/>
          <p:cNvSpPr>
            <a:spLocks noChangeShapeType="1"/>
          </p:cNvSpPr>
          <p:nvPr/>
        </p:nvSpPr>
        <p:spPr bwMode="auto">
          <a:xfrm>
            <a:off x="228600" y="1905000"/>
            <a:ext cx="86106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8" name="Line 5"/>
          <p:cNvSpPr>
            <a:spLocks noChangeShapeType="1"/>
          </p:cNvSpPr>
          <p:nvPr/>
        </p:nvSpPr>
        <p:spPr bwMode="auto">
          <a:xfrm>
            <a:off x="228600" y="3886200"/>
            <a:ext cx="86106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16/01/2026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8" name="Line 4"/>
          <p:cNvSpPr>
            <a:spLocks noChangeShapeType="1"/>
          </p:cNvSpPr>
          <p:nvPr/>
        </p:nvSpPr>
        <p:spPr bwMode="auto">
          <a:xfrm>
            <a:off x="609600" y="1219200"/>
            <a:ext cx="7848600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it-IT"/>
              <a:t>Fare clic per modificare lo stile del titolo</a:t>
            </a:r>
            <a:endParaRPr lang="it-IT" dirty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16/01/2026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16/01/2026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6" name="Line 4"/>
          <p:cNvSpPr>
            <a:spLocks noChangeShapeType="1"/>
          </p:cNvSpPr>
          <p:nvPr/>
        </p:nvSpPr>
        <p:spPr bwMode="auto">
          <a:xfrm>
            <a:off x="609600" y="1219200"/>
            <a:ext cx="7848600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dirty="0"/>
              <a:t>Fare clic per modificare lo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340768"/>
            <a:ext cx="8229600" cy="4785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stili del testo dello schema</a:t>
            </a:r>
          </a:p>
          <a:p>
            <a: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it-IT" dirty="0"/>
              <a:t>Secondo livello</a:t>
            </a:r>
          </a:p>
          <a:p>
            <a: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it-IT" dirty="0"/>
              <a:t>Terzo livello</a:t>
            </a:r>
          </a:p>
          <a:p>
            <a: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6055F8-1D02-4417-9241-55C834FD9970}" type="datetimeFigureOut">
              <a:rPr lang="it-IT" smtClean="0"/>
              <a:pPr/>
              <a:t>16/01/2026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l" defTabSz="914400" rtl="0" eaLnBrk="1" latinLnBrk="0" hangingPunct="1">
        <a:spcBef>
          <a:spcPct val="0"/>
        </a:spcBef>
        <a:buNone/>
        <a:defRPr lang="it-IT" sz="4400" kern="1200" dirty="0" smtClean="0">
          <a:solidFill>
            <a:srgbClr val="990000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Arial" pitchFamily="34" charset="0"/>
        </a:defRPr>
      </a:lvl1pPr>
    </p:titleStyle>
    <p:bodyStyle>
      <a:lvl1pPr marL="342900" indent="-342900" algn="l" defTabSz="914400" rtl="0" eaLnBrk="1" fontAlgn="base" latinLnBrk="0" hangingPunct="1">
        <a:spcBef>
          <a:spcPct val="20000"/>
        </a:spcBef>
        <a:spcAft>
          <a:spcPct val="0"/>
        </a:spcAft>
        <a:buFont typeface="Arial" pitchFamily="34" charset="0"/>
        <a:buChar char="•"/>
        <a:defRPr lang="it-IT" sz="2800" kern="1200" dirty="0" smtClean="0">
          <a:solidFill>
            <a:schemeClr val="tx1"/>
          </a:solidFill>
          <a:latin typeface="+mn-lt"/>
          <a:ea typeface="+mn-ea"/>
          <a:cs typeface="Arial" pitchFamily="34" charset="0"/>
        </a:defRPr>
      </a:lvl1pPr>
      <a:lvl2pPr marL="914400" indent="-457200" algn="l" defTabSz="914400" rtl="0" eaLnBrk="1" fontAlgn="base" latinLnBrk="0" hangingPunct="1">
        <a:spcBef>
          <a:spcPct val="20000"/>
        </a:spcBef>
        <a:spcAft>
          <a:spcPct val="0"/>
        </a:spcAft>
        <a:buFont typeface="Calibri" pitchFamily="34" charset="0"/>
        <a:buChar char="‒"/>
        <a:defRPr lang="it-IT" sz="2400" kern="1200" dirty="0" smtClean="0">
          <a:solidFill>
            <a:schemeClr val="tx1"/>
          </a:solidFill>
          <a:latin typeface="+mn-lt"/>
          <a:ea typeface="+mn-ea"/>
          <a:cs typeface="Arial" pitchFamily="34" charset="0"/>
        </a:defRPr>
      </a:lvl2pPr>
      <a:lvl3pPr marL="1371600" indent="-457200" algn="l" defTabSz="914400" rtl="0" eaLnBrk="1" fontAlgn="base" latinLnBrk="0" hangingPunct="1">
        <a:spcBef>
          <a:spcPct val="20000"/>
        </a:spcBef>
        <a:spcAft>
          <a:spcPct val="0"/>
        </a:spcAft>
        <a:buFont typeface="Wingdings" pitchFamily="2" charset="2"/>
        <a:buChar char="§"/>
        <a:defRPr lang="it-IT" sz="2400" kern="1200" dirty="0" smtClean="0">
          <a:solidFill>
            <a:schemeClr val="tx1"/>
          </a:solidFill>
          <a:latin typeface="+mn-lt"/>
          <a:ea typeface="+mn-ea"/>
          <a:cs typeface="Arial" pitchFamily="34" charset="0"/>
        </a:defRPr>
      </a:lvl3pPr>
      <a:lvl4pPr marL="1828800" indent="-457200" algn="l" defTabSz="914400" rtl="0" eaLnBrk="1" fontAlgn="base" latinLnBrk="0" hangingPunct="1">
        <a:spcBef>
          <a:spcPct val="20000"/>
        </a:spcBef>
        <a:spcAft>
          <a:spcPct val="0"/>
        </a:spcAft>
        <a:buFont typeface="Arial" pitchFamily="34" charset="0"/>
        <a:buChar char="•"/>
        <a:defRPr lang="it-IT" sz="2400" kern="1200" dirty="0" smtClean="0">
          <a:solidFill>
            <a:schemeClr val="tx1"/>
          </a:solidFill>
          <a:latin typeface="+mn-lt"/>
          <a:ea typeface="+mn-ea"/>
          <a:cs typeface="Arial" pitchFamily="34" charset="0"/>
        </a:defRPr>
      </a:lvl4pPr>
      <a:lvl5pPr marL="2286000" indent="-230400" algn="l" defTabSz="914400" rtl="0" eaLnBrk="1" fontAlgn="base" latinLnBrk="0" hangingPunct="1">
        <a:spcBef>
          <a:spcPct val="20000"/>
        </a:spcBef>
        <a:spcAft>
          <a:spcPct val="0"/>
        </a:spcAft>
        <a:buFont typeface="Arial" pitchFamily="34" charset="0"/>
        <a:buChar char="•"/>
        <a:defRPr lang="it-IT" sz="2400" kern="1200" dirty="0" smtClean="0">
          <a:solidFill>
            <a:schemeClr val="tx1"/>
          </a:solidFill>
          <a:latin typeface="+mn-lt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Realizzazione di Classi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50000"/>
              </a:spcBef>
            </a:pPr>
            <a:r>
              <a:rPr lang="it-IT" dirty="0"/>
              <a:t>Fino ad ora abbiamo imparato a:</a:t>
            </a:r>
          </a:p>
          <a:p>
            <a:pPr lvl="1">
              <a:spcBef>
                <a:spcPct val="50000"/>
              </a:spcBef>
            </a:pPr>
            <a:r>
              <a:rPr lang="it-IT" dirty="0"/>
              <a:t>creare oggetti da classi già pronte</a:t>
            </a:r>
          </a:p>
          <a:p>
            <a:pPr lvl="1">
              <a:spcBef>
                <a:spcPct val="50000"/>
              </a:spcBef>
            </a:pPr>
            <a:r>
              <a:rPr lang="it-IT" dirty="0"/>
              <a:t>usare gli oggetti creati, invocando metodi</a:t>
            </a:r>
          </a:p>
          <a:p>
            <a:pPr lvl="1">
              <a:spcBef>
                <a:spcPct val="50000"/>
              </a:spcBef>
            </a:pPr>
            <a:r>
              <a:rPr lang="it-IT" dirty="0"/>
              <a:t>la creazione e l’uso di oggetti avveniva sempre nel metodo speciale </a:t>
            </a:r>
            <a:r>
              <a:rPr lang="it-IT" i="1" dirty="0" err="1">
                <a:solidFill>
                  <a:schemeClr val="accent2"/>
                </a:solidFill>
              </a:rPr>
              <a:t>main</a:t>
            </a:r>
            <a:r>
              <a:rPr lang="it-IT" i="1" dirty="0">
                <a:solidFill>
                  <a:schemeClr val="accent2"/>
                </a:solidFill>
              </a:rPr>
              <a:t> </a:t>
            </a:r>
          </a:p>
          <a:p>
            <a:pPr>
              <a:spcBef>
                <a:spcPct val="50000"/>
              </a:spcBef>
            </a:pPr>
            <a:r>
              <a:rPr lang="it-IT" dirty="0"/>
              <a:t>Vogliamo ora imparare a definire noi stessi classi complete di proprietà, costruttori e metodi</a:t>
            </a:r>
            <a:endParaRPr lang="it-IT" sz="2800" dirty="0"/>
          </a:p>
          <a:p>
            <a:endParaRPr lang="it-IT" dirty="0"/>
          </a:p>
        </p:txBody>
      </p:sp>
      <p:sp>
        <p:nvSpPr>
          <p:cNvPr id="4" name="Tito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Definizioni di classi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La classe Rettangolo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Inizieremo con un esempio. Vogliamo definire la classe </a:t>
            </a:r>
            <a:r>
              <a:rPr lang="it-IT" i="1" dirty="0">
                <a:solidFill>
                  <a:schemeClr val="accent2"/>
                </a:solidFill>
              </a:rPr>
              <a:t>Rettangolo</a:t>
            </a:r>
            <a:r>
              <a:rPr lang="it-IT" dirty="0"/>
              <a:t> simile a quella già vista nella lezione D4</a:t>
            </a:r>
          </a:p>
          <a:p>
            <a:r>
              <a:rPr lang="it-IT" dirty="0"/>
              <a:t>Un oggetto di tale classe rappresenta un rettangolo nel piano descritto tramite </a:t>
            </a:r>
            <a:r>
              <a:rPr lang="it-IT" i="1" dirty="0">
                <a:solidFill>
                  <a:schemeClr val="accent2"/>
                </a:solidFill>
              </a:rPr>
              <a:t>base</a:t>
            </a:r>
            <a:r>
              <a:rPr lang="it-IT" dirty="0"/>
              <a:t> e </a:t>
            </a:r>
            <a:r>
              <a:rPr lang="it-IT" i="1" dirty="0">
                <a:solidFill>
                  <a:schemeClr val="accent2"/>
                </a:solidFill>
              </a:rPr>
              <a:t>altezza</a:t>
            </a:r>
          </a:p>
          <a:p>
            <a:pPr lvl="1"/>
            <a:r>
              <a:rPr lang="it-IT" dirty="0"/>
              <a:t>questa volta assumeremo tali valori reali</a:t>
            </a:r>
          </a:p>
          <a:p>
            <a:pPr lvl="1"/>
            <a:endParaRPr lang="it-IT" dirty="0"/>
          </a:p>
          <a:p>
            <a:endParaRPr lang="it-IT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La classe Rettangolo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La classe </a:t>
            </a:r>
            <a:r>
              <a:rPr lang="it-IT" i="1" dirty="0">
                <a:solidFill>
                  <a:schemeClr val="accent2"/>
                </a:solidFill>
              </a:rPr>
              <a:t>Rettangolo</a:t>
            </a:r>
            <a:r>
              <a:rPr lang="it-IT" dirty="0"/>
              <a:t> avrà i seguenti costruttori e metodi:</a:t>
            </a:r>
          </a:p>
          <a:p>
            <a:pPr lvl="1"/>
            <a:r>
              <a:rPr lang="it-IT" i="1" dirty="0">
                <a:solidFill>
                  <a:schemeClr val="accent2"/>
                </a:solidFill>
              </a:rPr>
              <a:t>public Rettangolo (</a:t>
            </a:r>
            <a:r>
              <a:rPr lang="it-IT" i="1" dirty="0" err="1">
                <a:solidFill>
                  <a:schemeClr val="accent2"/>
                </a:solidFill>
              </a:rPr>
              <a:t>double</a:t>
            </a:r>
            <a:r>
              <a:rPr lang="it-IT" i="1" dirty="0">
                <a:solidFill>
                  <a:schemeClr val="accent2"/>
                </a:solidFill>
              </a:rPr>
              <a:t> b, </a:t>
            </a:r>
            <a:r>
              <a:rPr lang="it-IT" i="1" dirty="0" err="1">
                <a:solidFill>
                  <a:schemeClr val="accent2"/>
                </a:solidFill>
              </a:rPr>
              <a:t>double</a:t>
            </a:r>
            <a:r>
              <a:rPr lang="it-IT" i="1" dirty="0">
                <a:solidFill>
                  <a:schemeClr val="accent2"/>
                </a:solidFill>
              </a:rPr>
              <a:t> a)</a:t>
            </a:r>
            <a:r>
              <a:rPr lang="it-IT" dirty="0"/>
              <a:t>: costruttore che permette di specificare base e altezza dell’oggetto creato</a:t>
            </a:r>
          </a:p>
          <a:p>
            <a:pPr lvl="1"/>
            <a:r>
              <a:rPr lang="it-IT" i="1" dirty="0">
                <a:solidFill>
                  <a:schemeClr val="accent2"/>
                </a:solidFill>
              </a:rPr>
              <a:t>public </a:t>
            </a:r>
            <a:r>
              <a:rPr lang="it-IT" i="1" dirty="0" err="1">
                <a:solidFill>
                  <a:schemeClr val="accent2"/>
                </a:solidFill>
              </a:rPr>
              <a:t>double</a:t>
            </a:r>
            <a:r>
              <a:rPr lang="it-IT" i="1" dirty="0">
                <a:solidFill>
                  <a:schemeClr val="accent2"/>
                </a:solidFill>
              </a:rPr>
              <a:t> perimetro ()</a:t>
            </a:r>
            <a:r>
              <a:rPr lang="it-IT" dirty="0"/>
              <a:t>: restituisce il perimetro del rettangolo rappresentato dall’oggetto</a:t>
            </a:r>
          </a:p>
          <a:p>
            <a:pPr lvl="1"/>
            <a:r>
              <a:rPr lang="it-IT" i="1" dirty="0">
                <a:solidFill>
                  <a:schemeClr val="accent2"/>
                </a:solidFill>
              </a:rPr>
              <a:t>public </a:t>
            </a:r>
            <a:r>
              <a:rPr lang="it-IT" i="1" dirty="0" err="1">
                <a:solidFill>
                  <a:schemeClr val="accent2"/>
                </a:solidFill>
              </a:rPr>
              <a:t>double</a:t>
            </a:r>
            <a:r>
              <a:rPr lang="it-IT" i="1" dirty="0">
                <a:solidFill>
                  <a:schemeClr val="accent2"/>
                </a:solidFill>
              </a:rPr>
              <a:t> </a:t>
            </a:r>
            <a:r>
              <a:rPr lang="it-IT" i="1" dirty="0" err="1">
                <a:solidFill>
                  <a:schemeClr val="accent2"/>
                </a:solidFill>
              </a:rPr>
              <a:t>frazioneDiArea</a:t>
            </a:r>
            <a:r>
              <a:rPr lang="it-IT" i="1" dirty="0">
                <a:solidFill>
                  <a:schemeClr val="accent2"/>
                </a:solidFill>
              </a:rPr>
              <a:t> (</a:t>
            </a:r>
            <a:r>
              <a:rPr lang="it-IT" i="1" dirty="0" err="1">
                <a:solidFill>
                  <a:schemeClr val="accent2"/>
                </a:solidFill>
              </a:rPr>
              <a:t>double</a:t>
            </a:r>
            <a:r>
              <a:rPr lang="it-IT" i="1" dirty="0">
                <a:solidFill>
                  <a:schemeClr val="accent2"/>
                </a:solidFill>
              </a:rPr>
              <a:t> f)</a:t>
            </a:r>
            <a:r>
              <a:rPr lang="it-IT" dirty="0"/>
              <a:t>: restituisce la frazione </a:t>
            </a:r>
            <a:r>
              <a:rPr lang="it-IT" i="1" dirty="0">
                <a:solidFill>
                  <a:schemeClr val="accent2"/>
                </a:solidFill>
              </a:rPr>
              <a:t>f</a:t>
            </a:r>
            <a:r>
              <a:rPr lang="it-IT" dirty="0"/>
              <a:t> dell’area del rettangolo (</a:t>
            </a:r>
            <a:r>
              <a:rPr lang="it-IT" i="1" dirty="0">
                <a:solidFill>
                  <a:schemeClr val="accent2"/>
                </a:solidFill>
              </a:rPr>
              <a:t>f</a:t>
            </a:r>
            <a:r>
              <a:rPr lang="it-IT" dirty="0">
                <a:sym typeface="Symbol"/>
              </a:rPr>
              <a:t>[0,1]</a:t>
            </a:r>
            <a:r>
              <a:rPr lang="it-IT" dirty="0"/>
              <a:t>)</a:t>
            </a:r>
          </a:p>
          <a:p>
            <a:endParaRPr lang="it-IT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La classe Rettangolo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La classe </a:t>
            </a:r>
            <a:r>
              <a:rPr lang="it-IT" i="1" dirty="0">
                <a:solidFill>
                  <a:schemeClr val="accent2"/>
                </a:solidFill>
              </a:rPr>
              <a:t>Rettangolo</a:t>
            </a:r>
            <a:r>
              <a:rPr lang="it-IT" dirty="0"/>
              <a:t> avrà i seguenti costruttori e metodi:</a:t>
            </a:r>
          </a:p>
          <a:p>
            <a:pPr lvl="1"/>
            <a:r>
              <a:rPr lang="it-IT" i="1" dirty="0">
                <a:solidFill>
                  <a:schemeClr val="accent2"/>
                </a:solidFill>
              </a:rPr>
              <a:t>public </a:t>
            </a:r>
            <a:r>
              <a:rPr lang="it-IT" i="1" dirty="0" err="1">
                <a:solidFill>
                  <a:schemeClr val="accent2"/>
                </a:solidFill>
              </a:rPr>
              <a:t>void</a:t>
            </a:r>
            <a:r>
              <a:rPr lang="it-IT" i="1" dirty="0">
                <a:solidFill>
                  <a:schemeClr val="accent2"/>
                </a:solidFill>
              </a:rPr>
              <a:t> </a:t>
            </a:r>
            <a:r>
              <a:rPr lang="it-IT" i="1" dirty="0" err="1">
                <a:solidFill>
                  <a:schemeClr val="accent2"/>
                </a:solidFill>
              </a:rPr>
              <a:t>cambiaDimensioni</a:t>
            </a:r>
            <a:r>
              <a:rPr lang="it-IT" i="1" dirty="0">
                <a:solidFill>
                  <a:schemeClr val="accent2"/>
                </a:solidFill>
              </a:rPr>
              <a:t> (</a:t>
            </a:r>
            <a:r>
              <a:rPr lang="it-IT" i="1" dirty="0" err="1">
                <a:solidFill>
                  <a:schemeClr val="accent2"/>
                </a:solidFill>
              </a:rPr>
              <a:t>double</a:t>
            </a:r>
            <a:r>
              <a:rPr lang="it-IT" i="1" dirty="0">
                <a:solidFill>
                  <a:schemeClr val="accent2"/>
                </a:solidFill>
              </a:rPr>
              <a:t> b, </a:t>
            </a:r>
            <a:r>
              <a:rPr lang="it-IT" i="1" dirty="0" err="1">
                <a:solidFill>
                  <a:schemeClr val="accent2"/>
                </a:solidFill>
              </a:rPr>
              <a:t>double</a:t>
            </a:r>
            <a:r>
              <a:rPr lang="it-IT" i="1" dirty="0">
                <a:solidFill>
                  <a:schemeClr val="accent2"/>
                </a:solidFill>
              </a:rPr>
              <a:t> a)</a:t>
            </a:r>
            <a:r>
              <a:rPr lang="it-IT" dirty="0"/>
              <a:t>: cambia le dimensioni del rettangolo con </a:t>
            </a:r>
            <a:r>
              <a:rPr lang="it-IT" i="1" dirty="0">
                <a:solidFill>
                  <a:schemeClr val="accent2"/>
                </a:solidFill>
              </a:rPr>
              <a:t>b</a:t>
            </a:r>
            <a:r>
              <a:rPr lang="it-IT" dirty="0"/>
              <a:t> ed </a:t>
            </a:r>
            <a:r>
              <a:rPr lang="it-IT" i="1" dirty="0">
                <a:solidFill>
                  <a:schemeClr val="accent2"/>
                </a:solidFill>
              </a:rPr>
              <a:t>a</a:t>
            </a:r>
          </a:p>
          <a:p>
            <a:pPr lvl="1"/>
            <a:r>
              <a:rPr lang="it-IT" i="1" dirty="0">
                <a:solidFill>
                  <a:schemeClr val="accent2"/>
                </a:solidFill>
              </a:rPr>
              <a:t>public </a:t>
            </a:r>
            <a:r>
              <a:rPr lang="it-IT" i="1" dirty="0" err="1">
                <a:solidFill>
                  <a:schemeClr val="accent2"/>
                </a:solidFill>
              </a:rPr>
              <a:t>static</a:t>
            </a:r>
            <a:r>
              <a:rPr lang="it-IT" i="1" dirty="0">
                <a:solidFill>
                  <a:schemeClr val="accent2"/>
                </a:solidFill>
              </a:rPr>
              <a:t> </a:t>
            </a:r>
            <a:r>
              <a:rPr lang="it-IT" i="1" dirty="0" err="1">
                <a:solidFill>
                  <a:schemeClr val="accent2"/>
                </a:solidFill>
              </a:rPr>
              <a:t>int</a:t>
            </a:r>
            <a:r>
              <a:rPr lang="it-IT" i="1" dirty="0">
                <a:solidFill>
                  <a:schemeClr val="accent2"/>
                </a:solidFill>
              </a:rPr>
              <a:t> </a:t>
            </a:r>
            <a:r>
              <a:rPr lang="it-IT" i="1" dirty="0" err="1">
                <a:solidFill>
                  <a:schemeClr val="accent2"/>
                </a:solidFill>
              </a:rPr>
              <a:t>rettCreati</a:t>
            </a:r>
            <a:r>
              <a:rPr lang="it-IT" i="1" dirty="0">
                <a:solidFill>
                  <a:schemeClr val="accent2"/>
                </a:solidFill>
              </a:rPr>
              <a:t>()</a:t>
            </a:r>
            <a:r>
              <a:rPr lang="it-IT" dirty="0"/>
              <a:t>: restituisce il numero di oggetti della classe </a:t>
            </a:r>
            <a:r>
              <a:rPr lang="it-IT" i="1" dirty="0">
                <a:solidFill>
                  <a:schemeClr val="accent2"/>
                </a:solidFill>
              </a:rPr>
              <a:t>Rettangolo</a:t>
            </a:r>
            <a:r>
              <a:rPr lang="it-IT" dirty="0"/>
              <a:t> creati fino a questo momento</a:t>
            </a:r>
            <a:endParaRPr lang="it-IT" i="1" dirty="0">
              <a:solidFill>
                <a:schemeClr val="accent2"/>
              </a:solidFill>
            </a:endParaRPr>
          </a:p>
          <a:p>
            <a:endParaRPr lang="it-IT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Commenti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Tutti i metodi elencati sono pubblici</a:t>
            </a:r>
          </a:p>
          <a:p>
            <a:pPr lvl="1"/>
            <a:r>
              <a:rPr lang="it-IT" dirty="0"/>
              <a:t>possono essere utilizzati all’interno della classe </a:t>
            </a:r>
            <a:r>
              <a:rPr lang="it-IT" i="1" dirty="0">
                <a:solidFill>
                  <a:schemeClr val="accent2"/>
                </a:solidFill>
              </a:rPr>
              <a:t>Rettangolo</a:t>
            </a:r>
            <a:r>
              <a:rPr lang="it-IT" dirty="0"/>
              <a:t> ma anche all’interno di altre classi</a:t>
            </a:r>
          </a:p>
          <a:p>
            <a:r>
              <a:rPr lang="it-IT" dirty="0"/>
              <a:t>I metodi </a:t>
            </a:r>
            <a:r>
              <a:rPr lang="it-IT" i="1" dirty="0">
                <a:solidFill>
                  <a:schemeClr val="accent2"/>
                </a:solidFill>
              </a:rPr>
              <a:t>perimetro()</a:t>
            </a:r>
            <a:r>
              <a:rPr lang="it-IT" dirty="0"/>
              <a:t>, </a:t>
            </a:r>
            <a:r>
              <a:rPr lang="it-IT" i="1" dirty="0" err="1">
                <a:solidFill>
                  <a:schemeClr val="accent2"/>
                </a:solidFill>
              </a:rPr>
              <a:t>frazioneDiArea</a:t>
            </a:r>
            <a:r>
              <a:rPr lang="it-IT" i="1" dirty="0">
                <a:solidFill>
                  <a:schemeClr val="accent2"/>
                </a:solidFill>
              </a:rPr>
              <a:t>(</a:t>
            </a:r>
            <a:r>
              <a:rPr lang="it-IT" i="1" dirty="0" err="1">
                <a:solidFill>
                  <a:schemeClr val="accent2"/>
                </a:solidFill>
              </a:rPr>
              <a:t>double</a:t>
            </a:r>
            <a:r>
              <a:rPr lang="it-IT" i="1" dirty="0">
                <a:solidFill>
                  <a:schemeClr val="accent2"/>
                </a:solidFill>
              </a:rPr>
              <a:t> f)</a:t>
            </a:r>
            <a:r>
              <a:rPr lang="it-IT" dirty="0"/>
              <a:t> e </a:t>
            </a:r>
            <a:r>
              <a:rPr lang="it-IT" i="1" dirty="0" err="1">
                <a:solidFill>
                  <a:schemeClr val="accent2"/>
                </a:solidFill>
              </a:rPr>
              <a:t>cambiaDimensioni</a:t>
            </a:r>
            <a:r>
              <a:rPr lang="it-IT" i="1" dirty="0">
                <a:solidFill>
                  <a:schemeClr val="accent2"/>
                </a:solidFill>
              </a:rPr>
              <a:t>(</a:t>
            </a:r>
            <a:r>
              <a:rPr lang="it-IT" i="1" dirty="0" err="1">
                <a:solidFill>
                  <a:schemeClr val="accent2"/>
                </a:solidFill>
              </a:rPr>
              <a:t>double</a:t>
            </a:r>
            <a:r>
              <a:rPr lang="it-IT" i="1" dirty="0">
                <a:solidFill>
                  <a:schemeClr val="accent2"/>
                </a:solidFill>
              </a:rPr>
              <a:t> b, </a:t>
            </a:r>
            <a:r>
              <a:rPr lang="it-IT" i="1" dirty="0" err="1">
                <a:solidFill>
                  <a:schemeClr val="accent2"/>
                </a:solidFill>
              </a:rPr>
              <a:t>double</a:t>
            </a:r>
            <a:r>
              <a:rPr lang="it-IT" i="1" dirty="0">
                <a:solidFill>
                  <a:schemeClr val="accent2"/>
                </a:solidFill>
              </a:rPr>
              <a:t> a) </a:t>
            </a:r>
            <a:r>
              <a:rPr lang="it-IT" dirty="0"/>
              <a:t>sono metodi di istanza</a:t>
            </a:r>
          </a:p>
          <a:p>
            <a:pPr lvl="1"/>
            <a:r>
              <a:rPr lang="it-IT" dirty="0"/>
              <a:t>vanno invocati su un oggetto di tipo </a:t>
            </a:r>
            <a:r>
              <a:rPr lang="it-IT" i="1" dirty="0">
                <a:solidFill>
                  <a:schemeClr val="accent2"/>
                </a:solidFill>
              </a:rPr>
              <a:t>Rettangolo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Commenti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I metodi </a:t>
            </a:r>
            <a:r>
              <a:rPr lang="it-IT" i="1" dirty="0">
                <a:solidFill>
                  <a:schemeClr val="accent2"/>
                </a:solidFill>
              </a:rPr>
              <a:t>perimetro()</a:t>
            </a:r>
            <a:r>
              <a:rPr lang="it-IT" dirty="0"/>
              <a:t>, </a:t>
            </a:r>
            <a:r>
              <a:rPr lang="it-IT" i="1" dirty="0" err="1">
                <a:solidFill>
                  <a:schemeClr val="accent2"/>
                </a:solidFill>
              </a:rPr>
              <a:t>frazioneDiArea</a:t>
            </a:r>
            <a:r>
              <a:rPr lang="it-IT" i="1" dirty="0">
                <a:solidFill>
                  <a:schemeClr val="accent2"/>
                </a:solidFill>
              </a:rPr>
              <a:t>(</a:t>
            </a:r>
            <a:r>
              <a:rPr lang="it-IT" i="1" dirty="0" err="1">
                <a:solidFill>
                  <a:schemeClr val="accent2"/>
                </a:solidFill>
              </a:rPr>
              <a:t>double</a:t>
            </a:r>
            <a:r>
              <a:rPr lang="it-IT" i="1" dirty="0">
                <a:solidFill>
                  <a:schemeClr val="accent2"/>
                </a:solidFill>
              </a:rPr>
              <a:t> f)</a:t>
            </a:r>
            <a:r>
              <a:rPr lang="it-IT" dirty="0"/>
              <a:t> non cambiano lo stato dell’oggetto su cui sono invocati</a:t>
            </a:r>
          </a:p>
          <a:p>
            <a:r>
              <a:rPr lang="it-IT" dirty="0"/>
              <a:t>Il metodo </a:t>
            </a:r>
            <a:r>
              <a:rPr lang="it-IT" i="1" dirty="0" err="1">
                <a:solidFill>
                  <a:schemeClr val="accent2"/>
                </a:solidFill>
              </a:rPr>
              <a:t>cambiaDimensioni</a:t>
            </a:r>
            <a:r>
              <a:rPr lang="it-IT" i="1" dirty="0">
                <a:solidFill>
                  <a:schemeClr val="accent2"/>
                </a:solidFill>
              </a:rPr>
              <a:t>(</a:t>
            </a:r>
            <a:r>
              <a:rPr lang="it-IT" i="1" dirty="0" err="1">
                <a:solidFill>
                  <a:schemeClr val="accent2"/>
                </a:solidFill>
              </a:rPr>
              <a:t>double</a:t>
            </a:r>
            <a:r>
              <a:rPr lang="it-IT" i="1" dirty="0">
                <a:solidFill>
                  <a:schemeClr val="accent2"/>
                </a:solidFill>
              </a:rPr>
              <a:t> b, </a:t>
            </a:r>
            <a:r>
              <a:rPr lang="it-IT" i="1" dirty="0" err="1">
                <a:solidFill>
                  <a:schemeClr val="accent2"/>
                </a:solidFill>
              </a:rPr>
              <a:t>double</a:t>
            </a:r>
            <a:r>
              <a:rPr lang="it-IT" i="1" dirty="0">
                <a:solidFill>
                  <a:schemeClr val="accent2"/>
                </a:solidFill>
              </a:rPr>
              <a:t> a) </a:t>
            </a:r>
            <a:r>
              <a:rPr lang="it-IT" dirty="0"/>
              <a:t>modifica lo stato dell’oggetto su cui è invocato</a:t>
            </a:r>
          </a:p>
          <a:p>
            <a:r>
              <a:rPr lang="it-IT" dirty="0"/>
              <a:t>Il metodo </a:t>
            </a:r>
            <a:r>
              <a:rPr lang="it-IT" i="1" dirty="0" err="1">
                <a:solidFill>
                  <a:schemeClr val="accent2"/>
                </a:solidFill>
              </a:rPr>
              <a:t>rettCreati</a:t>
            </a:r>
            <a:r>
              <a:rPr lang="it-IT" i="1" dirty="0">
                <a:solidFill>
                  <a:schemeClr val="accent2"/>
                </a:solidFill>
              </a:rPr>
              <a:t>()</a:t>
            </a:r>
            <a:r>
              <a:rPr lang="it-IT" sz="3200" i="1" dirty="0">
                <a:solidFill>
                  <a:schemeClr val="accent2"/>
                </a:solidFill>
              </a:rPr>
              <a:t> </a:t>
            </a:r>
            <a:r>
              <a:rPr lang="it-IT" dirty="0"/>
              <a:t>è un metodo di classe </a:t>
            </a:r>
          </a:p>
          <a:p>
            <a:pPr lvl="1"/>
            <a:r>
              <a:rPr lang="it-IT" dirty="0"/>
              <a:t>va invocato direttamente sulla classe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La classe Rettangolo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64945" y="2204864"/>
            <a:ext cx="6214110" cy="4160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Notazione grafica “arricchita”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65200" y="2206800"/>
            <a:ext cx="6219605" cy="416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ttangolo 4"/>
          <p:cNvSpPr/>
          <p:nvPr/>
        </p:nvSpPr>
        <p:spPr>
          <a:xfrm>
            <a:off x="1475656" y="2204864"/>
            <a:ext cx="6192688" cy="417646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Notazione grafica “arricchita”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65200" y="2206800"/>
            <a:ext cx="6219605" cy="416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ttangolo 4"/>
          <p:cNvSpPr/>
          <p:nvPr/>
        </p:nvSpPr>
        <p:spPr>
          <a:xfrm>
            <a:off x="1475656" y="2204864"/>
            <a:ext cx="6192688" cy="417646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/>
          <p:cNvSpPr txBox="1"/>
          <p:nvPr/>
        </p:nvSpPr>
        <p:spPr>
          <a:xfrm>
            <a:off x="395536" y="1484784"/>
            <a:ext cx="1928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membri privati (-)</a:t>
            </a:r>
          </a:p>
        </p:txBody>
      </p:sp>
      <p:sp>
        <p:nvSpPr>
          <p:cNvPr id="7" name="CasellaDiTesto 6"/>
          <p:cNvSpPr txBox="1"/>
          <p:nvPr/>
        </p:nvSpPr>
        <p:spPr>
          <a:xfrm>
            <a:off x="5076056" y="1484784"/>
            <a:ext cx="2153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membri pubblici (+)</a:t>
            </a:r>
          </a:p>
        </p:txBody>
      </p:sp>
      <p:sp>
        <p:nvSpPr>
          <p:cNvPr id="8" name="Rettangolo 7"/>
          <p:cNvSpPr/>
          <p:nvPr/>
        </p:nvSpPr>
        <p:spPr>
          <a:xfrm>
            <a:off x="1503792" y="2852936"/>
            <a:ext cx="360040" cy="122413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0" name="Connettore 1 9"/>
          <p:cNvCxnSpPr>
            <a:stCxn id="8" idx="0"/>
            <a:endCxn id="6" idx="2"/>
          </p:cNvCxnSpPr>
          <p:nvPr/>
        </p:nvCxnSpPr>
        <p:spPr>
          <a:xfrm flipH="1" flipV="1">
            <a:off x="1359903" y="1854116"/>
            <a:ext cx="323909" cy="99882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ttangolo 11"/>
          <p:cNvSpPr/>
          <p:nvPr/>
        </p:nvSpPr>
        <p:spPr>
          <a:xfrm>
            <a:off x="1475656" y="4221088"/>
            <a:ext cx="360040" cy="20162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4" name="Connettore 1 13"/>
          <p:cNvCxnSpPr>
            <a:stCxn id="12" idx="3"/>
            <a:endCxn id="7" idx="2"/>
          </p:cNvCxnSpPr>
          <p:nvPr/>
        </p:nvCxnSpPr>
        <p:spPr>
          <a:xfrm flipV="1">
            <a:off x="1835696" y="1854116"/>
            <a:ext cx="4316937" cy="337508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Attributi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Gli attributi di istanza della classe Rettangolo sono </a:t>
            </a:r>
            <a:r>
              <a:rPr lang="it-IT" i="1" dirty="0">
                <a:solidFill>
                  <a:schemeClr val="accent2"/>
                </a:solidFill>
              </a:rPr>
              <a:t>base</a:t>
            </a:r>
            <a:r>
              <a:rPr lang="it-IT" dirty="0"/>
              <a:t> e </a:t>
            </a:r>
            <a:r>
              <a:rPr lang="it-IT" i="1" dirty="0">
                <a:solidFill>
                  <a:schemeClr val="accent2"/>
                </a:solidFill>
              </a:rPr>
              <a:t>altezza </a:t>
            </a:r>
          </a:p>
          <a:p>
            <a:pPr lvl="1"/>
            <a:r>
              <a:rPr lang="it-IT" dirty="0"/>
              <a:t>essi memorizzano rispettivamente la base e l’altezza del rettangolo rappresentato</a:t>
            </a:r>
          </a:p>
          <a:p>
            <a:r>
              <a:rPr lang="it-IT" dirty="0"/>
              <a:t>L’attributo </a:t>
            </a:r>
            <a:r>
              <a:rPr lang="it-IT" i="1" dirty="0" err="1">
                <a:solidFill>
                  <a:schemeClr val="accent2"/>
                </a:solidFill>
              </a:rPr>
              <a:t>numIstanze</a:t>
            </a:r>
            <a:r>
              <a:rPr lang="it-IT" dirty="0"/>
              <a:t> è invece un attributo di classe che memorizza il numero di istanze create</a:t>
            </a:r>
          </a:p>
          <a:p>
            <a:pPr lvl="1"/>
            <a:r>
              <a:rPr lang="it-IT" dirty="0"/>
              <a:t>verrà utilizzato dal metodo </a:t>
            </a:r>
            <a:r>
              <a:rPr lang="it-IT" i="1" dirty="0" err="1">
                <a:solidFill>
                  <a:schemeClr val="accent2"/>
                </a:solidFill>
              </a:rPr>
              <a:t>rettCreati</a:t>
            </a:r>
            <a:r>
              <a:rPr lang="it-IT" i="1" dirty="0">
                <a:solidFill>
                  <a:schemeClr val="accent2"/>
                </a:solidFill>
              </a:rPr>
              <a:t>()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Scriviamo la classe Rettangolo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La struttura della classe </a:t>
            </a:r>
            <a:r>
              <a:rPr lang="it-IT" i="1" dirty="0">
                <a:solidFill>
                  <a:schemeClr val="accent2"/>
                </a:solidFill>
              </a:rPr>
              <a:t>Rettangolo</a:t>
            </a:r>
            <a:r>
              <a:rPr lang="it-IT" dirty="0"/>
              <a:t> sarà la seguente</a:t>
            </a:r>
          </a:p>
          <a:p>
            <a:pPr>
              <a:buNone/>
            </a:pPr>
            <a:endParaRPr lang="it-IT" sz="2000" dirty="0">
              <a:latin typeface="Courier New" pitchFamily="49" charset="0"/>
              <a:cs typeface="Courier New" pitchFamily="49" charset="0"/>
            </a:endParaRPr>
          </a:p>
          <a:p>
            <a:pPr lvl="1"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public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class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Rettangolo{</a:t>
            </a:r>
          </a:p>
          <a:p>
            <a:pPr lvl="1"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// attributi</a:t>
            </a:r>
          </a:p>
          <a:p>
            <a:pPr lvl="1"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...</a:t>
            </a:r>
          </a:p>
          <a:p>
            <a:pPr lvl="1"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// costruttori</a:t>
            </a:r>
          </a:p>
          <a:p>
            <a:pPr lvl="1"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...</a:t>
            </a:r>
          </a:p>
          <a:p>
            <a:pPr lvl="1"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// metodi</a:t>
            </a:r>
          </a:p>
          <a:p>
            <a:pPr lvl="1"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...</a:t>
            </a:r>
          </a:p>
          <a:p>
            <a:pPr lvl="1"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Attributi e variabili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Gli attributi di un oggetto </a:t>
            </a:r>
            <a:r>
              <a:rPr lang="it-IT" i="1" dirty="0">
                <a:solidFill>
                  <a:schemeClr val="accent2"/>
                </a:solidFill>
              </a:rPr>
              <a:t>Rettangolo</a:t>
            </a:r>
            <a:r>
              <a:rPr lang="it-IT" dirty="0"/>
              <a:t> debbono servire a memorizzare il valore della sua base e quello della sua altezza durante tutta la vita dell’oggetto</a:t>
            </a:r>
          </a:p>
          <a:p>
            <a:pPr lvl="1"/>
            <a:r>
              <a:rPr lang="it-IT" dirty="0"/>
              <a:t>a tal fine, gli attributi di un oggetto possono essere realizzati attraverso l’uso di opportune variabili, nel nostro caso variabili di tipo </a:t>
            </a:r>
            <a:r>
              <a:rPr lang="it-IT" i="1" dirty="0" err="1">
                <a:solidFill>
                  <a:schemeClr val="accent2"/>
                </a:solidFill>
              </a:rPr>
              <a:t>double</a:t>
            </a:r>
            <a:endParaRPr lang="it-IT" i="1" dirty="0">
              <a:solidFill>
                <a:schemeClr val="accent2"/>
              </a:solidFill>
            </a:endParaRPr>
          </a:p>
          <a:p>
            <a:pPr lvl="1"/>
            <a:r>
              <a:rPr lang="it-IT" dirty="0"/>
              <a:t>le variabili usate per definire gli attributi degli oggetti (istanze) di una classe si chiamano </a:t>
            </a:r>
            <a:r>
              <a:rPr lang="it-IT" u="sng" dirty="0">
                <a:solidFill>
                  <a:schemeClr val="accent1"/>
                </a:solidFill>
              </a:rPr>
              <a:t>variabili di istanza</a:t>
            </a:r>
          </a:p>
          <a:p>
            <a:pPr marL="800100" lvl="2" indent="-342900">
              <a:buFont typeface="Arial" pitchFamily="34" charset="0"/>
              <a:buChar char="•"/>
            </a:pPr>
            <a:endParaRPr lang="it-IT" sz="2600" i="1" dirty="0">
              <a:solidFill>
                <a:schemeClr val="accent2"/>
              </a:solidFill>
            </a:endParaRPr>
          </a:p>
          <a:p>
            <a:endParaRPr lang="it-IT" sz="2400" dirty="0"/>
          </a:p>
          <a:p>
            <a:endParaRPr lang="it-IT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Attributi e variabili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L’attributo di classe </a:t>
            </a:r>
            <a:r>
              <a:rPr lang="it-IT" i="1" dirty="0" err="1">
                <a:solidFill>
                  <a:schemeClr val="accent2"/>
                </a:solidFill>
              </a:rPr>
              <a:t>numIstanze</a:t>
            </a:r>
            <a:r>
              <a:rPr lang="it-IT" dirty="0"/>
              <a:t> serve a memorizzare il numero di rettangoli creati durante tutta la vita della classe</a:t>
            </a:r>
          </a:p>
          <a:p>
            <a:pPr lvl="1"/>
            <a:r>
              <a:rPr lang="it-IT" dirty="0"/>
              <a:t>anche gli attributi di classe possono essere realizzati attraverso l’uso di opportune variabili, nel nostro caso </a:t>
            </a:r>
            <a:r>
              <a:rPr lang="it-IT"/>
              <a:t>una variabile </a:t>
            </a:r>
            <a:r>
              <a:rPr lang="it-IT" dirty="0"/>
              <a:t>di tipo </a:t>
            </a:r>
            <a:r>
              <a:rPr lang="it-IT" i="1" dirty="0" err="1">
                <a:solidFill>
                  <a:schemeClr val="accent2"/>
                </a:solidFill>
              </a:rPr>
              <a:t>int</a:t>
            </a:r>
            <a:endParaRPr lang="it-IT" i="1" dirty="0">
              <a:solidFill>
                <a:schemeClr val="accent2"/>
              </a:solidFill>
            </a:endParaRPr>
          </a:p>
          <a:p>
            <a:pPr lvl="1"/>
            <a:r>
              <a:rPr lang="it-IT" dirty="0"/>
              <a:t>le variabili usate per definire gli attributi delle classi si chiamano </a:t>
            </a:r>
            <a:r>
              <a:rPr lang="it-IT" u="sng" dirty="0">
                <a:solidFill>
                  <a:schemeClr val="accent1"/>
                </a:solidFill>
              </a:rPr>
              <a:t>variabili di classe </a:t>
            </a:r>
            <a:r>
              <a:rPr lang="it-IT" dirty="0"/>
              <a:t>oppure </a:t>
            </a:r>
            <a:r>
              <a:rPr lang="it-IT" u="sng" dirty="0">
                <a:solidFill>
                  <a:schemeClr val="accent1"/>
                </a:solidFill>
              </a:rPr>
              <a:t>variabili statiche</a:t>
            </a:r>
          </a:p>
          <a:p>
            <a:pPr marL="800100" lvl="2" indent="-342900">
              <a:buFont typeface="Arial" pitchFamily="34" charset="0"/>
              <a:buChar char="•"/>
            </a:pPr>
            <a:endParaRPr lang="it-IT" sz="2600" i="1" dirty="0">
              <a:solidFill>
                <a:schemeClr val="accent2"/>
              </a:solidFill>
            </a:endParaRPr>
          </a:p>
          <a:p>
            <a:endParaRPr lang="it-IT" sz="2400" dirty="0"/>
          </a:p>
          <a:p>
            <a:endParaRPr lang="it-IT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Dichiarazione di attributi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it-IT" dirty="0"/>
              <a:t>Nella definizione di una classe, le variabili di istanza e di classe si dichiarano all’interno del corpo della classe ma al di fuori dei corpi dei metodi</a:t>
            </a:r>
          </a:p>
          <a:p>
            <a:pPr lvl="1"/>
            <a:r>
              <a:rPr lang="it-IT" dirty="0"/>
              <a:t>tipicamente all’inizio del corpo della classe, prima dei metodi</a:t>
            </a:r>
            <a:endParaRPr lang="it-IT" sz="2000" dirty="0"/>
          </a:p>
          <a:p>
            <a:pPr lvl="1">
              <a:buNone/>
            </a:pPr>
            <a:r>
              <a:rPr lang="it-IT" sz="2000" dirty="0">
                <a:latin typeface="Courier New" pitchFamily="49" charset="0"/>
              </a:rPr>
              <a:t>public </a:t>
            </a:r>
            <a:r>
              <a:rPr lang="it-IT" sz="2000" dirty="0" err="1">
                <a:latin typeface="Courier New" pitchFamily="49" charset="0"/>
              </a:rPr>
              <a:t>class</a:t>
            </a:r>
            <a:r>
              <a:rPr lang="it-IT" sz="2000" dirty="0">
                <a:latin typeface="Courier New" pitchFamily="49" charset="0"/>
              </a:rPr>
              <a:t> Rettangolo{</a:t>
            </a:r>
          </a:p>
          <a:p>
            <a:pPr lvl="1">
              <a:buNone/>
            </a:pPr>
            <a:r>
              <a:rPr lang="it-IT" sz="2000" b="1" dirty="0">
                <a:solidFill>
                  <a:srgbClr val="0000FF"/>
                </a:solidFill>
                <a:latin typeface="Courier New" pitchFamily="49" charset="0"/>
              </a:rPr>
              <a:t>	private </a:t>
            </a:r>
            <a:r>
              <a:rPr lang="it-IT" sz="2000" b="1" dirty="0" err="1">
                <a:solidFill>
                  <a:srgbClr val="0000FF"/>
                </a:solidFill>
                <a:latin typeface="Courier New" pitchFamily="49" charset="0"/>
              </a:rPr>
              <a:t>double</a:t>
            </a:r>
            <a:r>
              <a:rPr lang="it-IT" sz="2000" b="1" dirty="0">
                <a:solidFill>
                  <a:srgbClr val="0000FF"/>
                </a:solidFill>
                <a:latin typeface="Courier New" pitchFamily="49" charset="0"/>
              </a:rPr>
              <a:t> base;</a:t>
            </a:r>
          </a:p>
          <a:p>
            <a:pPr lvl="1">
              <a:buNone/>
            </a:pPr>
            <a:r>
              <a:rPr lang="it-IT" sz="2000" b="1" dirty="0">
                <a:solidFill>
                  <a:srgbClr val="0000FF"/>
                </a:solidFill>
                <a:latin typeface="Courier New" pitchFamily="49" charset="0"/>
              </a:rPr>
              <a:t>	private </a:t>
            </a:r>
            <a:r>
              <a:rPr lang="it-IT" sz="2000" b="1" dirty="0" err="1">
                <a:solidFill>
                  <a:srgbClr val="0000FF"/>
                </a:solidFill>
                <a:latin typeface="Courier New" pitchFamily="49" charset="0"/>
              </a:rPr>
              <a:t>double</a:t>
            </a:r>
            <a:r>
              <a:rPr lang="it-IT" sz="2000" b="1" dirty="0">
                <a:solidFill>
                  <a:srgbClr val="0000FF"/>
                </a:solidFill>
                <a:latin typeface="Courier New" pitchFamily="49" charset="0"/>
              </a:rPr>
              <a:t> altezza;</a:t>
            </a:r>
          </a:p>
          <a:p>
            <a:pPr lvl="1">
              <a:buNone/>
            </a:pPr>
            <a:r>
              <a:rPr lang="it-IT" sz="2000" b="1" dirty="0">
                <a:solidFill>
                  <a:srgbClr val="0000FF"/>
                </a:solidFill>
                <a:latin typeface="Courier New" pitchFamily="49" charset="0"/>
              </a:rPr>
              <a:t>	private </a:t>
            </a:r>
            <a:r>
              <a:rPr lang="it-IT" sz="2000" b="1" dirty="0" err="1">
                <a:solidFill>
                  <a:srgbClr val="0000FF"/>
                </a:solidFill>
                <a:latin typeface="Courier New" pitchFamily="49" charset="0"/>
              </a:rPr>
              <a:t>static</a:t>
            </a:r>
            <a:r>
              <a:rPr lang="it-IT" sz="2000" b="1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it-IT" sz="2000" b="1" dirty="0" err="1">
                <a:solidFill>
                  <a:srgbClr val="0000FF"/>
                </a:solidFill>
                <a:latin typeface="Courier New" pitchFamily="49" charset="0"/>
              </a:rPr>
              <a:t>int</a:t>
            </a:r>
            <a:r>
              <a:rPr lang="it-IT" sz="2000" b="1" dirty="0">
                <a:solidFill>
                  <a:srgbClr val="0000FF"/>
                </a:solidFill>
                <a:latin typeface="Courier New" pitchFamily="49" charset="0"/>
              </a:rPr>
              <a:t> numIstanze=0;</a:t>
            </a:r>
          </a:p>
          <a:p>
            <a:pPr lvl="1">
              <a:spcBef>
                <a:spcPct val="50000"/>
              </a:spcBef>
              <a:buNone/>
              <a:defRPr/>
            </a:pPr>
            <a:r>
              <a:rPr lang="it-IT" sz="2000" dirty="0">
                <a:latin typeface="Courier New" pitchFamily="49" charset="0"/>
              </a:rPr>
              <a:t>  /* costruttori e metodi */ </a:t>
            </a:r>
            <a:br>
              <a:rPr lang="it-IT" sz="2000" dirty="0">
                <a:latin typeface="Courier New" pitchFamily="49" charset="0"/>
              </a:rPr>
            </a:br>
            <a:r>
              <a:rPr lang="it-IT" sz="2000" dirty="0">
                <a:latin typeface="Courier New" pitchFamily="49" charset="0"/>
              </a:rPr>
              <a:t>  ...</a:t>
            </a:r>
          </a:p>
          <a:p>
            <a:pPr lvl="1">
              <a:spcBef>
                <a:spcPct val="50000"/>
              </a:spcBef>
              <a:buNone/>
              <a:defRPr/>
            </a:pPr>
            <a:r>
              <a:rPr lang="it-IT" sz="2000" dirty="0">
                <a:latin typeface="Courier New" pitchFamily="49" charset="0"/>
              </a:rPr>
              <a:t>}</a:t>
            </a:r>
          </a:p>
          <a:p>
            <a:endParaRPr lang="it-IT" dirty="0"/>
          </a:p>
        </p:txBody>
      </p:sp>
      <p:sp>
        <p:nvSpPr>
          <p:cNvPr id="4" name="Text Box 8"/>
          <p:cNvSpPr txBox="1">
            <a:spLocks noChangeArrowheads="1"/>
          </p:cNvSpPr>
          <p:nvPr/>
        </p:nvSpPr>
        <p:spPr bwMode="auto">
          <a:xfrm>
            <a:off x="5871592" y="3789040"/>
            <a:ext cx="2514600" cy="427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200"/>
              <a:t>variabili di istanza</a:t>
            </a:r>
          </a:p>
        </p:txBody>
      </p:sp>
      <p:sp>
        <p:nvSpPr>
          <p:cNvPr id="5" name="Line 9"/>
          <p:cNvSpPr>
            <a:spLocks noChangeShapeType="1"/>
          </p:cNvSpPr>
          <p:nvPr/>
        </p:nvSpPr>
        <p:spPr bwMode="auto">
          <a:xfrm flipH="1" flipV="1">
            <a:off x="4499992" y="3865240"/>
            <a:ext cx="1371600" cy="228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it-IT"/>
          </a:p>
        </p:txBody>
      </p:sp>
      <p:sp>
        <p:nvSpPr>
          <p:cNvPr id="6" name="Line 10"/>
          <p:cNvSpPr>
            <a:spLocks noChangeShapeType="1"/>
          </p:cNvSpPr>
          <p:nvPr/>
        </p:nvSpPr>
        <p:spPr bwMode="auto">
          <a:xfrm flipH="1">
            <a:off x="4880992" y="4093840"/>
            <a:ext cx="990600" cy="762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6372200" y="5013176"/>
            <a:ext cx="2514600" cy="427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200" dirty="0"/>
              <a:t>variabile di classe</a:t>
            </a:r>
          </a:p>
        </p:txBody>
      </p:sp>
      <p:sp>
        <p:nvSpPr>
          <p:cNvPr id="8" name="Line 9"/>
          <p:cNvSpPr>
            <a:spLocks noChangeShapeType="1"/>
          </p:cNvSpPr>
          <p:nvPr/>
        </p:nvSpPr>
        <p:spPr bwMode="auto">
          <a:xfrm flipH="1" flipV="1">
            <a:off x="5580112" y="4653136"/>
            <a:ext cx="792088" cy="64807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Variabili di istanza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La dichiarazione delle variabili di istanza avviene come per le variabili viste fino ad ora; si scrive prima il tipo e poi il nome</a:t>
            </a:r>
            <a:endParaRPr lang="it-IT" sz="2400" dirty="0"/>
          </a:p>
          <a:p>
            <a:pPr lvl="1"/>
            <a:r>
              <a:rPr lang="it-IT" dirty="0"/>
              <a:t>tipicamente (ma non sempre) la definizione è preceduta dal modificatore d’accesso </a:t>
            </a:r>
            <a:r>
              <a:rPr lang="it-IT" i="1" dirty="0">
                <a:solidFill>
                  <a:schemeClr val="accent2"/>
                </a:solidFill>
              </a:rPr>
              <a:t>private</a:t>
            </a:r>
          </a:p>
          <a:p>
            <a:pPr lvl="1"/>
            <a:r>
              <a:rPr lang="it-IT" dirty="0"/>
              <a:t>il modificatore </a:t>
            </a:r>
            <a:r>
              <a:rPr lang="it-IT" i="1" dirty="0">
                <a:solidFill>
                  <a:schemeClr val="accent2"/>
                </a:solidFill>
              </a:rPr>
              <a:t>private </a:t>
            </a:r>
            <a:r>
              <a:rPr lang="it-IT" dirty="0"/>
              <a:t>indica che le variabili definite possono  essere accedute solo da metodi della classe </a:t>
            </a:r>
            <a:r>
              <a:rPr lang="it-IT" i="1" dirty="0">
                <a:solidFill>
                  <a:schemeClr val="accent2"/>
                </a:solidFill>
              </a:rPr>
              <a:t>Rettangolo</a:t>
            </a:r>
            <a:r>
              <a:rPr lang="it-IT" dirty="0"/>
              <a:t>, e non da metodi di altre classi</a:t>
            </a:r>
          </a:p>
          <a:p>
            <a:pPr lvl="1"/>
            <a:r>
              <a:rPr lang="it-IT" dirty="0"/>
              <a:t>in questo modo lo stato degli oggetti può essere modificato </a:t>
            </a:r>
            <a:r>
              <a:rPr lang="it-IT" u="sng" dirty="0"/>
              <a:t>solo</a:t>
            </a:r>
            <a:r>
              <a:rPr lang="it-IT" dirty="0"/>
              <a:t> mediante i metodi pubblici</a:t>
            </a:r>
          </a:p>
          <a:p>
            <a:endParaRPr lang="it-IT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Semplificazioni sintattiche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Variabili diverse dello stesso tipo possono essere definite mediante un’unica istruzione</a:t>
            </a:r>
          </a:p>
          <a:p>
            <a:pPr lvl="1">
              <a:buNone/>
            </a:pPr>
            <a:r>
              <a:rPr lang="it-IT" sz="2000" dirty="0">
                <a:latin typeface="Courier New" pitchFamily="49" charset="0"/>
              </a:rPr>
              <a:t>public </a:t>
            </a:r>
            <a:r>
              <a:rPr lang="it-IT" sz="2000" dirty="0" err="1">
                <a:latin typeface="Courier New" pitchFamily="49" charset="0"/>
              </a:rPr>
              <a:t>class</a:t>
            </a:r>
            <a:r>
              <a:rPr lang="it-IT" sz="2000" dirty="0">
                <a:latin typeface="Courier New" pitchFamily="49" charset="0"/>
              </a:rPr>
              <a:t> Rettangolo{</a:t>
            </a:r>
          </a:p>
          <a:p>
            <a:pPr lvl="1">
              <a:buNone/>
            </a:pPr>
            <a:r>
              <a:rPr lang="it-IT" sz="2000" b="1" dirty="0">
                <a:solidFill>
                  <a:srgbClr val="0000FF"/>
                </a:solidFill>
                <a:latin typeface="Courier New" pitchFamily="49" charset="0"/>
              </a:rPr>
              <a:t>	private </a:t>
            </a:r>
            <a:r>
              <a:rPr lang="it-IT" sz="2000" b="1" dirty="0" err="1">
                <a:solidFill>
                  <a:srgbClr val="0000FF"/>
                </a:solidFill>
                <a:latin typeface="Courier New" pitchFamily="49" charset="0"/>
              </a:rPr>
              <a:t>double</a:t>
            </a:r>
            <a:r>
              <a:rPr lang="it-IT" sz="2000" b="1" dirty="0">
                <a:solidFill>
                  <a:srgbClr val="0000FF"/>
                </a:solidFill>
                <a:latin typeface="Courier New" pitchFamily="49" charset="0"/>
              </a:rPr>
              <a:t> base, altezza;</a:t>
            </a:r>
          </a:p>
          <a:p>
            <a:pPr lvl="1">
              <a:buNone/>
            </a:pPr>
            <a:r>
              <a:rPr lang="it-IT" sz="2000" b="1" dirty="0">
                <a:solidFill>
                  <a:srgbClr val="0000FF"/>
                </a:solidFill>
                <a:latin typeface="Courier New" pitchFamily="49" charset="0"/>
              </a:rPr>
              <a:t>	</a:t>
            </a:r>
            <a:r>
              <a:rPr lang="it-IT" sz="2000" dirty="0">
                <a:latin typeface="Courier New" pitchFamily="49" charset="0"/>
              </a:rPr>
              <a:t>private </a:t>
            </a:r>
            <a:r>
              <a:rPr lang="it-IT" sz="2000" dirty="0" err="1">
                <a:latin typeface="Courier New" pitchFamily="49" charset="0"/>
              </a:rPr>
              <a:t>static</a:t>
            </a:r>
            <a:r>
              <a:rPr lang="it-IT" sz="2000" dirty="0">
                <a:latin typeface="Courier New" pitchFamily="49" charset="0"/>
              </a:rPr>
              <a:t> </a:t>
            </a:r>
            <a:r>
              <a:rPr lang="it-IT" sz="2000" dirty="0" err="1">
                <a:latin typeface="Courier New" pitchFamily="49" charset="0"/>
              </a:rPr>
              <a:t>int</a:t>
            </a:r>
            <a:r>
              <a:rPr lang="it-IT" sz="2000" dirty="0">
                <a:latin typeface="Courier New" pitchFamily="49" charset="0"/>
              </a:rPr>
              <a:t> numIstanze=0;</a:t>
            </a:r>
          </a:p>
          <a:p>
            <a:pPr lvl="1">
              <a:spcBef>
                <a:spcPct val="50000"/>
              </a:spcBef>
              <a:buNone/>
              <a:defRPr/>
            </a:pPr>
            <a:r>
              <a:rPr lang="it-IT" sz="2000" dirty="0">
                <a:latin typeface="Courier New" pitchFamily="49" charset="0"/>
              </a:rPr>
              <a:t>  /* costruttori e metodi */ </a:t>
            </a:r>
            <a:br>
              <a:rPr lang="it-IT" sz="2000" dirty="0">
                <a:latin typeface="Courier New" pitchFamily="49" charset="0"/>
              </a:rPr>
            </a:br>
            <a:r>
              <a:rPr lang="it-IT" sz="2000" dirty="0">
                <a:latin typeface="Courier New" pitchFamily="49" charset="0"/>
              </a:rPr>
              <a:t>  ...</a:t>
            </a:r>
          </a:p>
          <a:p>
            <a:pPr lvl="1">
              <a:spcBef>
                <a:spcPct val="50000"/>
              </a:spcBef>
              <a:buNone/>
              <a:defRPr/>
            </a:pPr>
            <a:r>
              <a:rPr lang="it-IT" sz="2000" dirty="0">
                <a:latin typeface="Courier New" pitchFamily="49" charset="0"/>
              </a:rPr>
              <a:t>}</a:t>
            </a:r>
          </a:p>
          <a:p>
            <a:r>
              <a:rPr lang="it-IT" dirty="0"/>
              <a:t>In questo modo il compilatore assume che </a:t>
            </a:r>
            <a:r>
              <a:rPr lang="it-IT" i="1" dirty="0">
                <a:solidFill>
                  <a:schemeClr val="accent2"/>
                </a:solidFill>
              </a:rPr>
              <a:t>base</a:t>
            </a:r>
            <a:r>
              <a:rPr lang="it-IT" dirty="0"/>
              <a:t> e </a:t>
            </a:r>
            <a:r>
              <a:rPr lang="it-IT" i="1" dirty="0">
                <a:solidFill>
                  <a:schemeClr val="accent2"/>
                </a:solidFill>
              </a:rPr>
              <a:t>altezza</a:t>
            </a:r>
            <a:r>
              <a:rPr lang="it-IT" dirty="0"/>
              <a:t> siano entrambe </a:t>
            </a:r>
            <a:r>
              <a:rPr lang="it-IT" i="1" dirty="0" err="1">
                <a:solidFill>
                  <a:schemeClr val="accent2"/>
                </a:solidFill>
              </a:rPr>
              <a:t>double</a:t>
            </a:r>
            <a:r>
              <a:rPr lang="it-IT" dirty="0"/>
              <a:t> e </a:t>
            </a:r>
            <a:r>
              <a:rPr lang="it-IT" i="1" dirty="0">
                <a:solidFill>
                  <a:schemeClr val="accent2"/>
                </a:solidFill>
              </a:rPr>
              <a:t>private</a:t>
            </a:r>
          </a:p>
          <a:p>
            <a:endParaRPr lang="it-IT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Oggetti e variabili di istanza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Le variabili di istanza rappresentano “la memoria di un oggetto”, cioè il suo stato nel tempo</a:t>
            </a:r>
            <a:endParaRPr lang="it-IT" sz="2400" dirty="0"/>
          </a:p>
          <a:p>
            <a:pPr lvl="1"/>
            <a:r>
              <a:rPr lang="it-IT" dirty="0"/>
              <a:t>ogni oggetto </a:t>
            </a:r>
            <a:r>
              <a:rPr lang="it-IT" i="1" dirty="0">
                <a:solidFill>
                  <a:schemeClr val="accent2"/>
                </a:solidFill>
              </a:rPr>
              <a:t>Rettangolo</a:t>
            </a:r>
            <a:r>
              <a:rPr lang="it-IT" dirty="0"/>
              <a:t> avrà due variabili di istanza, in cui potrà mantenere il valore della sua base e quello della sua altezza per tutta la sua vita</a:t>
            </a:r>
          </a:p>
          <a:p>
            <a:pPr lvl="1"/>
            <a:r>
              <a:rPr lang="it-IT" dirty="0"/>
              <a:t>il valore di una variabile di istanza può cambiare nel tempo – i metodi dell’oggetto possono modificarlo</a:t>
            </a:r>
          </a:p>
          <a:p>
            <a:pPr lvl="1"/>
            <a:r>
              <a:rPr lang="it-IT" dirty="0"/>
              <a:t>due oggetti distinti di tipo </a:t>
            </a:r>
            <a:r>
              <a:rPr lang="it-IT" i="1" dirty="0">
                <a:solidFill>
                  <a:schemeClr val="accent2"/>
                </a:solidFill>
              </a:rPr>
              <a:t>Rettangolo</a:t>
            </a:r>
            <a:r>
              <a:rPr lang="it-IT" dirty="0"/>
              <a:t> hanno cicli di vita indipendenti – i valori delle loro variabili di istanza variano in modo indipendente!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Valore iniziale delle var. di istanza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L’inizializzazione delle variabili di istanza di un oggetto, cioè del suo stato, è tipicamente eseguita nel costruttore che viene invocato subito dopo la creazione dell’oggetto</a:t>
            </a:r>
          </a:p>
          <a:p>
            <a:r>
              <a:rPr lang="it-IT" dirty="0"/>
              <a:t>Tuttavia subito dopo che l’oggetto è stato creato con l’operatore </a:t>
            </a:r>
            <a:r>
              <a:rPr lang="it-IT" i="1" dirty="0" err="1">
                <a:solidFill>
                  <a:schemeClr val="accent2"/>
                </a:solidFill>
              </a:rPr>
              <a:t>new</a:t>
            </a:r>
            <a:r>
              <a:rPr lang="it-IT" dirty="0"/>
              <a:t> (e prima che il costruttore venga eseguito) la JVM assegna ad ogni variabile di istanza un valore di default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Valore iniziale delle var. di istanza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Valori di default:</a:t>
            </a:r>
          </a:p>
          <a:p>
            <a:pPr lvl="1"/>
            <a:r>
              <a:rPr lang="it-IT" dirty="0"/>
              <a:t>per i tipi interi (</a:t>
            </a:r>
            <a:r>
              <a:rPr lang="it-IT" i="1" dirty="0">
                <a:solidFill>
                  <a:schemeClr val="accent2"/>
                </a:solidFill>
              </a:rPr>
              <a:t>byte</a:t>
            </a:r>
            <a:r>
              <a:rPr lang="it-IT" dirty="0"/>
              <a:t>, </a:t>
            </a:r>
            <a:r>
              <a:rPr lang="it-IT" i="1" dirty="0">
                <a:solidFill>
                  <a:schemeClr val="accent2"/>
                </a:solidFill>
              </a:rPr>
              <a:t>short</a:t>
            </a:r>
            <a:r>
              <a:rPr lang="it-IT" dirty="0"/>
              <a:t>, </a:t>
            </a:r>
            <a:r>
              <a:rPr lang="it-IT" i="1" dirty="0" err="1">
                <a:solidFill>
                  <a:schemeClr val="accent2"/>
                </a:solidFill>
              </a:rPr>
              <a:t>int</a:t>
            </a:r>
            <a:r>
              <a:rPr lang="it-IT" dirty="0"/>
              <a:t>, </a:t>
            </a:r>
            <a:r>
              <a:rPr lang="it-IT" i="1" dirty="0">
                <a:solidFill>
                  <a:schemeClr val="accent2"/>
                </a:solidFill>
              </a:rPr>
              <a:t>long</a:t>
            </a:r>
            <a:r>
              <a:rPr lang="it-IT" dirty="0"/>
              <a:t>): </a:t>
            </a:r>
            <a:r>
              <a:rPr lang="it-IT" i="1" dirty="0">
                <a:solidFill>
                  <a:schemeClr val="accent2"/>
                </a:solidFill>
              </a:rPr>
              <a:t>0</a:t>
            </a:r>
          </a:p>
          <a:p>
            <a:pPr lvl="1"/>
            <a:r>
              <a:rPr lang="it-IT" dirty="0"/>
              <a:t>per i tipi in virgola mobile (</a:t>
            </a:r>
            <a:r>
              <a:rPr lang="it-IT" i="1" dirty="0" err="1">
                <a:solidFill>
                  <a:schemeClr val="accent2"/>
                </a:solidFill>
              </a:rPr>
              <a:t>float</a:t>
            </a:r>
            <a:r>
              <a:rPr lang="it-IT" dirty="0"/>
              <a:t>, </a:t>
            </a:r>
            <a:r>
              <a:rPr lang="it-IT" i="1" dirty="0" err="1">
                <a:solidFill>
                  <a:schemeClr val="accent2"/>
                </a:solidFill>
              </a:rPr>
              <a:t>double</a:t>
            </a:r>
            <a:r>
              <a:rPr lang="it-IT" dirty="0"/>
              <a:t>): </a:t>
            </a:r>
            <a:r>
              <a:rPr lang="it-IT" i="1" dirty="0">
                <a:solidFill>
                  <a:schemeClr val="accent2"/>
                </a:solidFill>
              </a:rPr>
              <a:t>0.0</a:t>
            </a:r>
          </a:p>
          <a:p>
            <a:pPr lvl="1"/>
            <a:r>
              <a:rPr lang="it-IT" dirty="0"/>
              <a:t>per il tipo  </a:t>
            </a:r>
            <a:r>
              <a:rPr lang="it-IT" i="1" dirty="0" err="1">
                <a:solidFill>
                  <a:schemeClr val="accent2"/>
                </a:solidFill>
              </a:rPr>
              <a:t>char</a:t>
            </a:r>
            <a:r>
              <a:rPr lang="it-IT" dirty="0"/>
              <a:t>: </a:t>
            </a:r>
            <a:r>
              <a:rPr lang="it-IT" i="1" dirty="0">
                <a:solidFill>
                  <a:schemeClr val="accent2"/>
                </a:solidFill>
              </a:rPr>
              <a:t>‘\u0000’</a:t>
            </a:r>
          </a:p>
          <a:p>
            <a:pPr lvl="1"/>
            <a:r>
              <a:rPr lang="it-IT" dirty="0"/>
              <a:t>per il tipo </a:t>
            </a:r>
            <a:r>
              <a:rPr lang="it-IT" i="1" dirty="0" err="1">
                <a:solidFill>
                  <a:schemeClr val="accent2"/>
                </a:solidFill>
              </a:rPr>
              <a:t>boolean</a:t>
            </a:r>
            <a:r>
              <a:rPr lang="it-IT" dirty="0"/>
              <a:t>: </a:t>
            </a:r>
            <a:r>
              <a:rPr lang="it-IT" i="1" dirty="0">
                <a:solidFill>
                  <a:schemeClr val="accent2"/>
                </a:solidFill>
              </a:rPr>
              <a:t>false</a:t>
            </a:r>
          </a:p>
          <a:p>
            <a:pPr lvl="1"/>
            <a:r>
              <a:rPr lang="it-IT" dirty="0"/>
              <a:t>per i tipi riferimento: </a:t>
            </a:r>
            <a:r>
              <a:rPr lang="it-IT" i="1" dirty="0" err="1">
                <a:solidFill>
                  <a:schemeClr val="accent2"/>
                </a:solidFill>
              </a:rPr>
              <a:t>null</a:t>
            </a:r>
            <a:endParaRPr lang="it-IT" i="1" dirty="0">
              <a:solidFill>
                <a:schemeClr val="accent2"/>
              </a:solidFill>
            </a:endParaRPr>
          </a:p>
          <a:p>
            <a:endParaRPr lang="it-IT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Valore iniziale delle var. di istanza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È anche possibile inizializzare le variabili di istanza contestualmente alla loro definizione</a:t>
            </a:r>
          </a:p>
          <a:p>
            <a:r>
              <a:rPr lang="it-IT" dirty="0"/>
              <a:t>Ad esempio</a:t>
            </a:r>
          </a:p>
          <a:p>
            <a:pPr lvl="1">
              <a:buNone/>
            </a:pPr>
            <a:endParaRPr lang="it-IT" sz="2000" dirty="0">
              <a:latin typeface="Courier New" pitchFamily="49" charset="0"/>
            </a:endParaRPr>
          </a:p>
          <a:p>
            <a:pPr lvl="1">
              <a:buNone/>
            </a:pPr>
            <a:r>
              <a:rPr lang="it-IT" sz="2000" dirty="0">
                <a:latin typeface="Courier New" pitchFamily="49" charset="0"/>
              </a:rPr>
              <a:t>public </a:t>
            </a:r>
            <a:r>
              <a:rPr lang="it-IT" sz="2000" dirty="0" err="1">
                <a:latin typeface="Courier New" pitchFamily="49" charset="0"/>
              </a:rPr>
              <a:t>class</a:t>
            </a:r>
            <a:r>
              <a:rPr lang="it-IT" sz="2000" dirty="0">
                <a:latin typeface="Courier New" pitchFamily="49" charset="0"/>
              </a:rPr>
              <a:t> Rettangolo{</a:t>
            </a:r>
          </a:p>
          <a:p>
            <a:pPr lvl="1">
              <a:buNone/>
            </a:pPr>
            <a:r>
              <a:rPr lang="it-IT" sz="2000" b="1" dirty="0">
                <a:solidFill>
                  <a:srgbClr val="0000FF"/>
                </a:solidFill>
                <a:latin typeface="Courier New" pitchFamily="49" charset="0"/>
              </a:rPr>
              <a:t>	private </a:t>
            </a:r>
            <a:r>
              <a:rPr lang="it-IT" sz="2000" b="1" dirty="0" err="1">
                <a:solidFill>
                  <a:srgbClr val="0000FF"/>
                </a:solidFill>
                <a:latin typeface="Courier New" pitchFamily="49" charset="0"/>
              </a:rPr>
              <a:t>double</a:t>
            </a:r>
            <a:r>
              <a:rPr lang="it-IT" sz="2000" b="1" dirty="0">
                <a:solidFill>
                  <a:srgbClr val="0000FF"/>
                </a:solidFill>
                <a:latin typeface="Courier New" pitchFamily="49" charset="0"/>
              </a:rPr>
              <a:t> base=-1;</a:t>
            </a:r>
          </a:p>
          <a:p>
            <a:pPr lvl="1">
              <a:buNone/>
            </a:pPr>
            <a:r>
              <a:rPr lang="it-IT" sz="2000" b="1" dirty="0">
                <a:solidFill>
                  <a:srgbClr val="0000FF"/>
                </a:solidFill>
                <a:latin typeface="Courier New" pitchFamily="49" charset="0"/>
              </a:rPr>
              <a:t>	private </a:t>
            </a:r>
            <a:r>
              <a:rPr lang="it-IT" sz="2000" b="1" dirty="0" err="1">
                <a:solidFill>
                  <a:srgbClr val="0000FF"/>
                </a:solidFill>
                <a:latin typeface="Courier New" pitchFamily="49" charset="0"/>
              </a:rPr>
              <a:t>double</a:t>
            </a:r>
            <a:r>
              <a:rPr lang="it-IT" sz="2000" b="1" dirty="0">
                <a:solidFill>
                  <a:srgbClr val="0000FF"/>
                </a:solidFill>
                <a:latin typeface="Courier New" pitchFamily="49" charset="0"/>
              </a:rPr>
              <a:t> altezza=-1;</a:t>
            </a:r>
          </a:p>
          <a:p>
            <a:pPr lvl="1">
              <a:buNone/>
            </a:pPr>
            <a:r>
              <a:rPr lang="it-IT" sz="2000" b="1" dirty="0">
                <a:solidFill>
                  <a:srgbClr val="0000FF"/>
                </a:solidFill>
                <a:latin typeface="Courier New" pitchFamily="49" charset="0"/>
              </a:rPr>
              <a:t>	</a:t>
            </a:r>
            <a:r>
              <a:rPr lang="it-IT" sz="2000" dirty="0">
                <a:latin typeface="Courier New" pitchFamily="49" charset="0"/>
              </a:rPr>
              <a:t>private </a:t>
            </a:r>
            <a:r>
              <a:rPr lang="it-IT" sz="2000" dirty="0" err="1">
                <a:latin typeface="Courier New" pitchFamily="49" charset="0"/>
              </a:rPr>
              <a:t>static</a:t>
            </a:r>
            <a:r>
              <a:rPr lang="it-IT" sz="2000" dirty="0">
                <a:latin typeface="Courier New" pitchFamily="49" charset="0"/>
              </a:rPr>
              <a:t> </a:t>
            </a:r>
            <a:r>
              <a:rPr lang="it-IT" sz="2000" dirty="0" err="1">
                <a:latin typeface="Courier New" pitchFamily="49" charset="0"/>
              </a:rPr>
              <a:t>int</a:t>
            </a:r>
            <a:r>
              <a:rPr lang="it-IT" sz="2000" dirty="0">
                <a:latin typeface="Courier New" pitchFamily="49" charset="0"/>
              </a:rPr>
              <a:t> numIstanze=0;</a:t>
            </a:r>
          </a:p>
          <a:p>
            <a:pPr lvl="1">
              <a:spcBef>
                <a:spcPct val="50000"/>
              </a:spcBef>
              <a:buNone/>
              <a:defRPr/>
            </a:pPr>
            <a:r>
              <a:rPr lang="it-IT" sz="2000" dirty="0">
                <a:latin typeface="Courier New" pitchFamily="49" charset="0"/>
              </a:rPr>
              <a:t>  /* costruttori e metodi */ </a:t>
            </a:r>
            <a:br>
              <a:rPr lang="it-IT" sz="2000" dirty="0">
                <a:latin typeface="Courier New" pitchFamily="49" charset="0"/>
              </a:rPr>
            </a:br>
            <a:r>
              <a:rPr lang="it-IT" sz="2000" dirty="0">
                <a:latin typeface="Courier New" pitchFamily="49" charset="0"/>
              </a:rPr>
              <a:t>  ...</a:t>
            </a:r>
          </a:p>
          <a:p>
            <a:pPr lvl="1">
              <a:spcBef>
                <a:spcPct val="50000"/>
              </a:spcBef>
              <a:buNone/>
              <a:defRPr/>
            </a:pPr>
            <a:r>
              <a:rPr lang="it-IT" sz="2000" dirty="0">
                <a:latin typeface="Courier New" pitchFamily="49" charset="0"/>
              </a:rPr>
              <a:t>}</a:t>
            </a:r>
          </a:p>
          <a:p>
            <a:endParaRPr lang="it-IT" dirty="0"/>
          </a:p>
          <a:p>
            <a:endParaRPr lang="it-IT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Variabili di classe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Anche la dichiarazione delle variabili di classe avviene scrivendo prima il tipo e poi il nome</a:t>
            </a:r>
            <a:endParaRPr lang="it-IT" sz="2400" dirty="0"/>
          </a:p>
          <a:p>
            <a:pPr lvl="1"/>
            <a:r>
              <a:rPr lang="it-IT" dirty="0"/>
              <a:t>le variabili di classe vanno definite mediante la clausola </a:t>
            </a:r>
            <a:r>
              <a:rPr lang="it-IT" i="1" dirty="0" err="1">
                <a:solidFill>
                  <a:schemeClr val="accent2"/>
                </a:solidFill>
              </a:rPr>
              <a:t>static</a:t>
            </a:r>
            <a:endParaRPr lang="it-IT" i="1" dirty="0">
              <a:solidFill>
                <a:schemeClr val="accent2"/>
              </a:solidFill>
            </a:endParaRPr>
          </a:p>
          <a:p>
            <a:pPr lvl="1"/>
            <a:r>
              <a:rPr lang="it-IT" dirty="0"/>
              <a:t>anche in questo caso la definizione è tipicamente preceduta dal modificatore d’accesso </a:t>
            </a:r>
            <a:r>
              <a:rPr lang="it-IT" i="1" dirty="0">
                <a:solidFill>
                  <a:schemeClr val="accent2"/>
                </a:solidFill>
              </a:rPr>
              <a:t>private</a:t>
            </a:r>
          </a:p>
          <a:p>
            <a:endParaRPr lang="it-IT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Valore iniziale delle var. di classe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La variabili di classe iniziano ad esistere nel momento in cui la classe è richiamata per la prima volta </a:t>
            </a:r>
          </a:p>
          <a:p>
            <a:r>
              <a:rPr lang="it-IT" dirty="0"/>
              <a:t>L’inizializzazione di tali variabili avviene di solito contestualmente alla definizione:</a:t>
            </a:r>
          </a:p>
          <a:p>
            <a:pPr lvl="1"/>
            <a:r>
              <a:rPr lang="it-IT" dirty="0"/>
              <a:t>non esiste un “costruttore di classe” che possa inizializzarle!</a:t>
            </a:r>
          </a:p>
          <a:p>
            <a:pPr lvl="1"/>
            <a:endParaRPr lang="it-IT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Costruttori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Un costruttore ha il compito di assegnare un valore iniziale alle variabili di istanza</a:t>
            </a:r>
          </a:p>
          <a:p>
            <a:r>
              <a:rPr lang="it-IT" dirty="0"/>
              <a:t>Sappiamo che un costruttore è un metodo speciale:</a:t>
            </a:r>
            <a:endParaRPr lang="it-IT" sz="2400" dirty="0"/>
          </a:p>
          <a:p>
            <a:pPr lvl="1"/>
            <a:r>
              <a:rPr lang="it-IT" dirty="0"/>
              <a:t>non ha tipo di ritorno (un costruttore ha solo una </a:t>
            </a:r>
            <a:r>
              <a:rPr lang="it-IT" dirty="0" err="1"/>
              <a:t>signature</a:t>
            </a:r>
            <a:r>
              <a:rPr lang="it-IT" dirty="0"/>
              <a:t> e non un prototipo) </a:t>
            </a:r>
          </a:p>
          <a:p>
            <a:pPr lvl="1"/>
            <a:r>
              <a:rPr lang="it-IT" dirty="0"/>
              <a:t>ha sempre il nome della classe</a:t>
            </a:r>
          </a:p>
          <a:p>
            <a:pPr lvl="1"/>
            <a:r>
              <a:rPr lang="it-IT" dirty="0"/>
              <a:t>può essere invocato soltanto da </a:t>
            </a:r>
            <a:r>
              <a:rPr lang="it-IT" i="1" dirty="0" err="1">
                <a:solidFill>
                  <a:schemeClr val="accent2"/>
                </a:solidFill>
              </a:rPr>
              <a:t>new</a:t>
            </a:r>
            <a:r>
              <a:rPr lang="it-IT" dirty="0"/>
              <a:t>, un istante dopo la creazione fisica dell’oggetto</a:t>
            </a:r>
          </a:p>
          <a:p>
            <a:pPr lvl="1"/>
            <a:r>
              <a:rPr lang="it-IT" dirty="0"/>
              <a:t>un costruttore non può essere invocato in momenti successivi della vita dell’oggetto</a:t>
            </a:r>
          </a:p>
          <a:p>
            <a:endParaRPr lang="it-IT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Costruttori</a:t>
            </a:r>
          </a:p>
        </p:txBody>
      </p:sp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533400" y="1676400"/>
            <a:ext cx="807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it-IT" sz="2400" i="1" dirty="0" err="1">
                <a:solidFill>
                  <a:schemeClr val="accent2"/>
                </a:solidFill>
              </a:rPr>
              <a:t>new</a:t>
            </a:r>
            <a:r>
              <a:rPr lang="it-IT" sz="2400" i="1" dirty="0">
                <a:solidFill>
                  <a:schemeClr val="accent2"/>
                </a:solidFill>
              </a:rPr>
              <a:t> Rettangolo (10, 20)</a:t>
            </a:r>
          </a:p>
        </p:txBody>
      </p:sp>
      <p:sp>
        <p:nvSpPr>
          <p:cNvPr id="5" name="Rectangle 8"/>
          <p:cNvSpPr>
            <a:spLocks noChangeArrowheads="1"/>
          </p:cNvSpPr>
          <p:nvPr/>
        </p:nvSpPr>
        <p:spPr bwMode="auto">
          <a:xfrm>
            <a:off x="457200" y="3657600"/>
            <a:ext cx="2470150" cy="22860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6" name="Text Box 9"/>
          <p:cNvSpPr txBox="1">
            <a:spLocks noChangeArrowheads="1"/>
          </p:cNvSpPr>
          <p:nvPr/>
        </p:nvSpPr>
        <p:spPr bwMode="auto">
          <a:xfrm>
            <a:off x="782638" y="3733800"/>
            <a:ext cx="1885950" cy="366713"/>
          </a:xfrm>
          <a:prstGeom prst="rect">
            <a:avLst/>
          </a:prstGeom>
          <a:solidFill>
            <a:srgbClr val="FFCC99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it-IT" u="sng">
                <a:effectLst>
                  <a:outerShdw blurRad="38100" dist="38100" dir="2700000" algn="tl">
                    <a:srgbClr val="FFFFFF"/>
                  </a:outerShdw>
                </a:effectLst>
              </a:rPr>
              <a:t>…:Rettangolo</a:t>
            </a:r>
          </a:p>
        </p:txBody>
      </p:sp>
      <p:sp>
        <p:nvSpPr>
          <p:cNvPr id="7" name="Line 10"/>
          <p:cNvSpPr>
            <a:spLocks noChangeShapeType="1"/>
          </p:cNvSpPr>
          <p:nvPr/>
        </p:nvSpPr>
        <p:spPr bwMode="auto">
          <a:xfrm>
            <a:off x="457200" y="4191000"/>
            <a:ext cx="24701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it-IT"/>
          </a:p>
        </p:txBody>
      </p:sp>
      <p:sp>
        <p:nvSpPr>
          <p:cNvPr id="8" name="Line 11"/>
          <p:cNvSpPr>
            <a:spLocks noChangeShapeType="1"/>
          </p:cNvSpPr>
          <p:nvPr/>
        </p:nvSpPr>
        <p:spPr bwMode="auto">
          <a:xfrm>
            <a:off x="457200" y="5181600"/>
            <a:ext cx="24701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Box 12"/>
          <p:cNvSpPr txBox="1">
            <a:spLocks noChangeArrowheads="1"/>
          </p:cNvSpPr>
          <p:nvPr/>
        </p:nvSpPr>
        <p:spPr bwMode="auto">
          <a:xfrm>
            <a:off x="533400" y="4267200"/>
            <a:ext cx="2209800" cy="366713"/>
          </a:xfrm>
          <a:prstGeom prst="rect">
            <a:avLst/>
          </a:prstGeom>
          <a:solidFill>
            <a:srgbClr val="FFCC99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/>
              <a:t>double base</a:t>
            </a:r>
          </a:p>
        </p:txBody>
      </p:sp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2286000" y="4267200"/>
            <a:ext cx="533400" cy="376238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/>
              <a:t>0.0</a:t>
            </a:r>
          </a:p>
        </p:txBody>
      </p:sp>
      <p:sp>
        <p:nvSpPr>
          <p:cNvPr id="11" name="Text Box 14"/>
          <p:cNvSpPr txBox="1">
            <a:spLocks noChangeArrowheads="1"/>
          </p:cNvSpPr>
          <p:nvPr/>
        </p:nvSpPr>
        <p:spPr bwMode="auto">
          <a:xfrm>
            <a:off x="2286000" y="4729163"/>
            <a:ext cx="533400" cy="376237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/>
              <a:t>0.0</a:t>
            </a:r>
          </a:p>
        </p:txBody>
      </p:sp>
      <p:sp>
        <p:nvSpPr>
          <p:cNvPr id="12" name="Text Box 15"/>
          <p:cNvSpPr txBox="1">
            <a:spLocks noChangeArrowheads="1"/>
          </p:cNvSpPr>
          <p:nvPr/>
        </p:nvSpPr>
        <p:spPr bwMode="auto">
          <a:xfrm>
            <a:off x="381000" y="2514600"/>
            <a:ext cx="388620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it-IT" sz="2000" b="1" dirty="0"/>
              <a:t>1.</a:t>
            </a:r>
            <a:r>
              <a:rPr lang="it-IT" sz="2000" dirty="0"/>
              <a:t> L’operatore </a:t>
            </a:r>
            <a:r>
              <a:rPr lang="it-IT" sz="2000" i="1" dirty="0" err="1">
                <a:solidFill>
                  <a:schemeClr val="accent2"/>
                </a:solidFill>
              </a:rPr>
              <a:t>new</a:t>
            </a:r>
            <a:r>
              <a:rPr lang="it-IT" sz="2000" dirty="0"/>
              <a:t> crea l’oggetto ed assegna alle sue variabili di istanza un valore di default</a:t>
            </a:r>
          </a:p>
        </p:txBody>
      </p:sp>
      <p:sp>
        <p:nvSpPr>
          <p:cNvPr id="13" name="Text Box 17"/>
          <p:cNvSpPr txBox="1">
            <a:spLocks noChangeArrowheads="1"/>
          </p:cNvSpPr>
          <p:nvPr/>
        </p:nvSpPr>
        <p:spPr bwMode="auto">
          <a:xfrm>
            <a:off x="533400" y="4648200"/>
            <a:ext cx="1706563" cy="366713"/>
          </a:xfrm>
          <a:prstGeom prst="rect">
            <a:avLst/>
          </a:prstGeom>
          <a:solidFill>
            <a:srgbClr val="FFCC99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/>
              <a:t>double altezza</a:t>
            </a:r>
          </a:p>
        </p:txBody>
      </p:sp>
      <p:grpSp>
        <p:nvGrpSpPr>
          <p:cNvPr id="14" name="Group 23"/>
          <p:cNvGrpSpPr>
            <a:grpSpLocks/>
          </p:cNvGrpSpPr>
          <p:nvPr/>
        </p:nvGrpSpPr>
        <p:grpSpPr bwMode="auto">
          <a:xfrm>
            <a:off x="2971800" y="4281488"/>
            <a:ext cx="6019800" cy="1373187"/>
            <a:chOff x="1872" y="2697"/>
            <a:chExt cx="3792" cy="865"/>
          </a:xfrm>
        </p:grpSpPr>
        <p:sp>
          <p:nvSpPr>
            <p:cNvPr id="15" name="Line 20"/>
            <p:cNvSpPr>
              <a:spLocks noChangeShapeType="1"/>
            </p:cNvSpPr>
            <p:nvPr/>
          </p:nvSpPr>
          <p:spPr bwMode="auto">
            <a:xfrm flipH="1">
              <a:off x="1872" y="2976"/>
              <a:ext cx="14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6" name="Text Box 21"/>
            <p:cNvSpPr txBox="1">
              <a:spLocks noChangeArrowheads="1"/>
            </p:cNvSpPr>
            <p:nvPr/>
          </p:nvSpPr>
          <p:spPr bwMode="auto">
            <a:xfrm>
              <a:off x="1968" y="2697"/>
              <a:ext cx="168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/>
                <a:t>Rettangolo (10,20)</a:t>
              </a:r>
            </a:p>
          </p:txBody>
        </p:sp>
        <p:sp>
          <p:nvSpPr>
            <p:cNvPr id="17" name="Text Box 22"/>
            <p:cNvSpPr txBox="1">
              <a:spLocks noChangeArrowheads="1"/>
            </p:cNvSpPr>
            <p:nvPr/>
          </p:nvSpPr>
          <p:spPr bwMode="auto">
            <a:xfrm>
              <a:off x="3312" y="2736"/>
              <a:ext cx="2352" cy="8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it-IT" sz="2000" b="1" dirty="0"/>
                <a:t>2.</a:t>
              </a:r>
              <a:r>
                <a:rPr lang="it-IT" sz="2000" dirty="0"/>
                <a:t> L’operatore </a:t>
              </a:r>
              <a:r>
                <a:rPr lang="it-IT" sz="2000" i="1" dirty="0" err="1">
                  <a:solidFill>
                    <a:schemeClr val="accent2"/>
                  </a:solidFill>
                </a:rPr>
                <a:t>new</a:t>
              </a:r>
              <a:r>
                <a:rPr lang="it-IT" sz="2000" dirty="0"/>
                <a:t> invoca il costruttore sull’oggetto creato, passando ad esso i parametri di ingresso 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Costruttori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Se in una classe non si definisce un costruttore, essa viene dotata automaticamente di un costruttore di default </a:t>
            </a:r>
          </a:p>
          <a:p>
            <a:r>
              <a:rPr lang="it-IT" dirty="0"/>
              <a:t>Tale costruttore non ha parametri e non modifica in alcun modo lo stato dell’oggetto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Definizione di costruttori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50000"/>
              </a:spcBef>
              <a:defRPr/>
            </a:pPr>
            <a:r>
              <a:rPr lang="it-IT" dirty="0"/>
              <a:t>Nel corpo di una classe, si usa definire i costruttori dopo le variabili di istanza e prima degli altri metodi</a:t>
            </a:r>
          </a:p>
          <a:p>
            <a:pPr lvl="1">
              <a:spcBef>
                <a:spcPct val="50000"/>
              </a:spcBef>
              <a:defRPr/>
            </a:pPr>
            <a:r>
              <a:rPr lang="it-IT" dirty="0"/>
              <a:t>davanti alla definizione del costruttore si mette di solito il modificatore d’accesso </a:t>
            </a:r>
            <a:r>
              <a:rPr lang="it-IT" i="1" dirty="0">
                <a:solidFill>
                  <a:schemeClr val="accent2"/>
                </a:solidFill>
              </a:rPr>
              <a:t>public</a:t>
            </a:r>
          </a:p>
          <a:p>
            <a:pPr lvl="1">
              <a:spcBef>
                <a:spcPct val="50000"/>
              </a:spcBef>
              <a:defRPr/>
            </a:pPr>
            <a:r>
              <a:rPr lang="it-IT" dirty="0"/>
              <a:t>il modificatore </a:t>
            </a:r>
            <a:r>
              <a:rPr lang="it-IT" i="1" dirty="0">
                <a:solidFill>
                  <a:schemeClr val="accent2"/>
                </a:solidFill>
              </a:rPr>
              <a:t>public</a:t>
            </a:r>
            <a:r>
              <a:rPr lang="it-IT" dirty="0"/>
              <a:t> indica che il costruttore può essere usato per creare oggetti da qualunque altro metodo (per esempio il metodo </a:t>
            </a:r>
            <a:r>
              <a:rPr lang="it-IT" i="1" dirty="0" err="1">
                <a:solidFill>
                  <a:schemeClr val="accent2"/>
                </a:solidFill>
              </a:rPr>
              <a:t>main</a:t>
            </a:r>
            <a:r>
              <a:rPr lang="it-IT" dirty="0"/>
              <a:t> di una qualche classe)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Definizione di costruttori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spcBef>
                <a:spcPct val="50000"/>
              </a:spcBef>
              <a:buNone/>
              <a:defRPr/>
            </a:pPr>
            <a:r>
              <a:rPr lang="it-IT" dirty="0">
                <a:latin typeface="Courier New" pitchFamily="49" charset="0"/>
              </a:rPr>
              <a:t>public </a:t>
            </a:r>
            <a:r>
              <a:rPr lang="it-IT" dirty="0" err="1">
                <a:latin typeface="Courier New" pitchFamily="49" charset="0"/>
              </a:rPr>
              <a:t>class</a:t>
            </a:r>
            <a:r>
              <a:rPr lang="it-IT" dirty="0">
                <a:latin typeface="Courier New" pitchFamily="49" charset="0"/>
              </a:rPr>
              <a:t> Rettangolo{</a:t>
            </a:r>
          </a:p>
          <a:p>
            <a:pPr>
              <a:spcBef>
                <a:spcPct val="50000"/>
              </a:spcBef>
              <a:buNone/>
              <a:defRPr/>
            </a:pPr>
            <a:r>
              <a:rPr lang="it-IT" dirty="0">
                <a:latin typeface="Courier New" pitchFamily="49" charset="0"/>
              </a:rPr>
              <a:t>	private </a:t>
            </a:r>
            <a:r>
              <a:rPr lang="it-IT" dirty="0" err="1">
                <a:latin typeface="Courier New" pitchFamily="49" charset="0"/>
              </a:rPr>
              <a:t>double</a:t>
            </a:r>
            <a:r>
              <a:rPr lang="it-IT" dirty="0">
                <a:latin typeface="Courier New" pitchFamily="49" charset="0"/>
              </a:rPr>
              <a:t> base, altezza;</a:t>
            </a:r>
          </a:p>
          <a:p>
            <a:pPr>
              <a:spcBef>
                <a:spcPct val="50000"/>
              </a:spcBef>
              <a:buNone/>
              <a:defRPr/>
            </a:pPr>
            <a:r>
              <a:rPr lang="it-IT" dirty="0">
                <a:latin typeface="Courier New" pitchFamily="49" charset="0"/>
              </a:rPr>
              <a:t>	private </a:t>
            </a:r>
            <a:r>
              <a:rPr lang="it-IT" dirty="0" err="1">
                <a:latin typeface="Courier New" pitchFamily="49" charset="0"/>
              </a:rPr>
              <a:t>static</a:t>
            </a:r>
            <a:r>
              <a:rPr lang="it-IT" dirty="0">
                <a:latin typeface="Courier New" pitchFamily="49" charset="0"/>
              </a:rPr>
              <a:t> </a:t>
            </a:r>
            <a:r>
              <a:rPr lang="it-IT" dirty="0" err="1">
                <a:latin typeface="Courier New" pitchFamily="49" charset="0"/>
              </a:rPr>
              <a:t>int</a:t>
            </a:r>
            <a:r>
              <a:rPr lang="it-IT" dirty="0">
                <a:latin typeface="Courier New" pitchFamily="49" charset="0"/>
              </a:rPr>
              <a:t> numIstanze=0;</a:t>
            </a:r>
          </a:p>
          <a:p>
            <a:pPr>
              <a:spcBef>
                <a:spcPct val="50000"/>
              </a:spcBef>
              <a:buNone/>
              <a:defRPr/>
            </a:pPr>
            <a:r>
              <a:rPr lang="it-IT" dirty="0">
                <a:latin typeface="Courier New" pitchFamily="49" charset="0"/>
              </a:rPr>
              <a:t>	/* costruttore:crea un oggetto Rettangolo con base b e altezza a */ </a:t>
            </a:r>
          </a:p>
          <a:p>
            <a:pPr>
              <a:spcBef>
                <a:spcPct val="50000"/>
              </a:spcBef>
              <a:buNone/>
              <a:defRPr/>
            </a:pPr>
            <a:r>
              <a:rPr lang="it-IT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	public Rettangolo (</a:t>
            </a:r>
            <a:r>
              <a:rPr lang="it-IT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double</a:t>
            </a:r>
            <a:r>
              <a:rPr lang="it-IT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 b, </a:t>
            </a:r>
            <a:r>
              <a:rPr lang="it-IT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double</a:t>
            </a:r>
            <a:r>
              <a:rPr lang="it-IT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 a){</a:t>
            </a:r>
          </a:p>
          <a:p>
            <a:pPr>
              <a:spcBef>
                <a:spcPct val="50000"/>
              </a:spcBef>
              <a:buNone/>
              <a:defRPr/>
            </a:pPr>
            <a:r>
              <a:rPr lang="it-IT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		...</a:t>
            </a:r>
          </a:p>
          <a:p>
            <a:pPr>
              <a:spcBef>
                <a:spcPct val="50000"/>
              </a:spcBef>
              <a:buNone/>
              <a:defRPr/>
            </a:pPr>
            <a:r>
              <a:rPr lang="it-IT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	}</a:t>
            </a:r>
          </a:p>
          <a:p>
            <a:pPr>
              <a:spcBef>
                <a:spcPct val="50000"/>
              </a:spcBef>
              <a:buNone/>
              <a:defRPr/>
            </a:pPr>
            <a:r>
              <a:rPr lang="it-IT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	</a:t>
            </a:r>
            <a:r>
              <a:rPr lang="it-IT" dirty="0">
                <a:latin typeface="Courier New" pitchFamily="49" charset="0"/>
              </a:rPr>
              <a:t>/* metodi */</a:t>
            </a:r>
            <a:br>
              <a:rPr lang="it-IT" dirty="0">
                <a:latin typeface="Courier New" pitchFamily="49" charset="0"/>
              </a:rPr>
            </a:br>
            <a:r>
              <a:rPr lang="it-IT" dirty="0">
                <a:latin typeface="Courier New" pitchFamily="49" charset="0"/>
              </a:rPr>
              <a:t>...</a:t>
            </a:r>
          </a:p>
          <a:p>
            <a:pPr>
              <a:spcBef>
                <a:spcPct val="50000"/>
              </a:spcBef>
              <a:buNone/>
              <a:defRPr/>
            </a:pPr>
            <a:r>
              <a:rPr lang="it-IT" dirty="0">
                <a:latin typeface="Courier New" pitchFamily="49" charset="0"/>
              </a:rPr>
              <a:t>}</a:t>
            </a:r>
          </a:p>
          <a:p>
            <a:endParaRPr lang="it-IT" dirty="0"/>
          </a:p>
        </p:txBody>
      </p:sp>
      <p:sp>
        <p:nvSpPr>
          <p:cNvPr id="4" name="Freeform 6"/>
          <p:cNvSpPr>
            <a:spLocks/>
          </p:cNvSpPr>
          <p:nvPr/>
        </p:nvSpPr>
        <p:spPr bwMode="auto">
          <a:xfrm>
            <a:off x="2186880" y="3933056"/>
            <a:ext cx="3581400" cy="1295400"/>
          </a:xfrm>
          <a:custGeom>
            <a:avLst/>
            <a:gdLst>
              <a:gd name="T0" fmla="*/ 3581400 w 2256"/>
              <a:gd name="T1" fmla="*/ 1295400 h 816"/>
              <a:gd name="T2" fmla="*/ 2057400 w 2256"/>
              <a:gd name="T3" fmla="*/ 228600 h 816"/>
              <a:gd name="T4" fmla="*/ 0 w 2256"/>
              <a:gd name="T5" fmla="*/ 0 h 816"/>
              <a:gd name="T6" fmla="*/ 0 60000 65536"/>
              <a:gd name="T7" fmla="*/ 0 60000 65536"/>
              <a:gd name="T8" fmla="*/ 0 60000 65536"/>
              <a:gd name="T9" fmla="*/ 0 w 2256"/>
              <a:gd name="T10" fmla="*/ 0 h 816"/>
              <a:gd name="T11" fmla="*/ 2256 w 2256"/>
              <a:gd name="T12" fmla="*/ 816 h 81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56" h="816">
                <a:moveTo>
                  <a:pt x="2256" y="816"/>
                </a:moveTo>
                <a:cubicBezTo>
                  <a:pt x="1964" y="548"/>
                  <a:pt x="1672" y="280"/>
                  <a:pt x="1296" y="144"/>
                </a:cubicBezTo>
                <a:cubicBezTo>
                  <a:pt x="920" y="8"/>
                  <a:pt x="460" y="4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5844480" y="4999856"/>
            <a:ext cx="3048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200" dirty="0"/>
              <a:t>qui va scritto il corpo del costruttore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Parametri formali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50000"/>
              </a:spcBef>
              <a:defRPr/>
            </a:pPr>
            <a:r>
              <a:rPr lang="it-IT" dirty="0"/>
              <a:t>Prima di scrivere il corpo del costruttore </a:t>
            </a:r>
            <a:r>
              <a:rPr lang="it-IT" i="1" dirty="0">
                <a:solidFill>
                  <a:schemeClr val="accent2"/>
                </a:solidFill>
              </a:rPr>
              <a:t>Rettangolo</a:t>
            </a:r>
            <a:r>
              <a:rPr lang="it-IT" dirty="0"/>
              <a:t>, dobbiamo capire meglio il suo ruolo e quello dei suoi parametri di ingresso</a:t>
            </a:r>
          </a:p>
          <a:p>
            <a:pPr>
              <a:spcBef>
                <a:spcPct val="50000"/>
              </a:spcBef>
              <a:defRPr/>
            </a:pPr>
            <a:r>
              <a:rPr lang="it-IT" dirty="0"/>
              <a:t>Il costruttore </a:t>
            </a:r>
            <a:r>
              <a:rPr lang="it-IT" i="1" dirty="0">
                <a:solidFill>
                  <a:schemeClr val="accent2"/>
                </a:solidFill>
              </a:rPr>
              <a:t>Rettangolo (</a:t>
            </a:r>
            <a:r>
              <a:rPr lang="it-IT" i="1" dirty="0" err="1">
                <a:solidFill>
                  <a:schemeClr val="accent2"/>
                </a:solidFill>
              </a:rPr>
              <a:t>double</a:t>
            </a:r>
            <a:r>
              <a:rPr lang="it-IT" i="1" dirty="0">
                <a:solidFill>
                  <a:schemeClr val="accent2"/>
                </a:solidFill>
              </a:rPr>
              <a:t> b, </a:t>
            </a:r>
            <a:r>
              <a:rPr lang="it-IT" i="1" dirty="0" err="1">
                <a:solidFill>
                  <a:schemeClr val="accent2"/>
                </a:solidFill>
              </a:rPr>
              <a:t>double</a:t>
            </a:r>
            <a:r>
              <a:rPr lang="it-IT" i="1" dirty="0">
                <a:solidFill>
                  <a:schemeClr val="accent2"/>
                </a:solidFill>
              </a:rPr>
              <a:t> a)</a:t>
            </a:r>
            <a:r>
              <a:rPr lang="it-IT" dirty="0">
                <a:solidFill>
                  <a:schemeClr val="accent2"/>
                </a:solidFill>
              </a:rPr>
              <a:t> </a:t>
            </a:r>
            <a:r>
              <a:rPr lang="it-IT" dirty="0"/>
              <a:t>deve assegnare i valori dei parametri formali </a:t>
            </a:r>
            <a:r>
              <a:rPr lang="it-IT" i="1" dirty="0">
                <a:solidFill>
                  <a:schemeClr val="accent2"/>
                </a:solidFill>
              </a:rPr>
              <a:t>b</a:t>
            </a:r>
            <a:r>
              <a:rPr lang="it-IT" dirty="0"/>
              <a:t> ed </a:t>
            </a:r>
            <a:r>
              <a:rPr lang="it-IT" i="1" dirty="0">
                <a:solidFill>
                  <a:schemeClr val="accent2"/>
                </a:solidFill>
              </a:rPr>
              <a:t>a</a:t>
            </a:r>
            <a:r>
              <a:rPr lang="it-IT" dirty="0"/>
              <a:t> alle variabili di istanza dell’oggetto sul quale è invocato</a:t>
            </a:r>
          </a:p>
          <a:p>
            <a:endParaRPr lang="it-IT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Parametri formali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50000"/>
              </a:spcBef>
              <a:defRPr/>
            </a:pPr>
            <a:r>
              <a:rPr lang="it-IT" dirty="0"/>
              <a:t>I parametri formali di un metodo o costruttore sono variabili usate per contenere i valori che si passeranno al metodo/costruttore all’atto della sua invocazione</a:t>
            </a:r>
          </a:p>
          <a:p>
            <a:pPr lvl="1">
              <a:spcBef>
                <a:spcPct val="50000"/>
              </a:spcBef>
              <a:defRPr/>
            </a:pPr>
            <a:r>
              <a:rPr lang="it-IT" dirty="0"/>
              <a:t>Vengono allocate in memoria all’atto dell’invocazione del metodo</a:t>
            </a:r>
          </a:p>
          <a:p>
            <a:pPr lvl="1">
              <a:spcBef>
                <a:spcPct val="50000"/>
              </a:spcBef>
              <a:defRPr/>
            </a:pPr>
            <a:r>
              <a:rPr lang="it-IT" dirty="0"/>
              <a:t>Vengono rimosse quando l’esecuzione del metodo termina</a:t>
            </a:r>
          </a:p>
          <a:p>
            <a:pPr lvl="1">
              <a:spcBef>
                <a:spcPct val="50000"/>
              </a:spcBef>
              <a:defRPr/>
            </a:pPr>
            <a:r>
              <a:rPr lang="it-IT" dirty="0"/>
              <a:t>Sono visibili soltanto all’interno del metodo</a:t>
            </a:r>
          </a:p>
          <a:p>
            <a:pPr lvl="1">
              <a:spcBef>
                <a:spcPct val="50000"/>
              </a:spcBef>
              <a:defRPr/>
            </a:pPr>
            <a:r>
              <a:rPr lang="it-IT" dirty="0"/>
              <a:t>Variabili di questo tipo sono dette </a:t>
            </a:r>
            <a:r>
              <a:rPr lang="it-IT" u="sng" dirty="0">
                <a:solidFill>
                  <a:schemeClr val="accent1"/>
                </a:solidFill>
              </a:rPr>
              <a:t>variabili locali</a:t>
            </a:r>
          </a:p>
          <a:p>
            <a:pPr>
              <a:spcBef>
                <a:spcPct val="50000"/>
              </a:spcBef>
              <a:defRPr/>
            </a:pPr>
            <a:endParaRPr lang="it-IT" dirty="0"/>
          </a:p>
          <a:p>
            <a:endParaRPr lang="it-IT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Parametri attuali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Quando si chiamerà il costruttore, per esempio scrivendo</a:t>
            </a:r>
          </a:p>
          <a:p>
            <a:pPr>
              <a:buNone/>
            </a:pPr>
            <a:r>
              <a:rPr lang="it-IT" i="1" dirty="0">
                <a:solidFill>
                  <a:srgbClr val="339933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			</a:t>
            </a:r>
            <a:r>
              <a:rPr lang="it-IT" i="1" dirty="0" err="1">
                <a:solidFill>
                  <a:schemeClr val="accent2"/>
                </a:solidFill>
              </a:rPr>
              <a:t>new</a:t>
            </a:r>
            <a:r>
              <a:rPr lang="it-IT" i="1" dirty="0">
                <a:solidFill>
                  <a:schemeClr val="accent2"/>
                </a:solidFill>
              </a:rPr>
              <a:t> Rettangolo (10, 20)</a:t>
            </a:r>
          </a:p>
          <a:p>
            <a:pPr>
              <a:spcBef>
                <a:spcPct val="50000"/>
              </a:spcBef>
              <a:defRPr/>
            </a:pPr>
            <a:r>
              <a:rPr lang="it-IT" dirty="0"/>
              <a:t>i parametri attuali </a:t>
            </a:r>
            <a:r>
              <a:rPr lang="it-IT" i="1" dirty="0">
                <a:solidFill>
                  <a:schemeClr val="accent2"/>
                </a:solidFill>
              </a:rPr>
              <a:t>10</a:t>
            </a:r>
            <a:r>
              <a:rPr lang="it-IT" dirty="0"/>
              <a:t> e </a:t>
            </a:r>
            <a:r>
              <a:rPr lang="it-IT" i="1" dirty="0">
                <a:solidFill>
                  <a:schemeClr val="accent2"/>
                </a:solidFill>
              </a:rPr>
              <a:t>20</a:t>
            </a:r>
            <a:r>
              <a:rPr lang="it-IT" dirty="0"/>
              <a:t> verranno copiati rispettivamente nelle variabili </a:t>
            </a:r>
            <a:r>
              <a:rPr lang="it-IT" i="1" dirty="0">
                <a:solidFill>
                  <a:schemeClr val="accent2"/>
                </a:solidFill>
              </a:rPr>
              <a:t>b</a:t>
            </a:r>
            <a:r>
              <a:rPr lang="it-IT" dirty="0"/>
              <a:t> ed </a:t>
            </a:r>
            <a:r>
              <a:rPr lang="it-IT" i="1" dirty="0">
                <a:solidFill>
                  <a:schemeClr val="accent2"/>
                </a:solidFill>
              </a:rPr>
              <a:t>a</a:t>
            </a:r>
            <a:r>
              <a:rPr lang="it-IT" dirty="0"/>
              <a:t> del costruttore, e poi verranno eseguite le sue istruzioni</a:t>
            </a:r>
          </a:p>
          <a:p>
            <a:endParaRPr lang="it-IT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Passaggio di parametri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50000"/>
              </a:spcBef>
              <a:defRPr/>
            </a:pPr>
            <a:r>
              <a:rPr lang="it-IT" dirty="0"/>
              <a:t>Ad ogni invocazione di un metodo (o di un costruttore), i parametri attuali vengono copiati nei parametri formali del metodo </a:t>
            </a:r>
          </a:p>
          <a:p>
            <a:pPr lvl="1">
              <a:spcBef>
                <a:spcPct val="50000"/>
              </a:spcBef>
              <a:defRPr/>
            </a:pPr>
            <a:r>
              <a:rPr lang="it-IT" dirty="0"/>
              <a:t>questo meccanismo si chiama </a:t>
            </a:r>
            <a:r>
              <a:rPr lang="it-IT" u="sng" dirty="0">
                <a:solidFill>
                  <a:schemeClr val="accent1"/>
                </a:solidFill>
              </a:rPr>
              <a:t>passaggio di parametri per valore </a:t>
            </a:r>
          </a:p>
          <a:p>
            <a:pPr lvl="1">
              <a:spcBef>
                <a:spcPct val="50000"/>
              </a:spcBef>
              <a:defRPr/>
            </a:pPr>
            <a:r>
              <a:rPr lang="it-IT" dirty="0"/>
              <a:t>il corpo del metodo va scritto assumendo che nei parametri formali ci saranno i valori passati al metodo dall’esterno (cioè da chi lo invocherà)</a:t>
            </a:r>
          </a:p>
          <a:p>
            <a:endParaRPr lang="it-IT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Corpo del costruttore Rettangolo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Il costruttore della classe </a:t>
            </a:r>
            <a:r>
              <a:rPr lang="it-IT" i="1" dirty="0">
                <a:solidFill>
                  <a:schemeClr val="accent2"/>
                </a:solidFill>
              </a:rPr>
              <a:t>Rettangolo</a:t>
            </a:r>
            <a:r>
              <a:rPr lang="it-IT" dirty="0"/>
              <a:t> deve copiare i valori dei suoi parametri formali nelle variabili di istanza dell’oggetto su cui è stato invocato – ecco il codice del costruttore</a:t>
            </a:r>
            <a:endParaRPr lang="it-IT" sz="2400" dirty="0">
              <a:latin typeface="Courier New" pitchFamily="49" charset="0"/>
            </a:endParaRPr>
          </a:p>
          <a:p>
            <a:pPr>
              <a:buNone/>
            </a:pPr>
            <a:r>
              <a:rPr lang="it-IT" sz="2400" dirty="0">
                <a:latin typeface="Courier New" pitchFamily="49" charset="0"/>
                <a:cs typeface="Courier New" pitchFamily="49" charset="0"/>
              </a:rPr>
              <a:t>	public Rettangolo (</a:t>
            </a:r>
            <a:r>
              <a:rPr lang="it-IT" sz="2400" dirty="0" err="1">
                <a:latin typeface="Courier New" pitchFamily="49" charset="0"/>
                <a:cs typeface="Courier New" pitchFamily="49" charset="0"/>
              </a:rPr>
              <a:t>double</a:t>
            </a:r>
            <a:r>
              <a:rPr lang="it-IT" sz="2400" dirty="0">
                <a:latin typeface="Courier New" pitchFamily="49" charset="0"/>
                <a:cs typeface="Courier New" pitchFamily="49" charset="0"/>
              </a:rPr>
              <a:t> b, </a:t>
            </a:r>
            <a:r>
              <a:rPr lang="it-IT" sz="2400" dirty="0" err="1">
                <a:latin typeface="Courier New" pitchFamily="49" charset="0"/>
                <a:cs typeface="Courier New" pitchFamily="49" charset="0"/>
              </a:rPr>
              <a:t>double</a:t>
            </a:r>
            <a:r>
              <a:rPr lang="it-IT" sz="2400" dirty="0">
                <a:latin typeface="Courier New" pitchFamily="49" charset="0"/>
                <a:cs typeface="Courier New" pitchFamily="49" charset="0"/>
              </a:rPr>
              <a:t> a){</a:t>
            </a:r>
          </a:p>
          <a:p>
            <a:pPr>
              <a:buNone/>
            </a:pPr>
            <a:r>
              <a:rPr lang="it-IT" sz="24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it-IT" sz="2400" dirty="0" err="1">
                <a:latin typeface="Courier New" pitchFamily="49" charset="0"/>
                <a:cs typeface="Courier New" pitchFamily="49" charset="0"/>
              </a:rPr>
              <a:t>this.base</a:t>
            </a:r>
            <a:r>
              <a:rPr lang="it-IT" sz="2400" dirty="0">
                <a:latin typeface="Courier New" pitchFamily="49" charset="0"/>
                <a:cs typeface="Courier New" pitchFamily="49" charset="0"/>
              </a:rPr>
              <a:t> = b;</a:t>
            </a:r>
          </a:p>
          <a:p>
            <a:pPr>
              <a:buNone/>
            </a:pPr>
            <a:r>
              <a:rPr lang="it-IT" sz="24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it-IT" sz="2400" dirty="0" err="1">
                <a:latin typeface="Courier New" pitchFamily="49" charset="0"/>
                <a:cs typeface="Courier New" pitchFamily="49" charset="0"/>
              </a:rPr>
              <a:t>this.altezza</a:t>
            </a:r>
            <a:r>
              <a:rPr lang="it-IT" sz="2400" dirty="0">
                <a:latin typeface="Courier New" pitchFamily="49" charset="0"/>
                <a:cs typeface="Courier New" pitchFamily="49" charset="0"/>
              </a:rPr>
              <a:t> = a;</a:t>
            </a:r>
          </a:p>
          <a:p>
            <a:pPr>
              <a:buNone/>
            </a:pPr>
            <a:r>
              <a:rPr lang="it-IT" sz="2400" dirty="0">
                <a:latin typeface="Courier New" pitchFamily="49" charset="0"/>
                <a:cs typeface="Courier New" pitchFamily="49" charset="0"/>
              </a:rPr>
              <a:t>		Rettangolo.numIstanze++;</a:t>
            </a:r>
          </a:p>
          <a:p>
            <a:pPr>
              <a:buNone/>
            </a:pPr>
            <a:r>
              <a:rPr lang="it-IT" sz="2400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r>
              <a:rPr lang="it-IT" dirty="0"/>
              <a:t>Analizziamo nel seguito le sue istruzioni</a:t>
            </a:r>
          </a:p>
          <a:p>
            <a:endParaRPr lang="it-IT" sz="2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La parola chiave </a:t>
            </a:r>
            <a:r>
              <a:rPr lang="it-IT" dirty="0" err="1"/>
              <a:t>this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spcBef>
                <a:spcPct val="50000"/>
              </a:spcBef>
              <a:defRPr/>
            </a:pPr>
            <a:r>
              <a:rPr lang="it-IT" dirty="0"/>
              <a:t>Un metodo o un costruttore può riferirsi ad una variabile di istanza dell’oggetto su cui è invocato usando la parola chiave </a:t>
            </a:r>
            <a:r>
              <a:rPr lang="it-IT" i="1" dirty="0" err="1">
                <a:solidFill>
                  <a:schemeClr val="accent2"/>
                </a:solidFill>
              </a:rPr>
              <a:t>this</a:t>
            </a:r>
            <a:r>
              <a:rPr lang="it-IT" dirty="0"/>
              <a:t> seguita da un punto e dal nome della variabile:</a:t>
            </a:r>
          </a:p>
          <a:p>
            <a:pPr lvl="1">
              <a:spcBef>
                <a:spcPct val="50000"/>
              </a:spcBef>
              <a:defRPr/>
            </a:pPr>
            <a:r>
              <a:rPr lang="it-IT" i="1" dirty="0" err="1">
                <a:solidFill>
                  <a:schemeClr val="accent2"/>
                </a:solidFill>
              </a:rPr>
              <a:t>this</a:t>
            </a:r>
            <a:r>
              <a:rPr lang="it-IT" dirty="0"/>
              <a:t> indica appunto “questo oggetto”</a:t>
            </a:r>
          </a:p>
          <a:p>
            <a:pPr lvl="1">
              <a:spcBef>
                <a:spcPct val="50000"/>
              </a:spcBef>
              <a:defRPr/>
            </a:pPr>
            <a:r>
              <a:rPr lang="it-IT" i="1" dirty="0" err="1">
                <a:solidFill>
                  <a:schemeClr val="accent2"/>
                </a:solidFill>
              </a:rPr>
              <a:t>this.base</a:t>
            </a:r>
            <a:r>
              <a:rPr lang="it-IT" dirty="0"/>
              <a:t> indica la variabile di istanza </a:t>
            </a:r>
            <a:r>
              <a:rPr lang="it-IT" i="1" dirty="0">
                <a:solidFill>
                  <a:schemeClr val="accent2"/>
                </a:solidFill>
              </a:rPr>
              <a:t>base</a:t>
            </a:r>
            <a:r>
              <a:rPr lang="it-IT" dirty="0"/>
              <a:t> di </a:t>
            </a:r>
            <a:r>
              <a:rPr lang="it-IT" i="1" dirty="0" err="1">
                <a:solidFill>
                  <a:schemeClr val="accent2"/>
                </a:solidFill>
              </a:rPr>
              <a:t>this</a:t>
            </a:r>
            <a:r>
              <a:rPr lang="it-IT" dirty="0"/>
              <a:t>, cioè di questo oggetto</a:t>
            </a:r>
          </a:p>
          <a:p>
            <a:pPr>
              <a:buNone/>
            </a:pPr>
            <a:r>
              <a:rPr lang="it-IT" sz="2600" dirty="0">
                <a:latin typeface="Courier New" pitchFamily="49" charset="0"/>
              </a:rPr>
              <a:t>	public Rettangolo (</a:t>
            </a:r>
            <a:r>
              <a:rPr lang="it-IT" sz="2600" dirty="0" err="1">
                <a:latin typeface="Courier New" pitchFamily="49" charset="0"/>
              </a:rPr>
              <a:t>double</a:t>
            </a:r>
            <a:r>
              <a:rPr lang="it-IT" sz="2600" dirty="0">
                <a:latin typeface="Courier New" pitchFamily="49" charset="0"/>
              </a:rPr>
              <a:t> b, </a:t>
            </a:r>
            <a:r>
              <a:rPr lang="it-IT" sz="2600" dirty="0" err="1">
                <a:latin typeface="Courier New" pitchFamily="49" charset="0"/>
              </a:rPr>
              <a:t>double</a:t>
            </a:r>
            <a:r>
              <a:rPr lang="it-IT" sz="2600" dirty="0">
                <a:latin typeface="Courier New" pitchFamily="49" charset="0"/>
              </a:rPr>
              <a:t> a){</a:t>
            </a:r>
          </a:p>
          <a:p>
            <a:pPr>
              <a:buNone/>
            </a:pPr>
            <a:r>
              <a:rPr lang="it-IT" sz="2600" b="1" dirty="0">
                <a:solidFill>
                  <a:srgbClr val="0000FF"/>
                </a:solidFill>
                <a:latin typeface="Courier New" pitchFamily="49" charset="0"/>
              </a:rPr>
              <a:t>		</a:t>
            </a:r>
            <a:r>
              <a:rPr lang="it-IT" sz="2600" b="1" dirty="0" err="1">
                <a:solidFill>
                  <a:srgbClr val="0000FF"/>
                </a:solidFill>
                <a:latin typeface="Courier New" pitchFamily="49" charset="0"/>
              </a:rPr>
              <a:t>this.base</a:t>
            </a:r>
            <a:r>
              <a:rPr lang="it-IT" sz="2600" dirty="0">
                <a:latin typeface="Courier New" pitchFamily="49" charset="0"/>
              </a:rPr>
              <a:t> = b;</a:t>
            </a:r>
          </a:p>
          <a:p>
            <a:pPr>
              <a:buNone/>
            </a:pPr>
            <a:r>
              <a:rPr lang="it-IT" sz="2600" dirty="0">
                <a:latin typeface="Courier New" pitchFamily="49" charset="0"/>
              </a:rPr>
              <a:t>		</a:t>
            </a:r>
            <a:r>
              <a:rPr lang="it-IT" sz="2600" dirty="0" err="1">
                <a:latin typeface="Courier New" pitchFamily="49" charset="0"/>
              </a:rPr>
              <a:t>this.altezza</a:t>
            </a:r>
            <a:r>
              <a:rPr lang="it-IT" sz="2600" dirty="0">
                <a:latin typeface="Courier New" pitchFamily="49" charset="0"/>
              </a:rPr>
              <a:t> = a;</a:t>
            </a:r>
          </a:p>
          <a:p>
            <a:pPr>
              <a:buNone/>
            </a:pPr>
            <a:r>
              <a:rPr lang="it-IT" sz="2600" dirty="0">
                <a:latin typeface="Courier New" pitchFamily="49" charset="0"/>
                <a:cs typeface="Courier New" pitchFamily="49" charset="0"/>
              </a:rPr>
              <a:t>		Rettangolo.numIstanze++;</a:t>
            </a:r>
            <a:endParaRPr lang="it-IT" sz="2600" dirty="0">
              <a:latin typeface="Courier New" pitchFamily="49" charset="0"/>
            </a:endParaRPr>
          </a:p>
          <a:p>
            <a:pPr>
              <a:buNone/>
            </a:pPr>
            <a:r>
              <a:rPr lang="it-IT" sz="2600" dirty="0">
                <a:latin typeface="Courier New" pitchFamily="49" charset="0"/>
              </a:rPr>
              <a:t>	}</a:t>
            </a:r>
            <a:endParaRPr lang="it-IT" sz="2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Assegnamento a variabili di istanza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Bef>
                <a:spcPct val="50000"/>
              </a:spcBef>
              <a:defRPr/>
            </a:pPr>
            <a:r>
              <a:rPr lang="it-IT" dirty="0"/>
              <a:t>L’istruzione </a:t>
            </a:r>
            <a:r>
              <a:rPr lang="it-IT" i="1" dirty="0" err="1">
                <a:solidFill>
                  <a:schemeClr val="accent2"/>
                </a:solidFill>
              </a:rPr>
              <a:t>this.base</a:t>
            </a:r>
            <a:r>
              <a:rPr lang="it-IT" i="1" dirty="0">
                <a:solidFill>
                  <a:schemeClr val="accent2"/>
                </a:solidFill>
              </a:rPr>
              <a:t> = b </a:t>
            </a:r>
            <a:r>
              <a:rPr lang="it-IT" dirty="0"/>
              <a:t>è una istruzione di assegnazione</a:t>
            </a:r>
          </a:p>
          <a:p>
            <a:pPr lvl="1">
              <a:spcBef>
                <a:spcPct val="50000"/>
              </a:spcBef>
              <a:defRPr/>
            </a:pPr>
            <a:r>
              <a:rPr lang="it-IT" dirty="0"/>
              <a:t>il valore di </a:t>
            </a:r>
            <a:r>
              <a:rPr lang="it-IT" i="1" dirty="0">
                <a:solidFill>
                  <a:schemeClr val="accent2"/>
                </a:solidFill>
              </a:rPr>
              <a:t>b</a:t>
            </a:r>
            <a:r>
              <a:rPr lang="it-IT" dirty="0"/>
              <a:t> (espressione a destra di “</a:t>
            </a:r>
            <a:r>
              <a:rPr lang="it-IT" i="1" dirty="0">
                <a:solidFill>
                  <a:schemeClr val="accent2"/>
                </a:solidFill>
              </a:rPr>
              <a:t>=</a:t>
            </a:r>
            <a:r>
              <a:rPr lang="it-IT" dirty="0"/>
              <a:t>”) è copiato nella variabile di istanza </a:t>
            </a:r>
            <a:r>
              <a:rPr lang="it-IT" i="1" dirty="0" err="1">
                <a:solidFill>
                  <a:schemeClr val="accent2"/>
                </a:solidFill>
              </a:rPr>
              <a:t>this.base</a:t>
            </a:r>
            <a:endParaRPr lang="it-IT" i="1" dirty="0">
              <a:solidFill>
                <a:schemeClr val="accent2"/>
              </a:solidFill>
            </a:endParaRPr>
          </a:p>
          <a:p>
            <a:pPr lvl="1">
              <a:spcBef>
                <a:spcPct val="50000"/>
              </a:spcBef>
              <a:defRPr/>
            </a:pPr>
            <a:r>
              <a:rPr lang="it-IT" dirty="0"/>
              <a:t>analogamente, </a:t>
            </a:r>
            <a:r>
              <a:rPr lang="it-IT" i="1" dirty="0" err="1">
                <a:solidFill>
                  <a:schemeClr val="accent2"/>
                </a:solidFill>
              </a:rPr>
              <a:t>this.altezza</a:t>
            </a:r>
            <a:r>
              <a:rPr lang="it-IT" i="1" dirty="0">
                <a:solidFill>
                  <a:schemeClr val="accent2"/>
                </a:solidFill>
              </a:rPr>
              <a:t> = a </a:t>
            </a:r>
            <a:r>
              <a:rPr lang="it-IT" dirty="0"/>
              <a:t>copia il valore di </a:t>
            </a:r>
            <a:r>
              <a:rPr lang="it-IT" i="1" dirty="0">
                <a:solidFill>
                  <a:schemeClr val="accent2"/>
                </a:solidFill>
              </a:rPr>
              <a:t>a</a:t>
            </a:r>
            <a:r>
              <a:rPr lang="it-IT" dirty="0"/>
              <a:t> nella variabile di istanza </a:t>
            </a:r>
            <a:r>
              <a:rPr lang="it-IT" i="1" dirty="0" err="1">
                <a:solidFill>
                  <a:schemeClr val="accent2"/>
                </a:solidFill>
              </a:rPr>
              <a:t>this.altezza</a:t>
            </a:r>
            <a:endParaRPr lang="it-IT" sz="2600" dirty="0">
              <a:latin typeface="Courier New" pitchFamily="49" charset="0"/>
            </a:endParaRPr>
          </a:p>
          <a:p>
            <a:pPr>
              <a:buNone/>
            </a:pPr>
            <a:r>
              <a:rPr lang="it-IT" sz="2600" dirty="0">
                <a:latin typeface="Courier New" pitchFamily="49" charset="0"/>
              </a:rPr>
              <a:t>	</a:t>
            </a:r>
            <a:r>
              <a:rPr lang="it-IT" sz="2400" dirty="0">
                <a:latin typeface="Courier New" pitchFamily="49" charset="0"/>
              </a:rPr>
              <a:t>public Rettangolo (</a:t>
            </a:r>
            <a:r>
              <a:rPr lang="it-IT" sz="2400" dirty="0" err="1">
                <a:latin typeface="Courier New" pitchFamily="49" charset="0"/>
              </a:rPr>
              <a:t>double</a:t>
            </a:r>
            <a:r>
              <a:rPr lang="it-IT" sz="2400" dirty="0">
                <a:latin typeface="Courier New" pitchFamily="49" charset="0"/>
              </a:rPr>
              <a:t> b, </a:t>
            </a:r>
            <a:r>
              <a:rPr lang="it-IT" sz="2400" dirty="0" err="1">
                <a:latin typeface="Courier New" pitchFamily="49" charset="0"/>
              </a:rPr>
              <a:t>double</a:t>
            </a:r>
            <a:r>
              <a:rPr lang="it-IT" sz="2400" dirty="0">
                <a:latin typeface="Courier New" pitchFamily="49" charset="0"/>
              </a:rPr>
              <a:t> a){</a:t>
            </a:r>
          </a:p>
          <a:p>
            <a:pPr>
              <a:buNone/>
            </a:pPr>
            <a:r>
              <a:rPr lang="it-IT" sz="2400" b="1" dirty="0">
                <a:solidFill>
                  <a:srgbClr val="0000FF"/>
                </a:solidFill>
                <a:latin typeface="Courier New" pitchFamily="49" charset="0"/>
              </a:rPr>
              <a:t>		</a:t>
            </a:r>
            <a:r>
              <a:rPr lang="it-IT" sz="2400" b="1" dirty="0" err="1">
                <a:solidFill>
                  <a:schemeClr val="accent1"/>
                </a:solidFill>
                <a:latin typeface="Courier New" pitchFamily="49" charset="0"/>
              </a:rPr>
              <a:t>this.base</a:t>
            </a:r>
            <a:r>
              <a:rPr lang="it-IT" sz="2400" b="1" dirty="0">
                <a:solidFill>
                  <a:schemeClr val="accent1"/>
                </a:solidFill>
                <a:latin typeface="Courier New" pitchFamily="49" charset="0"/>
              </a:rPr>
              <a:t> = b;</a:t>
            </a:r>
          </a:p>
          <a:p>
            <a:pPr>
              <a:buNone/>
            </a:pPr>
            <a:r>
              <a:rPr lang="it-IT" sz="2400" dirty="0">
                <a:latin typeface="Courier New" pitchFamily="49" charset="0"/>
              </a:rPr>
              <a:t>		</a:t>
            </a:r>
            <a:r>
              <a:rPr lang="it-IT" sz="2400" dirty="0" err="1">
                <a:latin typeface="Courier New" pitchFamily="49" charset="0"/>
              </a:rPr>
              <a:t>this.altezza</a:t>
            </a:r>
            <a:r>
              <a:rPr lang="it-IT" sz="2400" dirty="0">
                <a:latin typeface="Courier New" pitchFamily="49" charset="0"/>
              </a:rPr>
              <a:t> = a;</a:t>
            </a:r>
          </a:p>
          <a:p>
            <a:pPr>
              <a:buNone/>
            </a:pPr>
            <a:r>
              <a:rPr lang="it-IT" sz="2400" dirty="0">
                <a:latin typeface="Courier New" pitchFamily="49" charset="0"/>
                <a:cs typeface="Courier New" pitchFamily="49" charset="0"/>
              </a:rPr>
              <a:t>		Rettangolo.numIstanze++;</a:t>
            </a:r>
            <a:endParaRPr lang="it-IT" sz="2400" dirty="0">
              <a:latin typeface="Courier New" pitchFamily="49" charset="0"/>
            </a:endParaRPr>
          </a:p>
          <a:p>
            <a:pPr>
              <a:buNone/>
            </a:pPr>
            <a:r>
              <a:rPr lang="it-IT" sz="2400" dirty="0">
                <a:latin typeface="Courier New" pitchFamily="49" charset="0"/>
              </a:rPr>
              <a:t>	}</a:t>
            </a:r>
            <a:endParaRPr lang="it-IT" sz="2400" dirty="0"/>
          </a:p>
          <a:p>
            <a:endParaRPr lang="it-IT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Conteggio delle istanze create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L’ultima istruzione del costruttore incrementa di uno il valore della variabile </a:t>
            </a:r>
            <a:r>
              <a:rPr lang="it-IT" i="1" dirty="0" err="1">
                <a:solidFill>
                  <a:schemeClr val="accent2"/>
                </a:solidFill>
              </a:rPr>
              <a:t>numIstanze</a:t>
            </a:r>
            <a:endParaRPr lang="it-IT" i="1" dirty="0">
              <a:solidFill>
                <a:schemeClr val="accent2"/>
              </a:solidFill>
            </a:endParaRPr>
          </a:p>
          <a:p>
            <a:pPr lvl="1"/>
            <a:r>
              <a:rPr lang="it-IT" dirty="0"/>
              <a:t>si registra la creazione di un nuovo oggetto</a:t>
            </a:r>
          </a:p>
          <a:p>
            <a:pPr lvl="1"/>
            <a:r>
              <a:rPr lang="it-IT" dirty="0"/>
              <a:t>poiché il costruttore viene invocato ogni volta che si crea un rettangolo, </a:t>
            </a:r>
            <a:r>
              <a:rPr lang="it-IT" i="1" dirty="0" err="1">
                <a:solidFill>
                  <a:schemeClr val="accent2"/>
                </a:solidFill>
              </a:rPr>
              <a:t>numIstanze</a:t>
            </a:r>
            <a:r>
              <a:rPr lang="it-IT" dirty="0"/>
              <a:t> memorizza il numero di istanze create</a:t>
            </a:r>
          </a:p>
          <a:p>
            <a:r>
              <a:rPr lang="it-IT" dirty="0"/>
              <a:t>Poiché </a:t>
            </a:r>
            <a:r>
              <a:rPr lang="it-IT" i="1" dirty="0" err="1">
                <a:solidFill>
                  <a:schemeClr val="accent2"/>
                </a:solidFill>
              </a:rPr>
              <a:t>numIstanze</a:t>
            </a:r>
            <a:r>
              <a:rPr lang="it-IT" dirty="0"/>
              <a:t> è una variabile di classe, si fa riferimento ad essa tramite il nome della classe seguito da un punto</a:t>
            </a:r>
            <a:endParaRPr lang="it-IT" i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Esecuzione del costruttore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533400" y="1268760"/>
            <a:ext cx="807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it-IT" sz="2400" i="1" dirty="0" err="1">
                <a:solidFill>
                  <a:schemeClr val="accent2"/>
                </a:solidFill>
              </a:rPr>
              <a:t>new</a:t>
            </a:r>
            <a:r>
              <a:rPr lang="it-IT" sz="2400" i="1" dirty="0">
                <a:solidFill>
                  <a:schemeClr val="accent2"/>
                </a:solidFill>
              </a:rPr>
              <a:t> Rettangolo (10, 20)</a:t>
            </a:r>
          </a:p>
        </p:txBody>
      </p:sp>
      <p:grpSp>
        <p:nvGrpSpPr>
          <p:cNvPr id="3" name="Gruppo 66"/>
          <p:cNvGrpSpPr/>
          <p:nvPr/>
        </p:nvGrpSpPr>
        <p:grpSpPr>
          <a:xfrm>
            <a:off x="323528" y="2996952"/>
            <a:ext cx="2458616" cy="1440160"/>
            <a:chOff x="323528" y="2636912"/>
            <a:chExt cx="2458616" cy="1440160"/>
          </a:xfrm>
        </p:grpSpPr>
        <p:sp>
          <p:nvSpPr>
            <p:cNvPr id="7" name="Rectangle 5"/>
            <p:cNvSpPr>
              <a:spLocks noChangeArrowheads="1"/>
            </p:cNvSpPr>
            <p:nvPr/>
          </p:nvSpPr>
          <p:spPr bwMode="auto">
            <a:xfrm>
              <a:off x="323528" y="2636912"/>
              <a:ext cx="2458616" cy="1440160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8" name="Text Box 6"/>
            <p:cNvSpPr txBox="1">
              <a:spLocks noChangeArrowheads="1"/>
            </p:cNvSpPr>
            <p:nvPr/>
          </p:nvSpPr>
          <p:spPr bwMode="auto">
            <a:xfrm>
              <a:off x="647446" y="2699319"/>
              <a:ext cx="1877144" cy="369332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it-IT" u="sng" dirty="0"/>
                <a:t>…:Rettangolo</a:t>
              </a:r>
            </a:p>
          </p:txBody>
        </p:sp>
        <p:sp>
          <p:nvSpPr>
            <p:cNvPr id="9" name="Line 7"/>
            <p:cNvSpPr>
              <a:spLocks noChangeShapeType="1"/>
            </p:cNvSpPr>
            <p:nvPr/>
          </p:nvSpPr>
          <p:spPr bwMode="auto">
            <a:xfrm>
              <a:off x="323528" y="3073761"/>
              <a:ext cx="24586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0" name="Line 8"/>
            <p:cNvSpPr>
              <a:spLocks noChangeShapeType="1"/>
            </p:cNvSpPr>
            <p:nvPr/>
          </p:nvSpPr>
          <p:spPr bwMode="auto">
            <a:xfrm>
              <a:off x="323528" y="3885051"/>
              <a:ext cx="24586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1" name="Text Box 9"/>
            <p:cNvSpPr txBox="1">
              <a:spLocks noChangeArrowheads="1"/>
            </p:cNvSpPr>
            <p:nvPr/>
          </p:nvSpPr>
          <p:spPr bwMode="auto">
            <a:xfrm>
              <a:off x="399372" y="3136167"/>
              <a:ext cx="2199482" cy="300333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/>
                <a:t>double base</a:t>
              </a:r>
            </a:p>
          </p:txBody>
        </p:sp>
        <p:sp>
          <p:nvSpPr>
            <p:cNvPr id="12" name="Text Box 10"/>
            <p:cNvSpPr txBox="1">
              <a:spLocks noChangeArrowheads="1"/>
            </p:cNvSpPr>
            <p:nvPr/>
          </p:nvSpPr>
          <p:spPr bwMode="auto">
            <a:xfrm>
              <a:off x="2143789" y="3136167"/>
              <a:ext cx="530909" cy="308134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/>
                <a:t>0.0</a:t>
              </a:r>
            </a:p>
          </p:txBody>
        </p:sp>
        <p:sp>
          <p:nvSpPr>
            <p:cNvPr id="13" name="Text Box 11"/>
            <p:cNvSpPr txBox="1">
              <a:spLocks noChangeArrowheads="1"/>
            </p:cNvSpPr>
            <p:nvPr/>
          </p:nvSpPr>
          <p:spPr bwMode="auto">
            <a:xfrm>
              <a:off x="2143789" y="3514510"/>
              <a:ext cx="530909" cy="308134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/>
                <a:t>0.0</a:t>
              </a:r>
            </a:p>
          </p:txBody>
        </p:sp>
        <p:sp>
          <p:nvSpPr>
            <p:cNvPr id="14" name="Text Box 13"/>
            <p:cNvSpPr txBox="1">
              <a:spLocks noChangeArrowheads="1"/>
            </p:cNvSpPr>
            <p:nvPr/>
          </p:nvSpPr>
          <p:spPr bwMode="auto">
            <a:xfrm>
              <a:off x="399372" y="3448202"/>
              <a:ext cx="1698594" cy="300333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/>
                <a:t>double altezza</a:t>
              </a:r>
            </a:p>
          </p:txBody>
        </p:sp>
      </p:grpSp>
      <p:sp>
        <p:nvSpPr>
          <p:cNvPr id="15" name="Text Box 18"/>
          <p:cNvSpPr txBox="1">
            <a:spLocks noChangeArrowheads="1"/>
          </p:cNvSpPr>
          <p:nvPr/>
        </p:nvSpPr>
        <p:spPr bwMode="auto">
          <a:xfrm>
            <a:off x="533400" y="4498504"/>
            <a:ext cx="8153400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000" dirty="0">
                <a:latin typeface="Courier New" pitchFamily="49" charset="0"/>
              </a:rPr>
              <a:t>public Rettangolo (</a:t>
            </a:r>
            <a:r>
              <a:rPr lang="it-IT" sz="2000" b="1" dirty="0" err="1">
                <a:solidFill>
                  <a:schemeClr val="accent1"/>
                </a:solidFill>
                <a:latin typeface="Courier New" pitchFamily="49" charset="0"/>
              </a:rPr>
              <a:t>double</a:t>
            </a: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</a:rPr>
              <a:t> b, </a:t>
            </a:r>
            <a:r>
              <a:rPr lang="it-IT" sz="2000" b="1" dirty="0" err="1">
                <a:solidFill>
                  <a:schemeClr val="accent1"/>
                </a:solidFill>
                <a:latin typeface="Courier New" pitchFamily="49" charset="0"/>
              </a:rPr>
              <a:t>double</a:t>
            </a: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</a:rPr>
              <a:t> a</a:t>
            </a:r>
            <a:r>
              <a:rPr lang="it-IT" sz="2000" dirty="0">
                <a:latin typeface="Courier New" pitchFamily="49" charset="0"/>
              </a:rPr>
              <a:t>){</a:t>
            </a:r>
          </a:p>
          <a:p>
            <a:pPr>
              <a:spcBef>
                <a:spcPct val="50000"/>
              </a:spcBef>
            </a:pPr>
            <a:r>
              <a:rPr lang="it-IT" sz="2000" dirty="0">
                <a:latin typeface="Courier New" pitchFamily="49" charset="0"/>
              </a:rPr>
              <a:t>	</a:t>
            </a:r>
            <a:r>
              <a:rPr lang="it-IT" sz="2000" dirty="0" err="1">
                <a:latin typeface="Courier New" pitchFamily="49" charset="0"/>
              </a:rPr>
              <a:t>this.base</a:t>
            </a:r>
            <a:r>
              <a:rPr lang="it-IT" sz="2000" dirty="0">
                <a:latin typeface="Courier New" pitchFamily="49" charset="0"/>
              </a:rPr>
              <a:t> = b;</a:t>
            </a:r>
          </a:p>
          <a:p>
            <a:pPr>
              <a:spcBef>
                <a:spcPct val="50000"/>
              </a:spcBef>
            </a:pPr>
            <a:r>
              <a:rPr lang="it-IT" sz="2000" dirty="0">
                <a:latin typeface="Courier New" pitchFamily="49" charset="0"/>
              </a:rPr>
              <a:t>	</a:t>
            </a:r>
            <a:r>
              <a:rPr lang="it-IT" sz="2000" dirty="0" err="1">
                <a:latin typeface="Courier New" pitchFamily="49" charset="0"/>
              </a:rPr>
              <a:t>this.altezza</a:t>
            </a:r>
            <a:r>
              <a:rPr lang="it-IT" sz="2000" dirty="0">
                <a:latin typeface="Courier New" pitchFamily="49" charset="0"/>
              </a:rPr>
              <a:t> = a;</a:t>
            </a:r>
          </a:p>
          <a:p>
            <a:pPr>
              <a:spcBef>
                <a:spcPct val="50000"/>
              </a:spcBef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Rettangolo.numIstanze++;</a:t>
            </a:r>
          </a:p>
          <a:p>
            <a:pPr>
              <a:spcBef>
                <a:spcPct val="50000"/>
              </a:spcBef>
            </a:pPr>
            <a:r>
              <a:rPr lang="it-IT" sz="2000" dirty="0">
                <a:latin typeface="Courier New" pitchFamily="49" charset="0"/>
              </a:rPr>
              <a:t>} </a:t>
            </a:r>
          </a:p>
        </p:txBody>
      </p:sp>
      <p:sp>
        <p:nvSpPr>
          <p:cNvPr id="16" name="Text Box 38"/>
          <p:cNvSpPr txBox="1">
            <a:spLocks noChangeArrowheads="1"/>
          </p:cNvSpPr>
          <p:nvPr/>
        </p:nvSpPr>
        <p:spPr bwMode="auto">
          <a:xfrm>
            <a:off x="323528" y="2492896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400" dirty="0"/>
              <a:t>t</a:t>
            </a:r>
            <a:r>
              <a:rPr lang="it-IT" sz="2400" baseline="-25000" dirty="0"/>
              <a:t>0</a:t>
            </a:r>
          </a:p>
        </p:txBody>
      </p:sp>
      <p:grpSp>
        <p:nvGrpSpPr>
          <p:cNvPr id="4" name="Gruppo 94"/>
          <p:cNvGrpSpPr/>
          <p:nvPr/>
        </p:nvGrpSpPr>
        <p:grpSpPr>
          <a:xfrm>
            <a:off x="6516216" y="1340768"/>
            <a:ext cx="2458616" cy="1080120"/>
            <a:chOff x="6516216" y="1340768"/>
            <a:chExt cx="2458616" cy="1080120"/>
          </a:xfrm>
        </p:grpSpPr>
        <p:sp>
          <p:nvSpPr>
            <p:cNvPr id="69" name="Rectangle 5"/>
            <p:cNvSpPr>
              <a:spLocks noChangeArrowheads="1"/>
            </p:cNvSpPr>
            <p:nvPr/>
          </p:nvSpPr>
          <p:spPr bwMode="auto">
            <a:xfrm>
              <a:off x="6516216" y="1340768"/>
              <a:ext cx="2458616" cy="108012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70" name="Text Box 6"/>
            <p:cNvSpPr txBox="1">
              <a:spLocks noChangeArrowheads="1"/>
            </p:cNvSpPr>
            <p:nvPr/>
          </p:nvSpPr>
          <p:spPr bwMode="auto">
            <a:xfrm>
              <a:off x="6840134" y="1403175"/>
              <a:ext cx="1877144" cy="36933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it-IT" dirty="0"/>
                <a:t>Rettangolo</a:t>
              </a:r>
            </a:p>
          </p:txBody>
        </p:sp>
        <p:sp>
          <p:nvSpPr>
            <p:cNvPr id="71" name="Line 7"/>
            <p:cNvSpPr>
              <a:spLocks noChangeShapeType="1"/>
            </p:cNvSpPr>
            <p:nvPr/>
          </p:nvSpPr>
          <p:spPr bwMode="auto">
            <a:xfrm>
              <a:off x="6516216" y="1777617"/>
              <a:ext cx="24586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72" name="Line 8"/>
            <p:cNvSpPr>
              <a:spLocks noChangeShapeType="1"/>
            </p:cNvSpPr>
            <p:nvPr/>
          </p:nvSpPr>
          <p:spPr bwMode="auto">
            <a:xfrm>
              <a:off x="6516216" y="2276872"/>
              <a:ext cx="24586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73" name="Text Box 9"/>
            <p:cNvSpPr txBox="1">
              <a:spLocks noChangeArrowheads="1"/>
            </p:cNvSpPr>
            <p:nvPr/>
          </p:nvSpPr>
          <p:spPr bwMode="auto">
            <a:xfrm>
              <a:off x="6592060" y="1840023"/>
              <a:ext cx="2199482" cy="36933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 u="sng" dirty="0" err="1"/>
                <a:t>numIstanze</a:t>
              </a:r>
              <a:endParaRPr lang="it-IT" u="sng" dirty="0"/>
            </a:p>
          </p:txBody>
        </p:sp>
        <p:sp>
          <p:nvSpPr>
            <p:cNvPr id="74" name="Text Box 10"/>
            <p:cNvSpPr txBox="1">
              <a:spLocks noChangeArrowheads="1"/>
            </p:cNvSpPr>
            <p:nvPr/>
          </p:nvSpPr>
          <p:spPr bwMode="auto">
            <a:xfrm>
              <a:off x="8336477" y="1840023"/>
              <a:ext cx="530909" cy="36933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it-IT" dirty="0"/>
                <a:t>0</a:t>
              </a:r>
            </a:p>
          </p:txBody>
        </p:sp>
      </p:grpSp>
      <p:cxnSp>
        <p:nvCxnSpPr>
          <p:cNvPr id="43" name="Connettore 2 42"/>
          <p:cNvCxnSpPr>
            <a:endCxn id="15" idx="0"/>
          </p:cNvCxnSpPr>
          <p:nvPr/>
        </p:nvCxnSpPr>
        <p:spPr>
          <a:xfrm flipH="1">
            <a:off x="4610100" y="1628800"/>
            <a:ext cx="825996" cy="286970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ttore 2 44"/>
          <p:cNvCxnSpPr/>
          <p:nvPr/>
        </p:nvCxnSpPr>
        <p:spPr>
          <a:xfrm>
            <a:off x="5940152" y="1628800"/>
            <a:ext cx="216024" cy="295232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Box 45"/>
          <p:cNvSpPr txBox="1">
            <a:spLocks noChangeArrowheads="1"/>
          </p:cNvSpPr>
          <p:nvPr/>
        </p:nvSpPr>
        <p:spPr bwMode="auto">
          <a:xfrm>
            <a:off x="5076056" y="2996952"/>
            <a:ext cx="990600" cy="427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200" dirty="0"/>
              <a:t>copia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Esecuzione del costruttore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533400" y="1268760"/>
            <a:ext cx="807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it-IT" sz="2400" i="1" dirty="0" err="1">
                <a:solidFill>
                  <a:schemeClr val="accent2"/>
                </a:solidFill>
              </a:rPr>
              <a:t>new</a:t>
            </a:r>
            <a:r>
              <a:rPr lang="it-IT" sz="2400" i="1" dirty="0">
                <a:solidFill>
                  <a:schemeClr val="accent2"/>
                </a:solidFill>
              </a:rPr>
              <a:t> Rettangolo (10, 20)</a:t>
            </a:r>
          </a:p>
        </p:txBody>
      </p:sp>
      <p:grpSp>
        <p:nvGrpSpPr>
          <p:cNvPr id="3" name="Gruppo 66"/>
          <p:cNvGrpSpPr/>
          <p:nvPr/>
        </p:nvGrpSpPr>
        <p:grpSpPr>
          <a:xfrm>
            <a:off x="323528" y="2996952"/>
            <a:ext cx="2458616" cy="1440160"/>
            <a:chOff x="323528" y="2636912"/>
            <a:chExt cx="2458616" cy="1440160"/>
          </a:xfrm>
        </p:grpSpPr>
        <p:sp>
          <p:nvSpPr>
            <p:cNvPr id="7" name="Rectangle 5"/>
            <p:cNvSpPr>
              <a:spLocks noChangeArrowheads="1"/>
            </p:cNvSpPr>
            <p:nvPr/>
          </p:nvSpPr>
          <p:spPr bwMode="auto">
            <a:xfrm>
              <a:off x="323528" y="2636912"/>
              <a:ext cx="2458616" cy="1440160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8" name="Text Box 6"/>
            <p:cNvSpPr txBox="1">
              <a:spLocks noChangeArrowheads="1"/>
            </p:cNvSpPr>
            <p:nvPr/>
          </p:nvSpPr>
          <p:spPr bwMode="auto">
            <a:xfrm>
              <a:off x="647446" y="2699319"/>
              <a:ext cx="1877144" cy="369332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it-IT" u="sng" dirty="0"/>
                <a:t>…:Rettangolo</a:t>
              </a:r>
            </a:p>
          </p:txBody>
        </p:sp>
        <p:sp>
          <p:nvSpPr>
            <p:cNvPr id="9" name="Line 7"/>
            <p:cNvSpPr>
              <a:spLocks noChangeShapeType="1"/>
            </p:cNvSpPr>
            <p:nvPr/>
          </p:nvSpPr>
          <p:spPr bwMode="auto">
            <a:xfrm>
              <a:off x="323528" y="3073761"/>
              <a:ext cx="24586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0" name="Line 8"/>
            <p:cNvSpPr>
              <a:spLocks noChangeShapeType="1"/>
            </p:cNvSpPr>
            <p:nvPr/>
          </p:nvSpPr>
          <p:spPr bwMode="auto">
            <a:xfrm>
              <a:off x="323528" y="3885051"/>
              <a:ext cx="24586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1" name="Text Box 9"/>
            <p:cNvSpPr txBox="1">
              <a:spLocks noChangeArrowheads="1"/>
            </p:cNvSpPr>
            <p:nvPr/>
          </p:nvSpPr>
          <p:spPr bwMode="auto">
            <a:xfrm>
              <a:off x="399372" y="3136167"/>
              <a:ext cx="2199482" cy="300333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/>
                <a:t>double base</a:t>
              </a:r>
            </a:p>
          </p:txBody>
        </p:sp>
        <p:sp>
          <p:nvSpPr>
            <p:cNvPr id="12" name="Text Box 10"/>
            <p:cNvSpPr txBox="1">
              <a:spLocks noChangeArrowheads="1"/>
            </p:cNvSpPr>
            <p:nvPr/>
          </p:nvSpPr>
          <p:spPr bwMode="auto">
            <a:xfrm>
              <a:off x="2143789" y="3136167"/>
              <a:ext cx="530909" cy="308134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/>
                <a:t>0.0</a:t>
              </a:r>
            </a:p>
          </p:txBody>
        </p:sp>
        <p:sp>
          <p:nvSpPr>
            <p:cNvPr id="13" name="Text Box 11"/>
            <p:cNvSpPr txBox="1">
              <a:spLocks noChangeArrowheads="1"/>
            </p:cNvSpPr>
            <p:nvPr/>
          </p:nvSpPr>
          <p:spPr bwMode="auto">
            <a:xfrm>
              <a:off x="2143789" y="3514510"/>
              <a:ext cx="530909" cy="308134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/>
                <a:t>0.0</a:t>
              </a:r>
            </a:p>
          </p:txBody>
        </p:sp>
        <p:sp>
          <p:nvSpPr>
            <p:cNvPr id="14" name="Text Box 13"/>
            <p:cNvSpPr txBox="1">
              <a:spLocks noChangeArrowheads="1"/>
            </p:cNvSpPr>
            <p:nvPr/>
          </p:nvSpPr>
          <p:spPr bwMode="auto">
            <a:xfrm>
              <a:off x="399372" y="3448202"/>
              <a:ext cx="1698594" cy="300333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/>
                <a:t>double altezza</a:t>
              </a:r>
            </a:p>
          </p:txBody>
        </p:sp>
      </p:grpSp>
      <p:sp>
        <p:nvSpPr>
          <p:cNvPr id="15" name="Text Box 18"/>
          <p:cNvSpPr txBox="1">
            <a:spLocks noChangeArrowheads="1"/>
          </p:cNvSpPr>
          <p:nvPr/>
        </p:nvSpPr>
        <p:spPr bwMode="auto">
          <a:xfrm>
            <a:off x="533400" y="4498504"/>
            <a:ext cx="8153400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000" dirty="0">
                <a:latin typeface="Courier New" pitchFamily="49" charset="0"/>
              </a:rPr>
              <a:t>public Rettangolo (</a:t>
            </a:r>
            <a:r>
              <a:rPr lang="it-IT" sz="2000" dirty="0" err="1">
                <a:latin typeface="Courier New" pitchFamily="49" charset="0"/>
              </a:rPr>
              <a:t>double</a:t>
            </a:r>
            <a:r>
              <a:rPr lang="it-IT" sz="2000" dirty="0">
                <a:latin typeface="Courier New" pitchFamily="49" charset="0"/>
              </a:rPr>
              <a:t> b, </a:t>
            </a:r>
            <a:r>
              <a:rPr lang="it-IT" sz="2000" dirty="0" err="1">
                <a:latin typeface="Courier New" pitchFamily="49" charset="0"/>
              </a:rPr>
              <a:t>double</a:t>
            </a:r>
            <a:r>
              <a:rPr lang="it-IT" sz="2000" dirty="0">
                <a:latin typeface="Courier New" pitchFamily="49" charset="0"/>
              </a:rPr>
              <a:t> a){</a:t>
            </a:r>
          </a:p>
          <a:p>
            <a:pPr>
              <a:spcBef>
                <a:spcPct val="50000"/>
              </a:spcBef>
            </a:pPr>
            <a:r>
              <a:rPr lang="it-IT" sz="2000" dirty="0">
                <a:latin typeface="Courier New" pitchFamily="49" charset="0"/>
              </a:rPr>
              <a:t>	</a:t>
            </a:r>
            <a:r>
              <a:rPr lang="it-IT" sz="2000" b="1" dirty="0" err="1">
                <a:solidFill>
                  <a:schemeClr val="accent1"/>
                </a:solidFill>
                <a:latin typeface="Courier New" pitchFamily="49" charset="0"/>
              </a:rPr>
              <a:t>this.base</a:t>
            </a: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</a:rPr>
              <a:t> = b;</a:t>
            </a:r>
          </a:p>
          <a:p>
            <a:pPr>
              <a:spcBef>
                <a:spcPct val="50000"/>
              </a:spcBef>
            </a:pPr>
            <a:r>
              <a:rPr lang="it-IT" sz="2000" dirty="0">
                <a:latin typeface="Courier New" pitchFamily="49" charset="0"/>
              </a:rPr>
              <a:t>	</a:t>
            </a:r>
            <a:r>
              <a:rPr lang="it-IT" sz="2000" dirty="0" err="1">
                <a:latin typeface="Courier New" pitchFamily="49" charset="0"/>
              </a:rPr>
              <a:t>this.altezza</a:t>
            </a:r>
            <a:r>
              <a:rPr lang="it-IT" sz="2000" dirty="0">
                <a:latin typeface="Courier New" pitchFamily="49" charset="0"/>
              </a:rPr>
              <a:t> = a;</a:t>
            </a:r>
          </a:p>
          <a:p>
            <a:pPr>
              <a:spcBef>
                <a:spcPct val="50000"/>
              </a:spcBef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Rettangolo.numIstanze++;</a:t>
            </a:r>
          </a:p>
          <a:p>
            <a:pPr>
              <a:spcBef>
                <a:spcPct val="50000"/>
              </a:spcBef>
            </a:pPr>
            <a:r>
              <a:rPr lang="it-IT" sz="2000" dirty="0">
                <a:latin typeface="Courier New" pitchFamily="49" charset="0"/>
              </a:rPr>
              <a:t>} </a:t>
            </a:r>
          </a:p>
        </p:txBody>
      </p:sp>
      <p:sp>
        <p:nvSpPr>
          <p:cNvPr id="16" name="Text Box 38"/>
          <p:cNvSpPr txBox="1">
            <a:spLocks noChangeArrowheads="1"/>
          </p:cNvSpPr>
          <p:nvPr/>
        </p:nvSpPr>
        <p:spPr bwMode="auto">
          <a:xfrm>
            <a:off x="323528" y="2492896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400" dirty="0"/>
              <a:t>t</a:t>
            </a:r>
            <a:r>
              <a:rPr lang="it-IT" sz="2400" baseline="-25000" dirty="0"/>
              <a:t>0</a:t>
            </a:r>
          </a:p>
        </p:txBody>
      </p:sp>
      <p:sp>
        <p:nvSpPr>
          <p:cNvPr id="29" name="Text Box 34"/>
          <p:cNvSpPr txBox="1">
            <a:spLocks noChangeArrowheads="1"/>
          </p:cNvSpPr>
          <p:nvPr/>
        </p:nvSpPr>
        <p:spPr bwMode="auto">
          <a:xfrm>
            <a:off x="2987824" y="2492896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400" dirty="0"/>
              <a:t>t</a:t>
            </a:r>
            <a:r>
              <a:rPr lang="it-IT" sz="2400" baseline="-25000" dirty="0"/>
              <a:t>1</a:t>
            </a:r>
          </a:p>
        </p:txBody>
      </p:sp>
      <p:grpSp>
        <p:nvGrpSpPr>
          <p:cNvPr id="4" name="Gruppo 94"/>
          <p:cNvGrpSpPr/>
          <p:nvPr/>
        </p:nvGrpSpPr>
        <p:grpSpPr>
          <a:xfrm>
            <a:off x="6516216" y="1340768"/>
            <a:ext cx="2458616" cy="1080120"/>
            <a:chOff x="6516216" y="1340768"/>
            <a:chExt cx="2458616" cy="1080120"/>
          </a:xfrm>
        </p:grpSpPr>
        <p:sp>
          <p:nvSpPr>
            <p:cNvPr id="69" name="Rectangle 5"/>
            <p:cNvSpPr>
              <a:spLocks noChangeArrowheads="1"/>
            </p:cNvSpPr>
            <p:nvPr/>
          </p:nvSpPr>
          <p:spPr bwMode="auto">
            <a:xfrm>
              <a:off x="6516216" y="1340768"/>
              <a:ext cx="2458616" cy="108012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70" name="Text Box 6"/>
            <p:cNvSpPr txBox="1">
              <a:spLocks noChangeArrowheads="1"/>
            </p:cNvSpPr>
            <p:nvPr/>
          </p:nvSpPr>
          <p:spPr bwMode="auto">
            <a:xfrm>
              <a:off x="6840134" y="1403175"/>
              <a:ext cx="1877144" cy="36933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it-IT" dirty="0"/>
                <a:t>Rettangolo</a:t>
              </a:r>
            </a:p>
          </p:txBody>
        </p:sp>
        <p:sp>
          <p:nvSpPr>
            <p:cNvPr id="71" name="Line 7"/>
            <p:cNvSpPr>
              <a:spLocks noChangeShapeType="1"/>
            </p:cNvSpPr>
            <p:nvPr/>
          </p:nvSpPr>
          <p:spPr bwMode="auto">
            <a:xfrm>
              <a:off x="6516216" y="1777617"/>
              <a:ext cx="24586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72" name="Line 8"/>
            <p:cNvSpPr>
              <a:spLocks noChangeShapeType="1"/>
            </p:cNvSpPr>
            <p:nvPr/>
          </p:nvSpPr>
          <p:spPr bwMode="auto">
            <a:xfrm>
              <a:off x="6516216" y="2276872"/>
              <a:ext cx="24586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73" name="Text Box 9"/>
            <p:cNvSpPr txBox="1">
              <a:spLocks noChangeArrowheads="1"/>
            </p:cNvSpPr>
            <p:nvPr/>
          </p:nvSpPr>
          <p:spPr bwMode="auto">
            <a:xfrm>
              <a:off x="6592060" y="1840023"/>
              <a:ext cx="2199482" cy="36933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 u="sng" dirty="0" err="1"/>
                <a:t>numIstanze</a:t>
              </a:r>
              <a:endParaRPr lang="it-IT" u="sng" dirty="0"/>
            </a:p>
          </p:txBody>
        </p:sp>
        <p:sp>
          <p:nvSpPr>
            <p:cNvPr id="74" name="Text Box 10"/>
            <p:cNvSpPr txBox="1">
              <a:spLocks noChangeArrowheads="1"/>
            </p:cNvSpPr>
            <p:nvPr/>
          </p:nvSpPr>
          <p:spPr bwMode="auto">
            <a:xfrm>
              <a:off x="8336477" y="1840023"/>
              <a:ext cx="530909" cy="36933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it-IT" dirty="0"/>
                <a:t>0</a:t>
              </a:r>
            </a:p>
          </p:txBody>
        </p:sp>
      </p:grpSp>
      <p:grpSp>
        <p:nvGrpSpPr>
          <p:cNvPr id="6" name="Gruppo 76"/>
          <p:cNvGrpSpPr/>
          <p:nvPr/>
        </p:nvGrpSpPr>
        <p:grpSpPr>
          <a:xfrm>
            <a:off x="2987824" y="2996952"/>
            <a:ext cx="2458616" cy="1440160"/>
            <a:chOff x="323528" y="2636912"/>
            <a:chExt cx="2458616" cy="1440160"/>
          </a:xfrm>
        </p:grpSpPr>
        <p:sp>
          <p:nvSpPr>
            <p:cNvPr id="78" name="Rectangle 5"/>
            <p:cNvSpPr>
              <a:spLocks noChangeArrowheads="1"/>
            </p:cNvSpPr>
            <p:nvPr/>
          </p:nvSpPr>
          <p:spPr bwMode="auto">
            <a:xfrm>
              <a:off x="323528" y="2636912"/>
              <a:ext cx="2458616" cy="1440160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79" name="Text Box 6"/>
            <p:cNvSpPr txBox="1">
              <a:spLocks noChangeArrowheads="1"/>
            </p:cNvSpPr>
            <p:nvPr/>
          </p:nvSpPr>
          <p:spPr bwMode="auto">
            <a:xfrm>
              <a:off x="647446" y="2699319"/>
              <a:ext cx="1877144" cy="369332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it-IT" u="sng" dirty="0"/>
                <a:t>…:Rettangolo</a:t>
              </a:r>
            </a:p>
          </p:txBody>
        </p:sp>
        <p:sp>
          <p:nvSpPr>
            <p:cNvPr id="80" name="Line 7"/>
            <p:cNvSpPr>
              <a:spLocks noChangeShapeType="1"/>
            </p:cNvSpPr>
            <p:nvPr/>
          </p:nvSpPr>
          <p:spPr bwMode="auto">
            <a:xfrm>
              <a:off x="323528" y="3073761"/>
              <a:ext cx="24586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81" name="Line 8"/>
            <p:cNvSpPr>
              <a:spLocks noChangeShapeType="1"/>
            </p:cNvSpPr>
            <p:nvPr/>
          </p:nvSpPr>
          <p:spPr bwMode="auto">
            <a:xfrm>
              <a:off x="323528" y="3885051"/>
              <a:ext cx="24586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82" name="Text Box 9"/>
            <p:cNvSpPr txBox="1">
              <a:spLocks noChangeArrowheads="1"/>
            </p:cNvSpPr>
            <p:nvPr/>
          </p:nvSpPr>
          <p:spPr bwMode="auto">
            <a:xfrm>
              <a:off x="399372" y="3136167"/>
              <a:ext cx="2199482" cy="300333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/>
                <a:t>double base</a:t>
              </a:r>
            </a:p>
          </p:txBody>
        </p:sp>
        <p:sp>
          <p:nvSpPr>
            <p:cNvPr id="83" name="Text Box 10"/>
            <p:cNvSpPr txBox="1">
              <a:spLocks noChangeArrowheads="1"/>
            </p:cNvSpPr>
            <p:nvPr/>
          </p:nvSpPr>
          <p:spPr bwMode="auto">
            <a:xfrm>
              <a:off x="2143789" y="3136167"/>
              <a:ext cx="530909" cy="36933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it-IT" b="1" dirty="0">
                  <a:solidFill>
                    <a:schemeClr val="accent1"/>
                  </a:solidFill>
                </a:rPr>
                <a:t>10</a:t>
              </a:r>
            </a:p>
          </p:txBody>
        </p:sp>
        <p:sp>
          <p:nvSpPr>
            <p:cNvPr id="84" name="Text Box 11"/>
            <p:cNvSpPr txBox="1">
              <a:spLocks noChangeArrowheads="1"/>
            </p:cNvSpPr>
            <p:nvPr/>
          </p:nvSpPr>
          <p:spPr bwMode="auto">
            <a:xfrm>
              <a:off x="2143789" y="3514510"/>
              <a:ext cx="530909" cy="308134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/>
                <a:t>0.0</a:t>
              </a:r>
            </a:p>
          </p:txBody>
        </p:sp>
        <p:sp>
          <p:nvSpPr>
            <p:cNvPr id="85" name="Text Box 13"/>
            <p:cNvSpPr txBox="1">
              <a:spLocks noChangeArrowheads="1"/>
            </p:cNvSpPr>
            <p:nvPr/>
          </p:nvSpPr>
          <p:spPr bwMode="auto">
            <a:xfrm>
              <a:off x="399372" y="3448202"/>
              <a:ext cx="1698594" cy="300333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/>
                <a:t>double altezza</a:t>
              </a: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Esecuzione del costruttore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533400" y="1268760"/>
            <a:ext cx="807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it-IT" sz="2400" i="1" dirty="0" err="1">
                <a:solidFill>
                  <a:schemeClr val="accent2"/>
                </a:solidFill>
              </a:rPr>
              <a:t>new</a:t>
            </a:r>
            <a:r>
              <a:rPr lang="it-IT" sz="2400" i="1" dirty="0">
                <a:solidFill>
                  <a:schemeClr val="accent2"/>
                </a:solidFill>
              </a:rPr>
              <a:t> Rettangolo (10, 20)</a:t>
            </a:r>
          </a:p>
        </p:txBody>
      </p:sp>
      <p:grpSp>
        <p:nvGrpSpPr>
          <p:cNvPr id="3" name="Gruppo 66"/>
          <p:cNvGrpSpPr/>
          <p:nvPr/>
        </p:nvGrpSpPr>
        <p:grpSpPr>
          <a:xfrm>
            <a:off x="323528" y="2996952"/>
            <a:ext cx="2458616" cy="1440160"/>
            <a:chOff x="323528" y="2636912"/>
            <a:chExt cx="2458616" cy="1440160"/>
          </a:xfrm>
        </p:grpSpPr>
        <p:sp>
          <p:nvSpPr>
            <p:cNvPr id="7" name="Rectangle 5"/>
            <p:cNvSpPr>
              <a:spLocks noChangeArrowheads="1"/>
            </p:cNvSpPr>
            <p:nvPr/>
          </p:nvSpPr>
          <p:spPr bwMode="auto">
            <a:xfrm>
              <a:off x="323528" y="2636912"/>
              <a:ext cx="2458616" cy="1440160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8" name="Text Box 6"/>
            <p:cNvSpPr txBox="1">
              <a:spLocks noChangeArrowheads="1"/>
            </p:cNvSpPr>
            <p:nvPr/>
          </p:nvSpPr>
          <p:spPr bwMode="auto">
            <a:xfrm>
              <a:off x="647446" y="2699319"/>
              <a:ext cx="1877144" cy="369332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it-IT" u="sng" dirty="0"/>
                <a:t>…:Rettangolo</a:t>
              </a:r>
            </a:p>
          </p:txBody>
        </p:sp>
        <p:sp>
          <p:nvSpPr>
            <p:cNvPr id="9" name="Line 7"/>
            <p:cNvSpPr>
              <a:spLocks noChangeShapeType="1"/>
            </p:cNvSpPr>
            <p:nvPr/>
          </p:nvSpPr>
          <p:spPr bwMode="auto">
            <a:xfrm>
              <a:off x="323528" y="3073761"/>
              <a:ext cx="24586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0" name="Line 8"/>
            <p:cNvSpPr>
              <a:spLocks noChangeShapeType="1"/>
            </p:cNvSpPr>
            <p:nvPr/>
          </p:nvSpPr>
          <p:spPr bwMode="auto">
            <a:xfrm>
              <a:off x="323528" y="3885051"/>
              <a:ext cx="24586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1" name="Text Box 9"/>
            <p:cNvSpPr txBox="1">
              <a:spLocks noChangeArrowheads="1"/>
            </p:cNvSpPr>
            <p:nvPr/>
          </p:nvSpPr>
          <p:spPr bwMode="auto">
            <a:xfrm>
              <a:off x="399372" y="3136167"/>
              <a:ext cx="2199482" cy="300333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/>
                <a:t>double base</a:t>
              </a:r>
            </a:p>
          </p:txBody>
        </p:sp>
        <p:sp>
          <p:nvSpPr>
            <p:cNvPr id="12" name="Text Box 10"/>
            <p:cNvSpPr txBox="1">
              <a:spLocks noChangeArrowheads="1"/>
            </p:cNvSpPr>
            <p:nvPr/>
          </p:nvSpPr>
          <p:spPr bwMode="auto">
            <a:xfrm>
              <a:off x="2143789" y="3136167"/>
              <a:ext cx="530909" cy="308134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/>
                <a:t>0.0</a:t>
              </a:r>
            </a:p>
          </p:txBody>
        </p:sp>
        <p:sp>
          <p:nvSpPr>
            <p:cNvPr id="13" name="Text Box 11"/>
            <p:cNvSpPr txBox="1">
              <a:spLocks noChangeArrowheads="1"/>
            </p:cNvSpPr>
            <p:nvPr/>
          </p:nvSpPr>
          <p:spPr bwMode="auto">
            <a:xfrm>
              <a:off x="2143789" y="3514510"/>
              <a:ext cx="530909" cy="308134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/>
                <a:t>0.0</a:t>
              </a:r>
            </a:p>
          </p:txBody>
        </p:sp>
        <p:sp>
          <p:nvSpPr>
            <p:cNvPr id="14" name="Text Box 13"/>
            <p:cNvSpPr txBox="1">
              <a:spLocks noChangeArrowheads="1"/>
            </p:cNvSpPr>
            <p:nvPr/>
          </p:nvSpPr>
          <p:spPr bwMode="auto">
            <a:xfrm>
              <a:off x="399372" y="3448202"/>
              <a:ext cx="1698594" cy="300333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/>
                <a:t>double altezza</a:t>
              </a:r>
            </a:p>
          </p:txBody>
        </p:sp>
      </p:grpSp>
      <p:sp>
        <p:nvSpPr>
          <p:cNvPr id="15" name="Text Box 18"/>
          <p:cNvSpPr txBox="1">
            <a:spLocks noChangeArrowheads="1"/>
          </p:cNvSpPr>
          <p:nvPr/>
        </p:nvSpPr>
        <p:spPr bwMode="auto">
          <a:xfrm>
            <a:off x="533400" y="4498504"/>
            <a:ext cx="8153400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000" dirty="0">
                <a:latin typeface="Courier New" pitchFamily="49" charset="0"/>
              </a:rPr>
              <a:t>public Rettangolo (</a:t>
            </a:r>
            <a:r>
              <a:rPr lang="it-IT" sz="2000" dirty="0" err="1">
                <a:latin typeface="Courier New" pitchFamily="49" charset="0"/>
              </a:rPr>
              <a:t>double</a:t>
            </a:r>
            <a:r>
              <a:rPr lang="it-IT" sz="2000" dirty="0">
                <a:latin typeface="Courier New" pitchFamily="49" charset="0"/>
              </a:rPr>
              <a:t> b, </a:t>
            </a:r>
            <a:r>
              <a:rPr lang="it-IT" sz="2000" dirty="0" err="1">
                <a:latin typeface="Courier New" pitchFamily="49" charset="0"/>
              </a:rPr>
              <a:t>double</a:t>
            </a:r>
            <a:r>
              <a:rPr lang="it-IT" sz="2000" dirty="0">
                <a:latin typeface="Courier New" pitchFamily="49" charset="0"/>
              </a:rPr>
              <a:t> a){</a:t>
            </a:r>
          </a:p>
          <a:p>
            <a:pPr>
              <a:spcBef>
                <a:spcPct val="50000"/>
              </a:spcBef>
            </a:pPr>
            <a:r>
              <a:rPr lang="it-IT" sz="2000" dirty="0">
                <a:latin typeface="Courier New" pitchFamily="49" charset="0"/>
              </a:rPr>
              <a:t>	</a:t>
            </a:r>
            <a:r>
              <a:rPr lang="it-IT" sz="2000" dirty="0" err="1">
                <a:latin typeface="Courier New" pitchFamily="49" charset="0"/>
              </a:rPr>
              <a:t>this.base</a:t>
            </a:r>
            <a:r>
              <a:rPr lang="it-IT" sz="2000" dirty="0">
                <a:latin typeface="Courier New" pitchFamily="49" charset="0"/>
              </a:rPr>
              <a:t> = b;</a:t>
            </a:r>
          </a:p>
          <a:p>
            <a:pPr>
              <a:spcBef>
                <a:spcPct val="50000"/>
              </a:spcBef>
            </a:pPr>
            <a:r>
              <a:rPr lang="it-IT" sz="2000" dirty="0">
                <a:latin typeface="Courier New" pitchFamily="49" charset="0"/>
              </a:rPr>
              <a:t>	</a:t>
            </a:r>
            <a:r>
              <a:rPr lang="it-IT" sz="2000" b="1" dirty="0" err="1">
                <a:solidFill>
                  <a:schemeClr val="accent1"/>
                </a:solidFill>
                <a:latin typeface="Courier New" pitchFamily="49" charset="0"/>
              </a:rPr>
              <a:t>this.altezza</a:t>
            </a: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</a:rPr>
              <a:t> = a;</a:t>
            </a:r>
          </a:p>
          <a:p>
            <a:pPr>
              <a:spcBef>
                <a:spcPct val="50000"/>
              </a:spcBef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Rettangolo.numIstanze++;</a:t>
            </a:r>
          </a:p>
          <a:p>
            <a:pPr>
              <a:spcBef>
                <a:spcPct val="50000"/>
              </a:spcBef>
            </a:pPr>
            <a:r>
              <a:rPr lang="it-IT" sz="2000" dirty="0">
                <a:latin typeface="Courier New" pitchFamily="49" charset="0"/>
              </a:rPr>
              <a:t>} </a:t>
            </a:r>
          </a:p>
        </p:txBody>
      </p:sp>
      <p:sp>
        <p:nvSpPr>
          <p:cNvPr id="16" name="Text Box 38"/>
          <p:cNvSpPr txBox="1">
            <a:spLocks noChangeArrowheads="1"/>
          </p:cNvSpPr>
          <p:nvPr/>
        </p:nvSpPr>
        <p:spPr bwMode="auto">
          <a:xfrm>
            <a:off x="323528" y="2492896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400" dirty="0"/>
              <a:t>t</a:t>
            </a:r>
            <a:r>
              <a:rPr lang="it-IT" sz="2400" baseline="-25000" dirty="0"/>
              <a:t>0</a:t>
            </a:r>
          </a:p>
        </p:txBody>
      </p:sp>
      <p:sp>
        <p:nvSpPr>
          <p:cNvPr id="29" name="Text Box 34"/>
          <p:cNvSpPr txBox="1">
            <a:spLocks noChangeArrowheads="1"/>
          </p:cNvSpPr>
          <p:nvPr/>
        </p:nvSpPr>
        <p:spPr bwMode="auto">
          <a:xfrm>
            <a:off x="2987824" y="2492896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400" dirty="0"/>
              <a:t>t</a:t>
            </a:r>
            <a:r>
              <a:rPr lang="it-IT" sz="2400" baseline="-25000" dirty="0"/>
              <a:t>1</a:t>
            </a:r>
          </a:p>
        </p:txBody>
      </p:sp>
      <p:sp>
        <p:nvSpPr>
          <p:cNvPr id="39" name="Text Box 35"/>
          <p:cNvSpPr txBox="1">
            <a:spLocks noChangeArrowheads="1"/>
          </p:cNvSpPr>
          <p:nvPr/>
        </p:nvSpPr>
        <p:spPr bwMode="auto">
          <a:xfrm>
            <a:off x="5652120" y="2492896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400" dirty="0"/>
              <a:t>t</a:t>
            </a:r>
            <a:r>
              <a:rPr lang="it-IT" sz="2400" baseline="-25000" dirty="0"/>
              <a:t>2</a:t>
            </a:r>
          </a:p>
        </p:txBody>
      </p:sp>
      <p:grpSp>
        <p:nvGrpSpPr>
          <p:cNvPr id="4" name="Gruppo 94"/>
          <p:cNvGrpSpPr/>
          <p:nvPr/>
        </p:nvGrpSpPr>
        <p:grpSpPr>
          <a:xfrm>
            <a:off x="6516216" y="1340768"/>
            <a:ext cx="2458616" cy="1080120"/>
            <a:chOff x="6516216" y="1340768"/>
            <a:chExt cx="2458616" cy="1080120"/>
          </a:xfrm>
        </p:grpSpPr>
        <p:sp>
          <p:nvSpPr>
            <p:cNvPr id="69" name="Rectangle 5"/>
            <p:cNvSpPr>
              <a:spLocks noChangeArrowheads="1"/>
            </p:cNvSpPr>
            <p:nvPr/>
          </p:nvSpPr>
          <p:spPr bwMode="auto">
            <a:xfrm>
              <a:off x="6516216" y="1340768"/>
              <a:ext cx="2458616" cy="108012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70" name="Text Box 6"/>
            <p:cNvSpPr txBox="1">
              <a:spLocks noChangeArrowheads="1"/>
            </p:cNvSpPr>
            <p:nvPr/>
          </p:nvSpPr>
          <p:spPr bwMode="auto">
            <a:xfrm>
              <a:off x="6840134" y="1403175"/>
              <a:ext cx="1877144" cy="36933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it-IT" dirty="0"/>
                <a:t>Rettangolo</a:t>
              </a:r>
            </a:p>
          </p:txBody>
        </p:sp>
        <p:sp>
          <p:nvSpPr>
            <p:cNvPr id="71" name="Line 7"/>
            <p:cNvSpPr>
              <a:spLocks noChangeShapeType="1"/>
            </p:cNvSpPr>
            <p:nvPr/>
          </p:nvSpPr>
          <p:spPr bwMode="auto">
            <a:xfrm>
              <a:off x="6516216" y="1777617"/>
              <a:ext cx="24586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72" name="Line 8"/>
            <p:cNvSpPr>
              <a:spLocks noChangeShapeType="1"/>
            </p:cNvSpPr>
            <p:nvPr/>
          </p:nvSpPr>
          <p:spPr bwMode="auto">
            <a:xfrm>
              <a:off x="6516216" y="2276872"/>
              <a:ext cx="24586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73" name="Text Box 9"/>
            <p:cNvSpPr txBox="1">
              <a:spLocks noChangeArrowheads="1"/>
            </p:cNvSpPr>
            <p:nvPr/>
          </p:nvSpPr>
          <p:spPr bwMode="auto">
            <a:xfrm>
              <a:off x="6592060" y="1840023"/>
              <a:ext cx="2199482" cy="36933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 u="sng" dirty="0" err="1"/>
                <a:t>numIstanze</a:t>
              </a:r>
              <a:endParaRPr lang="it-IT" u="sng" dirty="0"/>
            </a:p>
          </p:txBody>
        </p:sp>
        <p:sp>
          <p:nvSpPr>
            <p:cNvPr id="74" name="Text Box 10"/>
            <p:cNvSpPr txBox="1">
              <a:spLocks noChangeArrowheads="1"/>
            </p:cNvSpPr>
            <p:nvPr/>
          </p:nvSpPr>
          <p:spPr bwMode="auto">
            <a:xfrm>
              <a:off x="8336477" y="1840023"/>
              <a:ext cx="530909" cy="36933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it-IT" dirty="0"/>
                <a:t>0</a:t>
              </a:r>
            </a:p>
          </p:txBody>
        </p:sp>
      </p:grpSp>
      <p:grpSp>
        <p:nvGrpSpPr>
          <p:cNvPr id="6" name="Gruppo 76"/>
          <p:cNvGrpSpPr/>
          <p:nvPr/>
        </p:nvGrpSpPr>
        <p:grpSpPr>
          <a:xfrm>
            <a:off x="2987824" y="2996952"/>
            <a:ext cx="2458616" cy="1440160"/>
            <a:chOff x="323528" y="2636912"/>
            <a:chExt cx="2458616" cy="1440160"/>
          </a:xfrm>
        </p:grpSpPr>
        <p:sp>
          <p:nvSpPr>
            <p:cNvPr id="78" name="Rectangle 5"/>
            <p:cNvSpPr>
              <a:spLocks noChangeArrowheads="1"/>
            </p:cNvSpPr>
            <p:nvPr/>
          </p:nvSpPr>
          <p:spPr bwMode="auto">
            <a:xfrm>
              <a:off x="323528" y="2636912"/>
              <a:ext cx="2458616" cy="1440160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79" name="Text Box 6"/>
            <p:cNvSpPr txBox="1">
              <a:spLocks noChangeArrowheads="1"/>
            </p:cNvSpPr>
            <p:nvPr/>
          </p:nvSpPr>
          <p:spPr bwMode="auto">
            <a:xfrm>
              <a:off x="647446" y="2699319"/>
              <a:ext cx="1877144" cy="369332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it-IT" u="sng" dirty="0"/>
                <a:t>…:Rettangolo</a:t>
              </a:r>
            </a:p>
          </p:txBody>
        </p:sp>
        <p:sp>
          <p:nvSpPr>
            <p:cNvPr id="80" name="Line 7"/>
            <p:cNvSpPr>
              <a:spLocks noChangeShapeType="1"/>
            </p:cNvSpPr>
            <p:nvPr/>
          </p:nvSpPr>
          <p:spPr bwMode="auto">
            <a:xfrm>
              <a:off x="323528" y="3073761"/>
              <a:ext cx="24586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81" name="Line 8"/>
            <p:cNvSpPr>
              <a:spLocks noChangeShapeType="1"/>
            </p:cNvSpPr>
            <p:nvPr/>
          </p:nvSpPr>
          <p:spPr bwMode="auto">
            <a:xfrm>
              <a:off x="323528" y="3885051"/>
              <a:ext cx="24586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82" name="Text Box 9"/>
            <p:cNvSpPr txBox="1">
              <a:spLocks noChangeArrowheads="1"/>
            </p:cNvSpPr>
            <p:nvPr/>
          </p:nvSpPr>
          <p:spPr bwMode="auto">
            <a:xfrm>
              <a:off x="399372" y="3136167"/>
              <a:ext cx="2199482" cy="300333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/>
                <a:t>double base</a:t>
              </a:r>
            </a:p>
          </p:txBody>
        </p:sp>
        <p:sp>
          <p:nvSpPr>
            <p:cNvPr id="83" name="Text Box 10"/>
            <p:cNvSpPr txBox="1">
              <a:spLocks noChangeArrowheads="1"/>
            </p:cNvSpPr>
            <p:nvPr/>
          </p:nvSpPr>
          <p:spPr bwMode="auto">
            <a:xfrm>
              <a:off x="2143789" y="3136167"/>
              <a:ext cx="530909" cy="36933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it-IT" dirty="0"/>
                <a:t>10</a:t>
              </a:r>
            </a:p>
          </p:txBody>
        </p:sp>
        <p:sp>
          <p:nvSpPr>
            <p:cNvPr id="84" name="Text Box 11"/>
            <p:cNvSpPr txBox="1">
              <a:spLocks noChangeArrowheads="1"/>
            </p:cNvSpPr>
            <p:nvPr/>
          </p:nvSpPr>
          <p:spPr bwMode="auto">
            <a:xfrm>
              <a:off x="2143789" y="3514510"/>
              <a:ext cx="530909" cy="308134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/>
                <a:t>0.0</a:t>
              </a:r>
            </a:p>
          </p:txBody>
        </p:sp>
        <p:sp>
          <p:nvSpPr>
            <p:cNvPr id="85" name="Text Box 13"/>
            <p:cNvSpPr txBox="1">
              <a:spLocks noChangeArrowheads="1"/>
            </p:cNvSpPr>
            <p:nvPr/>
          </p:nvSpPr>
          <p:spPr bwMode="auto">
            <a:xfrm>
              <a:off x="399372" y="3448202"/>
              <a:ext cx="1698594" cy="300333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/>
                <a:t>double altezza</a:t>
              </a:r>
            </a:p>
          </p:txBody>
        </p:sp>
      </p:grpSp>
      <p:grpSp>
        <p:nvGrpSpPr>
          <p:cNvPr id="17" name="Gruppo 85"/>
          <p:cNvGrpSpPr/>
          <p:nvPr/>
        </p:nvGrpSpPr>
        <p:grpSpPr>
          <a:xfrm>
            <a:off x="5652120" y="2996952"/>
            <a:ext cx="2458616" cy="1440160"/>
            <a:chOff x="323528" y="2636912"/>
            <a:chExt cx="2458616" cy="1440160"/>
          </a:xfrm>
        </p:grpSpPr>
        <p:sp>
          <p:nvSpPr>
            <p:cNvPr id="87" name="Rectangle 5"/>
            <p:cNvSpPr>
              <a:spLocks noChangeArrowheads="1"/>
            </p:cNvSpPr>
            <p:nvPr/>
          </p:nvSpPr>
          <p:spPr bwMode="auto">
            <a:xfrm>
              <a:off x="323528" y="2636912"/>
              <a:ext cx="2458616" cy="1440160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88" name="Text Box 6"/>
            <p:cNvSpPr txBox="1">
              <a:spLocks noChangeArrowheads="1"/>
            </p:cNvSpPr>
            <p:nvPr/>
          </p:nvSpPr>
          <p:spPr bwMode="auto">
            <a:xfrm>
              <a:off x="647446" y="2699319"/>
              <a:ext cx="1877144" cy="369332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it-IT" u="sng" dirty="0"/>
                <a:t>…:Rettangolo</a:t>
              </a:r>
            </a:p>
          </p:txBody>
        </p:sp>
        <p:sp>
          <p:nvSpPr>
            <p:cNvPr id="89" name="Line 7"/>
            <p:cNvSpPr>
              <a:spLocks noChangeShapeType="1"/>
            </p:cNvSpPr>
            <p:nvPr/>
          </p:nvSpPr>
          <p:spPr bwMode="auto">
            <a:xfrm>
              <a:off x="323528" y="3073761"/>
              <a:ext cx="24586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0" name="Line 8"/>
            <p:cNvSpPr>
              <a:spLocks noChangeShapeType="1"/>
            </p:cNvSpPr>
            <p:nvPr/>
          </p:nvSpPr>
          <p:spPr bwMode="auto">
            <a:xfrm>
              <a:off x="323528" y="3885051"/>
              <a:ext cx="24586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1" name="Text Box 9"/>
            <p:cNvSpPr txBox="1">
              <a:spLocks noChangeArrowheads="1"/>
            </p:cNvSpPr>
            <p:nvPr/>
          </p:nvSpPr>
          <p:spPr bwMode="auto">
            <a:xfrm>
              <a:off x="399372" y="3136167"/>
              <a:ext cx="2199482" cy="300333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/>
                <a:t>double base</a:t>
              </a:r>
            </a:p>
          </p:txBody>
        </p:sp>
        <p:sp>
          <p:nvSpPr>
            <p:cNvPr id="92" name="Text Box 10"/>
            <p:cNvSpPr txBox="1">
              <a:spLocks noChangeArrowheads="1"/>
            </p:cNvSpPr>
            <p:nvPr/>
          </p:nvSpPr>
          <p:spPr bwMode="auto">
            <a:xfrm>
              <a:off x="2143789" y="3136167"/>
              <a:ext cx="530909" cy="36933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it-IT" dirty="0"/>
                <a:t>10</a:t>
              </a:r>
            </a:p>
          </p:txBody>
        </p:sp>
        <p:sp>
          <p:nvSpPr>
            <p:cNvPr id="93" name="Text Box 11"/>
            <p:cNvSpPr txBox="1">
              <a:spLocks noChangeArrowheads="1"/>
            </p:cNvSpPr>
            <p:nvPr/>
          </p:nvSpPr>
          <p:spPr bwMode="auto">
            <a:xfrm>
              <a:off x="2143789" y="3514510"/>
              <a:ext cx="530909" cy="36933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it-IT" b="1" dirty="0">
                  <a:solidFill>
                    <a:schemeClr val="accent1"/>
                  </a:solidFill>
                </a:rPr>
                <a:t>20</a:t>
              </a:r>
            </a:p>
          </p:txBody>
        </p:sp>
        <p:sp>
          <p:nvSpPr>
            <p:cNvPr id="94" name="Text Box 13"/>
            <p:cNvSpPr txBox="1">
              <a:spLocks noChangeArrowheads="1"/>
            </p:cNvSpPr>
            <p:nvPr/>
          </p:nvSpPr>
          <p:spPr bwMode="auto">
            <a:xfrm>
              <a:off x="399372" y="3448202"/>
              <a:ext cx="1698594" cy="300333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/>
                <a:t>double altezza</a:t>
              </a:r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Esecuzione del costruttore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533400" y="1268760"/>
            <a:ext cx="807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it-IT" sz="2400" i="1" dirty="0" err="1">
                <a:solidFill>
                  <a:schemeClr val="accent2"/>
                </a:solidFill>
              </a:rPr>
              <a:t>new</a:t>
            </a:r>
            <a:r>
              <a:rPr lang="it-IT" sz="2400" i="1" dirty="0">
                <a:solidFill>
                  <a:schemeClr val="accent2"/>
                </a:solidFill>
              </a:rPr>
              <a:t> Rettangolo (10, 20)</a:t>
            </a:r>
          </a:p>
        </p:txBody>
      </p:sp>
      <p:grpSp>
        <p:nvGrpSpPr>
          <p:cNvPr id="3" name="Gruppo 66"/>
          <p:cNvGrpSpPr/>
          <p:nvPr/>
        </p:nvGrpSpPr>
        <p:grpSpPr>
          <a:xfrm>
            <a:off x="323528" y="2996952"/>
            <a:ext cx="2458616" cy="1440160"/>
            <a:chOff x="323528" y="2636912"/>
            <a:chExt cx="2458616" cy="1440160"/>
          </a:xfrm>
        </p:grpSpPr>
        <p:sp>
          <p:nvSpPr>
            <p:cNvPr id="7" name="Rectangle 5"/>
            <p:cNvSpPr>
              <a:spLocks noChangeArrowheads="1"/>
            </p:cNvSpPr>
            <p:nvPr/>
          </p:nvSpPr>
          <p:spPr bwMode="auto">
            <a:xfrm>
              <a:off x="323528" y="2636912"/>
              <a:ext cx="2458616" cy="1440160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8" name="Text Box 6"/>
            <p:cNvSpPr txBox="1">
              <a:spLocks noChangeArrowheads="1"/>
            </p:cNvSpPr>
            <p:nvPr/>
          </p:nvSpPr>
          <p:spPr bwMode="auto">
            <a:xfrm>
              <a:off x="647446" y="2699319"/>
              <a:ext cx="1877144" cy="369332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it-IT" u="sng" dirty="0"/>
                <a:t>…:Rettangolo</a:t>
              </a:r>
            </a:p>
          </p:txBody>
        </p:sp>
        <p:sp>
          <p:nvSpPr>
            <p:cNvPr id="9" name="Line 7"/>
            <p:cNvSpPr>
              <a:spLocks noChangeShapeType="1"/>
            </p:cNvSpPr>
            <p:nvPr/>
          </p:nvSpPr>
          <p:spPr bwMode="auto">
            <a:xfrm>
              <a:off x="323528" y="3073761"/>
              <a:ext cx="24586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0" name="Line 8"/>
            <p:cNvSpPr>
              <a:spLocks noChangeShapeType="1"/>
            </p:cNvSpPr>
            <p:nvPr/>
          </p:nvSpPr>
          <p:spPr bwMode="auto">
            <a:xfrm>
              <a:off x="323528" y="3885051"/>
              <a:ext cx="24586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1" name="Text Box 9"/>
            <p:cNvSpPr txBox="1">
              <a:spLocks noChangeArrowheads="1"/>
            </p:cNvSpPr>
            <p:nvPr/>
          </p:nvSpPr>
          <p:spPr bwMode="auto">
            <a:xfrm>
              <a:off x="399372" y="3136167"/>
              <a:ext cx="2199482" cy="300333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/>
                <a:t>double base</a:t>
              </a:r>
            </a:p>
          </p:txBody>
        </p:sp>
        <p:sp>
          <p:nvSpPr>
            <p:cNvPr id="12" name="Text Box 10"/>
            <p:cNvSpPr txBox="1">
              <a:spLocks noChangeArrowheads="1"/>
            </p:cNvSpPr>
            <p:nvPr/>
          </p:nvSpPr>
          <p:spPr bwMode="auto">
            <a:xfrm>
              <a:off x="2143789" y="3136167"/>
              <a:ext cx="530909" cy="308134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/>
                <a:t>0.0</a:t>
              </a:r>
            </a:p>
          </p:txBody>
        </p:sp>
        <p:sp>
          <p:nvSpPr>
            <p:cNvPr id="13" name="Text Box 11"/>
            <p:cNvSpPr txBox="1">
              <a:spLocks noChangeArrowheads="1"/>
            </p:cNvSpPr>
            <p:nvPr/>
          </p:nvSpPr>
          <p:spPr bwMode="auto">
            <a:xfrm>
              <a:off x="2143789" y="3514510"/>
              <a:ext cx="530909" cy="308134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/>
                <a:t>0.0</a:t>
              </a:r>
            </a:p>
          </p:txBody>
        </p:sp>
        <p:sp>
          <p:nvSpPr>
            <p:cNvPr id="14" name="Text Box 13"/>
            <p:cNvSpPr txBox="1">
              <a:spLocks noChangeArrowheads="1"/>
            </p:cNvSpPr>
            <p:nvPr/>
          </p:nvSpPr>
          <p:spPr bwMode="auto">
            <a:xfrm>
              <a:off x="399372" y="3448202"/>
              <a:ext cx="1698594" cy="300333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/>
                <a:t>double altezza</a:t>
              </a:r>
            </a:p>
          </p:txBody>
        </p:sp>
      </p:grpSp>
      <p:sp>
        <p:nvSpPr>
          <p:cNvPr id="15" name="Text Box 18"/>
          <p:cNvSpPr txBox="1">
            <a:spLocks noChangeArrowheads="1"/>
          </p:cNvSpPr>
          <p:nvPr/>
        </p:nvSpPr>
        <p:spPr bwMode="auto">
          <a:xfrm>
            <a:off x="533400" y="4498504"/>
            <a:ext cx="8153400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000" dirty="0">
                <a:latin typeface="Courier New" pitchFamily="49" charset="0"/>
              </a:rPr>
              <a:t>public Rettangolo (</a:t>
            </a:r>
            <a:r>
              <a:rPr lang="it-IT" sz="2000" dirty="0" err="1">
                <a:latin typeface="Courier New" pitchFamily="49" charset="0"/>
              </a:rPr>
              <a:t>double</a:t>
            </a:r>
            <a:r>
              <a:rPr lang="it-IT" sz="2000" dirty="0">
                <a:latin typeface="Courier New" pitchFamily="49" charset="0"/>
              </a:rPr>
              <a:t> b, </a:t>
            </a:r>
            <a:r>
              <a:rPr lang="it-IT" sz="2000" dirty="0" err="1">
                <a:latin typeface="Courier New" pitchFamily="49" charset="0"/>
              </a:rPr>
              <a:t>double</a:t>
            </a:r>
            <a:r>
              <a:rPr lang="it-IT" sz="2000" dirty="0">
                <a:latin typeface="Courier New" pitchFamily="49" charset="0"/>
              </a:rPr>
              <a:t> a){</a:t>
            </a:r>
          </a:p>
          <a:p>
            <a:pPr>
              <a:spcBef>
                <a:spcPct val="50000"/>
              </a:spcBef>
            </a:pPr>
            <a:r>
              <a:rPr lang="it-IT" sz="2000" dirty="0">
                <a:latin typeface="Courier New" pitchFamily="49" charset="0"/>
              </a:rPr>
              <a:t>	</a:t>
            </a:r>
            <a:r>
              <a:rPr lang="it-IT" sz="2000" dirty="0" err="1">
                <a:latin typeface="Courier New" pitchFamily="49" charset="0"/>
              </a:rPr>
              <a:t>this.base</a:t>
            </a:r>
            <a:r>
              <a:rPr lang="it-IT" sz="2000" dirty="0">
                <a:latin typeface="Courier New" pitchFamily="49" charset="0"/>
              </a:rPr>
              <a:t> = b;</a:t>
            </a:r>
          </a:p>
          <a:p>
            <a:pPr>
              <a:spcBef>
                <a:spcPct val="50000"/>
              </a:spcBef>
            </a:pPr>
            <a:r>
              <a:rPr lang="it-IT" sz="2000" dirty="0">
                <a:latin typeface="Courier New" pitchFamily="49" charset="0"/>
              </a:rPr>
              <a:t>	</a:t>
            </a:r>
            <a:r>
              <a:rPr lang="it-IT" sz="2000" dirty="0" err="1">
                <a:latin typeface="Courier New" pitchFamily="49" charset="0"/>
              </a:rPr>
              <a:t>this.altezza</a:t>
            </a:r>
            <a:r>
              <a:rPr lang="it-IT" sz="2000" dirty="0">
                <a:latin typeface="Courier New" pitchFamily="49" charset="0"/>
              </a:rPr>
              <a:t> = a;</a:t>
            </a:r>
          </a:p>
          <a:p>
            <a:pPr>
              <a:spcBef>
                <a:spcPct val="50000"/>
              </a:spcBef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Rettangolo.numIstanze++;</a:t>
            </a:r>
          </a:p>
          <a:p>
            <a:pPr>
              <a:spcBef>
                <a:spcPct val="50000"/>
              </a:spcBef>
            </a:pPr>
            <a:r>
              <a:rPr lang="it-IT" sz="2000" dirty="0">
                <a:latin typeface="Courier New" pitchFamily="49" charset="0"/>
              </a:rPr>
              <a:t>} </a:t>
            </a:r>
          </a:p>
        </p:txBody>
      </p:sp>
      <p:sp>
        <p:nvSpPr>
          <p:cNvPr id="16" name="Text Box 38"/>
          <p:cNvSpPr txBox="1">
            <a:spLocks noChangeArrowheads="1"/>
          </p:cNvSpPr>
          <p:nvPr/>
        </p:nvSpPr>
        <p:spPr bwMode="auto">
          <a:xfrm>
            <a:off x="323528" y="2492896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400" dirty="0"/>
              <a:t>t</a:t>
            </a:r>
            <a:r>
              <a:rPr lang="it-IT" sz="2400" baseline="-25000" dirty="0"/>
              <a:t>0</a:t>
            </a:r>
          </a:p>
        </p:txBody>
      </p:sp>
      <p:sp>
        <p:nvSpPr>
          <p:cNvPr id="29" name="Text Box 34"/>
          <p:cNvSpPr txBox="1">
            <a:spLocks noChangeArrowheads="1"/>
          </p:cNvSpPr>
          <p:nvPr/>
        </p:nvSpPr>
        <p:spPr bwMode="auto">
          <a:xfrm>
            <a:off x="2987824" y="2492896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400" dirty="0"/>
              <a:t>t</a:t>
            </a:r>
            <a:r>
              <a:rPr lang="it-IT" sz="2400" baseline="-25000" dirty="0"/>
              <a:t>1</a:t>
            </a:r>
          </a:p>
        </p:txBody>
      </p:sp>
      <p:sp>
        <p:nvSpPr>
          <p:cNvPr id="39" name="Text Box 35"/>
          <p:cNvSpPr txBox="1">
            <a:spLocks noChangeArrowheads="1"/>
          </p:cNvSpPr>
          <p:nvPr/>
        </p:nvSpPr>
        <p:spPr bwMode="auto">
          <a:xfrm>
            <a:off x="5652120" y="2492896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sz="2400" dirty="0"/>
              <a:t>t</a:t>
            </a:r>
            <a:r>
              <a:rPr lang="it-IT" sz="2400" baseline="-25000" dirty="0"/>
              <a:t>2</a:t>
            </a:r>
          </a:p>
        </p:txBody>
      </p:sp>
      <p:grpSp>
        <p:nvGrpSpPr>
          <p:cNvPr id="4" name="Gruppo 94"/>
          <p:cNvGrpSpPr/>
          <p:nvPr/>
        </p:nvGrpSpPr>
        <p:grpSpPr>
          <a:xfrm>
            <a:off x="6516216" y="1340768"/>
            <a:ext cx="2458616" cy="1080120"/>
            <a:chOff x="6516216" y="1340768"/>
            <a:chExt cx="2458616" cy="1080120"/>
          </a:xfrm>
        </p:grpSpPr>
        <p:sp>
          <p:nvSpPr>
            <p:cNvPr id="69" name="Rectangle 5"/>
            <p:cNvSpPr>
              <a:spLocks noChangeArrowheads="1"/>
            </p:cNvSpPr>
            <p:nvPr/>
          </p:nvSpPr>
          <p:spPr bwMode="auto">
            <a:xfrm>
              <a:off x="6516216" y="1340768"/>
              <a:ext cx="2458616" cy="108012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70" name="Text Box 6"/>
            <p:cNvSpPr txBox="1">
              <a:spLocks noChangeArrowheads="1"/>
            </p:cNvSpPr>
            <p:nvPr/>
          </p:nvSpPr>
          <p:spPr bwMode="auto">
            <a:xfrm>
              <a:off x="6840134" y="1403175"/>
              <a:ext cx="1877144" cy="36933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it-IT" dirty="0"/>
                <a:t>Rettangolo</a:t>
              </a:r>
            </a:p>
          </p:txBody>
        </p:sp>
        <p:sp>
          <p:nvSpPr>
            <p:cNvPr id="71" name="Line 7"/>
            <p:cNvSpPr>
              <a:spLocks noChangeShapeType="1"/>
            </p:cNvSpPr>
            <p:nvPr/>
          </p:nvSpPr>
          <p:spPr bwMode="auto">
            <a:xfrm>
              <a:off x="6516216" y="1777617"/>
              <a:ext cx="24586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72" name="Line 8"/>
            <p:cNvSpPr>
              <a:spLocks noChangeShapeType="1"/>
            </p:cNvSpPr>
            <p:nvPr/>
          </p:nvSpPr>
          <p:spPr bwMode="auto">
            <a:xfrm>
              <a:off x="6516216" y="2276872"/>
              <a:ext cx="24586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73" name="Text Box 9"/>
            <p:cNvSpPr txBox="1">
              <a:spLocks noChangeArrowheads="1"/>
            </p:cNvSpPr>
            <p:nvPr/>
          </p:nvSpPr>
          <p:spPr bwMode="auto">
            <a:xfrm>
              <a:off x="6592060" y="1840023"/>
              <a:ext cx="2199482" cy="36933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 u="sng" dirty="0" err="1"/>
                <a:t>numIstanze</a:t>
              </a:r>
              <a:endParaRPr lang="it-IT" u="sng" dirty="0"/>
            </a:p>
          </p:txBody>
        </p:sp>
        <p:sp>
          <p:nvSpPr>
            <p:cNvPr id="74" name="Text Box 10"/>
            <p:cNvSpPr txBox="1">
              <a:spLocks noChangeArrowheads="1"/>
            </p:cNvSpPr>
            <p:nvPr/>
          </p:nvSpPr>
          <p:spPr bwMode="auto">
            <a:xfrm>
              <a:off x="8336477" y="1840023"/>
              <a:ext cx="530909" cy="36933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it-IT" b="1" dirty="0">
                  <a:solidFill>
                    <a:schemeClr val="accent1"/>
                  </a:solidFill>
                </a:rPr>
                <a:t>1</a:t>
              </a:r>
            </a:p>
          </p:txBody>
        </p:sp>
      </p:grpSp>
      <p:grpSp>
        <p:nvGrpSpPr>
          <p:cNvPr id="6" name="Gruppo 76"/>
          <p:cNvGrpSpPr/>
          <p:nvPr/>
        </p:nvGrpSpPr>
        <p:grpSpPr>
          <a:xfrm>
            <a:off x="2987824" y="2996952"/>
            <a:ext cx="2458616" cy="1440160"/>
            <a:chOff x="323528" y="2636912"/>
            <a:chExt cx="2458616" cy="1440160"/>
          </a:xfrm>
        </p:grpSpPr>
        <p:sp>
          <p:nvSpPr>
            <p:cNvPr id="78" name="Rectangle 5"/>
            <p:cNvSpPr>
              <a:spLocks noChangeArrowheads="1"/>
            </p:cNvSpPr>
            <p:nvPr/>
          </p:nvSpPr>
          <p:spPr bwMode="auto">
            <a:xfrm>
              <a:off x="323528" y="2636912"/>
              <a:ext cx="2458616" cy="1440160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79" name="Text Box 6"/>
            <p:cNvSpPr txBox="1">
              <a:spLocks noChangeArrowheads="1"/>
            </p:cNvSpPr>
            <p:nvPr/>
          </p:nvSpPr>
          <p:spPr bwMode="auto">
            <a:xfrm>
              <a:off x="647446" y="2699319"/>
              <a:ext cx="1877144" cy="369332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it-IT" u="sng" dirty="0"/>
                <a:t>…:Rettangolo</a:t>
              </a:r>
            </a:p>
          </p:txBody>
        </p:sp>
        <p:sp>
          <p:nvSpPr>
            <p:cNvPr id="80" name="Line 7"/>
            <p:cNvSpPr>
              <a:spLocks noChangeShapeType="1"/>
            </p:cNvSpPr>
            <p:nvPr/>
          </p:nvSpPr>
          <p:spPr bwMode="auto">
            <a:xfrm>
              <a:off x="323528" y="3073761"/>
              <a:ext cx="24586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81" name="Line 8"/>
            <p:cNvSpPr>
              <a:spLocks noChangeShapeType="1"/>
            </p:cNvSpPr>
            <p:nvPr/>
          </p:nvSpPr>
          <p:spPr bwMode="auto">
            <a:xfrm>
              <a:off x="323528" y="3885051"/>
              <a:ext cx="24586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82" name="Text Box 9"/>
            <p:cNvSpPr txBox="1">
              <a:spLocks noChangeArrowheads="1"/>
            </p:cNvSpPr>
            <p:nvPr/>
          </p:nvSpPr>
          <p:spPr bwMode="auto">
            <a:xfrm>
              <a:off x="399372" y="3136167"/>
              <a:ext cx="2199482" cy="300333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/>
                <a:t>double base</a:t>
              </a:r>
            </a:p>
          </p:txBody>
        </p:sp>
        <p:sp>
          <p:nvSpPr>
            <p:cNvPr id="83" name="Text Box 10"/>
            <p:cNvSpPr txBox="1">
              <a:spLocks noChangeArrowheads="1"/>
            </p:cNvSpPr>
            <p:nvPr/>
          </p:nvSpPr>
          <p:spPr bwMode="auto">
            <a:xfrm>
              <a:off x="2143789" y="3136167"/>
              <a:ext cx="530909" cy="36933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it-IT" dirty="0"/>
                <a:t>10</a:t>
              </a:r>
            </a:p>
          </p:txBody>
        </p:sp>
        <p:sp>
          <p:nvSpPr>
            <p:cNvPr id="84" name="Text Box 11"/>
            <p:cNvSpPr txBox="1">
              <a:spLocks noChangeArrowheads="1"/>
            </p:cNvSpPr>
            <p:nvPr/>
          </p:nvSpPr>
          <p:spPr bwMode="auto">
            <a:xfrm>
              <a:off x="2143789" y="3514510"/>
              <a:ext cx="530909" cy="308134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/>
                <a:t>0.0</a:t>
              </a:r>
            </a:p>
          </p:txBody>
        </p:sp>
        <p:sp>
          <p:nvSpPr>
            <p:cNvPr id="85" name="Text Box 13"/>
            <p:cNvSpPr txBox="1">
              <a:spLocks noChangeArrowheads="1"/>
            </p:cNvSpPr>
            <p:nvPr/>
          </p:nvSpPr>
          <p:spPr bwMode="auto">
            <a:xfrm>
              <a:off x="399372" y="3448202"/>
              <a:ext cx="1698594" cy="300333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/>
                <a:t>double altezza</a:t>
              </a:r>
            </a:p>
          </p:txBody>
        </p:sp>
      </p:grpSp>
      <p:grpSp>
        <p:nvGrpSpPr>
          <p:cNvPr id="17" name="Gruppo 85"/>
          <p:cNvGrpSpPr/>
          <p:nvPr/>
        </p:nvGrpSpPr>
        <p:grpSpPr>
          <a:xfrm>
            <a:off x="5652120" y="2996952"/>
            <a:ext cx="2458616" cy="1440160"/>
            <a:chOff x="323528" y="2636912"/>
            <a:chExt cx="2458616" cy="1440160"/>
          </a:xfrm>
        </p:grpSpPr>
        <p:sp>
          <p:nvSpPr>
            <p:cNvPr id="87" name="Rectangle 5"/>
            <p:cNvSpPr>
              <a:spLocks noChangeArrowheads="1"/>
            </p:cNvSpPr>
            <p:nvPr/>
          </p:nvSpPr>
          <p:spPr bwMode="auto">
            <a:xfrm>
              <a:off x="323528" y="2636912"/>
              <a:ext cx="2458616" cy="1440160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88" name="Text Box 6"/>
            <p:cNvSpPr txBox="1">
              <a:spLocks noChangeArrowheads="1"/>
            </p:cNvSpPr>
            <p:nvPr/>
          </p:nvSpPr>
          <p:spPr bwMode="auto">
            <a:xfrm>
              <a:off x="647446" y="2699319"/>
              <a:ext cx="1877144" cy="369332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it-IT" u="sng" dirty="0"/>
                <a:t>…:Rettangolo</a:t>
              </a:r>
            </a:p>
          </p:txBody>
        </p:sp>
        <p:sp>
          <p:nvSpPr>
            <p:cNvPr id="89" name="Line 7"/>
            <p:cNvSpPr>
              <a:spLocks noChangeShapeType="1"/>
            </p:cNvSpPr>
            <p:nvPr/>
          </p:nvSpPr>
          <p:spPr bwMode="auto">
            <a:xfrm>
              <a:off x="323528" y="3073761"/>
              <a:ext cx="24586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0" name="Line 8"/>
            <p:cNvSpPr>
              <a:spLocks noChangeShapeType="1"/>
            </p:cNvSpPr>
            <p:nvPr/>
          </p:nvSpPr>
          <p:spPr bwMode="auto">
            <a:xfrm>
              <a:off x="323528" y="3885051"/>
              <a:ext cx="24586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1" name="Text Box 9"/>
            <p:cNvSpPr txBox="1">
              <a:spLocks noChangeArrowheads="1"/>
            </p:cNvSpPr>
            <p:nvPr/>
          </p:nvSpPr>
          <p:spPr bwMode="auto">
            <a:xfrm>
              <a:off x="399372" y="3136167"/>
              <a:ext cx="2199482" cy="300333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/>
                <a:t>double base</a:t>
              </a:r>
            </a:p>
          </p:txBody>
        </p:sp>
        <p:sp>
          <p:nvSpPr>
            <p:cNvPr id="92" name="Text Box 10"/>
            <p:cNvSpPr txBox="1">
              <a:spLocks noChangeArrowheads="1"/>
            </p:cNvSpPr>
            <p:nvPr/>
          </p:nvSpPr>
          <p:spPr bwMode="auto">
            <a:xfrm>
              <a:off x="2143789" y="3136167"/>
              <a:ext cx="530909" cy="36933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it-IT" dirty="0"/>
                <a:t>10</a:t>
              </a:r>
            </a:p>
          </p:txBody>
        </p:sp>
        <p:sp>
          <p:nvSpPr>
            <p:cNvPr id="93" name="Text Box 11"/>
            <p:cNvSpPr txBox="1">
              <a:spLocks noChangeArrowheads="1"/>
            </p:cNvSpPr>
            <p:nvPr/>
          </p:nvSpPr>
          <p:spPr bwMode="auto">
            <a:xfrm>
              <a:off x="2143789" y="3514510"/>
              <a:ext cx="530909" cy="36933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it-IT" dirty="0"/>
                <a:t>20</a:t>
              </a:r>
            </a:p>
          </p:txBody>
        </p:sp>
        <p:sp>
          <p:nvSpPr>
            <p:cNvPr id="94" name="Text Box 13"/>
            <p:cNvSpPr txBox="1">
              <a:spLocks noChangeArrowheads="1"/>
            </p:cNvSpPr>
            <p:nvPr/>
          </p:nvSpPr>
          <p:spPr bwMode="auto">
            <a:xfrm>
              <a:off x="399372" y="3448202"/>
              <a:ext cx="1698594" cy="300333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it-IT"/>
                <a:t>double altezza</a:t>
              </a:r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Il metodo perimetro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Dobbiamo ora scrivere gli altri metodi della classe; cominciamo dal metodo che calcola e restituisce il perimetro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</a:rPr>
              <a:t>	</a:t>
            </a:r>
            <a:r>
              <a:rPr lang="it-IT" sz="2400" dirty="0">
                <a:latin typeface="Courier New" pitchFamily="49" charset="0"/>
              </a:rPr>
              <a:t>public </a:t>
            </a:r>
            <a:r>
              <a:rPr lang="it-IT" sz="2400" dirty="0" err="1">
                <a:latin typeface="Courier New" pitchFamily="49" charset="0"/>
              </a:rPr>
              <a:t>double</a:t>
            </a:r>
            <a:r>
              <a:rPr lang="it-IT" sz="2400" dirty="0">
                <a:latin typeface="Courier New" pitchFamily="49" charset="0"/>
              </a:rPr>
              <a:t> perimetro () {</a:t>
            </a:r>
          </a:p>
          <a:p>
            <a:pPr>
              <a:buNone/>
            </a:pPr>
            <a:r>
              <a:rPr lang="it-IT" sz="2400" dirty="0">
                <a:latin typeface="Courier New" pitchFamily="49" charset="0"/>
              </a:rPr>
              <a:t>		</a:t>
            </a:r>
            <a:r>
              <a:rPr lang="it-IT" sz="2400" dirty="0" err="1">
                <a:latin typeface="Courier New" pitchFamily="49" charset="0"/>
              </a:rPr>
              <a:t>double</a:t>
            </a:r>
            <a:r>
              <a:rPr lang="it-IT" sz="2400" dirty="0">
                <a:latin typeface="Courier New" pitchFamily="49" charset="0"/>
              </a:rPr>
              <a:t> p;</a:t>
            </a:r>
          </a:p>
          <a:p>
            <a:pPr>
              <a:buNone/>
            </a:pPr>
            <a:r>
              <a:rPr lang="it-IT" sz="2400" dirty="0">
                <a:latin typeface="Courier New" pitchFamily="49" charset="0"/>
              </a:rPr>
              <a:t>		p = (</a:t>
            </a:r>
            <a:r>
              <a:rPr lang="it-IT" sz="2400" dirty="0" err="1">
                <a:latin typeface="Courier New" pitchFamily="49" charset="0"/>
              </a:rPr>
              <a:t>this.base</a:t>
            </a:r>
            <a:r>
              <a:rPr lang="it-IT" sz="2400" dirty="0">
                <a:latin typeface="Courier New" pitchFamily="49" charset="0"/>
              </a:rPr>
              <a:t> + </a:t>
            </a:r>
            <a:r>
              <a:rPr lang="it-IT" sz="2400" dirty="0" err="1">
                <a:latin typeface="Courier New" pitchFamily="49" charset="0"/>
              </a:rPr>
              <a:t>this.altezza</a:t>
            </a:r>
            <a:r>
              <a:rPr lang="it-IT" sz="2400" dirty="0">
                <a:latin typeface="Courier New" pitchFamily="49" charset="0"/>
              </a:rPr>
              <a:t>)*2;</a:t>
            </a:r>
          </a:p>
          <a:p>
            <a:pPr>
              <a:buNone/>
            </a:pPr>
            <a:r>
              <a:rPr lang="it-IT" sz="2400" dirty="0">
                <a:latin typeface="Courier New" pitchFamily="49" charset="0"/>
              </a:rPr>
              <a:t>		</a:t>
            </a:r>
            <a:r>
              <a:rPr lang="it-IT" sz="2400" dirty="0" err="1">
                <a:latin typeface="Courier New" pitchFamily="49" charset="0"/>
              </a:rPr>
              <a:t>return</a:t>
            </a:r>
            <a:r>
              <a:rPr lang="it-IT" sz="2400" dirty="0">
                <a:latin typeface="Courier New" pitchFamily="49" charset="0"/>
              </a:rPr>
              <a:t> p;</a:t>
            </a:r>
            <a:r>
              <a:rPr lang="it-IT" sz="2400" b="1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br>
              <a:rPr lang="it-IT" sz="2400" dirty="0">
                <a:latin typeface="Courier New" pitchFamily="49" charset="0"/>
              </a:rPr>
            </a:br>
            <a:r>
              <a:rPr lang="it-IT" sz="2400" dirty="0">
                <a:latin typeface="Courier New" pitchFamily="49" charset="0"/>
              </a:rPr>
              <a:t>}</a:t>
            </a:r>
          </a:p>
          <a:p>
            <a:r>
              <a:rPr lang="it-IT" dirty="0"/>
              <a:t>Discutiamo nel seguito il codice del metodo</a:t>
            </a:r>
          </a:p>
          <a:p>
            <a:pPr>
              <a:buNone/>
            </a:pPr>
            <a:endParaRPr lang="it-IT" sz="2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Dichiarazione del metodo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it-IT" b="1" dirty="0">
                <a:solidFill>
                  <a:srgbClr val="0000FF"/>
                </a:solidFill>
                <a:latin typeface="Courier New" pitchFamily="49" charset="0"/>
              </a:rPr>
              <a:t>	</a:t>
            </a:r>
            <a:r>
              <a:rPr lang="it-IT" sz="2400" b="1" dirty="0">
                <a:solidFill>
                  <a:srgbClr val="0000FF"/>
                </a:solidFill>
                <a:latin typeface="Courier New" pitchFamily="49" charset="0"/>
              </a:rPr>
              <a:t>public</a:t>
            </a:r>
            <a:r>
              <a:rPr lang="it-IT" sz="2400" dirty="0">
                <a:latin typeface="Courier New" pitchFamily="49" charset="0"/>
              </a:rPr>
              <a:t> </a:t>
            </a:r>
            <a:r>
              <a:rPr lang="it-IT" sz="2400" dirty="0" err="1">
                <a:latin typeface="Courier New" pitchFamily="49" charset="0"/>
              </a:rPr>
              <a:t>double</a:t>
            </a:r>
            <a:r>
              <a:rPr lang="it-IT" sz="2400" dirty="0">
                <a:latin typeface="Courier New" pitchFamily="49" charset="0"/>
              </a:rPr>
              <a:t> perimetro () {</a:t>
            </a:r>
          </a:p>
          <a:p>
            <a:pPr>
              <a:buNone/>
            </a:pPr>
            <a:r>
              <a:rPr lang="it-IT" sz="2400" dirty="0">
                <a:latin typeface="Courier New" pitchFamily="49" charset="0"/>
              </a:rPr>
              <a:t>		</a:t>
            </a:r>
            <a:r>
              <a:rPr lang="it-IT" sz="2400" dirty="0" err="1">
                <a:latin typeface="Courier New" pitchFamily="49" charset="0"/>
              </a:rPr>
              <a:t>double</a:t>
            </a:r>
            <a:r>
              <a:rPr lang="it-IT" sz="2400" dirty="0">
                <a:latin typeface="Courier New" pitchFamily="49" charset="0"/>
              </a:rPr>
              <a:t> p;</a:t>
            </a:r>
          </a:p>
          <a:p>
            <a:pPr>
              <a:buNone/>
            </a:pPr>
            <a:r>
              <a:rPr lang="it-IT" sz="2400" dirty="0">
                <a:latin typeface="Courier New" pitchFamily="49" charset="0"/>
              </a:rPr>
              <a:t>		p = (</a:t>
            </a:r>
            <a:r>
              <a:rPr lang="it-IT" sz="2400" dirty="0" err="1">
                <a:latin typeface="Courier New" pitchFamily="49" charset="0"/>
              </a:rPr>
              <a:t>this.base</a:t>
            </a:r>
            <a:r>
              <a:rPr lang="it-IT" sz="2400" dirty="0">
                <a:latin typeface="Courier New" pitchFamily="49" charset="0"/>
              </a:rPr>
              <a:t> + </a:t>
            </a:r>
            <a:r>
              <a:rPr lang="it-IT" sz="2400" dirty="0" err="1">
                <a:latin typeface="Courier New" pitchFamily="49" charset="0"/>
              </a:rPr>
              <a:t>this.altezza</a:t>
            </a:r>
            <a:r>
              <a:rPr lang="it-IT" sz="2400" dirty="0">
                <a:latin typeface="Courier New" pitchFamily="49" charset="0"/>
              </a:rPr>
              <a:t>)*2;</a:t>
            </a:r>
          </a:p>
          <a:p>
            <a:pPr>
              <a:buNone/>
            </a:pPr>
            <a:r>
              <a:rPr lang="it-IT" sz="2400" dirty="0">
                <a:latin typeface="Courier New" pitchFamily="49" charset="0"/>
              </a:rPr>
              <a:t>		</a:t>
            </a:r>
            <a:r>
              <a:rPr lang="it-IT" sz="2400" dirty="0" err="1">
                <a:latin typeface="Courier New" pitchFamily="49" charset="0"/>
              </a:rPr>
              <a:t>return</a:t>
            </a:r>
            <a:r>
              <a:rPr lang="it-IT" sz="2400" dirty="0">
                <a:latin typeface="Courier New" pitchFamily="49" charset="0"/>
              </a:rPr>
              <a:t> p;</a:t>
            </a:r>
            <a:r>
              <a:rPr lang="it-IT" sz="2400" b="1" dirty="0">
                <a:solidFill>
                  <a:srgbClr val="0000FF"/>
                </a:solidFill>
                <a:latin typeface="Courier New" pitchFamily="49" charset="0"/>
              </a:rPr>
              <a:t> </a:t>
            </a:r>
            <a:endParaRPr lang="it-IT" sz="2400" dirty="0">
              <a:latin typeface="Courier New" pitchFamily="49" charset="0"/>
            </a:endParaRPr>
          </a:p>
          <a:p>
            <a:pPr>
              <a:buNone/>
            </a:pPr>
            <a:r>
              <a:rPr lang="it-IT" sz="2400" dirty="0">
                <a:latin typeface="Courier New" pitchFamily="49" charset="0"/>
              </a:rPr>
              <a:t>	}</a:t>
            </a:r>
          </a:p>
          <a:p>
            <a:r>
              <a:rPr lang="it-IT" dirty="0"/>
              <a:t>Come per il costruttore, anche per dichiarare gli altri metodi usiamo la parola </a:t>
            </a:r>
            <a:r>
              <a:rPr lang="it-IT" i="1" dirty="0">
                <a:solidFill>
                  <a:schemeClr val="accent2"/>
                </a:solidFill>
              </a:rPr>
              <a:t>public</a:t>
            </a:r>
            <a:r>
              <a:rPr lang="it-IT" dirty="0"/>
              <a:t>; essa indica che i metodi potranno essere invocati da qualunque altro metodo (anche esterno alla classe </a:t>
            </a:r>
            <a:r>
              <a:rPr lang="it-IT" i="1" dirty="0">
                <a:solidFill>
                  <a:schemeClr val="accent2"/>
                </a:solidFill>
              </a:rPr>
              <a:t>Rettangolo</a:t>
            </a:r>
            <a:r>
              <a:rPr lang="it-IT" dirty="0"/>
              <a:t>)</a:t>
            </a:r>
          </a:p>
          <a:p>
            <a:endParaRPr lang="it-IT" sz="2400" dirty="0">
              <a:latin typeface="Courier New" pitchFamily="49" charset="0"/>
            </a:endParaRPr>
          </a:p>
          <a:p>
            <a:pPr>
              <a:buNone/>
            </a:pPr>
            <a:endParaRPr lang="it-IT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Variabili locali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it-IT" sz="2400" dirty="0">
                <a:latin typeface="Courier New" pitchFamily="49" charset="0"/>
              </a:rPr>
              <a:t>	public </a:t>
            </a:r>
            <a:r>
              <a:rPr lang="it-IT" sz="2400" dirty="0" err="1">
                <a:latin typeface="Courier New" pitchFamily="49" charset="0"/>
              </a:rPr>
              <a:t>double</a:t>
            </a:r>
            <a:r>
              <a:rPr lang="it-IT" sz="2400" dirty="0">
                <a:latin typeface="Courier New" pitchFamily="49" charset="0"/>
              </a:rPr>
              <a:t> perimetro () {</a:t>
            </a:r>
          </a:p>
          <a:p>
            <a:pPr>
              <a:buNone/>
            </a:pPr>
            <a:r>
              <a:rPr lang="it-IT" sz="2400" b="1" dirty="0">
                <a:solidFill>
                  <a:srgbClr val="0000FF"/>
                </a:solidFill>
                <a:latin typeface="Courier New" pitchFamily="49" charset="0"/>
              </a:rPr>
              <a:t>		</a:t>
            </a:r>
            <a:r>
              <a:rPr lang="it-IT" sz="2400" b="1" dirty="0" err="1">
                <a:solidFill>
                  <a:srgbClr val="0000FF"/>
                </a:solidFill>
                <a:latin typeface="Courier New" pitchFamily="49" charset="0"/>
              </a:rPr>
              <a:t>double</a:t>
            </a:r>
            <a:r>
              <a:rPr lang="it-IT" sz="2400" b="1" dirty="0">
                <a:solidFill>
                  <a:srgbClr val="0000FF"/>
                </a:solidFill>
                <a:latin typeface="Courier New" pitchFamily="49" charset="0"/>
              </a:rPr>
              <a:t> p;</a:t>
            </a:r>
            <a:endParaRPr lang="it-IT" sz="2400" dirty="0">
              <a:latin typeface="Courier New" pitchFamily="49" charset="0"/>
            </a:endParaRPr>
          </a:p>
          <a:p>
            <a:pPr>
              <a:buNone/>
            </a:pPr>
            <a:r>
              <a:rPr lang="it-IT" sz="2400" dirty="0">
                <a:latin typeface="Courier New" pitchFamily="49" charset="0"/>
              </a:rPr>
              <a:t>		p = (</a:t>
            </a:r>
            <a:r>
              <a:rPr lang="it-IT" sz="2400" dirty="0" err="1">
                <a:latin typeface="Courier New" pitchFamily="49" charset="0"/>
              </a:rPr>
              <a:t>this.base</a:t>
            </a:r>
            <a:r>
              <a:rPr lang="it-IT" sz="2400" dirty="0">
                <a:latin typeface="Courier New" pitchFamily="49" charset="0"/>
              </a:rPr>
              <a:t> + </a:t>
            </a:r>
            <a:r>
              <a:rPr lang="it-IT" sz="2400" dirty="0" err="1">
                <a:latin typeface="Courier New" pitchFamily="49" charset="0"/>
              </a:rPr>
              <a:t>this.altezza</a:t>
            </a:r>
            <a:r>
              <a:rPr lang="it-IT" sz="2400" dirty="0">
                <a:latin typeface="Courier New" pitchFamily="49" charset="0"/>
              </a:rPr>
              <a:t>)*2;</a:t>
            </a:r>
          </a:p>
          <a:p>
            <a:pPr>
              <a:buNone/>
            </a:pPr>
            <a:r>
              <a:rPr lang="it-IT" sz="2400" dirty="0">
                <a:latin typeface="Courier New" pitchFamily="49" charset="0"/>
              </a:rPr>
              <a:t>		</a:t>
            </a:r>
            <a:r>
              <a:rPr lang="it-IT" sz="2400" dirty="0" err="1">
                <a:latin typeface="Courier New" pitchFamily="49" charset="0"/>
              </a:rPr>
              <a:t>return</a:t>
            </a:r>
            <a:r>
              <a:rPr lang="it-IT" sz="2400" dirty="0">
                <a:latin typeface="Courier New" pitchFamily="49" charset="0"/>
              </a:rPr>
              <a:t> p;</a:t>
            </a:r>
            <a:endParaRPr lang="it-IT" sz="2400" b="1" dirty="0">
              <a:solidFill>
                <a:srgbClr val="0000FF"/>
              </a:solidFill>
              <a:latin typeface="Courier New" pitchFamily="49" charset="0"/>
            </a:endParaRPr>
          </a:p>
          <a:p>
            <a:pPr>
              <a:buNone/>
            </a:pPr>
            <a:r>
              <a:rPr lang="it-IT" sz="2400" b="1" dirty="0">
                <a:solidFill>
                  <a:srgbClr val="0000FF"/>
                </a:solidFill>
                <a:latin typeface="Courier New" pitchFamily="49" charset="0"/>
              </a:rPr>
              <a:t>	</a:t>
            </a:r>
            <a:r>
              <a:rPr lang="it-IT" sz="2400" dirty="0">
                <a:latin typeface="Courier New" pitchFamily="49" charset="0"/>
              </a:rPr>
              <a:t>}</a:t>
            </a:r>
          </a:p>
          <a:p>
            <a:pPr>
              <a:spcBef>
                <a:spcPct val="50000"/>
              </a:spcBef>
              <a:defRPr/>
            </a:pPr>
            <a:r>
              <a:rPr lang="it-IT" dirty="0"/>
              <a:t>L’istruzione </a:t>
            </a:r>
            <a:r>
              <a:rPr lang="it-IT" i="1" dirty="0" err="1">
                <a:solidFill>
                  <a:schemeClr val="accent2"/>
                </a:solidFill>
              </a:rPr>
              <a:t>double</a:t>
            </a:r>
            <a:r>
              <a:rPr lang="it-IT" i="1" dirty="0">
                <a:solidFill>
                  <a:schemeClr val="accent2"/>
                </a:solidFill>
              </a:rPr>
              <a:t> p</a:t>
            </a:r>
            <a:r>
              <a:rPr lang="it-IT" dirty="0"/>
              <a:t> dichiara una variabile di nome </a:t>
            </a:r>
            <a:r>
              <a:rPr lang="it-IT" i="1" dirty="0">
                <a:solidFill>
                  <a:schemeClr val="accent2"/>
                </a:solidFill>
              </a:rPr>
              <a:t>p</a:t>
            </a:r>
            <a:r>
              <a:rPr lang="it-IT" dirty="0"/>
              <a:t> e di tipo </a:t>
            </a:r>
            <a:r>
              <a:rPr lang="it-IT" i="1" dirty="0" err="1">
                <a:solidFill>
                  <a:schemeClr val="accent2"/>
                </a:solidFill>
              </a:rPr>
              <a:t>double</a:t>
            </a:r>
            <a:r>
              <a:rPr lang="it-IT" dirty="0"/>
              <a:t>; essa verrà usata nel metodo per memorizzare il valore del perimetro; la variabile </a:t>
            </a:r>
            <a:r>
              <a:rPr lang="it-IT" i="1" dirty="0">
                <a:solidFill>
                  <a:schemeClr val="accent2"/>
                </a:solidFill>
              </a:rPr>
              <a:t>p</a:t>
            </a:r>
            <a:r>
              <a:rPr lang="it-IT" dirty="0"/>
              <a:t> è una </a:t>
            </a:r>
            <a:r>
              <a:rPr lang="it-IT" i="1" dirty="0">
                <a:solidFill>
                  <a:schemeClr val="accent2"/>
                </a:solidFill>
              </a:rPr>
              <a:t>variabile locale</a:t>
            </a:r>
            <a:endParaRPr lang="it-IT" sz="2400" i="1" dirty="0">
              <a:solidFill>
                <a:schemeClr val="accent2"/>
              </a:solidFill>
              <a:latin typeface="Courier New" pitchFamily="49" charset="0"/>
            </a:endParaRPr>
          </a:p>
          <a:p>
            <a:pPr>
              <a:buNone/>
            </a:pPr>
            <a:endParaRPr lang="it-IT" sz="2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Valore iniziale per le variabili locali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it-IT" sz="2400" dirty="0">
                <a:latin typeface="Courier New" pitchFamily="49" charset="0"/>
              </a:rPr>
              <a:t>	public </a:t>
            </a:r>
            <a:r>
              <a:rPr lang="it-IT" sz="2400" dirty="0" err="1">
                <a:latin typeface="Courier New" pitchFamily="49" charset="0"/>
              </a:rPr>
              <a:t>double</a:t>
            </a:r>
            <a:r>
              <a:rPr lang="it-IT" sz="2400" dirty="0">
                <a:latin typeface="Courier New" pitchFamily="49" charset="0"/>
              </a:rPr>
              <a:t> perimetro () {</a:t>
            </a:r>
          </a:p>
          <a:p>
            <a:pPr>
              <a:buNone/>
            </a:pPr>
            <a:r>
              <a:rPr lang="it-IT" sz="2400" b="1" dirty="0">
                <a:solidFill>
                  <a:srgbClr val="0000FF"/>
                </a:solidFill>
                <a:latin typeface="Courier New" pitchFamily="49" charset="0"/>
              </a:rPr>
              <a:t>		</a:t>
            </a:r>
            <a:r>
              <a:rPr lang="it-IT" sz="2400" b="1" dirty="0" err="1">
                <a:solidFill>
                  <a:srgbClr val="0000FF"/>
                </a:solidFill>
                <a:latin typeface="Courier New" pitchFamily="49" charset="0"/>
              </a:rPr>
              <a:t>double</a:t>
            </a:r>
            <a:r>
              <a:rPr lang="it-IT" sz="2400" b="1" dirty="0">
                <a:solidFill>
                  <a:srgbClr val="0000FF"/>
                </a:solidFill>
                <a:latin typeface="Courier New" pitchFamily="49" charset="0"/>
              </a:rPr>
              <a:t> p;</a:t>
            </a:r>
            <a:endParaRPr lang="it-IT" sz="2400" dirty="0">
              <a:latin typeface="Courier New" pitchFamily="49" charset="0"/>
            </a:endParaRPr>
          </a:p>
          <a:p>
            <a:pPr>
              <a:buNone/>
            </a:pPr>
            <a:r>
              <a:rPr lang="it-IT" sz="2400" dirty="0">
                <a:latin typeface="Courier New" pitchFamily="49" charset="0"/>
              </a:rPr>
              <a:t>		p = (</a:t>
            </a:r>
            <a:r>
              <a:rPr lang="it-IT" sz="2400" dirty="0" err="1">
                <a:latin typeface="Courier New" pitchFamily="49" charset="0"/>
              </a:rPr>
              <a:t>this.base</a:t>
            </a:r>
            <a:r>
              <a:rPr lang="it-IT" sz="2400" dirty="0">
                <a:latin typeface="Courier New" pitchFamily="49" charset="0"/>
              </a:rPr>
              <a:t> + </a:t>
            </a:r>
            <a:r>
              <a:rPr lang="it-IT" sz="2400" dirty="0" err="1">
                <a:latin typeface="Courier New" pitchFamily="49" charset="0"/>
              </a:rPr>
              <a:t>this.altezza</a:t>
            </a:r>
            <a:r>
              <a:rPr lang="it-IT" sz="2400" dirty="0">
                <a:latin typeface="Courier New" pitchFamily="49" charset="0"/>
              </a:rPr>
              <a:t>)*2;</a:t>
            </a:r>
          </a:p>
          <a:p>
            <a:pPr>
              <a:buNone/>
            </a:pPr>
            <a:r>
              <a:rPr lang="it-IT" sz="2400" dirty="0">
                <a:latin typeface="Courier New" pitchFamily="49" charset="0"/>
              </a:rPr>
              <a:t>		</a:t>
            </a:r>
            <a:r>
              <a:rPr lang="it-IT" sz="2400" dirty="0" err="1">
                <a:latin typeface="Courier New" pitchFamily="49" charset="0"/>
              </a:rPr>
              <a:t>return</a:t>
            </a:r>
            <a:r>
              <a:rPr lang="it-IT" sz="2400" dirty="0">
                <a:latin typeface="Courier New" pitchFamily="49" charset="0"/>
              </a:rPr>
              <a:t> p;</a:t>
            </a:r>
          </a:p>
          <a:p>
            <a:pPr>
              <a:buNone/>
            </a:pPr>
            <a:r>
              <a:rPr lang="it-IT" sz="2400" dirty="0">
                <a:latin typeface="Courier New" pitchFamily="49" charset="0"/>
              </a:rPr>
              <a:t>	}</a:t>
            </a:r>
          </a:p>
          <a:p>
            <a:r>
              <a:rPr lang="it-IT" dirty="0"/>
              <a:t>A differenza delle variabili di istanza, una variabile locale appena dichiarata non ha alcun valore di default associato</a:t>
            </a:r>
          </a:p>
          <a:p>
            <a:r>
              <a:rPr lang="it-IT" dirty="0"/>
              <a:t>Quando si accede ad una variabile locale per la prima volta, ad essa deve essere già stato assegnato un valore, altrimenti il compilatore segnala un errore!</a:t>
            </a:r>
          </a:p>
          <a:p>
            <a:endParaRPr lang="it-IT" dirty="0"/>
          </a:p>
          <a:p>
            <a:pPr>
              <a:buNone/>
            </a:pPr>
            <a:endParaRPr lang="it-IT" sz="2400" dirty="0">
              <a:latin typeface="Courier New" pitchFamily="49" charset="0"/>
            </a:endParaRPr>
          </a:p>
          <a:p>
            <a:pPr>
              <a:buNone/>
            </a:pPr>
            <a:endParaRPr lang="it-IT" sz="24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Calcolo del perimetro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it-IT" sz="2400" dirty="0">
                <a:latin typeface="Courier New" pitchFamily="49" charset="0"/>
              </a:rPr>
              <a:t>	public </a:t>
            </a:r>
            <a:r>
              <a:rPr lang="it-IT" sz="2400" dirty="0" err="1">
                <a:latin typeface="Courier New" pitchFamily="49" charset="0"/>
              </a:rPr>
              <a:t>double</a:t>
            </a:r>
            <a:r>
              <a:rPr lang="it-IT" sz="2400" dirty="0">
                <a:latin typeface="Courier New" pitchFamily="49" charset="0"/>
              </a:rPr>
              <a:t> perimetro () {</a:t>
            </a:r>
          </a:p>
          <a:p>
            <a:pPr>
              <a:buNone/>
            </a:pPr>
            <a:r>
              <a:rPr lang="it-IT" sz="2400" dirty="0">
                <a:latin typeface="Courier New" pitchFamily="49" charset="0"/>
              </a:rPr>
              <a:t>		</a:t>
            </a:r>
            <a:r>
              <a:rPr lang="it-IT" sz="2400" dirty="0" err="1">
                <a:latin typeface="Courier New" pitchFamily="49" charset="0"/>
              </a:rPr>
              <a:t>double</a:t>
            </a:r>
            <a:r>
              <a:rPr lang="it-IT" sz="2400" dirty="0">
                <a:latin typeface="Courier New" pitchFamily="49" charset="0"/>
              </a:rPr>
              <a:t> p;</a:t>
            </a:r>
          </a:p>
          <a:p>
            <a:pPr>
              <a:buNone/>
            </a:pPr>
            <a:r>
              <a:rPr lang="it-IT" sz="2400" b="1" dirty="0">
                <a:solidFill>
                  <a:srgbClr val="0000FF"/>
                </a:solidFill>
                <a:latin typeface="Courier New" pitchFamily="49" charset="0"/>
              </a:rPr>
              <a:t>		p = (</a:t>
            </a:r>
            <a:r>
              <a:rPr lang="it-IT" sz="2400" b="1" dirty="0" err="1">
                <a:solidFill>
                  <a:srgbClr val="0000FF"/>
                </a:solidFill>
                <a:latin typeface="Courier New" pitchFamily="49" charset="0"/>
              </a:rPr>
              <a:t>this.base</a:t>
            </a:r>
            <a:r>
              <a:rPr lang="it-IT" sz="2400" b="1" dirty="0">
                <a:solidFill>
                  <a:srgbClr val="0000FF"/>
                </a:solidFill>
                <a:latin typeface="Courier New" pitchFamily="49" charset="0"/>
              </a:rPr>
              <a:t> + </a:t>
            </a:r>
            <a:r>
              <a:rPr lang="it-IT" sz="2400" b="1" dirty="0" err="1">
                <a:solidFill>
                  <a:srgbClr val="0000FF"/>
                </a:solidFill>
                <a:latin typeface="Courier New" pitchFamily="49" charset="0"/>
              </a:rPr>
              <a:t>this.altezza</a:t>
            </a:r>
            <a:r>
              <a:rPr lang="it-IT" sz="2400" b="1" dirty="0">
                <a:solidFill>
                  <a:srgbClr val="0000FF"/>
                </a:solidFill>
                <a:latin typeface="Courier New" pitchFamily="49" charset="0"/>
              </a:rPr>
              <a:t>)*2;</a:t>
            </a:r>
          </a:p>
          <a:p>
            <a:pPr>
              <a:buNone/>
            </a:pPr>
            <a:r>
              <a:rPr lang="it-IT" sz="2400" b="1" dirty="0">
                <a:solidFill>
                  <a:srgbClr val="0000FF"/>
                </a:solidFill>
                <a:latin typeface="Courier New" pitchFamily="49" charset="0"/>
              </a:rPr>
              <a:t>		</a:t>
            </a:r>
            <a:r>
              <a:rPr lang="it-IT" sz="2400" dirty="0" err="1">
                <a:latin typeface="Courier New" pitchFamily="49" charset="0"/>
              </a:rPr>
              <a:t>return</a:t>
            </a:r>
            <a:r>
              <a:rPr lang="it-IT" sz="2400" dirty="0">
                <a:latin typeface="Courier New" pitchFamily="49" charset="0"/>
              </a:rPr>
              <a:t> p;</a:t>
            </a:r>
            <a:endParaRPr lang="it-IT" sz="2400" b="1" dirty="0">
              <a:solidFill>
                <a:srgbClr val="0000FF"/>
              </a:solidFill>
              <a:latin typeface="Courier New" pitchFamily="49" charset="0"/>
            </a:endParaRPr>
          </a:p>
          <a:p>
            <a:pPr>
              <a:buNone/>
            </a:pPr>
            <a:r>
              <a:rPr lang="it-IT" sz="2400" b="1" dirty="0">
                <a:solidFill>
                  <a:srgbClr val="0000FF"/>
                </a:solidFill>
                <a:latin typeface="Courier New" pitchFamily="49" charset="0"/>
              </a:rPr>
              <a:t>	</a:t>
            </a:r>
            <a:r>
              <a:rPr lang="it-IT" sz="2400" dirty="0">
                <a:latin typeface="Courier New" pitchFamily="49" charset="0"/>
              </a:rPr>
              <a:t>}</a:t>
            </a:r>
          </a:p>
          <a:p>
            <a:pPr>
              <a:spcBef>
                <a:spcPct val="50000"/>
              </a:spcBef>
              <a:defRPr/>
            </a:pPr>
            <a:r>
              <a:rPr lang="it-IT" dirty="0"/>
              <a:t>L’espressione </a:t>
            </a:r>
            <a:r>
              <a:rPr lang="it-IT" i="1" dirty="0">
                <a:solidFill>
                  <a:schemeClr val="accent2"/>
                </a:solidFill>
              </a:rPr>
              <a:t>(</a:t>
            </a:r>
            <a:r>
              <a:rPr lang="it-IT" i="1" dirty="0" err="1">
                <a:solidFill>
                  <a:schemeClr val="accent2"/>
                </a:solidFill>
              </a:rPr>
              <a:t>this.base</a:t>
            </a:r>
            <a:r>
              <a:rPr lang="it-IT" i="1" dirty="0">
                <a:solidFill>
                  <a:schemeClr val="accent2"/>
                </a:solidFill>
              </a:rPr>
              <a:t> + </a:t>
            </a:r>
            <a:r>
              <a:rPr lang="it-IT" i="1" dirty="0" err="1">
                <a:solidFill>
                  <a:schemeClr val="accent2"/>
                </a:solidFill>
              </a:rPr>
              <a:t>this.altezza</a:t>
            </a:r>
            <a:r>
              <a:rPr lang="it-IT" i="1" dirty="0">
                <a:solidFill>
                  <a:schemeClr val="accent2"/>
                </a:solidFill>
              </a:rPr>
              <a:t>)*2 </a:t>
            </a:r>
            <a:r>
              <a:rPr lang="it-IT" dirty="0"/>
              <a:t>calcola il valore del perimetro, usando i valori contenuti nelle variabili di istanza</a:t>
            </a:r>
          </a:p>
          <a:p>
            <a:pPr>
              <a:spcBef>
                <a:spcPct val="50000"/>
              </a:spcBef>
              <a:defRPr/>
            </a:pPr>
            <a:r>
              <a:rPr lang="it-IT" dirty="0"/>
              <a:t>Il valore dell’espressione è poi assegnato alla variabile </a:t>
            </a:r>
            <a:r>
              <a:rPr lang="it-IT" i="1" dirty="0">
                <a:solidFill>
                  <a:schemeClr val="accent2"/>
                </a:solidFill>
              </a:rPr>
              <a:t>p</a:t>
            </a:r>
          </a:p>
          <a:p>
            <a:endParaRPr lang="it-IT" sz="24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Restituzione del perimetro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it-IT" sz="2400" dirty="0">
                <a:latin typeface="Courier New" pitchFamily="49" charset="0"/>
              </a:rPr>
              <a:t>	public </a:t>
            </a:r>
            <a:r>
              <a:rPr lang="it-IT" sz="2400" dirty="0" err="1">
                <a:latin typeface="Courier New" pitchFamily="49" charset="0"/>
              </a:rPr>
              <a:t>double</a:t>
            </a:r>
            <a:r>
              <a:rPr lang="it-IT" sz="2400" dirty="0">
                <a:latin typeface="Courier New" pitchFamily="49" charset="0"/>
              </a:rPr>
              <a:t> perimetro () {</a:t>
            </a:r>
          </a:p>
          <a:p>
            <a:pPr>
              <a:buNone/>
            </a:pPr>
            <a:r>
              <a:rPr lang="it-IT" sz="2400" dirty="0">
                <a:latin typeface="Courier New" pitchFamily="49" charset="0"/>
              </a:rPr>
              <a:t>		</a:t>
            </a:r>
            <a:r>
              <a:rPr lang="it-IT" sz="2400" dirty="0" err="1">
                <a:latin typeface="Courier New" pitchFamily="49" charset="0"/>
              </a:rPr>
              <a:t>double</a:t>
            </a:r>
            <a:r>
              <a:rPr lang="it-IT" sz="2400" dirty="0">
                <a:latin typeface="Courier New" pitchFamily="49" charset="0"/>
              </a:rPr>
              <a:t> p;</a:t>
            </a:r>
          </a:p>
          <a:p>
            <a:pPr>
              <a:buNone/>
            </a:pPr>
            <a:r>
              <a:rPr lang="it-IT" sz="2400" dirty="0">
                <a:latin typeface="Courier New" pitchFamily="49" charset="0"/>
              </a:rPr>
              <a:t>		p = (</a:t>
            </a:r>
            <a:r>
              <a:rPr lang="it-IT" sz="2400" dirty="0" err="1">
                <a:latin typeface="Courier New" pitchFamily="49" charset="0"/>
              </a:rPr>
              <a:t>this.base</a:t>
            </a:r>
            <a:r>
              <a:rPr lang="it-IT" sz="2400" dirty="0">
                <a:latin typeface="Courier New" pitchFamily="49" charset="0"/>
              </a:rPr>
              <a:t> + </a:t>
            </a:r>
            <a:r>
              <a:rPr lang="it-IT" sz="2400" dirty="0" err="1">
                <a:latin typeface="Courier New" pitchFamily="49" charset="0"/>
              </a:rPr>
              <a:t>this.altezza</a:t>
            </a:r>
            <a:r>
              <a:rPr lang="it-IT" sz="2400" dirty="0">
                <a:latin typeface="Courier New" pitchFamily="49" charset="0"/>
              </a:rPr>
              <a:t>)*2;</a:t>
            </a:r>
            <a:endParaRPr lang="it-IT" sz="2400" b="1" dirty="0">
              <a:solidFill>
                <a:srgbClr val="0000FF"/>
              </a:solidFill>
              <a:latin typeface="Courier New" pitchFamily="49" charset="0"/>
            </a:endParaRPr>
          </a:p>
          <a:p>
            <a:pPr>
              <a:buNone/>
            </a:pPr>
            <a:r>
              <a:rPr lang="it-IT" sz="2400" b="1" dirty="0">
                <a:solidFill>
                  <a:srgbClr val="0000FF"/>
                </a:solidFill>
                <a:latin typeface="Courier New" pitchFamily="49" charset="0"/>
              </a:rPr>
              <a:t>		</a:t>
            </a:r>
            <a:r>
              <a:rPr lang="it-IT" sz="2400" b="1" dirty="0" err="1">
                <a:solidFill>
                  <a:srgbClr val="0000FF"/>
                </a:solidFill>
                <a:latin typeface="Courier New" pitchFamily="49" charset="0"/>
              </a:rPr>
              <a:t>return</a:t>
            </a:r>
            <a:r>
              <a:rPr lang="it-IT" sz="2400" b="1" dirty="0">
                <a:solidFill>
                  <a:srgbClr val="0000FF"/>
                </a:solidFill>
                <a:latin typeface="Courier New" pitchFamily="49" charset="0"/>
              </a:rPr>
              <a:t> p;</a:t>
            </a:r>
          </a:p>
          <a:p>
            <a:pPr>
              <a:buNone/>
            </a:pPr>
            <a:r>
              <a:rPr lang="it-IT" sz="2400" b="1" dirty="0">
                <a:solidFill>
                  <a:srgbClr val="0000FF"/>
                </a:solidFill>
                <a:latin typeface="Courier New" pitchFamily="49" charset="0"/>
              </a:rPr>
              <a:t>	</a:t>
            </a:r>
            <a:r>
              <a:rPr lang="it-IT" sz="2400" dirty="0">
                <a:latin typeface="Courier New" pitchFamily="49" charset="0"/>
              </a:rPr>
              <a:t>}</a:t>
            </a:r>
          </a:p>
          <a:p>
            <a:pPr>
              <a:spcBef>
                <a:spcPct val="50000"/>
              </a:spcBef>
              <a:defRPr/>
            </a:pPr>
            <a:r>
              <a:rPr lang="it-IT" dirty="0"/>
              <a:t>L’istruzione </a:t>
            </a:r>
            <a:r>
              <a:rPr lang="it-IT" i="1" dirty="0" err="1">
                <a:solidFill>
                  <a:schemeClr val="accent2"/>
                </a:solidFill>
              </a:rPr>
              <a:t>return</a:t>
            </a:r>
            <a:r>
              <a:rPr lang="it-IT" i="1" dirty="0">
                <a:solidFill>
                  <a:schemeClr val="accent2"/>
                </a:solidFill>
              </a:rPr>
              <a:t> p</a:t>
            </a:r>
            <a:r>
              <a:rPr lang="it-IT" dirty="0"/>
              <a:t> ha un duplice effetto:</a:t>
            </a:r>
          </a:p>
          <a:p>
            <a:pPr lvl="1">
              <a:spcBef>
                <a:spcPct val="50000"/>
              </a:spcBef>
              <a:defRPr/>
            </a:pPr>
            <a:r>
              <a:rPr lang="it-IT" dirty="0"/>
              <a:t>restituire all’esterno il valore di </a:t>
            </a:r>
            <a:r>
              <a:rPr lang="it-IT" i="1" dirty="0">
                <a:solidFill>
                  <a:schemeClr val="accent2"/>
                </a:solidFill>
              </a:rPr>
              <a:t>p</a:t>
            </a:r>
            <a:r>
              <a:rPr lang="it-IT" dirty="0"/>
              <a:t>;</a:t>
            </a:r>
          </a:p>
          <a:p>
            <a:pPr lvl="1">
              <a:spcBef>
                <a:spcPct val="50000"/>
              </a:spcBef>
              <a:defRPr/>
            </a:pPr>
            <a:r>
              <a:rPr lang="it-IT" dirty="0"/>
              <a:t>causare la terminazione del metodo;</a:t>
            </a:r>
          </a:p>
          <a:p>
            <a:endParaRPr lang="it-IT" dirty="0"/>
          </a:p>
          <a:p>
            <a:endParaRPr lang="it-IT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L’istruzione </a:t>
            </a:r>
            <a:r>
              <a:rPr lang="it-IT" dirty="0" err="1"/>
              <a:t>return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Bef>
                <a:spcPct val="50000"/>
              </a:spcBef>
              <a:defRPr/>
            </a:pPr>
            <a:r>
              <a:rPr lang="it-IT" dirty="0"/>
              <a:t>L’istruzione </a:t>
            </a:r>
            <a:r>
              <a:rPr lang="it-IT" i="1" dirty="0" err="1">
                <a:solidFill>
                  <a:schemeClr val="accent2"/>
                </a:solidFill>
              </a:rPr>
              <a:t>return</a:t>
            </a:r>
            <a:r>
              <a:rPr lang="it-IT" dirty="0"/>
              <a:t> deve essere usata in ogni metodo che dichiara di restituire un valore:</a:t>
            </a:r>
          </a:p>
          <a:p>
            <a:pPr>
              <a:spcBef>
                <a:spcPct val="50000"/>
              </a:spcBef>
              <a:defRPr/>
            </a:pPr>
            <a:r>
              <a:rPr lang="it-IT" dirty="0"/>
              <a:t>il valore restituito deve essere coerente con il tipo di dato di ritorno;</a:t>
            </a:r>
          </a:p>
          <a:p>
            <a:pPr>
              <a:spcBef>
                <a:spcPct val="50000"/>
              </a:spcBef>
              <a:defRPr/>
            </a:pPr>
            <a:r>
              <a:rPr lang="it-IT" dirty="0"/>
              <a:t>l’istruzione </a:t>
            </a:r>
            <a:r>
              <a:rPr lang="it-IT" i="1" dirty="0" err="1">
                <a:solidFill>
                  <a:schemeClr val="accent2"/>
                </a:solidFill>
              </a:rPr>
              <a:t>return</a:t>
            </a:r>
            <a:r>
              <a:rPr lang="it-IT" dirty="0"/>
              <a:t> causa la terminazione immediata del metodo:</a:t>
            </a:r>
          </a:p>
          <a:p>
            <a:pPr lvl="1">
              <a:spcBef>
                <a:spcPct val="50000"/>
              </a:spcBef>
              <a:defRPr/>
            </a:pPr>
            <a:r>
              <a:rPr lang="it-IT" dirty="0"/>
              <a:t>è buona norma che </a:t>
            </a:r>
            <a:r>
              <a:rPr lang="it-IT" i="1" dirty="0" err="1">
                <a:solidFill>
                  <a:schemeClr val="accent2"/>
                </a:solidFill>
              </a:rPr>
              <a:t>return</a:t>
            </a:r>
            <a:r>
              <a:rPr lang="it-IT" dirty="0"/>
              <a:t> sia sempre l’ultima istruzione di un metodo che restituisce un valore;</a:t>
            </a:r>
          </a:p>
          <a:p>
            <a:pPr lvl="1">
              <a:spcBef>
                <a:spcPct val="50000"/>
              </a:spcBef>
              <a:defRPr/>
            </a:pPr>
            <a:r>
              <a:rPr lang="it-IT" dirty="0"/>
              <a:t>se ci fossero istruzioni dopo il </a:t>
            </a:r>
            <a:r>
              <a:rPr lang="it-IT" i="1" dirty="0" err="1">
                <a:solidFill>
                  <a:schemeClr val="accent2"/>
                </a:solidFill>
              </a:rPr>
              <a:t>return</a:t>
            </a:r>
            <a:r>
              <a:rPr lang="it-IT" dirty="0"/>
              <a:t>, esse non verrebbero eseguite</a:t>
            </a:r>
          </a:p>
          <a:p>
            <a:endParaRPr lang="it-IT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Ancora sul metodo perimetro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spcBef>
                <a:spcPct val="50000"/>
              </a:spcBef>
              <a:defRPr/>
            </a:pPr>
            <a:r>
              <a:rPr lang="it-IT" dirty="0"/>
              <a:t>Il metodo </a:t>
            </a:r>
            <a:r>
              <a:rPr lang="it-IT" i="1" dirty="0">
                <a:solidFill>
                  <a:schemeClr val="accent2"/>
                </a:solidFill>
              </a:rPr>
              <a:t>perimetro</a:t>
            </a:r>
            <a:r>
              <a:rPr lang="it-IT" dirty="0"/>
              <a:t> ha le seguenti caratteristiche:</a:t>
            </a:r>
          </a:p>
          <a:p>
            <a:pPr lvl="1">
              <a:spcBef>
                <a:spcPct val="50000"/>
              </a:spcBef>
              <a:defRPr/>
            </a:pPr>
            <a:r>
              <a:rPr lang="it-IT" dirty="0"/>
              <a:t>non ha parametri formali (non prende dati in ingresso)</a:t>
            </a:r>
          </a:p>
          <a:p>
            <a:pPr lvl="1">
              <a:spcBef>
                <a:spcPct val="50000"/>
              </a:spcBef>
              <a:defRPr/>
            </a:pPr>
            <a:r>
              <a:rPr lang="it-IT" dirty="0"/>
              <a:t>per calcolare il perimetro dell’oggetto ha solo bisogno di conoscerne lo stato, cioè le sue variabili di istanza</a:t>
            </a:r>
          </a:p>
          <a:p>
            <a:pPr lvl="1">
              <a:spcBef>
                <a:spcPct val="50000"/>
              </a:spcBef>
              <a:defRPr/>
            </a:pPr>
            <a:r>
              <a:rPr lang="it-IT" dirty="0"/>
              <a:t>non modifica lo stato dell’oggetto, ma lo accede soltanto in lettura</a:t>
            </a:r>
          </a:p>
          <a:p>
            <a:pPr lvl="1">
              <a:spcBef>
                <a:spcPct val="50000"/>
              </a:spcBef>
              <a:defRPr/>
            </a:pPr>
            <a:r>
              <a:rPr lang="it-IT" dirty="0"/>
              <a:t>il metodo </a:t>
            </a:r>
            <a:r>
              <a:rPr lang="it-IT" i="1" dirty="0">
                <a:solidFill>
                  <a:schemeClr val="accent2"/>
                </a:solidFill>
              </a:rPr>
              <a:t>perimetro</a:t>
            </a:r>
            <a:r>
              <a:rPr lang="it-IT" dirty="0"/>
              <a:t> è un </a:t>
            </a:r>
            <a:r>
              <a:rPr lang="it-IT" u="sng" dirty="0">
                <a:solidFill>
                  <a:schemeClr val="accent1"/>
                </a:solidFill>
              </a:rPr>
              <a:t>metodo di accesso</a:t>
            </a:r>
          </a:p>
          <a:p>
            <a:pPr lvl="1">
              <a:spcBef>
                <a:spcPct val="50000"/>
              </a:spcBef>
              <a:defRPr/>
            </a:pPr>
            <a:r>
              <a:rPr lang="it-IT" dirty="0"/>
              <a:t>per contro, i metodi che modificano lo stato di un oggetto si chiamano anche </a:t>
            </a:r>
            <a:r>
              <a:rPr lang="it-IT" u="sng" dirty="0">
                <a:solidFill>
                  <a:schemeClr val="accent1"/>
                </a:solidFill>
              </a:rPr>
              <a:t>metodi di modifica</a:t>
            </a:r>
          </a:p>
          <a:p>
            <a:endParaRPr lang="it-IT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Semplificazione del codice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Il codice del metodo perimetro si può anche riscrivere in modo più sintetico come segue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</a:rPr>
              <a:t>	</a:t>
            </a:r>
            <a:r>
              <a:rPr lang="it-IT" sz="2400" dirty="0">
                <a:latin typeface="Courier New" pitchFamily="49" charset="0"/>
              </a:rPr>
              <a:t>public </a:t>
            </a:r>
            <a:r>
              <a:rPr lang="it-IT" sz="2400" dirty="0" err="1">
                <a:latin typeface="Courier New" pitchFamily="49" charset="0"/>
              </a:rPr>
              <a:t>double</a:t>
            </a:r>
            <a:r>
              <a:rPr lang="it-IT" sz="2400" dirty="0">
                <a:latin typeface="Courier New" pitchFamily="49" charset="0"/>
              </a:rPr>
              <a:t> perimetro () {</a:t>
            </a:r>
          </a:p>
          <a:p>
            <a:pPr>
              <a:buNone/>
            </a:pPr>
            <a:r>
              <a:rPr lang="it-IT" sz="2400" b="1" dirty="0">
                <a:solidFill>
                  <a:srgbClr val="0000FF"/>
                </a:solidFill>
                <a:latin typeface="Courier New" pitchFamily="49" charset="0"/>
              </a:rPr>
              <a:t>		</a:t>
            </a:r>
            <a:r>
              <a:rPr lang="it-IT" sz="2400" b="1" dirty="0" err="1">
                <a:solidFill>
                  <a:srgbClr val="0000FF"/>
                </a:solidFill>
                <a:latin typeface="Courier New" pitchFamily="49" charset="0"/>
              </a:rPr>
              <a:t>return</a:t>
            </a:r>
            <a:r>
              <a:rPr lang="it-IT" sz="2400" b="1" dirty="0">
                <a:solidFill>
                  <a:srgbClr val="0000FF"/>
                </a:solidFill>
                <a:latin typeface="Courier New" pitchFamily="49" charset="0"/>
              </a:rPr>
              <a:t> (</a:t>
            </a:r>
            <a:r>
              <a:rPr lang="it-IT" sz="2400" b="1" dirty="0" err="1">
                <a:solidFill>
                  <a:srgbClr val="0000FF"/>
                </a:solidFill>
                <a:latin typeface="Courier New" pitchFamily="49" charset="0"/>
              </a:rPr>
              <a:t>this.base</a:t>
            </a:r>
            <a:r>
              <a:rPr lang="it-IT" sz="2400" b="1" dirty="0">
                <a:solidFill>
                  <a:srgbClr val="0000FF"/>
                </a:solidFill>
                <a:latin typeface="Courier New" pitchFamily="49" charset="0"/>
              </a:rPr>
              <a:t> + </a:t>
            </a:r>
            <a:r>
              <a:rPr lang="it-IT" sz="2400" b="1" dirty="0" err="1">
                <a:solidFill>
                  <a:srgbClr val="0000FF"/>
                </a:solidFill>
                <a:latin typeface="Courier New" pitchFamily="49" charset="0"/>
              </a:rPr>
              <a:t>this.altezza</a:t>
            </a:r>
            <a:r>
              <a:rPr lang="it-IT" sz="2400" b="1" dirty="0">
                <a:solidFill>
                  <a:srgbClr val="0000FF"/>
                </a:solidFill>
                <a:latin typeface="Courier New" pitchFamily="49" charset="0"/>
              </a:rPr>
              <a:t>)*2;</a:t>
            </a:r>
          </a:p>
          <a:p>
            <a:pPr>
              <a:buNone/>
            </a:pPr>
            <a:r>
              <a:rPr lang="it-IT" sz="2400" b="1" dirty="0">
                <a:solidFill>
                  <a:srgbClr val="0000FF"/>
                </a:solidFill>
                <a:latin typeface="Courier New" pitchFamily="49" charset="0"/>
              </a:rPr>
              <a:t>	</a:t>
            </a:r>
            <a:r>
              <a:rPr lang="it-IT" sz="2400" dirty="0">
                <a:latin typeface="Courier New" pitchFamily="49" charset="0"/>
              </a:rPr>
              <a:t>}</a:t>
            </a:r>
          </a:p>
          <a:p>
            <a:r>
              <a:rPr lang="it-IT" dirty="0"/>
              <a:t>In questo modo verrebbe prima calcolato il valore dell’espressione associata al </a:t>
            </a:r>
            <a:r>
              <a:rPr lang="it-IT" i="1" dirty="0" err="1">
                <a:solidFill>
                  <a:schemeClr val="accent2"/>
                </a:solidFill>
              </a:rPr>
              <a:t>return</a:t>
            </a:r>
            <a:r>
              <a:rPr lang="it-IT" dirty="0"/>
              <a:t>, e poi tale valore verrebbe restituito</a:t>
            </a:r>
            <a:endParaRPr lang="it-IT" dirty="0">
              <a:latin typeface="Courier New" pitchFamily="49" charset="0"/>
            </a:endParaRPr>
          </a:p>
          <a:p>
            <a:endParaRPr lang="it-IT" dirty="0"/>
          </a:p>
          <a:p>
            <a:endParaRPr lang="it-IT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Il metodo </a:t>
            </a:r>
            <a:r>
              <a:rPr lang="it-IT" dirty="0" err="1"/>
              <a:t>frazioneDiArea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Ecco il codice del metodo </a:t>
            </a:r>
            <a:r>
              <a:rPr lang="it-IT" i="1" dirty="0" err="1">
                <a:solidFill>
                  <a:schemeClr val="accent2"/>
                </a:solidFill>
              </a:rPr>
              <a:t>frazioneDiArea</a:t>
            </a:r>
            <a:endParaRPr lang="it-IT" i="1" dirty="0">
              <a:solidFill>
                <a:schemeClr val="accent2"/>
              </a:solidFill>
            </a:endParaRPr>
          </a:p>
          <a:p>
            <a:pPr>
              <a:buNone/>
            </a:pPr>
            <a:r>
              <a:rPr lang="it-IT" dirty="0">
                <a:latin typeface="Courier New" pitchFamily="49" charset="0"/>
              </a:rPr>
              <a:t>	</a:t>
            </a:r>
            <a:r>
              <a:rPr lang="it-IT" sz="2400" dirty="0">
                <a:latin typeface="Courier New" pitchFamily="49" charset="0"/>
              </a:rPr>
              <a:t>public </a:t>
            </a:r>
            <a:r>
              <a:rPr lang="it-IT" sz="2400" dirty="0" err="1">
                <a:latin typeface="Courier New" pitchFamily="49" charset="0"/>
              </a:rPr>
              <a:t>double</a:t>
            </a:r>
            <a:r>
              <a:rPr lang="it-IT" sz="2400" dirty="0">
                <a:latin typeface="Courier New" pitchFamily="49" charset="0"/>
              </a:rPr>
              <a:t> </a:t>
            </a:r>
            <a:r>
              <a:rPr lang="it-IT" sz="2400" dirty="0" err="1">
                <a:latin typeface="Courier New" pitchFamily="49" charset="0"/>
              </a:rPr>
              <a:t>frazioneDiArea</a:t>
            </a:r>
            <a:r>
              <a:rPr lang="it-IT" sz="2400" dirty="0">
                <a:latin typeface="Courier New" pitchFamily="49" charset="0"/>
              </a:rPr>
              <a:t> (</a:t>
            </a:r>
            <a:r>
              <a:rPr lang="it-IT" sz="2400" dirty="0" err="1">
                <a:latin typeface="Courier New" pitchFamily="49" charset="0"/>
              </a:rPr>
              <a:t>double</a:t>
            </a:r>
            <a:r>
              <a:rPr lang="it-IT" sz="2400" dirty="0">
                <a:latin typeface="Courier New" pitchFamily="49" charset="0"/>
              </a:rPr>
              <a:t> f) {</a:t>
            </a:r>
          </a:p>
          <a:p>
            <a:pPr>
              <a:buNone/>
            </a:pPr>
            <a:r>
              <a:rPr lang="it-IT" sz="2400" b="1" dirty="0">
                <a:solidFill>
                  <a:srgbClr val="0000FF"/>
                </a:solidFill>
                <a:latin typeface="Courier New" pitchFamily="49" charset="0"/>
              </a:rPr>
              <a:t>		</a:t>
            </a:r>
            <a:r>
              <a:rPr lang="it-IT" sz="2400" b="1" dirty="0" err="1">
                <a:solidFill>
                  <a:srgbClr val="0000FF"/>
                </a:solidFill>
                <a:latin typeface="Courier New" pitchFamily="49" charset="0"/>
              </a:rPr>
              <a:t>return</a:t>
            </a:r>
            <a:r>
              <a:rPr lang="it-IT" sz="2400" b="1" dirty="0">
                <a:solidFill>
                  <a:srgbClr val="0000FF"/>
                </a:solidFill>
                <a:latin typeface="Courier New" pitchFamily="49" charset="0"/>
              </a:rPr>
              <a:t> (this.base*this.altezza)</a:t>
            </a:r>
            <a:r>
              <a:rPr lang="it-IT" sz="2400" b="1" dirty="0" err="1">
                <a:solidFill>
                  <a:srgbClr val="0000FF"/>
                </a:solidFill>
                <a:latin typeface="Courier New" pitchFamily="49" charset="0"/>
              </a:rPr>
              <a:t>*f</a:t>
            </a:r>
            <a:r>
              <a:rPr lang="it-IT" sz="2400" b="1" dirty="0">
                <a:solidFill>
                  <a:srgbClr val="0000FF"/>
                </a:solidFill>
                <a:latin typeface="Courier New" pitchFamily="49" charset="0"/>
              </a:rPr>
              <a:t>;</a:t>
            </a:r>
            <a:endParaRPr lang="it-IT" sz="2400" dirty="0">
              <a:latin typeface="Courier New" pitchFamily="49" charset="0"/>
            </a:endParaRPr>
          </a:p>
          <a:p>
            <a:pPr>
              <a:buNone/>
            </a:pPr>
            <a:r>
              <a:rPr lang="it-IT" sz="2400" dirty="0">
                <a:latin typeface="Courier New" pitchFamily="49" charset="0"/>
              </a:rPr>
              <a:t>	}</a:t>
            </a:r>
          </a:p>
          <a:p>
            <a:r>
              <a:rPr lang="it-IT" dirty="0"/>
              <a:t>Il metodo </a:t>
            </a:r>
            <a:r>
              <a:rPr lang="it-IT" i="1" dirty="0" err="1">
                <a:solidFill>
                  <a:schemeClr val="accent2"/>
                </a:solidFill>
              </a:rPr>
              <a:t>frazioneDiArea</a:t>
            </a:r>
            <a:r>
              <a:rPr lang="it-IT" dirty="0"/>
              <a:t> combina l’uso del parametro formale a quello delle variabili di istanza per calcolare il risultato – esso è ancora un metodo di accesso, poiché non modifica lo stato dell’oggetto</a:t>
            </a:r>
          </a:p>
          <a:p>
            <a:pPr>
              <a:buNone/>
            </a:pPr>
            <a:endParaRPr lang="it-IT" sz="24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Il metodo </a:t>
            </a:r>
            <a:r>
              <a:rPr lang="it-IT" dirty="0" err="1"/>
              <a:t>cambiaDimensioni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it-IT" dirty="0"/>
              <a:t>Ecco il codice del metodo </a:t>
            </a:r>
            <a:r>
              <a:rPr lang="it-IT" i="1" dirty="0" err="1">
                <a:solidFill>
                  <a:schemeClr val="accent2"/>
                </a:solidFill>
              </a:rPr>
              <a:t>cambiaDimensioni</a:t>
            </a:r>
            <a:endParaRPr lang="it-IT" i="1" dirty="0">
              <a:solidFill>
                <a:schemeClr val="accent2"/>
              </a:solidFill>
            </a:endParaRPr>
          </a:p>
          <a:p>
            <a:pPr>
              <a:buNone/>
            </a:pPr>
            <a:r>
              <a:rPr lang="it-IT" sz="2400" dirty="0">
                <a:latin typeface="Courier New" pitchFamily="49" charset="0"/>
              </a:rPr>
              <a:t>	public </a:t>
            </a:r>
            <a:r>
              <a:rPr lang="it-IT" sz="2400" dirty="0" err="1">
                <a:latin typeface="Courier New" pitchFamily="49" charset="0"/>
              </a:rPr>
              <a:t>void</a:t>
            </a:r>
            <a:r>
              <a:rPr lang="it-IT" sz="2400" dirty="0">
                <a:latin typeface="Courier New" pitchFamily="49" charset="0"/>
              </a:rPr>
              <a:t> </a:t>
            </a:r>
            <a:r>
              <a:rPr lang="it-IT" sz="2400" dirty="0" err="1">
                <a:latin typeface="Courier New" pitchFamily="49" charset="0"/>
              </a:rPr>
              <a:t>cambiaDimensioni</a:t>
            </a:r>
            <a:r>
              <a:rPr lang="it-IT" sz="2400" dirty="0">
                <a:latin typeface="Courier New" pitchFamily="49" charset="0"/>
              </a:rPr>
              <a:t>(</a:t>
            </a:r>
            <a:r>
              <a:rPr lang="it-IT" sz="2400" dirty="0" err="1">
                <a:latin typeface="Courier New" pitchFamily="49" charset="0"/>
              </a:rPr>
              <a:t>double</a:t>
            </a:r>
            <a:r>
              <a:rPr lang="it-IT" sz="2400" dirty="0">
                <a:latin typeface="Courier New" pitchFamily="49" charset="0"/>
              </a:rPr>
              <a:t> b, 						</a:t>
            </a:r>
            <a:r>
              <a:rPr lang="it-IT" sz="2400" dirty="0" err="1">
                <a:latin typeface="Courier New" pitchFamily="49" charset="0"/>
              </a:rPr>
              <a:t>double</a:t>
            </a:r>
            <a:r>
              <a:rPr lang="it-IT" sz="2400" dirty="0">
                <a:latin typeface="Courier New" pitchFamily="49" charset="0"/>
              </a:rPr>
              <a:t> a){</a:t>
            </a:r>
          </a:p>
          <a:p>
            <a:pPr>
              <a:buNone/>
            </a:pPr>
            <a:r>
              <a:rPr lang="it-IT" sz="2400" dirty="0">
                <a:latin typeface="Courier New" pitchFamily="49" charset="0"/>
              </a:rPr>
              <a:t>		</a:t>
            </a:r>
            <a:r>
              <a:rPr lang="it-IT" sz="2400" dirty="0" err="1">
                <a:latin typeface="Courier New" pitchFamily="49" charset="0"/>
              </a:rPr>
              <a:t>this.base</a:t>
            </a:r>
            <a:r>
              <a:rPr lang="it-IT" sz="2400" dirty="0">
                <a:latin typeface="Courier New" pitchFamily="49" charset="0"/>
              </a:rPr>
              <a:t> = b;</a:t>
            </a:r>
          </a:p>
          <a:p>
            <a:pPr>
              <a:buNone/>
            </a:pPr>
            <a:r>
              <a:rPr lang="it-IT" sz="2400" dirty="0">
                <a:latin typeface="Courier New" pitchFamily="49" charset="0"/>
              </a:rPr>
              <a:t>		</a:t>
            </a:r>
            <a:r>
              <a:rPr lang="it-IT" sz="2400" dirty="0" err="1">
                <a:latin typeface="Courier New" pitchFamily="49" charset="0"/>
              </a:rPr>
              <a:t>this.altezza</a:t>
            </a:r>
            <a:r>
              <a:rPr lang="it-IT" sz="2400" dirty="0">
                <a:latin typeface="Courier New" pitchFamily="49" charset="0"/>
              </a:rPr>
              <a:t> = a;</a:t>
            </a:r>
          </a:p>
          <a:p>
            <a:pPr>
              <a:buNone/>
            </a:pPr>
            <a:r>
              <a:rPr lang="it-IT" sz="2400" dirty="0">
                <a:latin typeface="Courier New" pitchFamily="49" charset="0"/>
              </a:rPr>
              <a:t>	}</a:t>
            </a:r>
          </a:p>
          <a:p>
            <a:pPr>
              <a:spcBef>
                <a:spcPct val="50000"/>
              </a:spcBef>
              <a:buFontTx/>
              <a:buChar char="•"/>
              <a:defRPr/>
            </a:pPr>
            <a:r>
              <a:rPr lang="it-IT" dirty="0"/>
              <a:t>Il metodo non restituisce valori (è di tipo </a:t>
            </a:r>
            <a:r>
              <a:rPr lang="it-IT" i="1" dirty="0" err="1">
                <a:solidFill>
                  <a:schemeClr val="accent2"/>
                </a:solidFill>
              </a:rPr>
              <a:t>void</a:t>
            </a:r>
            <a:r>
              <a:rPr lang="it-IT" dirty="0"/>
              <a:t>)</a:t>
            </a:r>
          </a:p>
          <a:p>
            <a:pPr>
              <a:spcBef>
                <a:spcPct val="50000"/>
              </a:spcBef>
              <a:buFontTx/>
              <a:buChar char="•"/>
              <a:defRPr/>
            </a:pPr>
            <a:r>
              <a:rPr lang="it-IT" dirty="0"/>
              <a:t>Il metodo agisce similmente al costruttore</a:t>
            </a:r>
          </a:p>
          <a:p>
            <a:pPr>
              <a:spcBef>
                <a:spcPct val="50000"/>
              </a:spcBef>
              <a:buFontTx/>
              <a:buChar char="•"/>
              <a:defRPr/>
            </a:pPr>
            <a:r>
              <a:rPr lang="it-IT" dirty="0"/>
              <a:t>Il metodo cambia lo stato dell’oggetto; è un metodo di modifica</a:t>
            </a:r>
          </a:p>
          <a:p>
            <a:pPr>
              <a:buNone/>
            </a:pPr>
            <a:endParaRPr lang="it-IT" sz="2400" dirty="0">
              <a:latin typeface="Courier New" pitchFamily="49" charset="0"/>
            </a:endParaRPr>
          </a:p>
          <a:p>
            <a:endParaRPr lang="it-IT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Il metodo </a:t>
            </a:r>
            <a:r>
              <a:rPr lang="it-IT" dirty="0" err="1"/>
              <a:t>rettCreati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Ecco il codice del metodo </a:t>
            </a:r>
            <a:r>
              <a:rPr lang="it-IT" i="1" dirty="0" err="1">
                <a:solidFill>
                  <a:schemeClr val="accent2"/>
                </a:solidFill>
              </a:rPr>
              <a:t>rettCreati</a:t>
            </a:r>
            <a:endParaRPr lang="it-IT" i="1" dirty="0">
              <a:solidFill>
                <a:schemeClr val="accent2"/>
              </a:solidFill>
            </a:endParaRP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	public static int rettCreati(){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return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Rettangolo.numIstanze;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r>
              <a:rPr lang="it-IT" dirty="0"/>
              <a:t>Poiché il metodo è di classe nella sua definizione compare la parola chiave </a:t>
            </a:r>
            <a:r>
              <a:rPr lang="it-IT" i="1" dirty="0" err="1">
                <a:solidFill>
                  <a:schemeClr val="accent2"/>
                </a:solidFill>
              </a:rPr>
              <a:t>static</a:t>
            </a:r>
            <a:endParaRPr lang="it-IT" i="1" dirty="0">
              <a:solidFill>
                <a:schemeClr val="accent2"/>
              </a:solidFill>
            </a:endParaRPr>
          </a:p>
          <a:p>
            <a:pPr>
              <a:spcBef>
                <a:spcPct val="50000"/>
              </a:spcBef>
              <a:buFontTx/>
              <a:buChar char="•"/>
              <a:defRPr/>
            </a:pPr>
            <a:r>
              <a:rPr lang="it-IT" dirty="0"/>
              <a:t>Il metodo restituisce il valore della variabile </a:t>
            </a:r>
            <a:r>
              <a:rPr lang="it-IT" i="1" dirty="0" err="1">
                <a:solidFill>
                  <a:schemeClr val="accent2"/>
                </a:solidFill>
              </a:rPr>
              <a:t>numIstanze</a:t>
            </a:r>
            <a:endParaRPr lang="it-IT" i="1" dirty="0">
              <a:solidFill>
                <a:schemeClr val="accent2"/>
              </a:solidFill>
            </a:endParaRPr>
          </a:p>
          <a:p>
            <a:pPr>
              <a:buNone/>
            </a:pPr>
            <a:endParaRPr lang="it-IT" sz="2400" dirty="0">
              <a:latin typeface="Courier New" pitchFamily="49" charset="0"/>
            </a:endParaRPr>
          </a:p>
          <a:p>
            <a:endParaRPr lang="it-IT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Test della classe Rettangolo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Una volta scritto il codice di una classe, è buona prassi verificarne la correttezza</a:t>
            </a:r>
          </a:p>
          <a:p>
            <a:r>
              <a:rPr lang="it-IT" dirty="0"/>
              <a:t>Una strategia che seguiremo in questo corso è quella di realizzare delle semplici classi di test:</a:t>
            </a:r>
          </a:p>
          <a:p>
            <a:pPr lvl="1"/>
            <a:r>
              <a:rPr lang="it-IT" dirty="0"/>
              <a:t>una classe di test per una classe </a:t>
            </a:r>
            <a:r>
              <a:rPr lang="it-IT" i="1" dirty="0">
                <a:solidFill>
                  <a:schemeClr val="accent2"/>
                </a:solidFill>
              </a:rPr>
              <a:t>C</a:t>
            </a:r>
            <a:r>
              <a:rPr lang="it-IT" dirty="0"/>
              <a:t> ha soltanto il metodo speciale </a:t>
            </a:r>
            <a:r>
              <a:rPr lang="it-IT" i="1" dirty="0" err="1">
                <a:solidFill>
                  <a:schemeClr val="accent2"/>
                </a:solidFill>
              </a:rPr>
              <a:t>main</a:t>
            </a:r>
            <a:endParaRPr lang="it-IT" i="1" dirty="0">
              <a:solidFill>
                <a:schemeClr val="accent2"/>
              </a:solidFill>
            </a:endParaRPr>
          </a:p>
          <a:p>
            <a:pPr lvl="1"/>
            <a:r>
              <a:rPr lang="it-IT" dirty="0"/>
              <a:t>consente di eseguire tutti i metodi della classe </a:t>
            </a:r>
            <a:r>
              <a:rPr lang="it-IT" i="1" dirty="0">
                <a:solidFill>
                  <a:schemeClr val="accent2"/>
                </a:solidFill>
              </a:rPr>
              <a:t>C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Test della classe Rettangolo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it-IT" sz="1800" dirty="0">
                <a:latin typeface="Courier New" pitchFamily="49" charset="0"/>
                <a:cs typeface="Courier New" pitchFamily="49" charset="0"/>
              </a:rPr>
              <a:t>import fond.io.*;</a:t>
            </a:r>
          </a:p>
          <a:p>
            <a:pPr>
              <a:buNone/>
            </a:pPr>
            <a:r>
              <a:rPr lang="it-IT" sz="1800" dirty="0">
                <a:latin typeface="Courier New" pitchFamily="49" charset="0"/>
                <a:cs typeface="Courier New" pitchFamily="49" charset="0"/>
              </a:rPr>
              <a:t>public </a:t>
            </a:r>
            <a:r>
              <a:rPr lang="it-IT" sz="1800" dirty="0" err="1">
                <a:latin typeface="Courier New" pitchFamily="49" charset="0"/>
                <a:cs typeface="Courier New" pitchFamily="49" charset="0"/>
              </a:rPr>
              <a:t>class</a:t>
            </a:r>
            <a:r>
              <a:rPr lang="it-IT" sz="18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1800" dirty="0" err="1">
                <a:latin typeface="Courier New" pitchFamily="49" charset="0"/>
                <a:cs typeface="Courier New" pitchFamily="49" charset="0"/>
              </a:rPr>
              <a:t>TestRettangolo</a:t>
            </a:r>
            <a:r>
              <a:rPr lang="it-IT" sz="18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it-IT" sz="1800" dirty="0">
                <a:latin typeface="Courier New" pitchFamily="49" charset="0"/>
                <a:cs typeface="Courier New" pitchFamily="49" charset="0"/>
              </a:rPr>
              <a:t>	public </a:t>
            </a:r>
            <a:r>
              <a:rPr lang="it-IT" sz="1800" dirty="0" err="1">
                <a:latin typeface="Courier New" pitchFamily="49" charset="0"/>
                <a:cs typeface="Courier New" pitchFamily="49" charset="0"/>
              </a:rPr>
              <a:t>static</a:t>
            </a:r>
            <a:r>
              <a:rPr lang="it-IT" sz="18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1800" dirty="0" err="1">
                <a:latin typeface="Courier New" pitchFamily="49" charset="0"/>
                <a:cs typeface="Courier New" pitchFamily="49" charset="0"/>
              </a:rPr>
              <a:t>void</a:t>
            </a:r>
            <a:r>
              <a:rPr lang="it-IT" sz="18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1800" dirty="0" err="1">
                <a:latin typeface="Courier New" pitchFamily="49" charset="0"/>
                <a:cs typeface="Courier New" pitchFamily="49" charset="0"/>
              </a:rPr>
              <a:t>main</a:t>
            </a:r>
            <a:r>
              <a:rPr lang="it-IT" sz="18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it-IT" sz="1800" dirty="0" err="1">
                <a:latin typeface="Courier New" pitchFamily="49" charset="0"/>
                <a:cs typeface="Courier New" pitchFamily="49" charset="0"/>
              </a:rPr>
              <a:t>String</a:t>
            </a:r>
            <a:r>
              <a:rPr lang="it-IT" sz="1800" dirty="0">
                <a:latin typeface="Courier New" pitchFamily="49" charset="0"/>
                <a:cs typeface="Courier New" pitchFamily="49" charset="0"/>
              </a:rPr>
              <a:t>[] </a:t>
            </a:r>
            <a:r>
              <a:rPr lang="it-IT" sz="1800" dirty="0" err="1">
                <a:latin typeface="Courier New" pitchFamily="49" charset="0"/>
                <a:cs typeface="Courier New" pitchFamily="49" charset="0"/>
              </a:rPr>
              <a:t>args</a:t>
            </a:r>
            <a:r>
              <a:rPr lang="it-IT" sz="1800" dirty="0">
                <a:latin typeface="Courier New" pitchFamily="49" charset="0"/>
                <a:cs typeface="Courier New" pitchFamily="49" charset="0"/>
              </a:rPr>
              <a:t>){</a:t>
            </a:r>
          </a:p>
          <a:p>
            <a:pPr>
              <a:buNone/>
            </a:pPr>
            <a:r>
              <a:rPr lang="it-IT" sz="1800" dirty="0">
                <a:latin typeface="Courier New" pitchFamily="49" charset="0"/>
                <a:cs typeface="Courier New" pitchFamily="49" charset="0"/>
              </a:rPr>
              <a:t>	  </a:t>
            </a:r>
            <a:r>
              <a:rPr lang="it-IT" sz="1800" dirty="0" err="1">
                <a:latin typeface="Courier New" pitchFamily="49" charset="0"/>
                <a:cs typeface="Courier New" pitchFamily="49" charset="0"/>
              </a:rPr>
              <a:t>InputWindow</a:t>
            </a:r>
            <a:r>
              <a:rPr lang="it-IT" sz="1800" dirty="0">
                <a:latin typeface="Courier New" pitchFamily="49" charset="0"/>
                <a:cs typeface="Courier New" pitchFamily="49" charset="0"/>
              </a:rPr>
              <a:t> in = </a:t>
            </a:r>
            <a:r>
              <a:rPr lang="it-IT" sz="1800" dirty="0" err="1">
                <a:latin typeface="Courier New" pitchFamily="49" charset="0"/>
                <a:cs typeface="Courier New" pitchFamily="49" charset="0"/>
              </a:rPr>
              <a:t>new</a:t>
            </a:r>
            <a:r>
              <a:rPr lang="it-IT" sz="18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1800" dirty="0" err="1">
                <a:latin typeface="Courier New" pitchFamily="49" charset="0"/>
                <a:cs typeface="Courier New" pitchFamily="49" charset="0"/>
              </a:rPr>
              <a:t>InputWindow</a:t>
            </a:r>
            <a:r>
              <a:rPr lang="it-IT" sz="1800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buNone/>
            </a:pPr>
            <a:r>
              <a:rPr lang="it-IT" sz="1800" dirty="0">
                <a:latin typeface="Courier New" pitchFamily="49" charset="0"/>
                <a:cs typeface="Courier New" pitchFamily="49" charset="0"/>
              </a:rPr>
              <a:t>	  </a:t>
            </a:r>
            <a:r>
              <a:rPr lang="it-IT" sz="1800" dirty="0" err="1">
                <a:latin typeface="Courier New" pitchFamily="49" charset="0"/>
                <a:cs typeface="Courier New" pitchFamily="49" charset="0"/>
              </a:rPr>
              <a:t>OutputWindow</a:t>
            </a:r>
            <a:r>
              <a:rPr lang="it-IT" sz="18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1800" dirty="0" err="1">
                <a:latin typeface="Courier New" pitchFamily="49" charset="0"/>
                <a:cs typeface="Courier New" pitchFamily="49" charset="0"/>
              </a:rPr>
              <a:t>out=</a:t>
            </a:r>
            <a:r>
              <a:rPr lang="it-IT" sz="18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1800" dirty="0" err="1">
                <a:latin typeface="Courier New" pitchFamily="49" charset="0"/>
                <a:cs typeface="Courier New" pitchFamily="49" charset="0"/>
              </a:rPr>
              <a:t>new</a:t>
            </a:r>
            <a:r>
              <a:rPr lang="it-IT" sz="18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1800" dirty="0" err="1">
                <a:latin typeface="Courier New" pitchFamily="49" charset="0"/>
                <a:cs typeface="Courier New" pitchFamily="49" charset="0"/>
              </a:rPr>
              <a:t>OutputWindow</a:t>
            </a:r>
            <a:r>
              <a:rPr lang="it-IT" sz="1800" dirty="0">
                <a:latin typeface="Courier New" pitchFamily="49" charset="0"/>
                <a:cs typeface="Courier New" pitchFamily="49" charset="0"/>
              </a:rPr>
              <a:t>("Test Rettangolo");</a:t>
            </a:r>
          </a:p>
          <a:p>
            <a:pPr>
              <a:buNone/>
            </a:pPr>
            <a:r>
              <a:rPr lang="it-IT" sz="1800" dirty="0">
                <a:latin typeface="Courier New" pitchFamily="49" charset="0"/>
                <a:cs typeface="Courier New" pitchFamily="49" charset="0"/>
              </a:rPr>
              <a:t>	  </a:t>
            </a:r>
            <a:r>
              <a:rPr lang="it-IT" sz="1800" dirty="0" err="1">
                <a:latin typeface="Courier New" pitchFamily="49" charset="0"/>
                <a:cs typeface="Courier New" pitchFamily="49" charset="0"/>
              </a:rPr>
              <a:t>double</a:t>
            </a:r>
            <a:r>
              <a:rPr lang="it-IT" sz="1800" dirty="0">
                <a:latin typeface="Courier New" pitchFamily="49" charset="0"/>
                <a:cs typeface="Courier New" pitchFamily="49" charset="0"/>
              </a:rPr>
              <a:t> b = </a:t>
            </a:r>
            <a:r>
              <a:rPr lang="it-IT" sz="1800" dirty="0" err="1">
                <a:latin typeface="Courier New" pitchFamily="49" charset="0"/>
                <a:cs typeface="Courier New" pitchFamily="49" charset="0"/>
              </a:rPr>
              <a:t>in.readDouble</a:t>
            </a:r>
            <a:r>
              <a:rPr lang="it-IT" sz="1800" dirty="0">
                <a:latin typeface="Courier New" pitchFamily="49" charset="0"/>
                <a:cs typeface="Courier New" pitchFamily="49" charset="0"/>
              </a:rPr>
              <a:t>("Base primo rettangolo?");</a:t>
            </a:r>
          </a:p>
          <a:p>
            <a:pPr>
              <a:buNone/>
            </a:pPr>
            <a:r>
              <a:rPr lang="it-IT" sz="1800" dirty="0">
                <a:latin typeface="Courier New" pitchFamily="49" charset="0"/>
                <a:cs typeface="Courier New" pitchFamily="49" charset="0"/>
              </a:rPr>
              <a:t>	  </a:t>
            </a:r>
            <a:r>
              <a:rPr lang="it-IT" sz="1800" dirty="0" err="1">
                <a:latin typeface="Courier New" pitchFamily="49" charset="0"/>
                <a:cs typeface="Courier New" pitchFamily="49" charset="0"/>
              </a:rPr>
              <a:t>double</a:t>
            </a:r>
            <a:r>
              <a:rPr lang="it-IT" sz="1800" dirty="0">
                <a:latin typeface="Courier New" pitchFamily="49" charset="0"/>
                <a:cs typeface="Courier New" pitchFamily="49" charset="0"/>
              </a:rPr>
              <a:t> a = </a:t>
            </a:r>
            <a:r>
              <a:rPr lang="it-IT" sz="1800" dirty="0" err="1">
                <a:latin typeface="Courier New" pitchFamily="49" charset="0"/>
                <a:cs typeface="Courier New" pitchFamily="49" charset="0"/>
              </a:rPr>
              <a:t>in.readDouble</a:t>
            </a:r>
            <a:r>
              <a:rPr lang="it-IT" sz="1800" dirty="0">
                <a:latin typeface="Courier New" pitchFamily="49" charset="0"/>
                <a:cs typeface="Courier New" pitchFamily="49" charset="0"/>
              </a:rPr>
              <a:t>("Altezza primo rettangolo?");</a:t>
            </a:r>
          </a:p>
          <a:p>
            <a:pPr>
              <a:buNone/>
            </a:pPr>
            <a:r>
              <a:rPr lang="it-IT" sz="1800" dirty="0">
                <a:latin typeface="Courier New" pitchFamily="49" charset="0"/>
                <a:cs typeface="Courier New" pitchFamily="49" charset="0"/>
              </a:rPr>
              <a:t>	  Rettangolo rett1 = </a:t>
            </a:r>
            <a:r>
              <a:rPr lang="it-IT" sz="1800" dirty="0" err="1">
                <a:latin typeface="Courier New" pitchFamily="49" charset="0"/>
                <a:cs typeface="Courier New" pitchFamily="49" charset="0"/>
              </a:rPr>
              <a:t>new</a:t>
            </a:r>
            <a:r>
              <a:rPr lang="it-IT" sz="1800" dirty="0">
                <a:latin typeface="Courier New" pitchFamily="49" charset="0"/>
                <a:cs typeface="Courier New" pitchFamily="49" charset="0"/>
              </a:rPr>
              <a:t> Rettangolo(b, a);</a:t>
            </a:r>
          </a:p>
          <a:p>
            <a:pPr>
              <a:buNone/>
            </a:pPr>
            <a:r>
              <a:rPr lang="it-IT" sz="1800" dirty="0">
                <a:latin typeface="Courier New" pitchFamily="49" charset="0"/>
                <a:cs typeface="Courier New" pitchFamily="49" charset="0"/>
              </a:rPr>
              <a:t>	  </a:t>
            </a:r>
            <a:r>
              <a:rPr lang="it-IT" sz="1800" dirty="0" err="1">
                <a:latin typeface="Courier New" pitchFamily="49" charset="0"/>
                <a:cs typeface="Courier New" pitchFamily="49" charset="0"/>
              </a:rPr>
              <a:t>out.write</a:t>
            </a:r>
            <a:r>
              <a:rPr lang="it-IT" sz="1800" dirty="0">
                <a:latin typeface="Courier New" pitchFamily="49" charset="0"/>
                <a:cs typeface="Courier New" pitchFamily="49" charset="0"/>
              </a:rPr>
              <a:t>("Rettangoli creati: ");</a:t>
            </a:r>
          </a:p>
          <a:p>
            <a:pPr>
              <a:buNone/>
            </a:pPr>
            <a:r>
              <a:rPr lang="it-IT" sz="1800" dirty="0">
                <a:latin typeface="Courier New" pitchFamily="49" charset="0"/>
                <a:cs typeface="Courier New" pitchFamily="49" charset="0"/>
              </a:rPr>
              <a:t>	  </a:t>
            </a:r>
            <a:r>
              <a:rPr lang="it-IT" sz="1800" dirty="0" err="1">
                <a:latin typeface="Courier New" pitchFamily="49" charset="0"/>
                <a:cs typeface="Courier New" pitchFamily="49" charset="0"/>
              </a:rPr>
              <a:t>out.writeln</a:t>
            </a:r>
            <a:r>
              <a:rPr lang="it-IT" sz="18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it-IT" sz="1800" dirty="0" err="1">
                <a:latin typeface="Courier New" pitchFamily="49" charset="0"/>
                <a:cs typeface="Courier New" pitchFamily="49" charset="0"/>
              </a:rPr>
              <a:t>Rettangolo.rettCreati</a:t>
            </a:r>
            <a:r>
              <a:rPr lang="it-IT" sz="1800" dirty="0">
                <a:latin typeface="Courier New" pitchFamily="49" charset="0"/>
                <a:cs typeface="Courier New" pitchFamily="49" charset="0"/>
              </a:rPr>
              <a:t>());</a:t>
            </a:r>
          </a:p>
          <a:p>
            <a:pPr>
              <a:buNone/>
            </a:pPr>
            <a:r>
              <a:rPr lang="it-IT" sz="1800" dirty="0">
                <a:latin typeface="Courier New" pitchFamily="49" charset="0"/>
                <a:cs typeface="Courier New" pitchFamily="49" charset="0"/>
              </a:rPr>
              <a:t>	  </a:t>
            </a:r>
            <a:r>
              <a:rPr lang="it-IT" sz="1800" dirty="0" err="1">
                <a:latin typeface="Courier New" pitchFamily="49" charset="0"/>
                <a:cs typeface="Courier New" pitchFamily="49" charset="0"/>
              </a:rPr>
              <a:t>out.write</a:t>
            </a:r>
            <a:r>
              <a:rPr lang="it-IT" sz="1800" dirty="0">
                <a:latin typeface="Courier New" pitchFamily="49" charset="0"/>
                <a:cs typeface="Courier New" pitchFamily="49" charset="0"/>
              </a:rPr>
              <a:t>("Perimetro primo rettangolo: ");</a:t>
            </a:r>
          </a:p>
          <a:p>
            <a:pPr>
              <a:buNone/>
            </a:pPr>
            <a:r>
              <a:rPr lang="it-IT" sz="1800" dirty="0">
                <a:latin typeface="Courier New" pitchFamily="49" charset="0"/>
                <a:cs typeface="Courier New" pitchFamily="49" charset="0"/>
              </a:rPr>
              <a:t>	  </a:t>
            </a:r>
            <a:r>
              <a:rPr lang="it-IT" sz="1800" dirty="0" err="1">
                <a:latin typeface="Courier New" pitchFamily="49" charset="0"/>
                <a:cs typeface="Courier New" pitchFamily="49" charset="0"/>
              </a:rPr>
              <a:t>out.writeln</a:t>
            </a:r>
            <a:r>
              <a:rPr lang="it-IT" sz="1800" dirty="0">
                <a:latin typeface="Courier New" pitchFamily="49" charset="0"/>
                <a:cs typeface="Courier New" pitchFamily="49" charset="0"/>
              </a:rPr>
              <a:t>(rett1.perimetro());</a:t>
            </a:r>
          </a:p>
          <a:p>
            <a:pPr>
              <a:buNone/>
            </a:pPr>
            <a:r>
              <a:rPr lang="it-IT" sz="1800" dirty="0">
                <a:latin typeface="Courier New" pitchFamily="49" charset="0"/>
                <a:cs typeface="Courier New" pitchFamily="49" charset="0"/>
              </a:rPr>
              <a:t>	  ...</a:t>
            </a:r>
          </a:p>
          <a:p>
            <a:pPr>
              <a:buNone/>
            </a:pPr>
            <a:r>
              <a:rPr lang="it-IT" sz="1800" dirty="0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buNone/>
            </a:pPr>
            <a:r>
              <a:rPr lang="it-IT" sz="18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Test della classe Rettangolo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it-IT" sz="1800" dirty="0">
                <a:latin typeface="Courier New" pitchFamily="49" charset="0"/>
                <a:cs typeface="Courier New" pitchFamily="49" charset="0"/>
              </a:rPr>
              <a:t>import fond.io.*;</a:t>
            </a:r>
          </a:p>
          <a:p>
            <a:pPr>
              <a:buNone/>
            </a:pPr>
            <a:r>
              <a:rPr lang="it-IT" sz="1800" dirty="0">
                <a:latin typeface="Courier New" pitchFamily="49" charset="0"/>
                <a:cs typeface="Courier New" pitchFamily="49" charset="0"/>
              </a:rPr>
              <a:t>public </a:t>
            </a:r>
            <a:r>
              <a:rPr lang="it-IT" sz="1800" dirty="0" err="1">
                <a:latin typeface="Courier New" pitchFamily="49" charset="0"/>
                <a:cs typeface="Courier New" pitchFamily="49" charset="0"/>
              </a:rPr>
              <a:t>class</a:t>
            </a:r>
            <a:r>
              <a:rPr lang="it-IT" sz="18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1800" dirty="0" err="1">
                <a:latin typeface="Courier New" pitchFamily="49" charset="0"/>
                <a:cs typeface="Courier New" pitchFamily="49" charset="0"/>
              </a:rPr>
              <a:t>TestRettangolo</a:t>
            </a:r>
            <a:r>
              <a:rPr lang="it-IT" sz="18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it-IT" sz="1800" dirty="0">
                <a:latin typeface="Courier New" pitchFamily="49" charset="0"/>
                <a:cs typeface="Courier New" pitchFamily="49" charset="0"/>
              </a:rPr>
              <a:t>	public </a:t>
            </a:r>
            <a:r>
              <a:rPr lang="it-IT" sz="1800" dirty="0" err="1">
                <a:latin typeface="Courier New" pitchFamily="49" charset="0"/>
                <a:cs typeface="Courier New" pitchFamily="49" charset="0"/>
              </a:rPr>
              <a:t>static</a:t>
            </a:r>
            <a:r>
              <a:rPr lang="it-IT" sz="18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1800" dirty="0" err="1">
                <a:latin typeface="Courier New" pitchFamily="49" charset="0"/>
                <a:cs typeface="Courier New" pitchFamily="49" charset="0"/>
              </a:rPr>
              <a:t>void</a:t>
            </a:r>
            <a:r>
              <a:rPr lang="it-IT" sz="18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1800" dirty="0" err="1">
                <a:latin typeface="Courier New" pitchFamily="49" charset="0"/>
                <a:cs typeface="Courier New" pitchFamily="49" charset="0"/>
              </a:rPr>
              <a:t>main</a:t>
            </a:r>
            <a:r>
              <a:rPr lang="it-IT" sz="18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it-IT" sz="1800" dirty="0" err="1">
                <a:latin typeface="Courier New" pitchFamily="49" charset="0"/>
                <a:cs typeface="Courier New" pitchFamily="49" charset="0"/>
              </a:rPr>
              <a:t>String</a:t>
            </a:r>
            <a:r>
              <a:rPr lang="it-IT" sz="1800" dirty="0">
                <a:latin typeface="Courier New" pitchFamily="49" charset="0"/>
                <a:cs typeface="Courier New" pitchFamily="49" charset="0"/>
              </a:rPr>
              <a:t>[] </a:t>
            </a:r>
            <a:r>
              <a:rPr lang="it-IT" sz="1800" dirty="0" err="1">
                <a:latin typeface="Courier New" pitchFamily="49" charset="0"/>
                <a:cs typeface="Courier New" pitchFamily="49" charset="0"/>
              </a:rPr>
              <a:t>args</a:t>
            </a:r>
            <a:r>
              <a:rPr lang="it-IT" sz="1800" dirty="0">
                <a:latin typeface="Courier New" pitchFamily="49" charset="0"/>
                <a:cs typeface="Courier New" pitchFamily="49" charset="0"/>
              </a:rPr>
              <a:t>){</a:t>
            </a:r>
          </a:p>
          <a:p>
            <a:pPr>
              <a:buNone/>
            </a:pPr>
            <a:r>
              <a:rPr lang="it-IT" sz="1800" dirty="0">
                <a:latin typeface="Courier New" pitchFamily="49" charset="0"/>
                <a:cs typeface="Courier New" pitchFamily="49" charset="0"/>
              </a:rPr>
              <a:t>	  ...</a:t>
            </a:r>
          </a:p>
          <a:p>
            <a:pPr>
              <a:buNone/>
            </a:pPr>
            <a:r>
              <a:rPr lang="it-IT" sz="1800" dirty="0">
                <a:latin typeface="Courier New" pitchFamily="49" charset="0"/>
                <a:cs typeface="Courier New" pitchFamily="49" charset="0"/>
              </a:rPr>
              <a:t>	  </a:t>
            </a:r>
            <a:r>
              <a:rPr lang="it-IT" sz="1800" dirty="0" err="1">
                <a:latin typeface="Courier New" pitchFamily="49" charset="0"/>
                <a:cs typeface="Courier New" pitchFamily="49" charset="0"/>
              </a:rPr>
              <a:t>double</a:t>
            </a:r>
            <a:r>
              <a:rPr lang="it-IT" sz="1800" dirty="0">
                <a:latin typeface="Courier New" pitchFamily="49" charset="0"/>
                <a:cs typeface="Courier New" pitchFamily="49" charset="0"/>
              </a:rPr>
              <a:t> f=in.readDouble("</a:t>
            </a:r>
            <a:r>
              <a:rPr lang="it-IT" sz="1800" dirty="0" err="1">
                <a:latin typeface="Courier New" pitchFamily="49" charset="0"/>
                <a:cs typeface="Courier New" pitchFamily="49" charset="0"/>
              </a:rPr>
              <a:t>Fraz</a:t>
            </a:r>
            <a:r>
              <a:rPr lang="it-IT" sz="1800" dirty="0">
                <a:latin typeface="Courier New" pitchFamily="49" charset="0"/>
                <a:cs typeface="Courier New" pitchFamily="49" charset="0"/>
              </a:rPr>
              <a:t>. di area desiderata?");</a:t>
            </a:r>
          </a:p>
          <a:p>
            <a:pPr>
              <a:buNone/>
            </a:pPr>
            <a:r>
              <a:rPr lang="it-IT" sz="1800" dirty="0">
                <a:latin typeface="Courier New" pitchFamily="49" charset="0"/>
                <a:cs typeface="Courier New" pitchFamily="49" charset="0"/>
              </a:rPr>
              <a:t>	  </a:t>
            </a:r>
            <a:r>
              <a:rPr lang="it-IT" sz="1800" dirty="0" err="1">
                <a:latin typeface="Courier New" pitchFamily="49" charset="0"/>
                <a:cs typeface="Courier New" pitchFamily="49" charset="0"/>
              </a:rPr>
              <a:t>out.write</a:t>
            </a:r>
            <a:r>
              <a:rPr lang="it-IT" sz="1800" dirty="0">
                <a:latin typeface="Courier New" pitchFamily="49" charset="0"/>
                <a:cs typeface="Courier New" pitchFamily="49" charset="0"/>
              </a:rPr>
              <a:t>("Frazione area primo rettangolo: ");</a:t>
            </a:r>
          </a:p>
          <a:p>
            <a:pPr>
              <a:buNone/>
            </a:pPr>
            <a:r>
              <a:rPr lang="it-IT" sz="1800" dirty="0">
                <a:latin typeface="Courier New" pitchFamily="49" charset="0"/>
                <a:cs typeface="Courier New" pitchFamily="49" charset="0"/>
              </a:rPr>
              <a:t>	  </a:t>
            </a:r>
            <a:r>
              <a:rPr lang="it-IT" sz="1800" dirty="0" err="1">
                <a:latin typeface="Courier New" pitchFamily="49" charset="0"/>
                <a:cs typeface="Courier New" pitchFamily="49" charset="0"/>
              </a:rPr>
              <a:t>out.writeln</a:t>
            </a:r>
            <a:r>
              <a:rPr lang="it-IT" sz="1800" dirty="0">
                <a:latin typeface="Courier New" pitchFamily="49" charset="0"/>
                <a:cs typeface="Courier New" pitchFamily="49" charset="0"/>
              </a:rPr>
              <a:t>(rett1.frazioneDiArea(f));</a:t>
            </a:r>
          </a:p>
          <a:p>
            <a:pPr>
              <a:buNone/>
            </a:pPr>
            <a:r>
              <a:rPr lang="it-IT" sz="1800" dirty="0">
                <a:latin typeface="Courier New" pitchFamily="49" charset="0"/>
                <a:cs typeface="Courier New" pitchFamily="49" charset="0"/>
              </a:rPr>
              <a:t>	  b = </a:t>
            </a:r>
            <a:r>
              <a:rPr lang="it-IT" sz="1800" dirty="0" err="1">
                <a:latin typeface="Courier New" pitchFamily="49" charset="0"/>
                <a:cs typeface="Courier New" pitchFamily="49" charset="0"/>
              </a:rPr>
              <a:t>in.readDouble</a:t>
            </a:r>
            <a:r>
              <a:rPr lang="it-IT" sz="1800" dirty="0">
                <a:latin typeface="Courier New" pitchFamily="49" charset="0"/>
                <a:cs typeface="Courier New" pitchFamily="49" charset="0"/>
              </a:rPr>
              <a:t>("Nuova base primo rettangolo?");</a:t>
            </a:r>
          </a:p>
          <a:p>
            <a:pPr>
              <a:buNone/>
            </a:pPr>
            <a:r>
              <a:rPr lang="it-IT" sz="1800" dirty="0">
                <a:latin typeface="Courier New" pitchFamily="49" charset="0"/>
                <a:cs typeface="Courier New" pitchFamily="49" charset="0"/>
              </a:rPr>
              <a:t>	  a = </a:t>
            </a:r>
            <a:r>
              <a:rPr lang="it-IT" sz="1800" dirty="0" err="1">
                <a:latin typeface="Courier New" pitchFamily="49" charset="0"/>
                <a:cs typeface="Courier New" pitchFamily="49" charset="0"/>
              </a:rPr>
              <a:t>in.readDouble</a:t>
            </a:r>
            <a:r>
              <a:rPr lang="it-IT" sz="1800" dirty="0">
                <a:latin typeface="Courier New" pitchFamily="49" charset="0"/>
                <a:cs typeface="Courier New" pitchFamily="49" charset="0"/>
              </a:rPr>
              <a:t>("Nuova altezza primo rettangolo?");</a:t>
            </a:r>
          </a:p>
          <a:p>
            <a:pPr>
              <a:buNone/>
            </a:pPr>
            <a:r>
              <a:rPr lang="it-IT" sz="1800" dirty="0">
                <a:latin typeface="Courier New" pitchFamily="49" charset="0"/>
                <a:cs typeface="Courier New" pitchFamily="49" charset="0"/>
              </a:rPr>
              <a:t>	  rett1.cambiaDimensioni(b, a);</a:t>
            </a:r>
          </a:p>
          <a:p>
            <a:pPr>
              <a:buNone/>
            </a:pPr>
            <a:r>
              <a:rPr lang="it-IT" sz="1800" dirty="0">
                <a:latin typeface="Courier New" pitchFamily="49" charset="0"/>
                <a:cs typeface="Courier New" pitchFamily="49" charset="0"/>
              </a:rPr>
              <a:t>	  </a:t>
            </a:r>
            <a:r>
              <a:rPr lang="it-IT" sz="1800" dirty="0" err="1">
                <a:latin typeface="Courier New" pitchFamily="49" charset="0"/>
                <a:cs typeface="Courier New" pitchFamily="49" charset="0"/>
              </a:rPr>
              <a:t>out.write</a:t>
            </a:r>
            <a:r>
              <a:rPr lang="it-IT" sz="1800" dirty="0">
                <a:latin typeface="Courier New" pitchFamily="49" charset="0"/>
                <a:cs typeface="Courier New" pitchFamily="49" charset="0"/>
              </a:rPr>
              <a:t>("Perimetro primo rettangolo: ");</a:t>
            </a:r>
          </a:p>
          <a:p>
            <a:pPr>
              <a:buNone/>
            </a:pPr>
            <a:r>
              <a:rPr lang="it-IT" sz="1800" dirty="0">
                <a:latin typeface="Courier New" pitchFamily="49" charset="0"/>
                <a:cs typeface="Courier New" pitchFamily="49" charset="0"/>
              </a:rPr>
              <a:t>	  </a:t>
            </a:r>
            <a:r>
              <a:rPr lang="it-IT" sz="1800" dirty="0" err="1">
                <a:latin typeface="Courier New" pitchFamily="49" charset="0"/>
                <a:cs typeface="Courier New" pitchFamily="49" charset="0"/>
              </a:rPr>
              <a:t>out.writeln</a:t>
            </a:r>
            <a:r>
              <a:rPr lang="it-IT" sz="1800" dirty="0">
                <a:latin typeface="Courier New" pitchFamily="49" charset="0"/>
                <a:cs typeface="Courier New" pitchFamily="49" charset="0"/>
              </a:rPr>
              <a:t>(rett1.perimetro());</a:t>
            </a:r>
          </a:p>
          <a:p>
            <a:pPr>
              <a:buNone/>
            </a:pPr>
            <a:r>
              <a:rPr lang="it-IT" sz="1800" dirty="0">
                <a:latin typeface="Courier New" pitchFamily="49" charset="0"/>
                <a:cs typeface="Courier New" pitchFamily="49" charset="0"/>
              </a:rPr>
              <a:t>	  b = </a:t>
            </a:r>
            <a:r>
              <a:rPr lang="it-IT" sz="1800" dirty="0" err="1">
                <a:latin typeface="Courier New" pitchFamily="49" charset="0"/>
                <a:cs typeface="Courier New" pitchFamily="49" charset="0"/>
              </a:rPr>
              <a:t>in.readDouble</a:t>
            </a:r>
            <a:r>
              <a:rPr lang="it-IT" sz="1800" dirty="0">
                <a:latin typeface="Courier New" pitchFamily="49" charset="0"/>
                <a:cs typeface="Courier New" pitchFamily="49" charset="0"/>
              </a:rPr>
              <a:t>("Base secondo rettangolo?");</a:t>
            </a:r>
          </a:p>
          <a:p>
            <a:pPr>
              <a:buNone/>
            </a:pPr>
            <a:r>
              <a:rPr lang="it-IT" sz="1800" dirty="0">
                <a:latin typeface="Courier New" pitchFamily="49" charset="0"/>
                <a:cs typeface="Courier New" pitchFamily="49" charset="0"/>
              </a:rPr>
              <a:t>	  ...</a:t>
            </a:r>
          </a:p>
          <a:p>
            <a:pPr>
              <a:buNone/>
            </a:pPr>
            <a:r>
              <a:rPr lang="it-IT" sz="1800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>
              <a:buNone/>
            </a:pPr>
            <a:r>
              <a:rPr lang="it-IT" sz="18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Test della classe Rettangolo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it-IT" sz="1800" dirty="0">
                <a:latin typeface="Courier New" pitchFamily="49" charset="0"/>
                <a:cs typeface="Courier New" pitchFamily="49" charset="0"/>
              </a:rPr>
              <a:t>import fond.io.*;</a:t>
            </a:r>
          </a:p>
          <a:p>
            <a:pPr>
              <a:buNone/>
            </a:pPr>
            <a:r>
              <a:rPr lang="it-IT" sz="1800" dirty="0">
                <a:latin typeface="Courier New" pitchFamily="49" charset="0"/>
                <a:cs typeface="Courier New" pitchFamily="49" charset="0"/>
              </a:rPr>
              <a:t>public </a:t>
            </a:r>
            <a:r>
              <a:rPr lang="it-IT" sz="1800" dirty="0" err="1">
                <a:latin typeface="Courier New" pitchFamily="49" charset="0"/>
                <a:cs typeface="Courier New" pitchFamily="49" charset="0"/>
              </a:rPr>
              <a:t>class</a:t>
            </a:r>
            <a:r>
              <a:rPr lang="it-IT" sz="18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1800" dirty="0" err="1">
                <a:latin typeface="Courier New" pitchFamily="49" charset="0"/>
                <a:cs typeface="Courier New" pitchFamily="49" charset="0"/>
              </a:rPr>
              <a:t>TestRettangolo</a:t>
            </a:r>
            <a:r>
              <a:rPr lang="it-IT" sz="18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it-IT" sz="1800" dirty="0">
                <a:latin typeface="Courier New" pitchFamily="49" charset="0"/>
                <a:cs typeface="Courier New" pitchFamily="49" charset="0"/>
              </a:rPr>
              <a:t>	public </a:t>
            </a:r>
            <a:r>
              <a:rPr lang="it-IT" sz="1800" dirty="0" err="1">
                <a:latin typeface="Courier New" pitchFamily="49" charset="0"/>
                <a:cs typeface="Courier New" pitchFamily="49" charset="0"/>
              </a:rPr>
              <a:t>static</a:t>
            </a:r>
            <a:r>
              <a:rPr lang="it-IT" sz="18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1800" dirty="0" err="1">
                <a:latin typeface="Courier New" pitchFamily="49" charset="0"/>
                <a:cs typeface="Courier New" pitchFamily="49" charset="0"/>
              </a:rPr>
              <a:t>void</a:t>
            </a:r>
            <a:r>
              <a:rPr lang="it-IT" sz="18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1800" dirty="0" err="1">
                <a:latin typeface="Courier New" pitchFamily="49" charset="0"/>
                <a:cs typeface="Courier New" pitchFamily="49" charset="0"/>
              </a:rPr>
              <a:t>main</a:t>
            </a:r>
            <a:r>
              <a:rPr lang="it-IT" sz="18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it-IT" sz="1800" dirty="0" err="1">
                <a:latin typeface="Courier New" pitchFamily="49" charset="0"/>
                <a:cs typeface="Courier New" pitchFamily="49" charset="0"/>
              </a:rPr>
              <a:t>String</a:t>
            </a:r>
            <a:r>
              <a:rPr lang="it-IT" sz="1800" dirty="0">
                <a:latin typeface="Courier New" pitchFamily="49" charset="0"/>
                <a:cs typeface="Courier New" pitchFamily="49" charset="0"/>
              </a:rPr>
              <a:t>[] </a:t>
            </a:r>
            <a:r>
              <a:rPr lang="it-IT" sz="1800" dirty="0" err="1">
                <a:latin typeface="Courier New" pitchFamily="49" charset="0"/>
                <a:cs typeface="Courier New" pitchFamily="49" charset="0"/>
              </a:rPr>
              <a:t>args</a:t>
            </a:r>
            <a:r>
              <a:rPr lang="it-IT" sz="1800" dirty="0">
                <a:latin typeface="Courier New" pitchFamily="49" charset="0"/>
                <a:cs typeface="Courier New" pitchFamily="49" charset="0"/>
              </a:rPr>
              <a:t>){</a:t>
            </a:r>
          </a:p>
          <a:p>
            <a:pPr>
              <a:buNone/>
            </a:pPr>
            <a:r>
              <a:rPr lang="it-IT" sz="1800" dirty="0">
                <a:latin typeface="Courier New" pitchFamily="49" charset="0"/>
                <a:cs typeface="Courier New" pitchFamily="49" charset="0"/>
              </a:rPr>
              <a:t>	  ...</a:t>
            </a:r>
          </a:p>
          <a:p>
            <a:pPr>
              <a:buNone/>
            </a:pPr>
            <a:r>
              <a:rPr lang="it-IT" sz="1800" dirty="0">
                <a:latin typeface="Courier New" pitchFamily="49" charset="0"/>
                <a:cs typeface="Courier New" pitchFamily="49" charset="0"/>
              </a:rPr>
              <a:t>	  a = </a:t>
            </a:r>
            <a:r>
              <a:rPr lang="it-IT" sz="1800" dirty="0" err="1">
                <a:latin typeface="Courier New" pitchFamily="49" charset="0"/>
                <a:cs typeface="Courier New" pitchFamily="49" charset="0"/>
              </a:rPr>
              <a:t>in.readDouble</a:t>
            </a:r>
            <a:r>
              <a:rPr lang="it-IT" sz="1800" dirty="0">
                <a:latin typeface="Courier New" pitchFamily="49" charset="0"/>
                <a:cs typeface="Courier New" pitchFamily="49" charset="0"/>
              </a:rPr>
              <a:t>("Altezza secondo rettangolo?");</a:t>
            </a:r>
          </a:p>
          <a:p>
            <a:pPr>
              <a:buNone/>
            </a:pPr>
            <a:r>
              <a:rPr lang="it-IT" sz="1800" dirty="0">
                <a:latin typeface="Courier New" pitchFamily="49" charset="0"/>
                <a:cs typeface="Courier New" pitchFamily="49" charset="0"/>
              </a:rPr>
              <a:t>	  Rettangolo rett2 = </a:t>
            </a:r>
            <a:r>
              <a:rPr lang="it-IT" sz="1800" dirty="0" err="1">
                <a:latin typeface="Courier New" pitchFamily="49" charset="0"/>
                <a:cs typeface="Courier New" pitchFamily="49" charset="0"/>
              </a:rPr>
              <a:t>new</a:t>
            </a:r>
            <a:r>
              <a:rPr lang="it-IT" sz="1800" dirty="0">
                <a:latin typeface="Courier New" pitchFamily="49" charset="0"/>
                <a:cs typeface="Courier New" pitchFamily="49" charset="0"/>
              </a:rPr>
              <a:t> Rettangolo(b, a);</a:t>
            </a:r>
          </a:p>
          <a:p>
            <a:pPr>
              <a:buNone/>
            </a:pPr>
            <a:r>
              <a:rPr lang="it-IT" sz="1800" dirty="0">
                <a:latin typeface="Courier New" pitchFamily="49" charset="0"/>
                <a:cs typeface="Courier New" pitchFamily="49" charset="0"/>
              </a:rPr>
              <a:t>	  </a:t>
            </a:r>
            <a:r>
              <a:rPr lang="it-IT" sz="1800" dirty="0" err="1">
                <a:latin typeface="Courier New" pitchFamily="49" charset="0"/>
                <a:cs typeface="Courier New" pitchFamily="49" charset="0"/>
              </a:rPr>
              <a:t>out.write</a:t>
            </a:r>
            <a:r>
              <a:rPr lang="it-IT" sz="1800" dirty="0">
                <a:latin typeface="Courier New" pitchFamily="49" charset="0"/>
                <a:cs typeface="Courier New" pitchFamily="49" charset="0"/>
              </a:rPr>
              <a:t>("Rettangoli creati: ");</a:t>
            </a:r>
          </a:p>
          <a:p>
            <a:pPr>
              <a:buNone/>
            </a:pPr>
            <a:r>
              <a:rPr lang="it-IT" sz="1800" dirty="0">
                <a:latin typeface="Courier New" pitchFamily="49" charset="0"/>
                <a:cs typeface="Courier New" pitchFamily="49" charset="0"/>
              </a:rPr>
              <a:t>	  </a:t>
            </a:r>
            <a:r>
              <a:rPr lang="it-IT" sz="1800" dirty="0" err="1">
                <a:latin typeface="Courier New" pitchFamily="49" charset="0"/>
                <a:cs typeface="Courier New" pitchFamily="49" charset="0"/>
              </a:rPr>
              <a:t>out.writeln</a:t>
            </a:r>
            <a:r>
              <a:rPr lang="it-IT" sz="18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it-IT" sz="1800" dirty="0" err="1">
                <a:latin typeface="Courier New" pitchFamily="49" charset="0"/>
                <a:cs typeface="Courier New" pitchFamily="49" charset="0"/>
              </a:rPr>
              <a:t>Rettangolo.rettCreati</a:t>
            </a:r>
            <a:r>
              <a:rPr lang="it-IT" sz="1800" dirty="0">
                <a:latin typeface="Courier New" pitchFamily="49" charset="0"/>
                <a:cs typeface="Courier New" pitchFamily="49" charset="0"/>
              </a:rPr>
              <a:t>());</a:t>
            </a:r>
          </a:p>
          <a:p>
            <a:pPr>
              <a:buNone/>
            </a:pPr>
            <a:r>
              <a:rPr lang="it-IT" sz="1800" dirty="0">
                <a:latin typeface="Courier New" pitchFamily="49" charset="0"/>
                <a:cs typeface="Courier New" pitchFamily="49" charset="0"/>
              </a:rPr>
              <a:t>	  </a:t>
            </a:r>
            <a:r>
              <a:rPr lang="it-IT" sz="1800" dirty="0" err="1">
                <a:latin typeface="Courier New" pitchFamily="49" charset="0"/>
                <a:cs typeface="Courier New" pitchFamily="49" charset="0"/>
              </a:rPr>
              <a:t>out.write</a:t>
            </a:r>
            <a:r>
              <a:rPr lang="it-IT" sz="1800" dirty="0">
                <a:latin typeface="Courier New" pitchFamily="49" charset="0"/>
                <a:cs typeface="Courier New" pitchFamily="49" charset="0"/>
              </a:rPr>
              <a:t>("Perimetro secondo rettangolo: ");</a:t>
            </a:r>
          </a:p>
          <a:p>
            <a:pPr>
              <a:buNone/>
            </a:pPr>
            <a:r>
              <a:rPr lang="it-IT" sz="1800" dirty="0">
                <a:latin typeface="Courier New" pitchFamily="49" charset="0"/>
                <a:cs typeface="Courier New" pitchFamily="49" charset="0"/>
              </a:rPr>
              <a:t>	  </a:t>
            </a:r>
            <a:r>
              <a:rPr lang="it-IT" sz="1800" dirty="0" err="1">
                <a:latin typeface="Courier New" pitchFamily="49" charset="0"/>
                <a:cs typeface="Courier New" pitchFamily="49" charset="0"/>
              </a:rPr>
              <a:t>out.writeln</a:t>
            </a:r>
            <a:r>
              <a:rPr lang="it-IT" sz="1800" dirty="0">
                <a:latin typeface="Courier New" pitchFamily="49" charset="0"/>
                <a:cs typeface="Courier New" pitchFamily="49" charset="0"/>
              </a:rPr>
              <a:t>(rett2.perimetro());</a:t>
            </a:r>
          </a:p>
          <a:p>
            <a:pPr>
              <a:buNone/>
            </a:pPr>
            <a:r>
              <a:rPr lang="it-IT" sz="1800" dirty="0">
                <a:latin typeface="Courier New" pitchFamily="49" charset="0"/>
                <a:cs typeface="Courier New" pitchFamily="49" charset="0"/>
              </a:rPr>
              <a:t>	  </a:t>
            </a:r>
            <a:r>
              <a:rPr lang="it-IT" sz="1800" dirty="0" err="1">
                <a:latin typeface="Courier New" pitchFamily="49" charset="0"/>
                <a:cs typeface="Courier New" pitchFamily="49" charset="0"/>
              </a:rPr>
              <a:t>out.write</a:t>
            </a:r>
            <a:r>
              <a:rPr lang="it-IT" sz="1800" dirty="0">
                <a:latin typeface="Courier New" pitchFamily="49" charset="0"/>
                <a:cs typeface="Courier New" pitchFamily="49" charset="0"/>
              </a:rPr>
              <a:t>("Area secondo rettangolo: ");</a:t>
            </a:r>
          </a:p>
          <a:p>
            <a:pPr>
              <a:buNone/>
            </a:pPr>
            <a:r>
              <a:rPr lang="it-IT" sz="1800" dirty="0">
                <a:latin typeface="Courier New" pitchFamily="49" charset="0"/>
                <a:cs typeface="Courier New" pitchFamily="49" charset="0"/>
              </a:rPr>
              <a:t>	  </a:t>
            </a:r>
            <a:r>
              <a:rPr lang="it-IT" sz="1800" dirty="0" err="1">
                <a:latin typeface="Courier New" pitchFamily="49" charset="0"/>
                <a:cs typeface="Courier New" pitchFamily="49" charset="0"/>
              </a:rPr>
              <a:t>out.writeln</a:t>
            </a:r>
            <a:r>
              <a:rPr lang="it-IT" sz="1800" dirty="0">
                <a:latin typeface="Courier New" pitchFamily="49" charset="0"/>
                <a:cs typeface="Courier New" pitchFamily="49" charset="0"/>
              </a:rPr>
              <a:t>(rett2.frazioneDiArea(1));</a:t>
            </a:r>
          </a:p>
          <a:p>
            <a:pPr>
              <a:buNone/>
            </a:pPr>
            <a:r>
              <a:rPr lang="it-IT" sz="1800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>
              <a:buNone/>
            </a:pPr>
            <a:r>
              <a:rPr lang="it-IT" sz="18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Un altro esempio: Punto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Scriviamo una classe Punto per rappresentare punti nel piano cartesiano specificati tramite due coordinate reali </a:t>
            </a:r>
            <a:r>
              <a:rPr lang="it-IT" i="1" dirty="0"/>
              <a:t>x</a:t>
            </a:r>
            <a:r>
              <a:rPr lang="it-IT" dirty="0"/>
              <a:t> e </a:t>
            </a:r>
            <a:r>
              <a:rPr lang="it-IT" i="1" dirty="0"/>
              <a:t>y</a:t>
            </a:r>
          </a:p>
          <a:p>
            <a:r>
              <a:rPr lang="it-IT" dirty="0"/>
              <a:t>La classe avrà i seguenti costruttori e metodi:</a:t>
            </a:r>
          </a:p>
          <a:p>
            <a:pPr lvl="1"/>
            <a:r>
              <a:rPr lang="it-IT" i="1" dirty="0">
                <a:solidFill>
                  <a:schemeClr val="accent2"/>
                </a:solidFill>
              </a:rPr>
              <a:t>public Punto(double x, double y)</a:t>
            </a:r>
            <a:r>
              <a:rPr lang="it-IT" dirty="0"/>
              <a:t>: crea un oggetto </a:t>
            </a:r>
            <a:r>
              <a:rPr lang="it-IT" i="1" dirty="0">
                <a:solidFill>
                  <a:schemeClr val="accent2"/>
                </a:solidFill>
              </a:rPr>
              <a:t>Punto</a:t>
            </a:r>
            <a:r>
              <a:rPr lang="it-IT" dirty="0"/>
              <a:t> che rappresenta il punto (</a:t>
            </a:r>
            <a:r>
              <a:rPr lang="it-IT" i="1" dirty="0">
                <a:solidFill>
                  <a:schemeClr val="accent2"/>
                </a:solidFill>
              </a:rPr>
              <a:t>x</a:t>
            </a:r>
            <a:r>
              <a:rPr lang="it-IT" dirty="0"/>
              <a:t>,</a:t>
            </a:r>
            <a:r>
              <a:rPr lang="it-IT" i="1" dirty="0">
                <a:solidFill>
                  <a:schemeClr val="accent2"/>
                </a:solidFill>
              </a:rPr>
              <a:t>y</a:t>
            </a:r>
            <a:r>
              <a:rPr lang="it-IT" dirty="0"/>
              <a:t>)</a:t>
            </a:r>
            <a:endParaRPr lang="it-IT" i="1" dirty="0">
              <a:solidFill>
                <a:schemeClr val="accent2"/>
              </a:solidFill>
            </a:endParaRPr>
          </a:p>
          <a:p>
            <a:pPr lvl="1"/>
            <a:r>
              <a:rPr lang="it-IT" i="1" dirty="0">
                <a:solidFill>
                  <a:schemeClr val="accent2"/>
                </a:solidFill>
              </a:rPr>
              <a:t>public double getCoordX()</a:t>
            </a:r>
            <a:r>
              <a:rPr lang="it-IT" dirty="0"/>
              <a:t>: restituisce la coordinata </a:t>
            </a:r>
            <a:r>
              <a:rPr lang="it-IT" i="1" dirty="0"/>
              <a:t>x</a:t>
            </a:r>
            <a:r>
              <a:rPr lang="it-IT" dirty="0"/>
              <a:t> del punto rappresentato dall’oggetto ricevente</a:t>
            </a:r>
          </a:p>
          <a:p>
            <a:pPr lvl="1"/>
            <a:r>
              <a:rPr lang="it-IT" i="1" dirty="0">
                <a:solidFill>
                  <a:schemeClr val="accent2"/>
                </a:solidFill>
              </a:rPr>
              <a:t>public double getCoordY()</a:t>
            </a:r>
            <a:r>
              <a:rPr lang="it-IT" dirty="0"/>
              <a:t>: restituisce la coordinata </a:t>
            </a:r>
            <a:r>
              <a:rPr lang="it-IT" i="1" dirty="0"/>
              <a:t>y</a:t>
            </a:r>
            <a:r>
              <a:rPr lang="it-IT" dirty="0"/>
              <a:t> del punto rappresentato dall’oggetto ricevente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Un altro esempio: Punto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i="1" dirty="0">
                <a:solidFill>
                  <a:schemeClr val="accent2"/>
                </a:solidFill>
              </a:rPr>
              <a:t>public double distanzaDa(Punto p)</a:t>
            </a:r>
            <a:r>
              <a:rPr lang="it-IT" dirty="0"/>
              <a:t>: restituisce la distanza euclidea tra il punto rappresentato dall’oggetto ricevente e il punto rappresentato dall’oggetto </a:t>
            </a:r>
            <a:r>
              <a:rPr lang="it-IT" i="1" dirty="0">
                <a:solidFill>
                  <a:schemeClr val="accent2"/>
                </a:solidFill>
              </a:rPr>
              <a:t>p</a:t>
            </a:r>
          </a:p>
          <a:p>
            <a:r>
              <a:rPr lang="it-IT" i="1" dirty="0">
                <a:solidFill>
                  <a:schemeClr val="accent2"/>
                </a:solidFill>
              </a:rPr>
              <a:t>public Punto puntoTraslato(double dx, double dy)</a:t>
            </a:r>
            <a:r>
              <a:rPr lang="it-IT" dirty="0"/>
              <a:t>: restituisce un nuovo oggetto </a:t>
            </a:r>
            <a:r>
              <a:rPr lang="it-IT" i="1" dirty="0">
                <a:solidFill>
                  <a:schemeClr val="accent2"/>
                </a:solidFill>
              </a:rPr>
              <a:t>Punto</a:t>
            </a:r>
            <a:r>
              <a:rPr lang="it-IT" dirty="0"/>
              <a:t>, che rappresenta il punto del piano ottenuto traslando il punto rappresentato dall’oggetto ricevente di una quantità </a:t>
            </a:r>
            <a:r>
              <a:rPr lang="it-IT" i="1" dirty="0" err="1">
                <a:solidFill>
                  <a:schemeClr val="accent2"/>
                </a:solidFill>
              </a:rPr>
              <a:t>dx</a:t>
            </a:r>
            <a:r>
              <a:rPr lang="it-IT" dirty="0"/>
              <a:t> nella direzione x e di una quantità </a:t>
            </a:r>
            <a:r>
              <a:rPr lang="it-IT" i="1" dirty="0">
                <a:solidFill>
                  <a:schemeClr val="accent2"/>
                </a:solidFill>
              </a:rPr>
              <a:t>dy</a:t>
            </a:r>
            <a:r>
              <a:rPr lang="it-IT" dirty="0"/>
              <a:t> nella direzione y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Un altro esempio: Punto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it-IT" i="1" dirty="0">
                <a:solidFill>
                  <a:schemeClr val="accent2"/>
                </a:solidFill>
              </a:rPr>
              <a:t>public </a:t>
            </a:r>
            <a:r>
              <a:rPr lang="it-IT" i="1" dirty="0" err="1">
                <a:solidFill>
                  <a:schemeClr val="accent2"/>
                </a:solidFill>
              </a:rPr>
              <a:t>boolean</a:t>
            </a:r>
            <a:r>
              <a:rPr lang="it-IT" i="1" dirty="0">
                <a:solidFill>
                  <a:schemeClr val="accent2"/>
                </a:solidFill>
              </a:rPr>
              <a:t> </a:t>
            </a:r>
            <a:r>
              <a:rPr lang="it-IT" i="1" dirty="0" err="1">
                <a:solidFill>
                  <a:schemeClr val="accent2"/>
                </a:solidFill>
              </a:rPr>
              <a:t>equals</a:t>
            </a:r>
            <a:r>
              <a:rPr lang="it-IT" i="1" dirty="0">
                <a:solidFill>
                  <a:schemeClr val="accent2"/>
                </a:solidFill>
              </a:rPr>
              <a:t>(Punto p)</a:t>
            </a:r>
            <a:r>
              <a:rPr lang="it-IT" dirty="0"/>
              <a:t>: restituisce </a:t>
            </a:r>
            <a:r>
              <a:rPr lang="it-IT" i="1" dirty="0" err="1">
                <a:solidFill>
                  <a:schemeClr val="accent2"/>
                </a:solidFill>
              </a:rPr>
              <a:t>true</a:t>
            </a:r>
            <a:r>
              <a:rPr lang="it-IT" dirty="0"/>
              <a:t> se e solo se il punto rappresentato dall’oggetto ricevente coincide con il punto rappresentato dall’oggetto </a:t>
            </a:r>
            <a:r>
              <a:rPr lang="it-IT" i="1" dirty="0">
                <a:solidFill>
                  <a:schemeClr val="accent2"/>
                </a:solidFill>
              </a:rPr>
              <a:t>p</a:t>
            </a:r>
            <a:endParaRPr lang="it-IT" dirty="0"/>
          </a:p>
          <a:p>
            <a:r>
              <a:rPr lang="it-IT" i="1" dirty="0">
                <a:solidFill>
                  <a:schemeClr val="accent2"/>
                </a:solidFill>
              </a:rPr>
              <a:t>public String toString()</a:t>
            </a:r>
            <a:r>
              <a:rPr lang="it-IT" dirty="0"/>
              <a:t>: restituisce una descrizione sotto forma di stringa del punto rappresentato dall’oggetto ricevente</a:t>
            </a:r>
          </a:p>
          <a:p>
            <a:r>
              <a:rPr lang="it-IT" i="1" dirty="0">
                <a:solidFill>
                  <a:schemeClr val="accent2"/>
                </a:solidFill>
              </a:rPr>
              <a:t>public static double distanzaTra(Punto p1, Punto p2)</a:t>
            </a:r>
            <a:r>
              <a:rPr lang="it-IT" dirty="0"/>
              <a:t>: metodo statico che restituisce la distanza euclidea tra il punto rappresentato da </a:t>
            </a:r>
            <a:r>
              <a:rPr lang="it-IT" i="1" dirty="0">
                <a:solidFill>
                  <a:schemeClr val="accent2"/>
                </a:solidFill>
              </a:rPr>
              <a:t>p1</a:t>
            </a:r>
            <a:r>
              <a:rPr lang="it-IT" dirty="0"/>
              <a:t> e quello rappresentato da </a:t>
            </a:r>
            <a:r>
              <a:rPr lang="it-IT" i="1" dirty="0">
                <a:solidFill>
                  <a:schemeClr val="accent2"/>
                </a:solidFill>
              </a:rPr>
              <a:t>p2</a:t>
            </a:r>
            <a:endParaRPr lang="it-IT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La classe Punto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53790" y="2031743"/>
            <a:ext cx="6636420" cy="4440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ttangolo 4"/>
          <p:cNvSpPr/>
          <p:nvPr/>
        </p:nvSpPr>
        <p:spPr>
          <a:xfrm>
            <a:off x="1245564" y="2032712"/>
            <a:ext cx="6624736" cy="4392488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CasellaDiTesto 2"/>
          <p:cNvSpPr txBox="1"/>
          <p:nvPr/>
        </p:nvSpPr>
        <p:spPr>
          <a:xfrm>
            <a:off x="1619672" y="5661248"/>
            <a:ext cx="1008112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it-IT" sz="1600" dirty="0" err="1">
                <a:latin typeface="Courier" panose="02060409020205020404" pitchFamily="49" charset="0"/>
              </a:rPr>
              <a:t>String</a:t>
            </a:r>
            <a:endParaRPr lang="it-IT" sz="1600" dirty="0">
              <a:latin typeface="Courier" panose="02060409020205020404" pitchFamily="49" charset="0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La classe Punto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public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class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Punto{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private </a:t>
            </a:r>
            <a:r>
              <a:rPr lang="it-IT" sz="20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20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coordX</a:t>
            </a: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it-IT" sz="20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coordY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/* costruttore: crea un oggetto Punto con coordinate x e y specificate */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public Punto(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double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x,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double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y){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this.coordX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= x;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this.coordY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= y;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...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it-IT" dirty="0"/>
              <a:t>Un punto è rappresentato tramite le due variabili di istanza </a:t>
            </a:r>
            <a:r>
              <a:rPr lang="it-IT" i="1" dirty="0" err="1">
                <a:solidFill>
                  <a:schemeClr val="accent2"/>
                </a:solidFill>
              </a:rPr>
              <a:t>coordX</a:t>
            </a:r>
            <a:r>
              <a:rPr lang="it-IT" dirty="0"/>
              <a:t> e </a:t>
            </a:r>
            <a:r>
              <a:rPr lang="it-IT" i="1" dirty="0" err="1">
                <a:solidFill>
                  <a:schemeClr val="accent2"/>
                </a:solidFill>
              </a:rPr>
              <a:t>coordY</a:t>
            </a:r>
            <a:r>
              <a:rPr lang="it-IT" dirty="0"/>
              <a:t>, che rappresentano le coordinate del punto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La classe Punto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public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class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Punto{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private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double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coordX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coordY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/* costruttore: crea un oggetto Punto con coordinate x e y specificate */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public Punto(</a:t>
            </a:r>
            <a:r>
              <a:rPr lang="it-IT" sz="20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x, </a:t>
            </a:r>
            <a:r>
              <a:rPr lang="it-IT" sz="20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y){</a:t>
            </a:r>
          </a:p>
          <a:p>
            <a:pPr>
              <a:buNone/>
            </a:pP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it-IT" sz="20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this.coordX</a:t>
            </a: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= x;</a:t>
            </a:r>
          </a:p>
          <a:p>
            <a:pPr>
              <a:buNone/>
            </a:pP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it-IT" sz="20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this.coordY</a:t>
            </a: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= y;</a:t>
            </a:r>
          </a:p>
          <a:p>
            <a:pPr>
              <a:buNone/>
            </a:pP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...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it-IT" dirty="0"/>
              <a:t>Il costruttore inizializza le variabili di istanza con i valori passati tramite i parametri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La classe Punto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/* restituisce la coordinate x di questo Punto */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public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double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getCoordX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(){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t-IT" sz="20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20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this.coordX</a:t>
            </a: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buNone/>
            </a:pPr>
            <a:endParaRPr lang="it-IT" sz="2000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/* restituisce la coordinate y di questo Punto */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public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double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getCoordY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(){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t-IT" sz="20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20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this.coordY</a:t>
            </a: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it-IT" dirty="0"/>
              <a:t>I metodi </a:t>
            </a:r>
            <a:r>
              <a:rPr lang="it-IT" i="1" dirty="0" err="1">
                <a:solidFill>
                  <a:schemeClr val="accent2"/>
                </a:solidFill>
              </a:rPr>
              <a:t>getCoordX</a:t>
            </a:r>
            <a:r>
              <a:rPr lang="it-IT" i="1" dirty="0">
                <a:solidFill>
                  <a:schemeClr val="accent2"/>
                </a:solidFill>
              </a:rPr>
              <a:t>() </a:t>
            </a:r>
            <a:r>
              <a:rPr lang="it-IT" dirty="0"/>
              <a:t>e </a:t>
            </a:r>
            <a:r>
              <a:rPr lang="it-IT" i="1" dirty="0" err="1">
                <a:solidFill>
                  <a:schemeClr val="accent2"/>
                </a:solidFill>
              </a:rPr>
              <a:t>getCoordY</a:t>
            </a:r>
            <a:r>
              <a:rPr lang="it-IT" i="1" dirty="0">
                <a:solidFill>
                  <a:schemeClr val="accent2"/>
                </a:solidFill>
              </a:rPr>
              <a:t>() </a:t>
            </a:r>
            <a:r>
              <a:rPr lang="it-IT" dirty="0"/>
              <a:t>restituiscono il valore delle variabili di istanza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La classe Punto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/* restituisce la distanza tra questo Punto e p */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public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double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distanzaDa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(Punto p){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double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diffX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this.coordX-p.coordX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double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diffY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this.coordY-p.coordY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double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dist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Math.sqrt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(diffX*diffX+diffY*diffY);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return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dist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it-IT" dirty="0"/>
              <a:t>Il metodo </a:t>
            </a:r>
            <a:r>
              <a:rPr lang="it-IT" i="1" dirty="0" err="1">
                <a:solidFill>
                  <a:schemeClr val="accent2"/>
                </a:solidFill>
              </a:rPr>
              <a:t>distanzaDa</a:t>
            </a:r>
            <a:r>
              <a:rPr lang="it-IT" dirty="0"/>
              <a:t> calcola la distanza tra il punto rappresentato dall’oggetto ricevente e il punto rappresentato da </a:t>
            </a:r>
            <a:r>
              <a:rPr lang="it-IT" i="1" dirty="0">
                <a:solidFill>
                  <a:schemeClr val="accent2"/>
                </a:solidFill>
              </a:rPr>
              <a:t>p</a:t>
            </a:r>
            <a:r>
              <a:rPr lang="it-IT" dirty="0"/>
              <a:t> 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La classe Punto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/* restituisce la distanza tra questo Punto e p */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public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double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distanzaDa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(Punto p){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t-IT" sz="20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20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diffX</a:t>
            </a: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it-IT" sz="20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this.coordX-p.coordX</a:t>
            </a: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t-IT" sz="20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20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diffY</a:t>
            </a: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it-IT" sz="20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this.coordY-p.coordY</a:t>
            </a: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double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dist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Math.sqrt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(diffX*diffX+diffY*diffY);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return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dist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it-IT" dirty="0"/>
              <a:t>Nelle variabili locali </a:t>
            </a:r>
            <a:r>
              <a:rPr lang="it-IT" i="1" dirty="0" err="1">
                <a:solidFill>
                  <a:schemeClr val="accent2"/>
                </a:solidFill>
              </a:rPr>
              <a:t>diffX</a:t>
            </a:r>
            <a:r>
              <a:rPr lang="it-IT" dirty="0"/>
              <a:t> e </a:t>
            </a:r>
            <a:r>
              <a:rPr lang="it-IT" i="1" dirty="0" err="1">
                <a:solidFill>
                  <a:schemeClr val="accent2"/>
                </a:solidFill>
              </a:rPr>
              <a:t>diffY</a:t>
            </a:r>
            <a:r>
              <a:rPr lang="it-IT" dirty="0"/>
              <a:t> vengono memorizzate rispettivamente le differenze delle coordinate </a:t>
            </a:r>
            <a:r>
              <a:rPr lang="it-IT" i="1" dirty="0"/>
              <a:t>x</a:t>
            </a:r>
            <a:r>
              <a:rPr lang="it-IT" dirty="0"/>
              <a:t> e delle coordinate </a:t>
            </a:r>
            <a:r>
              <a:rPr lang="it-IT" i="1" dirty="0"/>
              <a:t>y</a:t>
            </a:r>
            <a:r>
              <a:rPr lang="it-IT" dirty="0"/>
              <a:t> dei due punti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La classe Punto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/* restituisce la distanza tra questo Punto e p */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public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double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distanzaDa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(Punto p){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double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diffX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this.coordX-p.coordX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double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diffY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this.coordY-p.coordY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t-IT" sz="20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20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dist</a:t>
            </a: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it-IT" sz="20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Math.sqrt</a:t>
            </a: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(diffX*diffX+diffY*diffY);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return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dist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it-IT" dirty="0"/>
              <a:t>Nella variabile </a:t>
            </a:r>
            <a:r>
              <a:rPr lang="it-IT" i="1" dirty="0" err="1">
                <a:solidFill>
                  <a:schemeClr val="accent2"/>
                </a:solidFill>
              </a:rPr>
              <a:t>dist</a:t>
            </a:r>
            <a:r>
              <a:rPr lang="it-IT" dirty="0"/>
              <a:t> viene memorizzata la distanza tra i due punti calcolata secondo la formula della distanza euclidea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La classe Punto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/* restituisce la distanza tra questo Punto e p */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public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double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distanzaDa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(Punto p){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double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diffX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this.coordX-p.coordX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double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diffY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this.coordY-p.coordY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double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dist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Math.sqrt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(diffX*diffX+diffY*diffY);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t-IT" sz="20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20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dist</a:t>
            </a: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it-IT" dirty="0"/>
              <a:t>La distanza calcolata viene restituita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La classe Punto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/* restituisce un nuovo Punto ottenuto traslando questo Punto di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dx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nella direzione dell'asse x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  e di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dy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nella direzione dell'asse y */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public Punto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puntoTraslato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double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dx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double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dy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){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t-IT" sz="20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20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new</a:t>
            </a: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Punto(this.coordX+dx, this.coordY+dy);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buNone/>
            </a:pPr>
            <a:endParaRPr lang="it-IT" sz="2000" dirty="0">
              <a:latin typeface="Courier New" pitchFamily="49" charset="0"/>
              <a:cs typeface="Courier New" pitchFamily="49" charset="0"/>
            </a:endParaRPr>
          </a:p>
          <a:p>
            <a:r>
              <a:rPr lang="it-IT" dirty="0"/>
              <a:t>Il metodo </a:t>
            </a:r>
            <a:r>
              <a:rPr lang="it-IT" i="1" dirty="0" err="1">
                <a:solidFill>
                  <a:schemeClr val="accent2"/>
                </a:solidFill>
              </a:rPr>
              <a:t>puntoTraslato</a:t>
            </a:r>
            <a:r>
              <a:rPr lang="it-IT" dirty="0"/>
              <a:t> crea e restituisce un oggetto </a:t>
            </a:r>
            <a:r>
              <a:rPr lang="it-IT" i="1" dirty="0">
                <a:solidFill>
                  <a:schemeClr val="accent2"/>
                </a:solidFill>
              </a:rPr>
              <a:t>Punto </a:t>
            </a:r>
            <a:r>
              <a:rPr lang="it-IT" dirty="0"/>
              <a:t>le cui coordinate sono </a:t>
            </a:r>
            <a:r>
              <a:rPr lang="it-IT" i="1" dirty="0">
                <a:solidFill>
                  <a:schemeClr val="accent2"/>
                </a:solidFill>
              </a:rPr>
              <a:t>this.coordX+dx</a:t>
            </a:r>
            <a:r>
              <a:rPr lang="it-IT" dirty="0"/>
              <a:t> e </a:t>
            </a:r>
            <a:r>
              <a:rPr lang="it-IT" i="1" dirty="0">
                <a:solidFill>
                  <a:schemeClr val="accent2"/>
                </a:solidFill>
              </a:rPr>
              <a:t>this.cordY+dy</a:t>
            </a:r>
          </a:p>
          <a:p>
            <a:pPr>
              <a:buNone/>
            </a:pPr>
            <a:endParaRPr lang="it-IT" sz="2000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La classe Punto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/* restituisce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true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se questo Punto e il punto p hanno le stesse coordinate */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public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boolean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equals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(Punto p){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t-IT" sz="20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(this.coordX==p.coordX &amp;&amp; 				    this.coordY==p.coordY);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buNone/>
            </a:pPr>
            <a:endParaRPr lang="it-IT" sz="2000" dirty="0">
              <a:latin typeface="Courier New" pitchFamily="49" charset="0"/>
              <a:cs typeface="Courier New" pitchFamily="49" charset="0"/>
            </a:endParaRPr>
          </a:p>
          <a:p>
            <a:r>
              <a:rPr lang="it-IT" dirty="0"/>
              <a:t>Il metodo </a:t>
            </a:r>
            <a:r>
              <a:rPr lang="it-IT" i="1" dirty="0" err="1">
                <a:solidFill>
                  <a:schemeClr val="accent2"/>
                </a:solidFill>
              </a:rPr>
              <a:t>equals</a:t>
            </a:r>
            <a:r>
              <a:rPr lang="it-IT" dirty="0"/>
              <a:t> verifica se l’oggetto ricevente e </a:t>
            </a:r>
            <a:r>
              <a:rPr lang="it-IT" i="1" dirty="0">
                <a:solidFill>
                  <a:schemeClr val="accent2"/>
                </a:solidFill>
              </a:rPr>
              <a:t>p</a:t>
            </a:r>
            <a:r>
              <a:rPr lang="it-IT" dirty="0"/>
              <a:t> hanno le stesse coordinate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La classe Punto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/* restituisce una descrizione di questo Punto sotto forma di stringa */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public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String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toString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(){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t-IT" sz="20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String</a:t>
            </a: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20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des</a:t>
            </a: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= "("+this.coordX+","+this.coordY+")";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return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des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it-IT" dirty="0"/>
              <a:t>Il metodo </a:t>
            </a:r>
            <a:r>
              <a:rPr lang="it-IT" i="1" dirty="0" err="1">
                <a:solidFill>
                  <a:schemeClr val="accent2"/>
                </a:solidFill>
              </a:rPr>
              <a:t>toString</a:t>
            </a:r>
            <a:r>
              <a:rPr lang="it-IT" dirty="0"/>
              <a:t> crea una stringa </a:t>
            </a:r>
            <a:r>
              <a:rPr lang="it-IT" i="1" dirty="0" err="1">
                <a:solidFill>
                  <a:schemeClr val="accent2"/>
                </a:solidFill>
              </a:rPr>
              <a:t>des</a:t>
            </a:r>
            <a:r>
              <a:rPr lang="it-IT" dirty="0"/>
              <a:t> che descrive l’oggetto ricevente nella forma (x,y)</a:t>
            </a:r>
            <a:endParaRPr lang="it-IT" sz="2000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La classe Punto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/* restituisce una descrizione di questo Punto sotto forma di stringa */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public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String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toString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(){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String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des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= "("+this.coordX+","+this.coordY+")";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t-IT" sz="20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20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des</a:t>
            </a: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it-IT" dirty="0"/>
              <a:t>Tale stringa viene poi restituita</a:t>
            </a:r>
            <a:endParaRPr lang="it-IT" sz="2000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La classe Punto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/* restituisce la distanza tra il Punto p1 e il Punto p2 */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public </a:t>
            </a:r>
            <a:r>
              <a:rPr lang="it-IT" sz="20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static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double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distanzaTra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(Punto p1,Punto p2){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double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diffX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= p1.coordX-p2.coordX;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double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diffY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2000">
                <a:latin typeface="Courier New" pitchFamily="49" charset="0"/>
                <a:cs typeface="Courier New" pitchFamily="49" charset="0"/>
              </a:rPr>
              <a:t>= p1.coordY-p2.coordY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double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dist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Math.sqrt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(diffX*diffX+diffY*diffY);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return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dist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it-IT" dirty="0"/>
              <a:t>Il metodo è simile al precedente metodo </a:t>
            </a:r>
            <a:r>
              <a:rPr lang="it-IT" i="1" dirty="0" err="1">
                <a:solidFill>
                  <a:schemeClr val="accent2"/>
                </a:solidFill>
              </a:rPr>
              <a:t>distanzaDa</a:t>
            </a:r>
            <a:endParaRPr lang="it-IT" i="1" dirty="0">
              <a:solidFill>
                <a:schemeClr val="accent2"/>
              </a:solidFill>
            </a:endParaRPr>
          </a:p>
          <a:p>
            <a:r>
              <a:rPr lang="it-IT" dirty="0"/>
              <a:t>La differenza è che questo metodo è statico...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La classe Punto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/* restituisce la distanza tra il Punto p1 e il Punto p2 */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public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static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double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distanzaTra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Punto p1,Punto p2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){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double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diffX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= p1.coordX-p2.coordX;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double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diffY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= p1.coordY-p2.coordY;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double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dist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Math.sqrt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(diffX*diffX+diffY*diffY);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return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dist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r>
              <a:rPr lang="it-IT" dirty="0"/>
              <a:t>...e i due punti sono passati come parametro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La classe Punto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Una versione alternativa del metodo </a:t>
            </a:r>
            <a:r>
              <a:rPr lang="it-IT" i="1" dirty="0" err="1">
                <a:solidFill>
                  <a:schemeClr val="accent2"/>
                </a:solidFill>
              </a:rPr>
              <a:t>distanzaTra</a:t>
            </a:r>
            <a:r>
              <a:rPr lang="it-IT" dirty="0"/>
              <a:t> è la seguente: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/* restituisce la distanza tra il Punto p1 e il Punto p2 */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public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static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double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distanzaTra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(Punto p1,Punto p2){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it-IT" sz="20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p1.distanzaDa(p2);</a:t>
            </a:r>
          </a:p>
          <a:p>
            <a:pPr>
              <a:buNone/>
            </a:pPr>
            <a:r>
              <a:rPr lang="it-IT" sz="20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Ulteriori osservazioni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Vogliamo fare nel seguito ulteriori osservazioni sui concetti introdotti; esse riguarderanno:</a:t>
            </a:r>
          </a:p>
          <a:p>
            <a:pPr lvl="1"/>
            <a:r>
              <a:rPr lang="it-IT" dirty="0"/>
              <a:t>la distinzione tra variabili di istanza, variabili locali e parametri formali</a:t>
            </a:r>
          </a:p>
          <a:p>
            <a:pPr lvl="1"/>
            <a:r>
              <a:rPr lang="it-IT" dirty="0"/>
              <a:t>l’uso della parola chiave </a:t>
            </a:r>
            <a:r>
              <a:rPr lang="it-IT" i="1" dirty="0" err="1">
                <a:solidFill>
                  <a:schemeClr val="accent2"/>
                </a:solidFill>
              </a:rPr>
              <a:t>this</a:t>
            </a:r>
            <a:endParaRPr lang="it-IT" i="1" dirty="0">
              <a:solidFill>
                <a:schemeClr val="accent2"/>
              </a:solidFill>
            </a:endParaRPr>
          </a:p>
          <a:p>
            <a:pPr lvl="1"/>
            <a:r>
              <a:rPr lang="it-IT" dirty="0"/>
              <a:t>l’uso dei costruttori</a:t>
            </a:r>
          </a:p>
          <a:p>
            <a:endParaRPr lang="it-IT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Variabili: classificazione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it-IT" dirty="0"/>
              <a:t>Abbiamo visto che, dal punto di vista del tipo di dato associato, le variabili si classificano in:</a:t>
            </a:r>
          </a:p>
          <a:p>
            <a:pPr lvl="1"/>
            <a:r>
              <a:rPr lang="it-IT" i="1" dirty="0">
                <a:solidFill>
                  <a:schemeClr val="accent2"/>
                </a:solidFill>
              </a:rPr>
              <a:t>variabili primitive</a:t>
            </a:r>
            <a:r>
              <a:rPr lang="it-IT" dirty="0"/>
              <a:t>,</a:t>
            </a:r>
            <a:r>
              <a:rPr lang="it-IT" i="1" dirty="0">
                <a:solidFill>
                  <a:schemeClr val="accent2"/>
                </a:solidFill>
              </a:rPr>
              <a:t> </a:t>
            </a:r>
            <a:r>
              <a:rPr lang="it-IT" dirty="0"/>
              <a:t>se memorizzano dati di tipo primitivo</a:t>
            </a:r>
          </a:p>
          <a:p>
            <a:pPr lvl="1"/>
            <a:r>
              <a:rPr lang="it-IT" i="1" dirty="0">
                <a:solidFill>
                  <a:schemeClr val="accent2"/>
                </a:solidFill>
              </a:rPr>
              <a:t>variabili riferimento</a:t>
            </a:r>
            <a:r>
              <a:rPr lang="it-IT" dirty="0"/>
              <a:t>,</a:t>
            </a:r>
            <a:r>
              <a:rPr lang="it-IT" i="1" dirty="0">
                <a:solidFill>
                  <a:schemeClr val="accent2"/>
                </a:solidFill>
              </a:rPr>
              <a:t> </a:t>
            </a:r>
            <a:r>
              <a:rPr lang="it-IT" dirty="0"/>
              <a:t>se memorizzano riferimenti ad oggetti</a:t>
            </a:r>
            <a:endParaRPr lang="it-IT" i="1" dirty="0">
              <a:solidFill>
                <a:schemeClr val="accent2"/>
              </a:solidFill>
            </a:endParaRPr>
          </a:p>
          <a:p>
            <a:r>
              <a:rPr lang="it-IT" dirty="0"/>
              <a:t>Dal punto di vista di dove si trovano nel codice, esse si classificano invece in:</a:t>
            </a:r>
          </a:p>
          <a:p>
            <a:pPr lvl="1"/>
            <a:r>
              <a:rPr lang="it-IT" i="1" dirty="0">
                <a:solidFill>
                  <a:schemeClr val="accent2"/>
                </a:solidFill>
              </a:rPr>
              <a:t>variabili di istanza e di classe</a:t>
            </a:r>
            <a:r>
              <a:rPr lang="it-IT" dirty="0"/>
              <a:t>,</a:t>
            </a:r>
            <a:r>
              <a:rPr lang="it-IT" i="1" dirty="0">
                <a:solidFill>
                  <a:schemeClr val="accent2"/>
                </a:solidFill>
              </a:rPr>
              <a:t> </a:t>
            </a:r>
            <a:r>
              <a:rPr lang="it-IT" dirty="0"/>
              <a:t>se definite fuori dei metodi</a:t>
            </a:r>
          </a:p>
          <a:p>
            <a:pPr lvl="1"/>
            <a:r>
              <a:rPr lang="it-IT" i="1" dirty="0">
                <a:solidFill>
                  <a:schemeClr val="accent2"/>
                </a:solidFill>
              </a:rPr>
              <a:t>variabili locali </a:t>
            </a:r>
            <a:r>
              <a:rPr lang="it-IT" dirty="0"/>
              <a:t>se definite all’interno dei metodi</a:t>
            </a:r>
          </a:p>
          <a:p>
            <a:pPr lvl="1"/>
            <a:r>
              <a:rPr lang="it-IT" i="1" dirty="0">
                <a:solidFill>
                  <a:schemeClr val="accent2"/>
                </a:solidFill>
              </a:rPr>
              <a:t>parametri formali </a:t>
            </a:r>
            <a:r>
              <a:rPr lang="it-IT" dirty="0"/>
              <a:t>se costituiscono i parametri di un metodo</a:t>
            </a:r>
          </a:p>
          <a:p>
            <a:endParaRPr lang="it-IT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Variabili: classificazione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Le due classificazioni precedenti sono indipendenti</a:t>
            </a:r>
          </a:p>
          <a:p>
            <a:r>
              <a:rPr lang="it-IT" dirty="0"/>
              <a:t>Ad esempio, con riferimento alla classe </a:t>
            </a:r>
            <a:r>
              <a:rPr lang="it-IT" i="1" dirty="0">
                <a:solidFill>
                  <a:schemeClr val="accent2"/>
                </a:solidFill>
              </a:rPr>
              <a:t>Rettangolo</a:t>
            </a:r>
            <a:r>
              <a:rPr lang="it-IT" dirty="0"/>
              <a:t>, sono variabili primitive </a:t>
            </a:r>
          </a:p>
          <a:p>
            <a:pPr lvl="1"/>
            <a:r>
              <a:rPr lang="it-IT" dirty="0"/>
              <a:t>le variabili di istanza </a:t>
            </a:r>
            <a:r>
              <a:rPr lang="it-IT" i="1" dirty="0">
                <a:solidFill>
                  <a:schemeClr val="accent2"/>
                </a:solidFill>
              </a:rPr>
              <a:t>base</a:t>
            </a:r>
            <a:r>
              <a:rPr lang="it-IT" dirty="0"/>
              <a:t> e </a:t>
            </a:r>
            <a:r>
              <a:rPr lang="it-IT" i="1" dirty="0">
                <a:solidFill>
                  <a:schemeClr val="accent2"/>
                </a:solidFill>
              </a:rPr>
              <a:t>altezza</a:t>
            </a:r>
          </a:p>
          <a:p>
            <a:pPr lvl="1"/>
            <a:r>
              <a:rPr lang="it-IT" dirty="0"/>
              <a:t>la variabile di classe </a:t>
            </a:r>
            <a:r>
              <a:rPr lang="it-IT" i="1" dirty="0" err="1">
                <a:solidFill>
                  <a:schemeClr val="accent2"/>
                </a:solidFill>
              </a:rPr>
              <a:t>numIstanze</a:t>
            </a:r>
            <a:endParaRPr lang="it-IT" i="1" dirty="0">
              <a:solidFill>
                <a:schemeClr val="accent2"/>
              </a:solidFill>
            </a:endParaRPr>
          </a:p>
          <a:p>
            <a:pPr lvl="1"/>
            <a:r>
              <a:rPr lang="it-IT" dirty="0"/>
              <a:t>i parametri formali </a:t>
            </a:r>
            <a:r>
              <a:rPr lang="it-IT" i="1" dirty="0">
                <a:solidFill>
                  <a:schemeClr val="accent2"/>
                </a:solidFill>
              </a:rPr>
              <a:t>b</a:t>
            </a:r>
            <a:r>
              <a:rPr lang="it-IT" dirty="0"/>
              <a:t>, </a:t>
            </a:r>
            <a:r>
              <a:rPr lang="it-IT" i="1" dirty="0">
                <a:solidFill>
                  <a:schemeClr val="accent2"/>
                </a:solidFill>
              </a:rPr>
              <a:t>a</a:t>
            </a:r>
            <a:r>
              <a:rPr lang="it-IT" dirty="0"/>
              <a:t>, </a:t>
            </a:r>
            <a:r>
              <a:rPr lang="it-IT" i="1" dirty="0">
                <a:solidFill>
                  <a:schemeClr val="accent2"/>
                </a:solidFill>
              </a:rPr>
              <a:t>f</a:t>
            </a:r>
            <a:r>
              <a:rPr lang="it-IT" dirty="0"/>
              <a:t>, </a:t>
            </a:r>
          </a:p>
          <a:p>
            <a:pPr lvl="1"/>
            <a:r>
              <a:rPr lang="it-IT" dirty="0"/>
              <a:t>la variabile locale </a:t>
            </a:r>
            <a:r>
              <a:rPr lang="it-IT" i="1" dirty="0">
                <a:solidFill>
                  <a:schemeClr val="accent2"/>
                </a:solidFill>
              </a:rPr>
              <a:t>p</a:t>
            </a:r>
            <a:r>
              <a:rPr lang="it-IT" dirty="0"/>
              <a:t> nel metodo </a:t>
            </a:r>
            <a:r>
              <a:rPr lang="it-IT" i="1" dirty="0">
                <a:solidFill>
                  <a:schemeClr val="accent2"/>
                </a:solidFill>
              </a:rPr>
              <a:t>perimetro()</a:t>
            </a:r>
            <a:r>
              <a:rPr lang="it-IT" dirty="0"/>
              <a:t> e la variabile locale </a:t>
            </a:r>
            <a:r>
              <a:rPr lang="it-IT" i="1" dirty="0">
                <a:solidFill>
                  <a:schemeClr val="accent2"/>
                </a:solidFill>
              </a:rPr>
              <a:t>frazione</a:t>
            </a:r>
            <a:r>
              <a:rPr lang="it-IT" dirty="0"/>
              <a:t> nel metodo </a:t>
            </a:r>
            <a:r>
              <a:rPr lang="it-IT" i="1" dirty="0" err="1">
                <a:solidFill>
                  <a:schemeClr val="accent2"/>
                </a:solidFill>
              </a:rPr>
              <a:t>frazioneDiArea</a:t>
            </a:r>
            <a:r>
              <a:rPr lang="it-IT" i="1" dirty="0">
                <a:solidFill>
                  <a:schemeClr val="accent2"/>
                </a:solidFill>
              </a:rPr>
              <a:t>(</a:t>
            </a:r>
            <a:r>
              <a:rPr lang="it-IT" i="1" dirty="0" err="1">
                <a:solidFill>
                  <a:schemeClr val="accent2"/>
                </a:solidFill>
              </a:rPr>
              <a:t>double</a:t>
            </a:r>
            <a:r>
              <a:rPr lang="it-IT" i="1" dirty="0">
                <a:solidFill>
                  <a:schemeClr val="accent2"/>
                </a:solidFill>
              </a:rPr>
              <a:t> f)</a:t>
            </a:r>
          </a:p>
          <a:p>
            <a:endParaRPr lang="it-IT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Variabili: classificazione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Le due classificazioni precedenti sono indipendenti</a:t>
            </a:r>
          </a:p>
          <a:p>
            <a:r>
              <a:rPr lang="it-IT" dirty="0"/>
              <a:t>Ad esempio, con riferimento alla classe </a:t>
            </a:r>
            <a:r>
              <a:rPr lang="it-IT" i="1" dirty="0">
                <a:solidFill>
                  <a:schemeClr val="accent2"/>
                </a:solidFill>
              </a:rPr>
              <a:t>Punto</a:t>
            </a:r>
            <a:r>
              <a:rPr lang="it-IT" dirty="0"/>
              <a:t>, sono variabili riferimento </a:t>
            </a:r>
          </a:p>
          <a:p>
            <a:pPr lvl="1"/>
            <a:r>
              <a:rPr lang="it-IT" dirty="0"/>
              <a:t>il parametro formale </a:t>
            </a:r>
            <a:r>
              <a:rPr lang="it-IT" i="1" dirty="0">
                <a:solidFill>
                  <a:schemeClr val="accent2"/>
                </a:solidFill>
              </a:rPr>
              <a:t>p</a:t>
            </a:r>
            <a:r>
              <a:rPr lang="it-IT" dirty="0"/>
              <a:t> del metodo </a:t>
            </a:r>
            <a:r>
              <a:rPr lang="it-IT" i="1" dirty="0">
                <a:solidFill>
                  <a:schemeClr val="accent2"/>
                </a:solidFill>
              </a:rPr>
              <a:t>distanzaDa(Punto p)</a:t>
            </a:r>
            <a:r>
              <a:rPr lang="it-IT" dirty="0"/>
              <a:t> e del metodo </a:t>
            </a:r>
            <a:r>
              <a:rPr lang="it-IT" i="1" dirty="0" err="1">
                <a:solidFill>
                  <a:schemeClr val="accent2"/>
                </a:solidFill>
              </a:rPr>
              <a:t>equals</a:t>
            </a:r>
            <a:r>
              <a:rPr lang="it-IT" i="1" dirty="0">
                <a:solidFill>
                  <a:schemeClr val="accent2"/>
                </a:solidFill>
              </a:rPr>
              <a:t>(Punto p)</a:t>
            </a:r>
          </a:p>
          <a:p>
            <a:pPr lvl="1"/>
            <a:r>
              <a:rPr lang="it-IT" dirty="0"/>
              <a:t>la variabile locale </a:t>
            </a:r>
            <a:r>
              <a:rPr lang="it-IT" i="1" dirty="0">
                <a:solidFill>
                  <a:schemeClr val="accent2"/>
                </a:solidFill>
              </a:rPr>
              <a:t>des</a:t>
            </a:r>
            <a:r>
              <a:rPr lang="it-IT" dirty="0"/>
              <a:t> nel metodo </a:t>
            </a:r>
            <a:r>
              <a:rPr lang="it-IT" i="1" dirty="0" err="1">
                <a:solidFill>
                  <a:schemeClr val="accent2"/>
                </a:solidFill>
              </a:rPr>
              <a:t>toString</a:t>
            </a:r>
            <a:r>
              <a:rPr lang="it-IT" i="1" dirty="0">
                <a:solidFill>
                  <a:schemeClr val="accent2"/>
                </a:solidFill>
              </a:rPr>
              <a:t>()</a:t>
            </a:r>
          </a:p>
          <a:p>
            <a:pPr lvl="1"/>
            <a:r>
              <a:rPr lang="it-IT" dirty="0"/>
              <a:t>i parametri formali </a:t>
            </a:r>
            <a:r>
              <a:rPr lang="it-IT" i="1" dirty="0">
                <a:solidFill>
                  <a:schemeClr val="accent2"/>
                </a:solidFill>
              </a:rPr>
              <a:t>p1</a:t>
            </a:r>
            <a:r>
              <a:rPr lang="it-IT" dirty="0"/>
              <a:t> e </a:t>
            </a:r>
            <a:r>
              <a:rPr lang="it-IT" i="1" dirty="0">
                <a:solidFill>
                  <a:schemeClr val="accent2"/>
                </a:solidFill>
              </a:rPr>
              <a:t>p2</a:t>
            </a:r>
            <a:r>
              <a:rPr lang="it-IT" dirty="0"/>
              <a:t> del metodo statico </a:t>
            </a:r>
            <a:r>
              <a:rPr lang="it-IT" i="1" dirty="0">
                <a:solidFill>
                  <a:schemeClr val="accent2"/>
                </a:solidFill>
              </a:rPr>
              <a:t>distanzaTra(Punto p1, Punto p2)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Variabili: scope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Data una classe </a:t>
            </a:r>
            <a:r>
              <a:rPr lang="it-IT" i="1" dirty="0">
                <a:solidFill>
                  <a:schemeClr val="accent2"/>
                </a:solidFill>
              </a:rPr>
              <a:t>C</a:t>
            </a:r>
            <a:r>
              <a:rPr lang="it-IT" dirty="0"/>
              <a:t> ed una variabile </a:t>
            </a:r>
            <a:r>
              <a:rPr lang="it-IT" i="1" dirty="0">
                <a:solidFill>
                  <a:schemeClr val="accent2"/>
                </a:solidFill>
              </a:rPr>
              <a:t>var</a:t>
            </a:r>
            <a:r>
              <a:rPr lang="it-IT" dirty="0"/>
              <a:t> definita nel corpo di </a:t>
            </a:r>
            <a:r>
              <a:rPr lang="it-IT" i="1" dirty="0">
                <a:solidFill>
                  <a:schemeClr val="accent2"/>
                </a:solidFill>
              </a:rPr>
              <a:t>C</a:t>
            </a:r>
            <a:r>
              <a:rPr lang="it-IT" dirty="0"/>
              <a:t>, il </a:t>
            </a:r>
            <a:r>
              <a:rPr lang="it-IT" u="sng" dirty="0">
                <a:solidFill>
                  <a:schemeClr val="accent1"/>
                </a:solidFill>
              </a:rPr>
              <a:t>campo di visibilità </a:t>
            </a:r>
            <a:r>
              <a:rPr lang="it-IT" dirty="0"/>
              <a:t>di </a:t>
            </a:r>
            <a:r>
              <a:rPr lang="it-IT" i="1" dirty="0">
                <a:solidFill>
                  <a:schemeClr val="accent2"/>
                </a:solidFill>
              </a:rPr>
              <a:t>var</a:t>
            </a:r>
            <a:r>
              <a:rPr lang="it-IT" dirty="0"/>
              <a:t>, detto anche </a:t>
            </a:r>
            <a:r>
              <a:rPr lang="it-IT" u="sng" dirty="0">
                <a:solidFill>
                  <a:schemeClr val="accent1"/>
                </a:solidFill>
              </a:rPr>
              <a:t>scope</a:t>
            </a:r>
            <a:r>
              <a:rPr lang="it-IT" dirty="0"/>
              <a:t>, indica in quali porzioni del codice di </a:t>
            </a:r>
            <a:r>
              <a:rPr lang="it-IT" i="1" dirty="0">
                <a:solidFill>
                  <a:schemeClr val="accent2"/>
                </a:solidFill>
              </a:rPr>
              <a:t>C</a:t>
            </a:r>
            <a:r>
              <a:rPr lang="it-IT" dirty="0"/>
              <a:t> la variabile </a:t>
            </a:r>
            <a:r>
              <a:rPr lang="it-IT" i="1" dirty="0" err="1">
                <a:solidFill>
                  <a:schemeClr val="accent2"/>
                </a:solidFill>
              </a:rPr>
              <a:t>var</a:t>
            </a:r>
            <a:r>
              <a:rPr lang="it-IT" dirty="0"/>
              <a:t> può essere richiamata (cioè acceduta) </a:t>
            </a:r>
          </a:p>
          <a:p>
            <a:r>
              <a:rPr lang="it-IT" dirty="0"/>
              <a:t>Il campo di visibilità di una variabile dipende solo da dove essa è definita, non dal suo contenuto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Variabili di istanza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it-IT" dirty="0"/>
              <a:t>Ogni variabile di istanza nasce e muore con l’oggetto al quale si riferisce</a:t>
            </a:r>
          </a:p>
          <a:p>
            <a:r>
              <a:rPr lang="it-IT" dirty="0"/>
              <a:t>È visibile da tutti i metodi che l’oggetto può eseguire, cioè dai metodi di istanza definiti nella classe</a:t>
            </a:r>
          </a:p>
          <a:p>
            <a:r>
              <a:rPr lang="it-IT" dirty="0"/>
              <a:t>Una variabile di istanza </a:t>
            </a:r>
            <a:r>
              <a:rPr lang="it-IT" i="1" dirty="0">
                <a:solidFill>
                  <a:schemeClr val="accent2"/>
                </a:solidFill>
              </a:rPr>
              <a:t>x </a:t>
            </a:r>
            <a:r>
              <a:rPr lang="it-IT" dirty="0"/>
              <a:t>di un oggetto </a:t>
            </a:r>
            <a:r>
              <a:rPr lang="it-IT" i="1" dirty="0">
                <a:solidFill>
                  <a:schemeClr val="accent2"/>
                </a:solidFill>
              </a:rPr>
              <a:t>o </a:t>
            </a:r>
            <a:r>
              <a:rPr lang="it-IT" dirty="0"/>
              <a:t>è accessibile da tutti i metodi di </a:t>
            </a:r>
            <a:r>
              <a:rPr lang="it-IT" i="1" dirty="0">
                <a:solidFill>
                  <a:schemeClr val="accent2"/>
                </a:solidFill>
              </a:rPr>
              <a:t>o</a:t>
            </a:r>
            <a:r>
              <a:rPr lang="it-IT" dirty="0"/>
              <a:t>, usando il costrutto </a:t>
            </a:r>
            <a:r>
              <a:rPr lang="it-IT" i="1" dirty="0" err="1">
                <a:solidFill>
                  <a:schemeClr val="accent2"/>
                </a:solidFill>
              </a:rPr>
              <a:t>this.x</a:t>
            </a:r>
            <a:endParaRPr lang="it-IT" i="1" dirty="0">
              <a:solidFill>
                <a:schemeClr val="accent2"/>
              </a:solidFill>
            </a:endParaRPr>
          </a:p>
          <a:p>
            <a:r>
              <a:rPr lang="it-IT" dirty="0"/>
              <a:t>Se in un metodo di </a:t>
            </a:r>
            <a:r>
              <a:rPr lang="it-IT" i="1" dirty="0">
                <a:solidFill>
                  <a:schemeClr val="accent2"/>
                </a:solidFill>
              </a:rPr>
              <a:t>o</a:t>
            </a:r>
            <a:r>
              <a:rPr lang="it-IT" dirty="0"/>
              <a:t> non è presente alcuna variabile locale avente lo stesso nome di </a:t>
            </a:r>
            <a:r>
              <a:rPr lang="it-IT" i="1" dirty="0">
                <a:solidFill>
                  <a:schemeClr val="accent2"/>
                </a:solidFill>
              </a:rPr>
              <a:t>x</a:t>
            </a:r>
            <a:r>
              <a:rPr lang="it-IT" dirty="0"/>
              <a:t>, allora si può accedere alla variabile di istanza anche direttamente con il suo nome, </a:t>
            </a:r>
            <a:r>
              <a:rPr lang="it-IT" i="1" dirty="0">
                <a:solidFill>
                  <a:schemeClr val="accent2"/>
                </a:solidFill>
              </a:rPr>
              <a:t>x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Esempi di uso del </a:t>
            </a:r>
            <a:r>
              <a:rPr lang="it-IT" dirty="0" err="1"/>
              <a:t>this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it-IT" sz="2600" b="1" dirty="0">
                <a:latin typeface="Courier New" pitchFamily="49" charset="0"/>
              </a:rPr>
              <a:t>	/* si può omettere il </a:t>
            </a:r>
            <a:r>
              <a:rPr lang="it-IT" sz="2600" b="1" dirty="0" err="1">
                <a:latin typeface="Courier New" pitchFamily="49" charset="0"/>
              </a:rPr>
              <a:t>this</a:t>
            </a:r>
            <a:r>
              <a:rPr lang="it-IT" sz="2600" b="1" dirty="0">
                <a:latin typeface="Courier New" pitchFamily="49" charset="0"/>
              </a:rPr>
              <a:t> */</a:t>
            </a:r>
            <a:endParaRPr lang="it-IT" sz="2600" dirty="0">
              <a:latin typeface="Courier New" pitchFamily="49" charset="0"/>
            </a:endParaRPr>
          </a:p>
          <a:p>
            <a:pPr>
              <a:buNone/>
            </a:pPr>
            <a:r>
              <a:rPr lang="it-IT" sz="2600" dirty="0">
                <a:latin typeface="Courier New" pitchFamily="49" charset="0"/>
              </a:rPr>
              <a:t>	public </a:t>
            </a:r>
            <a:r>
              <a:rPr lang="it-IT" sz="2600" dirty="0" err="1">
                <a:latin typeface="Courier New" pitchFamily="49" charset="0"/>
              </a:rPr>
              <a:t>void</a:t>
            </a:r>
            <a:r>
              <a:rPr lang="it-IT" sz="2600" dirty="0">
                <a:latin typeface="Courier New" pitchFamily="49" charset="0"/>
              </a:rPr>
              <a:t> </a:t>
            </a:r>
            <a:r>
              <a:rPr lang="it-IT" sz="2600" dirty="0" err="1">
                <a:latin typeface="Courier New" pitchFamily="49" charset="0"/>
              </a:rPr>
              <a:t>cambiaDimensioni</a:t>
            </a:r>
            <a:r>
              <a:rPr lang="it-IT" sz="2600" dirty="0">
                <a:latin typeface="Courier New" pitchFamily="49" charset="0"/>
              </a:rPr>
              <a:t>(</a:t>
            </a:r>
            <a:r>
              <a:rPr lang="it-IT" sz="2600" dirty="0" err="1">
                <a:latin typeface="Courier New" pitchFamily="49" charset="0"/>
              </a:rPr>
              <a:t>double</a:t>
            </a:r>
            <a:r>
              <a:rPr lang="it-IT" sz="2600" dirty="0">
                <a:latin typeface="Courier New" pitchFamily="49" charset="0"/>
              </a:rPr>
              <a:t> b, 						</a:t>
            </a:r>
            <a:r>
              <a:rPr lang="it-IT" sz="2600" dirty="0" err="1">
                <a:latin typeface="Courier New" pitchFamily="49" charset="0"/>
              </a:rPr>
              <a:t>double</a:t>
            </a:r>
            <a:r>
              <a:rPr lang="it-IT" sz="2600" dirty="0">
                <a:latin typeface="Courier New" pitchFamily="49" charset="0"/>
              </a:rPr>
              <a:t> a){</a:t>
            </a:r>
          </a:p>
          <a:p>
            <a:pPr>
              <a:buNone/>
            </a:pPr>
            <a:r>
              <a:rPr lang="it-IT" sz="2600" dirty="0">
                <a:latin typeface="Courier New" pitchFamily="49" charset="0"/>
              </a:rPr>
              <a:t>		base = b;</a:t>
            </a:r>
          </a:p>
          <a:p>
            <a:pPr>
              <a:buNone/>
            </a:pPr>
            <a:r>
              <a:rPr lang="it-IT" sz="2600" dirty="0">
                <a:latin typeface="Courier New" pitchFamily="49" charset="0"/>
              </a:rPr>
              <a:t>		altezza = a;</a:t>
            </a:r>
          </a:p>
          <a:p>
            <a:pPr>
              <a:buNone/>
            </a:pPr>
            <a:r>
              <a:rPr lang="it-IT" sz="2600" dirty="0">
                <a:latin typeface="Courier New" pitchFamily="49" charset="0"/>
              </a:rPr>
              <a:t>	} </a:t>
            </a:r>
          </a:p>
          <a:p>
            <a:pPr>
              <a:buNone/>
            </a:pPr>
            <a:r>
              <a:rPr lang="it-IT" sz="2600" b="1" dirty="0">
                <a:latin typeface="Courier New" pitchFamily="49" charset="0"/>
              </a:rPr>
              <a:t>	</a:t>
            </a:r>
          </a:p>
          <a:p>
            <a:pPr>
              <a:buNone/>
            </a:pPr>
            <a:r>
              <a:rPr lang="it-IT" sz="2600" b="1" dirty="0">
                <a:latin typeface="Courier New" pitchFamily="49" charset="0"/>
              </a:rPr>
              <a:t>	/* non si può omettere il </a:t>
            </a:r>
            <a:r>
              <a:rPr lang="it-IT" sz="2600" b="1" dirty="0" err="1">
                <a:latin typeface="Courier New" pitchFamily="49" charset="0"/>
              </a:rPr>
              <a:t>this</a:t>
            </a:r>
            <a:r>
              <a:rPr lang="it-IT" sz="2600" b="1" dirty="0">
                <a:latin typeface="Courier New" pitchFamily="49" charset="0"/>
              </a:rPr>
              <a:t> */</a:t>
            </a:r>
          </a:p>
          <a:p>
            <a:pPr>
              <a:buNone/>
            </a:pPr>
            <a:r>
              <a:rPr lang="it-IT" sz="2600" b="1" dirty="0">
                <a:latin typeface="Courier New" pitchFamily="49" charset="0"/>
              </a:rPr>
              <a:t>	</a:t>
            </a:r>
            <a:r>
              <a:rPr lang="it-IT" sz="2600" dirty="0">
                <a:latin typeface="Courier New" pitchFamily="49" charset="0"/>
              </a:rPr>
              <a:t>public </a:t>
            </a:r>
            <a:r>
              <a:rPr lang="it-IT" sz="2600" dirty="0" err="1">
                <a:latin typeface="Courier New" pitchFamily="49" charset="0"/>
              </a:rPr>
              <a:t>void</a:t>
            </a:r>
            <a:r>
              <a:rPr lang="it-IT" sz="2600" dirty="0">
                <a:latin typeface="Courier New" pitchFamily="49" charset="0"/>
              </a:rPr>
              <a:t> </a:t>
            </a:r>
            <a:r>
              <a:rPr lang="it-IT" sz="2600" dirty="0" err="1">
                <a:latin typeface="Courier New" pitchFamily="49" charset="0"/>
              </a:rPr>
              <a:t>cambiaDimensioni</a:t>
            </a:r>
            <a:r>
              <a:rPr lang="it-IT" sz="2600" dirty="0">
                <a:latin typeface="Courier New" pitchFamily="49" charset="0"/>
              </a:rPr>
              <a:t>(</a:t>
            </a:r>
            <a:r>
              <a:rPr lang="it-IT" sz="2600" dirty="0" err="1">
                <a:latin typeface="Courier New" pitchFamily="49" charset="0"/>
              </a:rPr>
              <a:t>double</a:t>
            </a:r>
            <a:r>
              <a:rPr lang="it-IT" sz="2600" dirty="0">
                <a:latin typeface="Courier New" pitchFamily="49" charset="0"/>
              </a:rPr>
              <a:t> base, </a:t>
            </a:r>
            <a:br>
              <a:rPr lang="it-IT" sz="2600" dirty="0">
                <a:latin typeface="Courier New" pitchFamily="49" charset="0"/>
              </a:rPr>
            </a:br>
            <a:r>
              <a:rPr lang="it-IT" sz="2600" dirty="0">
                <a:latin typeface="Courier New" pitchFamily="49" charset="0"/>
              </a:rPr>
              <a:t>					  </a:t>
            </a:r>
            <a:r>
              <a:rPr lang="it-IT" sz="2600" dirty="0" err="1">
                <a:latin typeface="Courier New" pitchFamily="49" charset="0"/>
              </a:rPr>
              <a:t>double</a:t>
            </a:r>
            <a:r>
              <a:rPr lang="it-IT" sz="2600" dirty="0">
                <a:latin typeface="Courier New" pitchFamily="49" charset="0"/>
              </a:rPr>
              <a:t> altezza){</a:t>
            </a:r>
          </a:p>
          <a:p>
            <a:pPr>
              <a:buNone/>
            </a:pPr>
            <a:r>
              <a:rPr lang="it-IT" sz="2600" dirty="0">
                <a:latin typeface="Courier New" pitchFamily="49" charset="0"/>
              </a:rPr>
              <a:t>		</a:t>
            </a:r>
            <a:r>
              <a:rPr lang="it-IT" sz="2600" dirty="0" err="1">
                <a:latin typeface="Courier New" pitchFamily="49" charset="0"/>
              </a:rPr>
              <a:t>this.base</a:t>
            </a:r>
            <a:r>
              <a:rPr lang="it-IT" sz="2600" dirty="0">
                <a:latin typeface="Courier New" pitchFamily="49" charset="0"/>
              </a:rPr>
              <a:t> = base;</a:t>
            </a:r>
          </a:p>
          <a:p>
            <a:pPr>
              <a:buNone/>
            </a:pPr>
            <a:r>
              <a:rPr lang="it-IT" sz="2600" dirty="0">
                <a:latin typeface="Courier New" pitchFamily="49" charset="0"/>
              </a:rPr>
              <a:t>		</a:t>
            </a:r>
            <a:r>
              <a:rPr lang="it-IT" sz="2600" dirty="0" err="1">
                <a:latin typeface="Courier New" pitchFamily="49" charset="0"/>
              </a:rPr>
              <a:t>this.altezza</a:t>
            </a:r>
            <a:r>
              <a:rPr lang="it-IT" sz="2600" dirty="0">
                <a:latin typeface="Courier New" pitchFamily="49" charset="0"/>
              </a:rPr>
              <a:t> = altezza;</a:t>
            </a:r>
          </a:p>
          <a:p>
            <a:pPr>
              <a:buNone/>
            </a:pPr>
            <a:r>
              <a:rPr lang="it-IT" sz="2600" dirty="0">
                <a:latin typeface="Courier New" pitchFamily="49" charset="0"/>
              </a:rPr>
              <a:t>	} </a:t>
            </a:r>
          </a:p>
          <a:p>
            <a:endParaRPr lang="it-IT" dirty="0"/>
          </a:p>
        </p:txBody>
      </p:sp>
      <p:sp>
        <p:nvSpPr>
          <p:cNvPr id="4" name="Line 8"/>
          <p:cNvSpPr>
            <a:spLocks noChangeShapeType="1"/>
          </p:cNvSpPr>
          <p:nvPr/>
        </p:nvSpPr>
        <p:spPr bwMode="auto">
          <a:xfrm>
            <a:off x="457200" y="3657600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Variabili di classe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it-IT" dirty="0"/>
              <a:t>Ogni variabile di classe nasce e muore con la classe alla quale si riferisce</a:t>
            </a:r>
          </a:p>
          <a:p>
            <a:r>
              <a:rPr lang="it-IT" dirty="0"/>
              <a:t>È visibile da tutti i metodi definiti nella classe, siano essi statici o di istanza</a:t>
            </a:r>
          </a:p>
          <a:p>
            <a:r>
              <a:rPr lang="it-IT" dirty="0"/>
              <a:t>Una variabile di classe </a:t>
            </a:r>
            <a:r>
              <a:rPr lang="it-IT" i="1" dirty="0">
                <a:solidFill>
                  <a:schemeClr val="accent2"/>
                </a:solidFill>
              </a:rPr>
              <a:t>y </a:t>
            </a:r>
            <a:r>
              <a:rPr lang="it-IT" dirty="0"/>
              <a:t>di una classe </a:t>
            </a:r>
            <a:r>
              <a:rPr lang="it-IT" i="1" dirty="0">
                <a:solidFill>
                  <a:schemeClr val="accent2"/>
                </a:solidFill>
              </a:rPr>
              <a:t>C </a:t>
            </a:r>
            <a:r>
              <a:rPr lang="it-IT" dirty="0"/>
              <a:t>è accessibile da tutti i metodi di </a:t>
            </a:r>
            <a:r>
              <a:rPr lang="it-IT" i="1" dirty="0">
                <a:solidFill>
                  <a:schemeClr val="accent2"/>
                </a:solidFill>
              </a:rPr>
              <a:t>C</a:t>
            </a:r>
            <a:r>
              <a:rPr lang="it-IT" dirty="0"/>
              <a:t>, usando il costrutto </a:t>
            </a:r>
            <a:r>
              <a:rPr lang="it-IT" i="1" dirty="0" err="1">
                <a:solidFill>
                  <a:schemeClr val="accent2"/>
                </a:solidFill>
              </a:rPr>
              <a:t>C.y</a:t>
            </a:r>
            <a:endParaRPr lang="it-IT" i="1" dirty="0">
              <a:solidFill>
                <a:schemeClr val="accent2"/>
              </a:solidFill>
            </a:endParaRPr>
          </a:p>
          <a:p>
            <a:r>
              <a:rPr lang="it-IT" dirty="0"/>
              <a:t>Se in un metodo di </a:t>
            </a:r>
            <a:r>
              <a:rPr lang="it-IT" i="1" dirty="0">
                <a:solidFill>
                  <a:schemeClr val="accent2"/>
                </a:solidFill>
              </a:rPr>
              <a:t>C</a:t>
            </a:r>
            <a:r>
              <a:rPr lang="it-IT" dirty="0"/>
              <a:t> non è presente alcuna variabile locale avente lo stesso nome di </a:t>
            </a:r>
            <a:r>
              <a:rPr lang="it-IT" i="1" dirty="0">
                <a:solidFill>
                  <a:schemeClr val="accent2"/>
                </a:solidFill>
              </a:rPr>
              <a:t>y</a:t>
            </a:r>
            <a:r>
              <a:rPr lang="it-IT" dirty="0"/>
              <a:t>, allora si può accedere alla variabile di classe anche direttamente con il suo nome, </a:t>
            </a:r>
            <a:r>
              <a:rPr lang="it-IT" i="1" dirty="0">
                <a:solidFill>
                  <a:schemeClr val="accent2"/>
                </a:solidFill>
              </a:rPr>
              <a:t>y</a:t>
            </a:r>
          </a:p>
          <a:p>
            <a:endParaRPr lang="it-IT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Variabili locali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Le variabili locali sono visibili solo all’interno del metodo in cui sono definite</a:t>
            </a:r>
          </a:p>
          <a:p>
            <a:r>
              <a:rPr lang="it-IT" dirty="0"/>
              <a:t>Nascono e muoiono in ogni ciclo di esecuzione del metodo stesso</a:t>
            </a:r>
          </a:p>
          <a:p>
            <a:r>
              <a:rPr lang="it-IT" dirty="0"/>
              <a:t>Le variabili locali non vengono inizializzate con valori di default</a:t>
            </a:r>
          </a:p>
          <a:p>
            <a:r>
              <a:rPr lang="it-IT" dirty="0"/>
              <a:t>Pertanto bisogna assegnare un valore alle variabili locali prima di tentare di leggerle</a:t>
            </a:r>
          </a:p>
          <a:p>
            <a:pPr lvl="1"/>
            <a:r>
              <a:rPr lang="it-IT" dirty="0"/>
              <a:t>In caso contrario si ha un errore in fase di compilazione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Variabili locali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Nel seguente codice la variabile locale </a:t>
            </a:r>
            <a:r>
              <a:rPr lang="it-IT" i="1" dirty="0">
                <a:solidFill>
                  <a:schemeClr val="accent2"/>
                </a:solidFill>
              </a:rPr>
              <a:t>x</a:t>
            </a:r>
            <a:r>
              <a:rPr lang="it-IT" dirty="0"/>
              <a:t> non è stata inizializzata</a:t>
            </a:r>
          </a:p>
          <a:p>
            <a:r>
              <a:rPr lang="it-IT"/>
              <a:t>Pertanto </a:t>
            </a:r>
            <a:r>
              <a:rPr lang="it-IT" dirty="0"/>
              <a:t>l’espressione </a:t>
            </a:r>
            <a:r>
              <a:rPr lang="it-IT" i="1" dirty="0">
                <a:solidFill>
                  <a:schemeClr val="accent2"/>
                </a:solidFill>
              </a:rPr>
              <a:t>x+1</a:t>
            </a:r>
            <a:r>
              <a:rPr lang="it-IT" dirty="0"/>
              <a:t> non può essere valutata correttamente</a:t>
            </a:r>
          </a:p>
          <a:p>
            <a:r>
              <a:rPr lang="it-IT" dirty="0"/>
              <a:t>Il codice non viene compilato</a:t>
            </a:r>
          </a:p>
          <a:p>
            <a:pPr>
              <a:buNone/>
            </a:pPr>
            <a:r>
              <a:rPr lang="it-IT" sz="2400" dirty="0">
                <a:latin typeface="Courier New" pitchFamily="49" charset="0"/>
              </a:rPr>
              <a:t>	</a:t>
            </a:r>
          </a:p>
          <a:p>
            <a:pPr>
              <a:buNone/>
            </a:pPr>
            <a:r>
              <a:rPr lang="it-IT" sz="2400" dirty="0">
                <a:latin typeface="Courier New" pitchFamily="49" charset="0"/>
              </a:rPr>
              <a:t>	public </a:t>
            </a:r>
            <a:r>
              <a:rPr lang="it-IT" sz="2400" dirty="0" err="1">
                <a:latin typeface="Courier New" pitchFamily="49" charset="0"/>
              </a:rPr>
              <a:t>int</a:t>
            </a:r>
            <a:r>
              <a:rPr lang="it-IT" sz="2400" dirty="0">
                <a:latin typeface="Courier New" pitchFamily="49" charset="0"/>
              </a:rPr>
              <a:t> </a:t>
            </a:r>
            <a:r>
              <a:rPr lang="it-IT" sz="2400" dirty="0" err="1">
                <a:latin typeface="Courier New" pitchFamily="49" charset="0"/>
              </a:rPr>
              <a:t>metodoErrato</a:t>
            </a:r>
            <a:r>
              <a:rPr lang="it-IT" sz="2400" dirty="0">
                <a:latin typeface="Courier New" pitchFamily="49" charset="0"/>
              </a:rPr>
              <a:t> (){</a:t>
            </a:r>
            <a:br>
              <a:rPr lang="it-IT" sz="2400" dirty="0">
                <a:latin typeface="Courier New" pitchFamily="49" charset="0"/>
              </a:rPr>
            </a:br>
            <a:r>
              <a:rPr lang="it-IT" sz="2400" dirty="0">
                <a:latin typeface="Courier New" pitchFamily="49" charset="0"/>
              </a:rPr>
              <a:t>   </a:t>
            </a:r>
            <a:r>
              <a:rPr lang="it-IT" sz="2400" dirty="0" err="1">
                <a:latin typeface="Courier New" pitchFamily="49" charset="0"/>
              </a:rPr>
              <a:t>int</a:t>
            </a:r>
            <a:r>
              <a:rPr lang="it-IT" sz="2400" dirty="0">
                <a:latin typeface="Courier New" pitchFamily="49" charset="0"/>
              </a:rPr>
              <a:t> x;</a:t>
            </a:r>
            <a:br>
              <a:rPr lang="it-IT" sz="2400" dirty="0">
                <a:latin typeface="Courier New" pitchFamily="49" charset="0"/>
              </a:rPr>
            </a:br>
            <a:r>
              <a:rPr lang="it-IT" sz="2400" dirty="0">
                <a:latin typeface="Courier New" pitchFamily="49" charset="0"/>
              </a:rPr>
              <a:t>   </a:t>
            </a:r>
            <a:r>
              <a:rPr lang="it-IT" sz="2400" b="1" dirty="0">
                <a:solidFill>
                  <a:srgbClr val="FF0000"/>
                </a:solidFill>
                <a:latin typeface="Courier New" pitchFamily="49" charset="0"/>
              </a:rPr>
              <a:t>x = x+1</a:t>
            </a:r>
            <a:r>
              <a:rPr lang="it-IT" sz="2400" dirty="0">
                <a:latin typeface="Courier New" pitchFamily="49" charset="0"/>
              </a:rPr>
              <a:t>;</a:t>
            </a:r>
            <a:br>
              <a:rPr lang="it-IT" sz="2400" dirty="0">
                <a:latin typeface="Courier New" pitchFamily="49" charset="0"/>
              </a:rPr>
            </a:br>
            <a:r>
              <a:rPr lang="it-IT" sz="2400" dirty="0">
                <a:latin typeface="Courier New" pitchFamily="49" charset="0"/>
              </a:rPr>
              <a:t>   </a:t>
            </a:r>
            <a:r>
              <a:rPr lang="it-IT" sz="2400" dirty="0" err="1">
                <a:latin typeface="Courier New" pitchFamily="49" charset="0"/>
              </a:rPr>
              <a:t>return</a:t>
            </a:r>
            <a:r>
              <a:rPr lang="it-IT" sz="2400" dirty="0">
                <a:latin typeface="Courier New" pitchFamily="49" charset="0"/>
              </a:rPr>
              <a:t> x;</a:t>
            </a:r>
            <a:br>
              <a:rPr lang="it-IT" sz="2400" dirty="0">
                <a:latin typeface="Courier New" pitchFamily="49" charset="0"/>
              </a:rPr>
            </a:br>
            <a:r>
              <a:rPr lang="it-IT" sz="2400" dirty="0">
                <a:latin typeface="Courier New" pitchFamily="49" charset="0"/>
              </a:rPr>
              <a:t>}</a:t>
            </a:r>
          </a:p>
          <a:p>
            <a:endParaRPr lang="it-IT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Parametri formali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I parametri formali sono simili a variabili locali: </a:t>
            </a:r>
          </a:p>
          <a:p>
            <a:pPr lvl="1"/>
            <a:r>
              <a:rPr lang="it-IT" dirty="0"/>
              <a:t>la loro esistenza e visibilità è limitata al metodo in cui sono definiti</a:t>
            </a:r>
          </a:p>
          <a:p>
            <a:r>
              <a:rPr lang="it-IT" dirty="0"/>
              <a:t>La differenza è che nel momento in cui un metodo viene attivato ogni suo parametro formale ha già un proprio valore assegnato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Ancora sul </a:t>
            </a:r>
            <a:r>
              <a:rPr lang="it-IT" dirty="0" err="1"/>
              <a:t>this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it-IT" dirty="0"/>
              <a:t>Se una classe ha più di un costruttore, la parola chiave </a:t>
            </a:r>
            <a:r>
              <a:rPr lang="it-IT" i="1" dirty="0" err="1">
                <a:solidFill>
                  <a:schemeClr val="accent2"/>
                </a:solidFill>
              </a:rPr>
              <a:t>this</a:t>
            </a:r>
            <a:r>
              <a:rPr lang="it-IT" dirty="0"/>
              <a:t> può essere anche usata per richiamare un costruttore all’interno di un altro costruttore</a:t>
            </a:r>
          </a:p>
          <a:p>
            <a:r>
              <a:rPr lang="it-IT" dirty="0"/>
              <a:t>Ad esempio, supponiamo di voler dotare la classe </a:t>
            </a:r>
            <a:r>
              <a:rPr lang="it-IT" i="1" dirty="0">
                <a:solidFill>
                  <a:schemeClr val="accent2"/>
                </a:solidFill>
              </a:rPr>
              <a:t>Punto </a:t>
            </a:r>
            <a:r>
              <a:rPr lang="it-IT" dirty="0"/>
              <a:t>di un secondo costruttore </a:t>
            </a:r>
          </a:p>
          <a:p>
            <a:pPr>
              <a:buNone/>
            </a:pPr>
            <a:r>
              <a:rPr lang="it-IT" dirty="0"/>
              <a:t>	</a:t>
            </a:r>
            <a:r>
              <a:rPr lang="it-IT" i="1" dirty="0">
                <a:solidFill>
                  <a:schemeClr val="accent2"/>
                </a:solidFill>
              </a:rPr>
              <a:t>public Punto(</a:t>
            </a:r>
            <a:r>
              <a:rPr lang="it-IT" i="1" dirty="0" err="1">
                <a:solidFill>
                  <a:schemeClr val="accent2"/>
                </a:solidFill>
              </a:rPr>
              <a:t>Punto</a:t>
            </a:r>
            <a:r>
              <a:rPr lang="it-IT" i="1" dirty="0">
                <a:solidFill>
                  <a:schemeClr val="accent2"/>
                </a:solidFill>
              </a:rPr>
              <a:t> p)</a:t>
            </a:r>
          </a:p>
          <a:p>
            <a:r>
              <a:rPr lang="it-IT" dirty="0"/>
              <a:t>Tale costruttore crea un punto con le stesse coordinate di quello passato per parametro</a:t>
            </a:r>
          </a:p>
          <a:p>
            <a:r>
              <a:rPr lang="it-IT" dirty="0"/>
              <a:t>Un costruttore di questo tipo è chiamato </a:t>
            </a:r>
            <a:r>
              <a:rPr lang="it-IT" u="sng" dirty="0">
                <a:solidFill>
                  <a:schemeClr val="accent1"/>
                </a:solidFill>
              </a:rPr>
              <a:t>costruttore di copia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Ancora sul </a:t>
            </a:r>
            <a:r>
              <a:rPr lang="it-IT" dirty="0" err="1"/>
              <a:t>this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Il costruttore di copia della classe </a:t>
            </a:r>
            <a:r>
              <a:rPr lang="it-IT" i="1" dirty="0">
                <a:solidFill>
                  <a:schemeClr val="accent2"/>
                </a:solidFill>
              </a:rPr>
              <a:t>Punto</a:t>
            </a:r>
            <a:r>
              <a:rPr lang="it-IT" dirty="0"/>
              <a:t> può essere implementato </a:t>
            </a:r>
          </a:p>
          <a:p>
            <a:pPr lvl="1"/>
            <a:r>
              <a:rPr lang="it-IT" dirty="0"/>
              <a:t>richiamando il costruttore precedentemente definito</a:t>
            </a:r>
          </a:p>
          <a:p>
            <a:pPr lvl="1"/>
            <a:r>
              <a:rPr lang="it-IT" dirty="0"/>
              <a:t>passando ad esso come parametri </a:t>
            </a:r>
            <a:r>
              <a:rPr lang="it-IT" i="1" dirty="0">
                <a:solidFill>
                  <a:schemeClr val="accent2"/>
                </a:solidFill>
              </a:rPr>
              <a:t>x</a:t>
            </a:r>
            <a:r>
              <a:rPr lang="it-IT" dirty="0"/>
              <a:t> ed </a:t>
            </a:r>
            <a:r>
              <a:rPr lang="it-IT" i="1" dirty="0">
                <a:solidFill>
                  <a:schemeClr val="accent2"/>
                </a:solidFill>
              </a:rPr>
              <a:t>y</a:t>
            </a:r>
            <a:r>
              <a:rPr lang="it-IT" dirty="0"/>
              <a:t> i valori </a:t>
            </a:r>
            <a:r>
              <a:rPr lang="it-IT" i="1" dirty="0">
                <a:solidFill>
                  <a:schemeClr val="accent2"/>
                </a:solidFill>
              </a:rPr>
              <a:t>p.coordX</a:t>
            </a:r>
            <a:r>
              <a:rPr lang="it-IT" dirty="0"/>
              <a:t> e </a:t>
            </a:r>
            <a:r>
              <a:rPr lang="it-IT" i="1" dirty="0" err="1">
                <a:solidFill>
                  <a:schemeClr val="accent2"/>
                </a:solidFill>
              </a:rPr>
              <a:t>p.coordY</a:t>
            </a:r>
            <a:endParaRPr lang="it-IT" i="1" dirty="0">
              <a:solidFill>
                <a:schemeClr val="accent2"/>
              </a:solidFill>
            </a:endParaRPr>
          </a:p>
          <a:p>
            <a:r>
              <a:rPr lang="it-IT" dirty="0"/>
              <a:t>Come si può richiamare tale costruttore?</a:t>
            </a:r>
          </a:p>
          <a:p>
            <a:r>
              <a:rPr lang="it-IT" dirty="0"/>
              <a:t>Con la sintassi </a:t>
            </a:r>
            <a:r>
              <a:rPr lang="it-IT" i="1" dirty="0" err="1">
                <a:solidFill>
                  <a:schemeClr val="accent2"/>
                </a:solidFill>
              </a:rPr>
              <a:t>this</a:t>
            </a:r>
            <a:r>
              <a:rPr lang="it-IT" i="1" dirty="0">
                <a:solidFill>
                  <a:schemeClr val="accent2"/>
                </a:solidFill>
              </a:rPr>
              <a:t>(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</a:t>
            </a:r>
            <a:r>
              <a:rPr lang="it-IT" i="1" dirty="0">
                <a:solidFill>
                  <a:schemeClr val="accent2"/>
                </a:solidFill>
              </a:rPr>
              <a:t>parametri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</a:t>
            </a:r>
            <a:r>
              <a:rPr lang="it-IT" i="1" dirty="0">
                <a:solidFill>
                  <a:schemeClr val="accent2"/>
                </a:solidFill>
              </a:rPr>
              <a:t>)</a:t>
            </a:r>
          </a:p>
          <a:p>
            <a:r>
              <a:rPr lang="it-IT" dirty="0"/>
              <a:t>Dove 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</a:t>
            </a:r>
            <a:r>
              <a:rPr lang="it-IT" i="1" dirty="0">
                <a:solidFill>
                  <a:schemeClr val="accent2"/>
                </a:solidFill>
              </a:rPr>
              <a:t>parametri</a:t>
            </a:r>
            <a:r>
              <a:rPr lang="it-IT" dirty="0">
                <a:solidFill>
                  <a:schemeClr val="accent2"/>
                </a:solidFill>
                <a:sym typeface="Symbol"/>
              </a:rPr>
              <a:t></a:t>
            </a:r>
            <a:r>
              <a:rPr lang="it-IT" dirty="0"/>
              <a:t> sono i parametri richiesti dal costruttore che si vuol richiamare</a:t>
            </a:r>
            <a:endParaRPr lang="it-IT" u="sng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Ancora sul </a:t>
            </a:r>
            <a:r>
              <a:rPr lang="it-IT" dirty="0" err="1"/>
              <a:t>this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it-IT" dirty="0"/>
              <a:t>Il costruttore di copia della classe </a:t>
            </a:r>
            <a:r>
              <a:rPr lang="it-IT" i="1" dirty="0">
                <a:solidFill>
                  <a:schemeClr val="accent2"/>
                </a:solidFill>
              </a:rPr>
              <a:t>Punto</a:t>
            </a:r>
            <a:r>
              <a:rPr lang="it-IT" dirty="0"/>
              <a:t> può essere implementato come segue</a:t>
            </a:r>
            <a:endParaRPr lang="it-IT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	public Punto(Punto p){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it-IT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this</a:t>
            </a:r>
            <a:r>
              <a:rPr lang="it-IT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it-IT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p.coordX</a:t>
            </a:r>
            <a:r>
              <a:rPr lang="it-IT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, p.coordY);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r>
              <a:rPr lang="it-IT" dirty="0"/>
              <a:t>Ovviamente potremmo realizzare il costruttore di copia in maniera “tradizionale”</a:t>
            </a:r>
          </a:p>
          <a:p>
            <a:pPr>
              <a:buNone/>
            </a:pPr>
            <a:r>
              <a:rPr lang="it-IT" dirty="0"/>
              <a:t> 	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public Punto(</a:t>
            </a:r>
            <a:r>
              <a:rPr lang="it-IT" dirty="0" err="1">
                <a:latin typeface="Courier New" pitchFamily="49" charset="0"/>
                <a:cs typeface="Courier New" pitchFamily="49" charset="0"/>
              </a:rPr>
              <a:t>Punto</a:t>
            </a:r>
            <a:r>
              <a:rPr lang="it-IT" dirty="0">
                <a:latin typeface="Courier New" pitchFamily="49" charset="0"/>
                <a:cs typeface="Courier New" pitchFamily="49" charset="0"/>
              </a:rPr>
              <a:t> p){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it-IT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this.coordX</a:t>
            </a:r>
            <a:r>
              <a:rPr lang="it-IT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it-IT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p.coordX</a:t>
            </a:r>
            <a:r>
              <a:rPr lang="it-IT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it-IT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it-IT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this.coordY</a:t>
            </a:r>
            <a:r>
              <a:rPr lang="it-IT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it-IT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p.coordY</a:t>
            </a:r>
            <a:r>
              <a:rPr lang="it-IT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it-IT" dirty="0">
                <a:latin typeface="Courier New" pitchFamily="49" charset="0"/>
                <a:cs typeface="Courier New" pitchFamily="49" charset="0"/>
              </a:rPr>
              <a:t>	}</a:t>
            </a:r>
            <a:r>
              <a:rPr lang="it-IT" dirty="0"/>
              <a:t> 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Metodi e costruttori privati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Negli esempi visti sin qui tutti i metodi delle classi implementate sono stati dichiarati </a:t>
            </a:r>
            <a:r>
              <a:rPr lang="it-IT" i="1" dirty="0">
                <a:solidFill>
                  <a:schemeClr val="accent2"/>
                </a:solidFill>
              </a:rPr>
              <a:t>public</a:t>
            </a:r>
          </a:p>
          <a:p>
            <a:r>
              <a:rPr lang="it-IT" dirty="0"/>
              <a:t>In molti casi tuttavia è importante definire metodi </a:t>
            </a:r>
            <a:r>
              <a:rPr lang="it-IT" i="1" dirty="0">
                <a:solidFill>
                  <a:schemeClr val="accent2"/>
                </a:solidFill>
              </a:rPr>
              <a:t>private</a:t>
            </a:r>
            <a:r>
              <a:rPr lang="it-IT" dirty="0"/>
              <a:t> a supporto di metodi pubblici</a:t>
            </a:r>
          </a:p>
          <a:p>
            <a:r>
              <a:rPr lang="it-IT" dirty="0"/>
              <a:t>In particolare, quando un metodo pubblico ha una implementazione complessa, può risultare utile spostare ed incapsulare parti del suo codice in metodi privati che vengono poi richiamati nell’ambito del metodo pubblico.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Metodi e costruttori privati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È anche possibile definire come </a:t>
            </a:r>
            <a:r>
              <a:rPr lang="it-IT" i="1" dirty="0">
                <a:solidFill>
                  <a:schemeClr val="accent2"/>
                </a:solidFill>
              </a:rPr>
              <a:t>private</a:t>
            </a:r>
            <a:r>
              <a:rPr lang="it-IT" dirty="0">
                <a:solidFill>
                  <a:schemeClr val="accent2"/>
                </a:solidFill>
              </a:rPr>
              <a:t> </a:t>
            </a:r>
            <a:r>
              <a:rPr lang="it-IT" dirty="0"/>
              <a:t>un costruttore</a:t>
            </a:r>
          </a:p>
          <a:p>
            <a:r>
              <a:rPr lang="it-IT" dirty="0"/>
              <a:t>Ma in che circostanza ciò può tornare utile?</a:t>
            </a:r>
          </a:p>
          <a:p>
            <a:r>
              <a:rPr lang="it-IT" dirty="0"/>
              <a:t>Ad esempio per inibire la creazione di oggetti di una certa classe</a:t>
            </a:r>
          </a:p>
          <a:p>
            <a:r>
              <a:rPr lang="it-IT" dirty="0"/>
              <a:t>Ad esempio la classe </a:t>
            </a:r>
            <a:r>
              <a:rPr lang="it-IT" i="1" dirty="0" err="1">
                <a:solidFill>
                  <a:schemeClr val="accent2"/>
                </a:solidFill>
              </a:rPr>
              <a:t>Math</a:t>
            </a:r>
            <a:r>
              <a:rPr lang="it-IT" dirty="0"/>
              <a:t> ha un costruttore privato</a:t>
            </a:r>
          </a:p>
          <a:p>
            <a:pPr lvl="1"/>
            <a:r>
              <a:rPr lang="it-IT" dirty="0"/>
              <a:t>ciò impedisce la creazione di oggetti </a:t>
            </a:r>
            <a:r>
              <a:rPr lang="it-IT" i="1" dirty="0" err="1">
                <a:solidFill>
                  <a:schemeClr val="accent2"/>
                </a:solidFill>
              </a:rPr>
              <a:t>Math</a:t>
            </a:r>
            <a:endParaRPr lang="it-IT" i="1" dirty="0">
              <a:solidFill>
                <a:schemeClr val="accent2"/>
              </a:solidFill>
            </a:endParaRPr>
          </a:p>
          <a:p>
            <a:r>
              <a:rPr lang="it-IT" dirty="0"/>
              <a:t>La classe </a:t>
            </a:r>
            <a:r>
              <a:rPr lang="it-IT" i="1" dirty="0" err="1">
                <a:solidFill>
                  <a:schemeClr val="accent2"/>
                </a:solidFill>
              </a:rPr>
              <a:t>Math</a:t>
            </a:r>
            <a:r>
              <a:rPr lang="it-IT" dirty="0"/>
              <a:t> ha solo metodi statici</a:t>
            </a:r>
          </a:p>
          <a:p>
            <a:pPr lvl="1"/>
            <a:r>
              <a:rPr lang="it-IT" dirty="0"/>
              <a:t>ogni servizio viene offerto dalla classe stessa 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Metodi e costruttori privati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b="1"/>
              <a:t>Nota Bene</a:t>
            </a:r>
            <a:r>
              <a:rPr lang="it-IT" dirty="0"/>
              <a:t>: se si vuole inibire la creazione di oggetti non basta non definire alcun costruttore</a:t>
            </a:r>
          </a:p>
          <a:p>
            <a:r>
              <a:rPr lang="it-IT" dirty="0"/>
              <a:t>In tal caso, infatti, la classe verrebbe comunque dotata del costruttore (pubblico) di default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ndamenti">
  <a:themeElements>
    <a:clrScheme name="Personalizzato 2">
      <a:dk1>
        <a:sysClr val="windowText" lastClr="000000"/>
      </a:dk1>
      <a:lt1>
        <a:sysClr val="window" lastClr="FFFFFF"/>
      </a:lt1>
      <a:dk2>
        <a:srgbClr val="990000"/>
      </a:dk2>
      <a:lt2>
        <a:srgbClr val="EEECE1"/>
      </a:lt2>
      <a:accent1>
        <a:srgbClr val="0000FF"/>
      </a:accent1>
      <a:accent2>
        <a:srgbClr val="006600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o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D65CA2515402D41A280901C776553D9" ma:contentTypeVersion="11" ma:contentTypeDescription="Creare un nuovo documento." ma:contentTypeScope="" ma:versionID="42a50dcfe7cdc16628150e4ed664f597">
  <xsd:schema xmlns:xsd="http://www.w3.org/2001/XMLSchema" xmlns:xs="http://www.w3.org/2001/XMLSchema" xmlns:p="http://schemas.microsoft.com/office/2006/metadata/properties" xmlns:ns2="b59b3c25-9a25-49d1-a0d3-94991f66772c" xmlns:ns3="276b7aae-0fa0-446d-a82e-a7696b2dbbea" targetNamespace="http://schemas.microsoft.com/office/2006/metadata/properties" ma:root="true" ma:fieldsID="5c83b0c1b3186f8798f8242386c1ecd8" ns2:_="" ns3:_="">
    <xsd:import namespace="b59b3c25-9a25-49d1-a0d3-94991f66772c"/>
    <xsd:import namespace="276b7aae-0fa0-446d-a82e-a7696b2dbbe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9b3c25-9a25-49d1-a0d3-94991f66772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Tag immagine" ma:readOnly="false" ma:fieldId="{5cf76f15-5ced-4ddc-b409-7134ff3c332f}" ma:taxonomyMulti="true" ma:sspId="9d414cec-426e-4329-9a45-dc9697900c5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6b7aae-0fa0-446d-a82e-a7696b2dbbea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44d34081-00a8-48ef-94a0-c9629acd59b6}" ma:internalName="TaxCatchAll" ma:showField="CatchAllData" ma:web="276b7aae-0fa0-446d-a82e-a7696b2dbbe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59b3c25-9a25-49d1-a0d3-94991f66772c">
      <Terms xmlns="http://schemas.microsoft.com/office/infopath/2007/PartnerControls"/>
    </lcf76f155ced4ddcb4097134ff3c332f>
    <TaxCatchAll xmlns="276b7aae-0fa0-446d-a82e-a7696b2dbbea" xsi:nil="true"/>
  </documentManagement>
</p:properties>
</file>

<file path=customXml/itemProps1.xml><?xml version="1.0" encoding="utf-8"?>
<ds:datastoreItem xmlns:ds="http://schemas.openxmlformats.org/officeDocument/2006/customXml" ds:itemID="{031F07F0-A689-4BBC-AA4E-488AAAAE6B00}"/>
</file>

<file path=customXml/itemProps2.xml><?xml version="1.0" encoding="utf-8"?>
<ds:datastoreItem xmlns:ds="http://schemas.openxmlformats.org/officeDocument/2006/customXml" ds:itemID="{7A554660-9DB4-4C2B-A93F-B3FD5ACB2D1F}"/>
</file>

<file path=customXml/itemProps3.xml><?xml version="1.0" encoding="utf-8"?>
<ds:datastoreItem xmlns:ds="http://schemas.openxmlformats.org/officeDocument/2006/customXml" ds:itemID="{ADD6AFCB-9B54-4054-997D-0F830159E0D6}"/>
</file>

<file path=docProps/app.xml><?xml version="1.0" encoding="utf-8"?>
<Properties xmlns="http://schemas.openxmlformats.org/officeDocument/2006/extended-properties" xmlns:vt="http://schemas.openxmlformats.org/officeDocument/2006/docPropsVTypes">
  <Template>Fondamenti</Template>
  <TotalTime>282</TotalTime>
  <Words>5774</Words>
  <Application>Microsoft Office PowerPoint</Application>
  <PresentationFormat>Presentazione su schermo (4:3)</PresentationFormat>
  <Paragraphs>680</Paragraphs>
  <Slides>91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91</vt:i4>
      </vt:variant>
    </vt:vector>
  </HeadingPairs>
  <TitlesOfParts>
    <vt:vector size="98" baseType="lpstr">
      <vt:lpstr>Arial</vt:lpstr>
      <vt:lpstr>Calibri</vt:lpstr>
      <vt:lpstr>Courier</vt:lpstr>
      <vt:lpstr>Courier New</vt:lpstr>
      <vt:lpstr>Symbol</vt:lpstr>
      <vt:lpstr>Wingdings</vt:lpstr>
      <vt:lpstr>Fondamenti</vt:lpstr>
      <vt:lpstr>Realizzazione di Classi</vt:lpstr>
      <vt:lpstr>Definizioni di classi</vt:lpstr>
      <vt:lpstr>La classe Rettangolo</vt:lpstr>
      <vt:lpstr>La classe Rettangolo</vt:lpstr>
      <vt:lpstr>La classe Rettangolo</vt:lpstr>
      <vt:lpstr>Commenti</vt:lpstr>
      <vt:lpstr>Commenti</vt:lpstr>
      <vt:lpstr>La classe Rettangolo</vt:lpstr>
      <vt:lpstr>Notazione grafica “arricchita”</vt:lpstr>
      <vt:lpstr>Notazione grafica “arricchita”</vt:lpstr>
      <vt:lpstr>Attributi</vt:lpstr>
      <vt:lpstr>Scriviamo la classe Rettangolo</vt:lpstr>
      <vt:lpstr>Attributi e variabili</vt:lpstr>
      <vt:lpstr>Attributi e variabili</vt:lpstr>
      <vt:lpstr>Dichiarazione di attributi</vt:lpstr>
      <vt:lpstr>Variabili di istanza</vt:lpstr>
      <vt:lpstr>Semplificazioni sintattiche</vt:lpstr>
      <vt:lpstr>Oggetti e variabili di istanza</vt:lpstr>
      <vt:lpstr>Valore iniziale delle var. di istanza</vt:lpstr>
      <vt:lpstr>Valore iniziale delle var. di istanza</vt:lpstr>
      <vt:lpstr>Valore iniziale delle var. di istanza</vt:lpstr>
      <vt:lpstr>Variabili di classe</vt:lpstr>
      <vt:lpstr>Valore iniziale delle var. di classe</vt:lpstr>
      <vt:lpstr>Costruttori</vt:lpstr>
      <vt:lpstr>Costruttori</vt:lpstr>
      <vt:lpstr>Costruttori</vt:lpstr>
      <vt:lpstr>Definizione di costruttori</vt:lpstr>
      <vt:lpstr>Definizione di costruttori</vt:lpstr>
      <vt:lpstr>Parametri formali</vt:lpstr>
      <vt:lpstr>Parametri formali</vt:lpstr>
      <vt:lpstr>Parametri attuali</vt:lpstr>
      <vt:lpstr>Passaggio di parametri</vt:lpstr>
      <vt:lpstr>Corpo del costruttore Rettangolo</vt:lpstr>
      <vt:lpstr>La parola chiave this</vt:lpstr>
      <vt:lpstr>Assegnamento a variabili di istanza</vt:lpstr>
      <vt:lpstr>Conteggio delle istanze create</vt:lpstr>
      <vt:lpstr>Esecuzione del costruttore</vt:lpstr>
      <vt:lpstr>Esecuzione del costruttore</vt:lpstr>
      <vt:lpstr>Esecuzione del costruttore</vt:lpstr>
      <vt:lpstr>Esecuzione del costruttore</vt:lpstr>
      <vt:lpstr>Il metodo perimetro</vt:lpstr>
      <vt:lpstr>Dichiarazione del metodo</vt:lpstr>
      <vt:lpstr>Variabili locali</vt:lpstr>
      <vt:lpstr>Valore iniziale per le variabili locali</vt:lpstr>
      <vt:lpstr>Calcolo del perimetro</vt:lpstr>
      <vt:lpstr>Restituzione del perimetro</vt:lpstr>
      <vt:lpstr>L’istruzione return</vt:lpstr>
      <vt:lpstr>Ancora sul metodo perimetro</vt:lpstr>
      <vt:lpstr>Semplificazione del codice</vt:lpstr>
      <vt:lpstr>Il metodo frazioneDiArea</vt:lpstr>
      <vt:lpstr>Il metodo cambiaDimensioni</vt:lpstr>
      <vt:lpstr>Il metodo rettCreati</vt:lpstr>
      <vt:lpstr>Test della classe Rettangolo</vt:lpstr>
      <vt:lpstr>Test della classe Rettangolo</vt:lpstr>
      <vt:lpstr>Test della classe Rettangolo</vt:lpstr>
      <vt:lpstr>Test della classe Rettangolo</vt:lpstr>
      <vt:lpstr>Un altro esempio: Punto</vt:lpstr>
      <vt:lpstr>Un altro esempio: Punto</vt:lpstr>
      <vt:lpstr>Un altro esempio: Punto</vt:lpstr>
      <vt:lpstr>La classe Punto</vt:lpstr>
      <vt:lpstr>La classe Punto</vt:lpstr>
      <vt:lpstr>La classe Punto</vt:lpstr>
      <vt:lpstr>La classe Punto</vt:lpstr>
      <vt:lpstr>La classe Punto</vt:lpstr>
      <vt:lpstr>La classe Punto</vt:lpstr>
      <vt:lpstr>La classe Punto</vt:lpstr>
      <vt:lpstr>La classe Punto</vt:lpstr>
      <vt:lpstr>La classe Punto</vt:lpstr>
      <vt:lpstr>La classe Punto</vt:lpstr>
      <vt:lpstr>La classe Punto</vt:lpstr>
      <vt:lpstr>La classe Punto</vt:lpstr>
      <vt:lpstr>La classe Punto</vt:lpstr>
      <vt:lpstr>La classe Punto</vt:lpstr>
      <vt:lpstr>La classe Punto</vt:lpstr>
      <vt:lpstr>Ulteriori osservazioni</vt:lpstr>
      <vt:lpstr>Variabili: classificazione</vt:lpstr>
      <vt:lpstr>Variabili: classificazione</vt:lpstr>
      <vt:lpstr>Variabili: classificazione</vt:lpstr>
      <vt:lpstr>Variabili: scope</vt:lpstr>
      <vt:lpstr>Variabili di istanza</vt:lpstr>
      <vt:lpstr>Esempi di uso del this</vt:lpstr>
      <vt:lpstr>Variabili di classe</vt:lpstr>
      <vt:lpstr>Variabili locali</vt:lpstr>
      <vt:lpstr>Variabili locali</vt:lpstr>
      <vt:lpstr>Parametri formali</vt:lpstr>
      <vt:lpstr>Ancora sul this</vt:lpstr>
      <vt:lpstr>Ancora sul this</vt:lpstr>
      <vt:lpstr>Ancora sul this</vt:lpstr>
      <vt:lpstr>Metodi e costruttori privati</vt:lpstr>
      <vt:lpstr>Metodi e costruttori privati</vt:lpstr>
      <vt:lpstr>Metodi e costruttori privati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Architettura del Calcolatore </dc:title>
  <dc:creator>digiacomo</dc:creator>
  <cp:lastModifiedBy>cristian agliani</cp:lastModifiedBy>
  <cp:revision>131</cp:revision>
  <dcterms:created xsi:type="dcterms:W3CDTF">2014-02-06T21:49:44Z</dcterms:created>
  <dcterms:modified xsi:type="dcterms:W3CDTF">2026-01-16T14:05:15Z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0x0101000D65CA2515402D41A280901C776553D9</vt:lpwstr>
  </property>
</Properties>
</file>