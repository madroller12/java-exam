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4"/>
  </p:sldMasterIdLst>
  <p:sldIdLst>
    <p:sldId id="256" r:id="rId5"/>
    <p:sldId id="260" r:id="rId6"/>
    <p:sldId id="257" r:id="rId7"/>
    <p:sldId id="258" r:id="rId8"/>
    <p:sldId id="259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5" r:id="rId33"/>
    <p:sldId id="286" r:id="rId34"/>
    <p:sldId id="284" r:id="rId35"/>
    <p:sldId id="287" r:id="rId36"/>
    <p:sldId id="288" r:id="rId37"/>
    <p:sldId id="289" r:id="rId38"/>
    <p:sldId id="290" r:id="rId39"/>
    <p:sldId id="291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18" r:id="rId48"/>
    <p:sldId id="300" r:id="rId49"/>
    <p:sldId id="301" r:id="rId50"/>
    <p:sldId id="302" r:id="rId51"/>
    <p:sldId id="303" r:id="rId52"/>
    <p:sldId id="305" r:id="rId53"/>
    <p:sldId id="304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38" r:id="rId74"/>
    <p:sldId id="326" r:id="rId75"/>
    <p:sldId id="327" r:id="rId76"/>
    <p:sldId id="328" r:id="rId77"/>
    <p:sldId id="329" r:id="rId78"/>
    <p:sldId id="330" r:id="rId79"/>
    <p:sldId id="332" r:id="rId80"/>
    <p:sldId id="331" r:id="rId81"/>
    <p:sldId id="333" r:id="rId82"/>
    <p:sldId id="334" r:id="rId83"/>
    <p:sldId id="335" r:id="rId84"/>
    <p:sldId id="336" r:id="rId85"/>
    <p:sldId id="337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presProps" Target="presProps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412467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16/01/2026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228600" y="1905000"/>
            <a:ext cx="8610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228600" y="3886200"/>
            <a:ext cx="8610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16/01/2026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>
            <a:off x="609600" y="1219200"/>
            <a:ext cx="78486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16/01/2026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16/01/2026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609600" y="1219200"/>
            <a:ext cx="78486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dirty="0"/>
              <a:t>Fare clic per modificare lo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340768"/>
            <a:ext cx="8229600" cy="4785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it-IT" dirty="0"/>
              <a:t>Secondo livello</a:t>
            </a:r>
          </a:p>
          <a:p>
            <a: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it-IT" dirty="0"/>
              <a:t>Terzo livello</a:t>
            </a:r>
          </a:p>
          <a:p>
            <a: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055F8-1D02-4417-9241-55C834FD9970}" type="datetimeFigureOut">
              <a:rPr lang="it-IT" smtClean="0"/>
              <a:pPr/>
              <a:t>16/01/2026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7B441-5312-499D-93C3-6E37886527FA}" type="slidenum">
              <a:rPr lang="it-IT" smtClean="0"/>
              <a:pPr/>
              <a:t>‹#›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</p:sldLayoutIdLst>
  <p:txStyles>
    <p:titleStyle>
      <a:lvl1pPr algn="l" defTabSz="914400" rtl="0" eaLnBrk="1" latinLnBrk="0" hangingPunct="1">
        <a:spcBef>
          <a:spcPct val="0"/>
        </a:spcBef>
        <a:buNone/>
        <a:defRPr lang="it-IT" sz="4400" kern="1200" dirty="0" smtClean="0">
          <a:solidFill>
            <a:srgbClr val="99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fontAlgn="base" latinLnBrk="0" hangingPunct="1">
        <a:spcBef>
          <a:spcPct val="20000"/>
        </a:spcBef>
        <a:spcAft>
          <a:spcPct val="0"/>
        </a:spcAft>
        <a:buFont typeface="Arial" pitchFamily="34" charset="0"/>
        <a:buChar char="•"/>
        <a:defRPr lang="it-IT" sz="28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914400" indent="-457200" algn="l" defTabSz="914400" rtl="0" eaLnBrk="1" fontAlgn="base" latinLnBrk="0" hangingPunct="1">
        <a:spcBef>
          <a:spcPct val="20000"/>
        </a:spcBef>
        <a:spcAft>
          <a:spcPct val="0"/>
        </a:spcAft>
        <a:buFont typeface="Calibri" pitchFamily="34" charset="0"/>
        <a:buChar char="‒"/>
        <a:defRPr lang="it-IT" sz="24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371600" indent="-457200" algn="l" defTabSz="914400" rtl="0" eaLnBrk="1" fontAlgn="base" latinLnBrk="0" hangingPunct="1">
        <a:spcBef>
          <a:spcPct val="20000"/>
        </a:spcBef>
        <a:spcAft>
          <a:spcPct val="0"/>
        </a:spcAft>
        <a:buFont typeface="Wingdings" pitchFamily="2" charset="2"/>
        <a:buChar char="§"/>
        <a:defRPr lang="it-IT" sz="24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828800" indent="-457200" algn="l" defTabSz="914400" rtl="0" eaLnBrk="1" fontAlgn="base" latinLnBrk="0" hangingPunct="1">
        <a:spcBef>
          <a:spcPct val="20000"/>
        </a:spcBef>
        <a:spcAft>
          <a:spcPct val="0"/>
        </a:spcAft>
        <a:buFont typeface="Arial" pitchFamily="34" charset="0"/>
        <a:buChar char="•"/>
        <a:defRPr lang="it-IT" sz="24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286000" indent="-230400" algn="l" defTabSz="914400" rtl="0" eaLnBrk="1" fontAlgn="base" latinLnBrk="0" hangingPunct="1">
        <a:spcBef>
          <a:spcPct val="20000"/>
        </a:spcBef>
        <a:spcAft>
          <a:spcPct val="0"/>
        </a:spcAft>
        <a:buFont typeface="Arial" pitchFamily="34" charset="0"/>
        <a:buChar char="•"/>
        <a:defRPr lang="it-IT" sz="24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Uso di Classi e Oggetti in Java </a:t>
            </a:r>
          </a:p>
        </p:txBody>
      </p:sp>
      <p:sp>
        <p:nvSpPr>
          <p:cNvPr id="5" name="Sottotitolo 4">
            <a:extLst>
              <a:ext uri="{FF2B5EF4-FFF2-40B4-BE49-F238E27FC236}">
                <a16:creationId xmlns:a16="http://schemas.microsoft.com/office/drawing/2014/main" id="{B6C05BC6-51EE-70F8-C4E9-EF04B2569E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Obiettivi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it-IT" dirty="0"/>
              <a:t>Vogliamo vedere come si realizzano semplici programmi in Java</a:t>
            </a:r>
          </a:p>
          <a:p>
            <a:pPr lvl="1">
              <a:spcBef>
                <a:spcPct val="50000"/>
              </a:spcBef>
              <a:defRPr/>
            </a:pPr>
            <a:r>
              <a:rPr lang="it-IT" dirty="0"/>
              <a:t>In questa fase, gran parte dei programmi che scriveremo sarà già stata realizzata da altri programmatori</a:t>
            </a:r>
          </a:p>
          <a:p>
            <a:pPr lvl="1">
              <a:spcBef>
                <a:spcPct val="50000"/>
              </a:spcBef>
              <a:defRPr/>
            </a:pPr>
            <a:r>
              <a:rPr lang="it-IT" dirty="0"/>
              <a:t>Noi scriveremo solo piccole parti del programma che utilizzeranno classi di oggetti già definite</a:t>
            </a:r>
          </a:p>
          <a:p>
            <a:pPr>
              <a:buNone/>
            </a:pPr>
            <a:endParaRPr lang="it-IT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Struttura di un programma Java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it-IT" dirty="0"/>
              <a:t>Un programma Java è composto da un insieme di classi:</a:t>
            </a:r>
          </a:p>
          <a:p>
            <a:pPr lvl="1">
              <a:spcBef>
                <a:spcPct val="50000"/>
              </a:spcBef>
              <a:buFontTx/>
              <a:buChar char="•"/>
              <a:defRPr/>
            </a:pPr>
            <a:r>
              <a:rPr lang="it-IT" dirty="0"/>
              <a:t>il codice di ogni classe va scritto in un </a:t>
            </a:r>
            <a:r>
              <a:rPr lang="it-IT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file di testo</a:t>
            </a:r>
            <a:r>
              <a:rPr lang="it-IT" dirty="0">
                <a:solidFill>
                  <a:schemeClr val="accent2"/>
                </a:solidFill>
              </a:rPr>
              <a:t> </a:t>
            </a:r>
            <a:r>
              <a:rPr lang="it-IT" dirty="0"/>
              <a:t>che ha il nome della classe e l’estensione </a:t>
            </a:r>
            <a:r>
              <a:rPr lang="it-IT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“</a:t>
            </a:r>
            <a:r>
              <a:rPr lang="it-IT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.java</a:t>
            </a:r>
            <a:r>
              <a:rPr lang="it-IT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”</a:t>
            </a:r>
          </a:p>
          <a:p>
            <a:pPr lvl="1">
              <a:spcBef>
                <a:spcPct val="50000"/>
              </a:spcBef>
              <a:buFontTx/>
              <a:buChar char="•"/>
              <a:defRPr/>
            </a:pPr>
            <a:r>
              <a:rPr lang="it-IT" dirty="0"/>
              <a:t> una delle classi che compongono il programma deve contenere un metodo speciale, chiamato </a:t>
            </a:r>
            <a:r>
              <a:rPr lang="it-IT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“</a:t>
            </a:r>
            <a:r>
              <a:rPr lang="it-IT" i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main</a:t>
            </a:r>
            <a:r>
              <a:rPr lang="it-IT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”</a:t>
            </a:r>
          </a:p>
          <a:p>
            <a:pPr lvl="1">
              <a:spcBef>
                <a:spcPct val="50000"/>
              </a:spcBef>
              <a:buFontTx/>
              <a:buChar char="•"/>
              <a:defRPr/>
            </a:pPr>
            <a:r>
              <a:rPr lang="it-IT" dirty="0"/>
              <a:t>l’esecuzione del programma inizia sempre dalla prima istruzione del metodo </a:t>
            </a:r>
            <a:r>
              <a:rPr lang="it-IT" i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main</a:t>
            </a:r>
            <a:r>
              <a:rPr lang="it-IT" dirty="0"/>
              <a:t> e termina sempre con l’ultima istruzione del </a:t>
            </a:r>
            <a:r>
              <a:rPr lang="it-IT" i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main</a:t>
            </a:r>
            <a:r>
              <a:rPr lang="it-IT" dirty="0">
                <a:solidFill>
                  <a:schemeClr val="accent2"/>
                </a:solidFill>
              </a:rPr>
              <a:t>   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Struttura di un programma Java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6634" y="1772816"/>
            <a:ext cx="6755726" cy="217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CasellaDiTesto 24"/>
          <p:cNvSpPr txBox="1"/>
          <p:nvPr/>
        </p:nvSpPr>
        <p:spPr>
          <a:xfrm>
            <a:off x="611560" y="4221088"/>
            <a:ext cx="8208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it-IT" sz="2400" dirty="0"/>
              <a:t> Il metodo speciale </a:t>
            </a:r>
            <a:r>
              <a:rPr lang="it-IT" sz="2400" i="1" dirty="0" err="1">
                <a:solidFill>
                  <a:schemeClr val="accent2"/>
                </a:solidFill>
              </a:rPr>
              <a:t>main</a:t>
            </a:r>
            <a:r>
              <a:rPr lang="it-IT" sz="2400" dirty="0"/>
              <a:t> è un metodo di classe; rappresenta infatti un servizio offerto dalla classe che si richiede di “eseguire”</a:t>
            </a:r>
          </a:p>
          <a:p>
            <a:pPr>
              <a:buFont typeface="Arial" pitchFamily="34" charset="0"/>
              <a:buChar char="•"/>
            </a:pPr>
            <a:endParaRPr lang="it-IT" sz="2400" dirty="0"/>
          </a:p>
          <a:p>
            <a:pPr>
              <a:buFont typeface="Arial" pitchFamily="34" charset="0"/>
              <a:buChar char="•"/>
            </a:pPr>
            <a:r>
              <a:rPr lang="it-IT" sz="2400" dirty="0"/>
              <a:t> I file delle varie classi di un programma possono trovarsi distribuiti in diverse directory (come vedremo più avanti)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primo programma Java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600" dirty="0"/>
              <a:t>Realizziamo un primo programma Java che chiameremo </a:t>
            </a:r>
            <a:r>
              <a:rPr lang="it-IT" sz="2600" i="1" dirty="0" err="1">
                <a:solidFill>
                  <a:schemeClr val="accent2"/>
                </a:solidFill>
              </a:rPr>
              <a:t>PrimoProg</a:t>
            </a:r>
            <a:r>
              <a:rPr lang="it-IT" sz="2600" i="1" dirty="0">
                <a:solidFill>
                  <a:schemeClr val="accent2"/>
                </a:solidFill>
              </a:rPr>
              <a:t> </a:t>
            </a:r>
          </a:p>
          <a:p>
            <a:r>
              <a:rPr lang="it-IT" sz="2600" dirty="0"/>
              <a:t>Esso scriverà a video, all’interno di una finestra grafica, il messaggio “il mio primo programma”.</a:t>
            </a:r>
            <a:endParaRPr lang="it-IT" sz="2600" dirty="0">
              <a:solidFill>
                <a:schemeClr val="accent2"/>
              </a:solidFill>
            </a:endParaRPr>
          </a:p>
          <a:p>
            <a:endParaRPr lang="it-IT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3302843"/>
            <a:ext cx="5419725" cy="343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Struttura di </a:t>
            </a:r>
            <a:r>
              <a:rPr lang="it-IT" dirty="0" err="1"/>
              <a:t>PrimoProg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Il programma sarà composto da tre classi:</a:t>
            </a:r>
          </a:p>
          <a:p>
            <a:endParaRPr lang="it-IT" dirty="0"/>
          </a:p>
          <a:p>
            <a:pPr lvl="1"/>
            <a:r>
              <a:rPr lang="it-IT" i="1" dirty="0" err="1">
                <a:solidFill>
                  <a:schemeClr val="accent2"/>
                </a:solidFill>
              </a:rPr>
              <a:t>String</a:t>
            </a:r>
            <a:r>
              <a:rPr lang="it-IT" dirty="0">
                <a:solidFill>
                  <a:schemeClr val="accent2"/>
                </a:solidFill>
              </a:rPr>
              <a:t>: </a:t>
            </a:r>
            <a:r>
              <a:rPr lang="it-IT" dirty="0"/>
              <a:t>è una classe molto usata, fornita dagli sviluppatori di Java; un suo oggetto rappresenta una qualunque sequenza finita di caratteri</a:t>
            </a:r>
          </a:p>
          <a:p>
            <a:pPr lvl="1"/>
            <a:endParaRPr lang="it-IT" dirty="0"/>
          </a:p>
          <a:p>
            <a:pPr lvl="1"/>
            <a:r>
              <a:rPr lang="it-IT" i="1" dirty="0" err="1">
                <a:solidFill>
                  <a:schemeClr val="accent2"/>
                </a:solidFill>
              </a:rPr>
              <a:t>OutputWindow</a:t>
            </a:r>
            <a:r>
              <a:rPr lang="it-IT" dirty="0"/>
              <a:t>: classe fornita dagli autori di questo corso; un suo oggetto rappresenta una finestra grafica nella quale è possibile scrivere messaggi</a:t>
            </a:r>
          </a:p>
          <a:p>
            <a:pPr lvl="1"/>
            <a:endParaRPr lang="it-IT" i="1" dirty="0">
              <a:solidFill>
                <a:schemeClr val="accent2"/>
              </a:solidFill>
            </a:endParaRPr>
          </a:p>
          <a:p>
            <a:pPr lvl="1"/>
            <a:r>
              <a:rPr lang="it-IT" i="1" dirty="0" err="1">
                <a:solidFill>
                  <a:schemeClr val="accent2"/>
                </a:solidFill>
              </a:rPr>
              <a:t>PrimoProg</a:t>
            </a:r>
            <a:r>
              <a:rPr lang="it-IT" dirty="0"/>
              <a:t>: è la classe che dovremo scrivere noi, ed è quella che conterrà il metodo speciale </a:t>
            </a:r>
            <a:r>
              <a:rPr lang="it-IT" i="1" dirty="0" err="1">
                <a:solidFill>
                  <a:schemeClr val="accent2"/>
                </a:solidFill>
              </a:rPr>
              <a:t>main</a:t>
            </a:r>
            <a:r>
              <a:rPr lang="it-IT" dirty="0"/>
              <a:t>, dal quale avrà inizio l’esecuzione del programma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</a:t>
            </a:r>
            <a:r>
              <a:rPr lang="it-IT" dirty="0" err="1"/>
              <a:t>OutputWindow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79909"/>
            <a:ext cx="8229600" cy="4785395"/>
          </a:xfrm>
        </p:spPr>
        <p:txBody>
          <a:bodyPr>
            <a:normAutofit/>
          </a:bodyPr>
          <a:lstStyle/>
          <a:p>
            <a:r>
              <a:rPr lang="it-IT" sz="2400" dirty="0"/>
              <a:t>Come detto, è una classe già scritta e pronta per l’uso; per usarla dobbiamo conoscere il comportamento dei suoi oggetti</a:t>
            </a:r>
          </a:p>
          <a:p>
            <a:pPr lvl="1"/>
            <a:r>
              <a:rPr lang="it-IT" sz="2000" dirty="0"/>
              <a:t>basta conoscere l’intestazione dei metodi, non la loro implementazione</a:t>
            </a:r>
          </a:p>
          <a:p>
            <a:endParaRPr lang="it-IT" sz="2400" dirty="0"/>
          </a:p>
          <a:p>
            <a:r>
              <a:rPr lang="it-IT" sz="2400" dirty="0"/>
              <a:t>Per chiedere ad un oggetto di tipo </a:t>
            </a:r>
            <a:r>
              <a:rPr lang="it-IT" sz="2400" i="1" dirty="0" err="1">
                <a:solidFill>
                  <a:schemeClr val="accent2"/>
                </a:solidFill>
              </a:rPr>
              <a:t>OutputWindow</a:t>
            </a:r>
            <a:r>
              <a:rPr lang="it-IT" sz="2400" dirty="0">
                <a:solidFill>
                  <a:schemeClr val="accent2"/>
                </a:solidFill>
              </a:rPr>
              <a:t> </a:t>
            </a:r>
            <a:r>
              <a:rPr lang="it-IT" sz="2400" dirty="0"/>
              <a:t>di scrivere un messaggio nella finestra che esso rappresenta possiamo usare il metodo con prototipo seguente: </a:t>
            </a:r>
          </a:p>
          <a:p>
            <a:pPr algn="ctr">
              <a:buNone/>
            </a:pPr>
            <a:r>
              <a:rPr lang="it-IT" sz="2400" i="1" dirty="0" err="1">
                <a:solidFill>
                  <a:schemeClr val="accent2"/>
                </a:solidFill>
              </a:rPr>
              <a:t>void</a:t>
            </a:r>
            <a:r>
              <a:rPr lang="it-IT" sz="2400" i="1" dirty="0">
                <a:solidFill>
                  <a:schemeClr val="accent2"/>
                </a:solidFill>
              </a:rPr>
              <a:t> </a:t>
            </a:r>
            <a:r>
              <a:rPr lang="it-IT" sz="2400" i="1" dirty="0" err="1">
                <a:solidFill>
                  <a:schemeClr val="accent2"/>
                </a:solidFill>
              </a:rPr>
              <a:t>write</a:t>
            </a:r>
            <a:r>
              <a:rPr lang="it-IT" sz="2400" i="1" dirty="0">
                <a:solidFill>
                  <a:schemeClr val="accent2"/>
                </a:solidFill>
              </a:rPr>
              <a:t> (</a:t>
            </a:r>
            <a:r>
              <a:rPr lang="it-IT" sz="2400" i="1" dirty="0" err="1">
                <a:solidFill>
                  <a:schemeClr val="accent2"/>
                </a:solidFill>
              </a:rPr>
              <a:t>String</a:t>
            </a:r>
            <a:r>
              <a:rPr lang="it-IT" sz="2400" i="1" dirty="0">
                <a:solidFill>
                  <a:schemeClr val="accent2"/>
                </a:solidFill>
              </a:rPr>
              <a:t> s)</a:t>
            </a:r>
          </a:p>
          <a:p>
            <a:endParaRPr lang="it-IT" sz="2400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827584" y="6093296"/>
            <a:ext cx="3024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nessun dato di ritorno</a:t>
            </a:r>
          </a:p>
        </p:txBody>
      </p:sp>
      <p:sp>
        <p:nvSpPr>
          <p:cNvPr id="5" name="CasellaDiTesto 4"/>
          <p:cNvSpPr txBox="1"/>
          <p:nvPr/>
        </p:nvSpPr>
        <p:spPr>
          <a:xfrm>
            <a:off x="4283968" y="6093296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il messaggio da visualizzare</a:t>
            </a:r>
          </a:p>
        </p:txBody>
      </p:sp>
      <p:cxnSp>
        <p:nvCxnSpPr>
          <p:cNvPr id="7" name="Connettore 2 6"/>
          <p:cNvCxnSpPr>
            <a:stCxn id="4" idx="0"/>
          </p:cNvCxnSpPr>
          <p:nvPr/>
        </p:nvCxnSpPr>
        <p:spPr>
          <a:xfrm flipV="1">
            <a:off x="2339752" y="5661248"/>
            <a:ext cx="1080120" cy="432048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/>
          <p:cNvCxnSpPr>
            <a:stCxn id="5" idx="0"/>
          </p:cNvCxnSpPr>
          <p:nvPr/>
        </p:nvCxnSpPr>
        <p:spPr>
          <a:xfrm flipH="1" flipV="1">
            <a:off x="5724128" y="5661248"/>
            <a:ext cx="504056" cy="432048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Codificare una classe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79909"/>
            <a:ext cx="8229600" cy="4785395"/>
          </a:xfrm>
        </p:spPr>
        <p:txBody>
          <a:bodyPr>
            <a:normAutofit/>
          </a:bodyPr>
          <a:lstStyle/>
          <a:p>
            <a:r>
              <a:rPr lang="it-IT" sz="2400" dirty="0"/>
              <a:t>In Java, la struttura del codice di una classe riflette quella utilizzata con la notazione grafica UML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839688" y="2708920"/>
            <a:ext cx="63246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000" b="1" dirty="0" err="1">
                <a:solidFill>
                  <a:srgbClr val="0000FF"/>
                </a:solidFill>
                <a:latin typeface="Courier New" pitchFamily="49" charset="0"/>
              </a:rPr>
              <a:t>class</a:t>
            </a:r>
            <a:r>
              <a:rPr lang="it-IT" sz="2000" dirty="0">
                <a:latin typeface="Courier New" pitchFamily="49" charset="0"/>
              </a:rPr>
              <a:t> &lt;</a:t>
            </a:r>
            <a:r>
              <a:rPr lang="it-IT" sz="2000" i="1" dirty="0">
                <a:latin typeface="Courier New" pitchFamily="49" charset="0"/>
              </a:rPr>
              <a:t>nome classe</a:t>
            </a:r>
            <a:r>
              <a:rPr lang="it-IT" sz="2000" dirty="0">
                <a:latin typeface="Courier New" pitchFamily="49" charset="0"/>
              </a:rPr>
              <a:t>&gt;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</a:rPr>
              <a:t>{</a:t>
            </a:r>
          </a:p>
          <a:p>
            <a:pPr>
              <a:spcBef>
                <a:spcPct val="50000"/>
              </a:spcBef>
            </a:pPr>
            <a:r>
              <a:rPr lang="it-IT" sz="2000" dirty="0">
                <a:solidFill>
                  <a:schemeClr val="accent2"/>
                </a:solidFill>
                <a:latin typeface="Courier New" pitchFamily="49" charset="0"/>
              </a:rPr>
              <a:t>	</a:t>
            </a:r>
            <a:r>
              <a:rPr lang="it-IT" sz="2000" b="1" i="1" dirty="0">
                <a:solidFill>
                  <a:schemeClr val="accent2"/>
                </a:solidFill>
                <a:latin typeface="Courier New" pitchFamily="49" charset="0"/>
              </a:rPr>
              <a:t>definizione degli attributi …</a:t>
            </a:r>
          </a:p>
          <a:p>
            <a:pPr>
              <a:spcBef>
                <a:spcPct val="50000"/>
              </a:spcBef>
            </a:pPr>
            <a:endParaRPr lang="it-IT" sz="2000" i="1" dirty="0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it-IT" sz="2000" i="1" dirty="0">
                <a:latin typeface="Courier New" pitchFamily="49" charset="0"/>
              </a:rPr>
              <a:t>	</a:t>
            </a:r>
            <a:r>
              <a:rPr lang="it-IT" sz="2000" b="1" i="1" dirty="0">
                <a:solidFill>
                  <a:schemeClr val="accent2"/>
                </a:solidFill>
                <a:latin typeface="Courier New" pitchFamily="49" charset="0"/>
              </a:rPr>
              <a:t>definizione dei metodi …</a:t>
            </a:r>
            <a:endParaRPr lang="it-IT" sz="2000" b="1" dirty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10" name="CasellaDiTesto 9"/>
          <p:cNvSpPr txBox="1"/>
          <p:nvPr/>
        </p:nvSpPr>
        <p:spPr>
          <a:xfrm>
            <a:off x="467544" y="5301208"/>
            <a:ext cx="4536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parola chiave del linguaggio Java</a:t>
            </a:r>
          </a:p>
        </p:txBody>
      </p:sp>
      <p:sp>
        <p:nvSpPr>
          <p:cNvPr id="11" name="Figura a mano libera 10"/>
          <p:cNvSpPr/>
          <p:nvPr/>
        </p:nvSpPr>
        <p:spPr>
          <a:xfrm>
            <a:off x="392243" y="3043003"/>
            <a:ext cx="492177" cy="2233535"/>
          </a:xfrm>
          <a:custGeom>
            <a:avLst/>
            <a:gdLst>
              <a:gd name="connsiteX0" fmla="*/ 342275 w 492177"/>
              <a:gd name="connsiteY0" fmla="*/ 2233535 h 2233535"/>
              <a:gd name="connsiteX1" fmla="*/ 27482 w 492177"/>
              <a:gd name="connsiteY1" fmla="*/ 1319135 h 2233535"/>
              <a:gd name="connsiteX2" fmla="*/ 177383 w 492177"/>
              <a:gd name="connsiteY2" fmla="*/ 464695 h 2233535"/>
              <a:gd name="connsiteX3" fmla="*/ 492177 w 492177"/>
              <a:gd name="connsiteY3" fmla="*/ 0 h 2233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2177" h="2233535">
                <a:moveTo>
                  <a:pt x="342275" y="2233535"/>
                </a:moveTo>
                <a:cubicBezTo>
                  <a:pt x="198619" y="1923738"/>
                  <a:pt x="54964" y="1613942"/>
                  <a:pt x="27482" y="1319135"/>
                </a:cubicBezTo>
                <a:cubicBezTo>
                  <a:pt x="0" y="1024328"/>
                  <a:pt x="99934" y="684551"/>
                  <a:pt x="177383" y="464695"/>
                </a:cubicBezTo>
                <a:cubicBezTo>
                  <a:pt x="254832" y="244839"/>
                  <a:pt x="373504" y="122419"/>
                  <a:pt x="492177" y="0"/>
                </a:cubicBezTo>
              </a:path>
            </a:pathLst>
          </a:custGeom>
          <a:ln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3" name="Connettore 2 12"/>
          <p:cNvCxnSpPr/>
          <p:nvPr/>
        </p:nvCxnSpPr>
        <p:spPr>
          <a:xfrm>
            <a:off x="6516216" y="3068960"/>
            <a:ext cx="0" cy="151216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/>
          <p:cNvSpPr txBox="1"/>
          <p:nvPr/>
        </p:nvSpPr>
        <p:spPr>
          <a:xfrm>
            <a:off x="6660232" y="3501008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corpo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</a:t>
            </a:r>
            <a:r>
              <a:rPr lang="it-IT" dirty="0" err="1"/>
              <a:t>PrimoProg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79909"/>
            <a:ext cx="8229600" cy="5073427"/>
          </a:xfrm>
        </p:spPr>
        <p:txBody>
          <a:bodyPr>
            <a:normAutofit lnSpcReduction="10000"/>
          </a:bodyPr>
          <a:lstStyle/>
          <a:p>
            <a:r>
              <a:rPr lang="it-IT" sz="2400" dirty="0"/>
              <a:t>Per il momento vogliamo imparare a scrivere classi molto semplici:</a:t>
            </a:r>
          </a:p>
          <a:p>
            <a:pPr lvl="1"/>
            <a:r>
              <a:rPr lang="it-IT" sz="2000" dirty="0"/>
              <a:t>senza attributi</a:t>
            </a:r>
          </a:p>
          <a:p>
            <a:pPr lvl="1"/>
            <a:r>
              <a:rPr lang="it-IT" sz="2000" dirty="0"/>
              <a:t>con un solo metodo, il metodo speciale </a:t>
            </a:r>
            <a:r>
              <a:rPr lang="it-IT" sz="2000" i="1" dirty="0" err="1">
                <a:solidFill>
                  <a:schemeClr val="accent2"/>
                </a:solidFill>
              </a:rPr>
              <a:t>main</a:t>
            </a:r>
            <a:endParaRPr lang="it-IT" sz="2000" i="1" dirty="0">
              <a:solidFill>
                <a:schemeClr val="accent2"/>
              </a:solidFill>
            </a:endParaRPr>
          </a:p>
          <a:p>
            <a:pPr lvl="0"/>
            <a:endParaRPr lang="it-IT" sz="2400" dirty="0">
              <a:solidFill>
                <a:prstClr val="black"/>
              </a:solidFill>
            </a:endParaRPr>
          </a:p>
          <a:p>
            <a:pPr lvl="0"/>
            <a:endParaRPr lang="it-IT" sz="2400" dirty="0">
              <a:solidFill>
                <a:prstClr val="black"/>
              </a:solidFill>
            </a:endParaRPr>
          </a:p>
          <a:p>
            <a:pPr lvl="0"/>
            <a:endParaRPr lang="it-IT" sz="2400" dirty="0">
              <a:solidFill>
                <a:prstClr val="black"/>
              </a:solidFill>
            </a:endParaRPr>
          </a:p>
          <a:p>
            <a:pPr lvl="0"/>
            <a:endParaRPr lang="it-IT" sz="2400" dirty="0">
              <a:solidFill>
                <a:prstClr val="black"/>
              </a:solidFill>
            </a:endParaRPr>
          </a:p>
          <a:p>
            <a:r>
              <a:rPr lang="it-IT" sz="2400" dirty="0">
                <a:solidFill>
                  <a:prstClr val="black"/>
                </a:solidFill>
              </a:rPr>
              <a:t>La classe </a:t>
            </a:r>
            <a:r>
              <a:rPr lang="it-IT" sz="2400" i="1" dirty="0" err="1">
                <a:solidFill>
                  <a:schemeClr val="accent2"/>
                </a:solidFill>
              </a:rPr>
              <a:t>PrimoProg</a:t>
            </a:r>
            <a:r>
              <a:rPr lang="it-IT" sz="2400" dirty="0">
                <a:solidFill>
                  <a:prstClr val="black"/>
                </a:solidFill>
              </a:rPr>
              <a:t> avrà proprio questa struttura; il suo metodo </a:t>
            </a:r>
            <a:r>
              <a:rPr lang="it-IT" sz="2400" dirty="0" err="1">
                <a:solidFill>
                  <a:prstClr val="black"/>
                </a:solidFill>
              </a:rPr>
              <a:t>main</a:t>
            </a:r>
            <a:r>
              <a:rPr lang="it-IT" sz="2400" dirty="0">
                <a:solidFill>
                  <a:prstClr val="black"/>
                </a:solidFill>
              </a:rPr>
              <a:t> dovrà:</a:t>
            </a:r>
          </a:p>
          <a:p>
            <a:pPr lvl="1"/>
            <a:r>
              <a:rPr lang="it-IT" sz="2000" dirty="0">
                <a:solidFill>
                  <a:prstClr val="black"/>
                </a:solidFill>
              </a:rPr>
              <a:t>creare un oggetto di tipo </a:t>
            </a:r>
            <a:r>
              <a:rPr lang="it-IT" sz="2000" i="1" dirty="0" err="1">
                <a:solidFill>
                  <a:schemeClr val="accent2"/>
                </a:solidFill>
              </a:rPr>
              <a:t>OutputWindow</a:t>
            </a:r>
            <a:endParaRPr lang="it-IT" sz="2000" i="1" dirty="0">
              <a:solidFill>
                <a:schemeClr val="accent2"/>
              </a:solidFill>
            </a:endParaRPr>
          </a:p>
          <a:p>
            <a:pPr lvl="1"/>
            <a:r>
              <a:rPr lang="it-IT" sz="2000" dirty="0">
                <a:solidFill>
                  <a:prstClr val="black"/>
                </a:solidFill>
              </a:rPr>
              <a:t>invocare il metodo </a:t>
            </a:r>
            <a:r>
              <a:rPr lang="it-IT" sz="2000" i="1" dirty="0" err="1">
                <a:solidFill>
                  <a:schemeClr val="accent2"/>
                </a:solidFill>
              </a:rPr>
              <a:t>write</a:t>
            </a:r>
            <a:r>
              <a:rPr lang="it-IT" sz="2000" dirty="0">
                <a:solidFill>
                  <a:prstClr val="black"/>
                </a:solidFill>
              </a:rPr>
              <a:t> su tale oggetto, passandogli come parametro attuale la stringa “il mio primo programma”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839688" y="2924944"/>
            <a:ext cx="63246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000" b="1" dirty="0" err="1">
                <a:solidFill>
                  <a:srgbClr val="0000FF"/>
                </a:solidFill>
                <a:latin typeface="Courier New" pitchFamily="49" charset="0"/>
              </a:rPr>
              <a:t>class</a:t>
            </a:r>
            <a:r>
              <a:rPr lang="it-IT" sz="2000" dirty="0">
                <a:latin typeface="Courier New" pitchFamily="49" charset="0"/>
              </a:rPr>
              <a:t> &lt;</a:t>
            </a:r>
            <a:r>
              <a:rPr lang="it-IT" sz="2000" i="1" dirty="0">
                <a:latin typeface="Courier New" pitchFamily="49" charset="0"/>
              </a:rPr>
              <a:t>nome classe</a:t>
            </a:r>
            <a:r>
              <a:rPr lang="it-IT" sz="2000" dirty="0">
                <a:latin typeface="Courier New" pitchFamily="49" charset="0"/>
              </a:rPr>
              <a:t>&gt;{</a:t>
            </a:r>
          </a:p>
          <a:p>
            <a:pPr>
              <a:spcBef>
                <a:spcPct val="50000"/>
              </a:spcBef>
            </a:pPr>
            <a:r>
              <a:rPr lang="it-IT" sz="2000" dirty="0">
                <a:solidFill>
                  <a:schemeClr val="accent2"/>
                </a:solidFill>
                <a:latin typeface="Courier New" pitchFamily="49" charset="0"/>
              </a:rPr>
              <a:t>	… </a:t>
            </a:r>
            <a:r>
              <a:rPr lang="it-IT" sz="2000" b="1" i="1" dirty="0" err="1">
                <a:solidFill>
                  <a:schemeClr val="accent2"/>
                </a:solidFill>
                <a:latin typeface="Courier New" pitchFamily="49" charset="0"/>
              </a:rPr>
              <a:t>main</a:t>
            </a:r>
            <a:r>
              <a:rPr lang="it-IT" sz="2000" b="1" i="1" dirty="0">
                <a:solidFill>
                  <a:schemeClr val="accent2"/>
                </a:solidFill>
                <a:latin typeface="Courier New" pitchFamily="49" charset="0"/>
              </a:rPr>
              <a:t> (…)</a:t>
            </a:r>
            <a:endParaRPr lang="it-IT" sz="2000" b="1" dirty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it-IT" sz="2000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Codice della classe </a:t>
            </a:r>
            <a:r>
              <a:rPr lang="it-IT" dirty="0" err="1"/>
              <a:t>PrimoProg</a:t>
            </a:r>
            <a:endParaRPr lang="it-IT" dirty="0"/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611560" y="1484784"/>
            <a:ext cx="7776864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import fond.io.OutputWindow;</a:t>
            </a:r>
          </a:p>
          <a:p>
            <a:pPr>
              <a:spcBef>
                <a:spcPct val="50000"/>
              </a:spcBef>
            </a:pPr>
            <a:endParaRPr lang="it-IT" noProof="1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public class PrimoProg{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/* visualizza "il mio primo programma" */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public static void main(String[] args){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OutputWindow out = new OutputWindow();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out.write("il mio primo programma");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}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}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539552" y="5157192"/>
            <a:ext cx="83529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Nel seguito discuteremo le varie linee di codice del metodo, introducendo i vari concetti del linguaggio Java coinvolti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Direttive di importazione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611560" y="1484784"/>
            <a:ext cx="7776864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b="1" noProof="1">
                <a:solidFill>
                  <a:schemeClr val="accent1"/>
                </a:solidFill>
                <a:latin typeface="Courier New" pitchFamily="49" charset="0"/>
              </a:rPr>
              <a:t>import fond.io.OutputWindow;</a:t>
            </a:r>
          </a:p>
          <a:p>
            <a:pPr>
              <a:spcBef>
                <a:spcPct val="50000"/>
              </a:spcBef>
            </a:pPr>
            <a:endParaRPr lang="it-IT" noProof="1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public class PrimoProg{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/* visualizza "il mio primo programma" */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public static void main(String[] args){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OutputWindow out = new OutputWindow();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out.write("il mio primo programma");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}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}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539552" y="5157192"/>
            <a:ext cx="83529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La parola </a:t>
            </a:r>
            <a:r>
              <a:rPr lang="it-IT" sz="2000" i="1" dirty="0">
                <a:solidFill>
                  <a:schemeClr val="accent2"/>
                </a:solidFill>
              </a:rPr>
              <a:t>import</a:t>
            </a:r>
            <a:r>
              <a:rPr lang="it-IT" sz="2000" dirty="0"/>
              <a:t> è una </a:t>
            </a:r>
            <a:r>
              <a:rPr lang="it-IT" sz="2000" u="sng" dirty="0">
                <a:solidFill>
                  <a:schemeClr val="accent1"/>
                </a:solidFill>
              </a:rPr>
              <a:t>direttiva di importazione</a:t>
            </a:r>
            <a:r>
              <a:rPr lang="it-IT" sz="2000" dirty="0"/>
              <a:t>;</a:t>
            </a:r>
            <a:r>
              <a:rPr lang="it-IT" sz="2000" dirty="0">
                <a:solidFill>
                  <a:schemeClr val="accent1"/>
                </a:solidFill>
              </a:rPr>
              <a:t> </a:t>
            </a:r>
            <a:r>
              <a:rPr lang="it-IT" sz="2000" dirty="0"/>
              <a:t>in questo caso dice al compilatore dove prendere la classe </a:t>
            </a:r>
            <a:r>
              <a:rPr lang="it-IT" sz="2000" i="1" dirty="0" err="1">
                <a:solidFill>
                  <a:schemeClr val="accent2"/>
                </a:solidFill>
              </a:rPr>
              <a:t>OutputWindow</a:t>
            </a:r>
            <a:r>
              <a:rPr lang="it-IT" sz="2000" dirty="0"/>
              <a:t> che si intende utilizzare – analizzeremo più avanti la struttura della stringa </a:t>
            </a:r>
            <a:r>
              <a:rPr lang="it-IT" sz="2000" i="1" noProof="1">
                <a:solidFill>
                  <a:schemeClr val="accent2"/>
                </a:solidFill>
                <a:latin typeface="+mj-lt"/>
              </a:rPr>
              <a:t>fond.io.OutputWindow</a:t>
            </a:r>
            <a:r>
              <a:rPr lang="it-IT" sz="2000" dirty="0">
                <a:latin typeface="+mj-lt"/>
              </a:rPr>
              <a:t> </a:t>
            </a:r>
            <a:endParaRPr lang="it-IT" sz="2000" i="1" dirty="0">
              <a:latin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parola “</a:t>
            </a:r>
            <a:r>
              <a:rPr lang="it-IT" dirty="0" err="1"/>
              <a:t>class</a:t>
            </a:r>
            <a:r>
              <a:rPr lang="it-IT" dirty="0"/>
              <a:t>”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611560" y="1484784"/>
            <a:ext cx="7776864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import fond.io.OutputWindow;</a:t>
            </a:r>
          </a:p>
          <a:p>
            <a:pPr>
              <a:spcBef>
                <a:spcPct val="50000"/>
              </a:spcBef>
            </a:pPr>
            <a:endParaRPr lang="it-IT" noProof="1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public </a:t>
            </a:r>
            <a:r>
              <a:rPr lang="it-IT" b="1" noProof="1">
                <a:solidFill>
                  <a:schemeClr val="accent1"/>
                </a:solidFill>
                <a:latin typeface="Courier New" pitchFamily="49" charset="0"/>
              </a:rPr>
              <a:t>class PrimoProg{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/* visualizza "il mio primo programma" */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public static void main(String[] args){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OutputWindow out = new OutputWindow();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out.write("il mio primo programma");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}</a:t>
            </a:r>
          </a:p>
          <a:p>
            <a:pPr>
              <a:spcBef>
                <a:spcPct val="50000"/>
              </a:spcBef>
            </a:pPr>
            <a:r>
              <a:rPr lang="it-IT" b="1" noProof="1">
                <a:solidFill>
                  <a:schemeClr val="accent1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539552" y="5157192"/>
            <a:ext cx="83529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La parola </a:t>
            </a:r>
            <a:r>
              <a:rPr lang="it-IT" sz="2000" i="1" dirty="0" err="1">
                <a:solidFill>
                  <a:schemeClr val="accent2"/>
                </a:solidFill>
              </a:rPr>
              <a:t>class</a:t>
            </a:r>
            <a:r>
              <a:rPr lang="it-IT" sz="2000" i="1" dirty="0">
                <a:solidFill>
                  <a:schemeClr val="accent2"/>
                </a:solidFill>
              </a:rPr>
              <a:t> </a:t>
            </a:r>
            <a:r>
              <a:rPr lang="it-IT" sz="2000" dirty="0"/>
              <a:t>inizia la definizione della classe ed è seguita dal nome della classe; il corpo della classe è racchiuso tra due parentesi graffe</a:t>
            </a:r>
            <a:endParaRPr lang="it-IT" sz="2000" i="1" dirty="0">
              <a:latin typeface="+mj-lt"/>
            </a:endParaRPr>
          </a:p>
        </p:txBody>
      </p:sp>
      <p:sp>
        <p:nvSpPr>
          <p:cNvPr id="5" name="CasellaDiTesto 4"/>
          <p:cNvSpPr txBox="1"/>
          <p:nvPr/>
        </p:nvSpPr>
        <p:spPr>
          <a:xfrm>
            <a:off x="539552" y="5949280"/>
            <a:ext cx="83529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Le </a:t>
            </a:r>
            <a:r>
              <a:rPr lang="it-IT" sz="2000" u="sng" dirty="0">
                <a:solidFill>
                  <a:schemeClr val="accent1"/>
                </a:solidFill>
              </a:rPr>
              <a:t>regole di indentazione </a:t>
            </a:r>
            <a:r>
              <a:rPr lang="it-IT" sz="2000" dirty="0"/>
              <a:t>stabiliscono quale convenzione utilizzare per “incolonnare” il codice</a:t>
            </a:r>
            <a:endParaRPr lang="it-IT" sz="2000" i="1" dirty="0">
              <a:latin typeface="+mj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Modificatori di accesso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611560" y="1484784"/>
            <a:ext cx="7776864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import fond.io.OutputWindow;</a:t>
            </a:r>
          </a:p>
          <a:p>
            <a:pPr>
              <a:spcBef>
                <a:spcPct val="50000"/>
              </a:spcBef>
            </a:pPr>
            <a:endParaRPr lang="it-IT" noProof="1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it-IT" b="1" noProof="1">
                <a:solidFill>
                  <a:schemeClr val="accent1"/>
                </a:solidFill>
                <a:latin typeface="Courier New" pitchFamily="49" charset="0"/>
              </a:rPr>
              <a:t>public</a:t>
            </a:r>
            <a:r>
              <a:rPr lang="it-IT" noProof="1">
                <a:latin typeface="Courier New" pitchFamily="49" charset="0"/>
              </a:rPr>
              <a:t> class PrimoProg{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/* visualizza "il mio primo programma" */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public static void main(String[] args){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OutputWindow out = new OutputWindow();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out.write("il mio primo programma");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}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}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539552" y="5157192"/>
            <a:ext cx="83529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La parola </a:t>
            </a:r>
            <a:r>
              <a:rPr lang="it-IT" sz="2000" i="1" dirty="0">
                <a:solidFill>
                  <a:schemeClr val="accent2"/>
                </a:solidFill>
              </a:rPr>
              <a:t>public </a:t>
            </a:r>
            <a:r>
              <a:rPr lang="it-IT" sz="2000" dirty="0"/>
              <a:t>è un </a:t>
            </a:r>
            <a:r>
              <a:rPr lang="it-IT" sz="2000" u="sng" dirty="0">
                <a:solidFill>
                  <a:schemeClr val="accent1"/>
                </a:solidFill>
              </a:rPr>
              <a:t>modificatore di accesso</a:t>
            </a:r>
            <a:r>
              <a:rPr lang="it-IT" sz="2000" dirty="0"/>
              <a:t>; serve a dire quali altre classi possono utilizzare </a:t>
            </a:r>
            <a:r>
              <a:rPr lang="it-IT" sz="2000" i="1" dirty="0" err="1">
                <a:solidFill>
                  <a:schemeClr val="accent2"/>
                </a:solidFill>
              </a:rPr>
              <a:t>PrimoProg</a:t>
            </a:r>
            <a:r>
              <a:rPr lang="it-IT" sz="2000" dirty="0"/>
              <a:t>; il modificatore </a:t>
            </a:r>
            <a:r>
              <a:rPr lang="it-IT" sz="2000" i="1" dirty="0">
                <a:solidFill>
                  <a:schemeClr val="accent2"/>
                </a:solidFill>
              </a:rPr>
              <a:t>public</a:t>
            </a:r>
            <a:r>
              <a:rPr lang="it-IT" sz="2000" dirty="0"/>
              <a:t> permette ad ogni altra classe di usare </a:t>
            </a:r>
            <a:r>
              <a:rPr lang="it-IT" sz="2000" i="1" dirty="0" err="1">
                <a:solidFill>
                  <a:schemeClr val="accent2"/>
                </a:solidFill>
              </a:rPr>
              <a:t>PrimoProg</a:t>
            </a:r>
            <a:endParaRPr lang="it-IT" sz="2000" i="1" dirty="0">
              <a:solidFill>
                <a:schemeClr val="accent2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Modificatori di accesso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611560" y="1484784"/>
            <a:ext cx="7776864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import fond.io.OutputWindow;</a:t>
            </a:r>
          </a:p>
          <a:p>
            <a:pPr>
              <a:spcBef>
                <a:spcPct val="50000"/>
              </a:spcBef>
            </a:pPr>
            <a:endParaRPr lang="it-IT" noProof="1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it-IT" b="1" noProof="1">
                <a:solidFill>
                  <a:schemeClr val="accent1"/>
                </a:solidFill>
                <a:latin typeface="Courier New" pitchFamily="49" charset="0"/>
              </a:rPr>
              <a:t>public</a:t>
            </a:r>
            <a:r>
              <a:rPr lang="it-IT" noProof="1">
                <a:latin typeface="Courier New" pitchFamily="49" charset="0"/>
              </a:rPr>
              <a:t> class PrimoProg{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/* visualizza "il mio primo programma" */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public static void main(String[] args){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OutputWindow out = new OutputWindow();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out.write("il mio primo programma");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}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}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539552" y="5157192"/>
            <a:ext cx="83529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Un modificatore opposto a </a:t>
            </a:r>
            <a:r>
              <a:rPr lang="it-IT" sz="2000" i="1" dirty="0">
                <a:solidFill>
                  <a:schemeClr val="accent2"/>
                </a:solidFill>
              </a:rPr>
              <a:t>public </a:t>
            </a:r>
            <a:r>
              <a:rPr lang="it-IT" sz="2000" dirty="0"/>
              <a:t>è il modificatore </a:t>
            </a:r>
            <a:r>
              <a:rPr lang="it-IT" sz="2000" i="1" dirty="0">
                <a:solidFill>
                  <a:schemeClr val="accent2"/>
                </a:solidFill>
              </a:rPr>
              <a:t>private</a:t>
            </a:r>
            <a:r>
              <a:rPr lang="it-IT" sz="2000" dirty="0"/>
              <a:t>; una classe può essere </a:t>
            </a:r>
            <a:r>
              <a:rPr lang="it-IT" sz="2000" i="1" dirty="0">
                <a:solidFill>
                  <a:schemeClr val="accent2"/>
                </a:solidFill>
              </a:rPr>
              <a:t>private</a:t>
            </a:r>
            <a:r>
              <a:rPr lang="it-IT" sz="2000" dirty="0"/>
              <a:t> solo se dichiarata all’interno di un’altra classe, che in tal caso sarà l’unica che potrà usarla (vedi lezione D16)</a:t>
            </a:r>
            <a:endParaRPr lang="it-IT" sz="2000" i="1" dirty="0">
              <a:solidFill>
                <a:schemeClr val="accent2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Modificatori di accesso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611560" y="1484784"/>
            <a:ext cx="7776864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import fond.io.OutputWindow;</a:t>
            </a:r>
          </a:p>
          <a:p>
            <a:pPr>
              <a:spcBef>
                <a:spcPct val="50000"/>
              </a:spcBef>
            </a:pPr>
            <a:endParaRPr lang="it-IT" noProof="1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it-IT" b="1" noProof="1">
                <a:solidFill>
                  <a:schemeClr val="accent1"/>
                </a:solidFill>
                <a:latin typeface="Courier New" pitchFamily="49" charset="0"/>
              </a:rPr>
              <a:t>public</a:t>
            </a:r>
            <a:r>
              <a:rPr lang="it-IT" noProof="1">
                <a:latin typeface="Courier New" pitchFamily="49" charset="0"/>
              </a:rPr>
              <a:t> class PrimoProg{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/* visualizza "il mio primo programma" */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public static void main(String[] args){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OutputWindow out = new OutputWindow();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out.write("il mio primo programma");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}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}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539552" y="5157192"/>
            <a:ext cx="83529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Se non si specifica un modificatore di accesso, la classe potrà essere usata solo da classi del suo stesso </a:t>
            </a:r>
            <a:r>
              <a:rPr lang="it-IT" sz="2000" i="1" dirty="0">
                <a:solidFill>
                  <a:schemeClr val="accent2"/>
                </a:solidFill>
              </a:rPr>
              <a:t>package</a:t>
            </a:r>
            <a:r>
              <a:rPr lang="it-IT" sz="2000" dirty="0"/>
              <a:t>; questo concetto sarà chiarito più avanti</a:t>
            </a:r>
            <a:endParaRPr lang="it-IT" sz="2000" dirty="0">
              <a:latin typeface="+mj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Commenti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611560" y="1484784"/>
            <a:ext cx="7776864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import fond.io.OutputWindow;</a:t>
            </a:r>
          </a:p>
          <a:p>
            <a:pPr>
              <a:spcBef>
                <a:spcPct val="50000"/>
              </a:spcBef>
            </a:pPr>
            <a:endParaRPr lang="it-IT" noProof="1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public class PrimoProg{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</a:t>
            </a:r>
            <a:r>
              <a:rPr lang="it-IT" b="1" noProof="1">
                <a:solidFill>
                  <a:schemeClr val="accent1"/>
                </a:solidFill>
                <a:latin typeface="Courier New" pitchFamily="49" charset="0"/>
              </a:rPr>
              <a:t>/* visualizza "il mio primo programma" */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public static void main(String[] args){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OutputWindow out = new OutputWindow();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out.write("il mio primo programma");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}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}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539552" y="5157192"/>
            <a:ext cx="83529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Un </a:t>
            </a:r>
            <a:r>
              <a:rPr lang="it-IT" sz="2000" u="sng" dirty="0">
                <a:solidFill>
                  <a:schemeClr val="accent1"/>
                </a:solidFill>
              </a:rPr>
              <a:t>commento</a:t>
            </a:r>
            <a:r>
              <a:rPr lang="it-IT" sz="2000" dirty="0"/>
              <a:t> è una parte di testo che serve solo a documentare (spiegare) il codice; esso viene ignorato dal compilatore; il commento usato inizia con la sequenza </a:t>
            </a:r>
            <a:r>
              <a:rPr lang="it-IT" sz="2000" i="1" dirty="0">
                <a:solidFill>
                  <a:schemeClr val="accent2"/>
                </a:solidFill>
              </a:rPr>
              <a:t>/*</a:t>
            </a:r>
            <a:r>
              <a:rPr lang="it-IT" sz="2000" dirty="0"/>
              <a:t> e termina con la sequenza </a:t>
            </a:r>
            <a:r>
              <a:rPr lang="it-IT" sz="2000" i="1" dirty="0">
                <a:solidFill>
                  <a:schemeClr val="accent2"/>
                </a:solidFill>
              </a:rPr>
              <a:t>*/ </a:t>
            </a:r>
            <a:r>
              <a:rPr lang="it-IT" sz="2000" dirty="0"/>
              <a:t>(può essere anche molto lungo e svilupparsi su più linee)</a:t>
            </a:r>
            <a:endParaRPr lang="it-IT" sz="2000" dirty="0">
              <a:latin typeface="+mj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Commenti di linea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611560" y="1484784"/>
            <a:ext cx="7776864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import fond.io.OutputWindow;</a:t>
            </a:r>
          </a:p>
          <a:p>
            <a:pPr>
              <a:spcBef>
                <a:spcPct val="50000"/>
              </a:spcBef>
            </a:pPr>
            <a:endParaRPr lang="it-IT" noProof="1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public class PrimoProg{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</a:t>
            </a:r>
            <a:r>
              <a:rPr lang="it-IT" b="1" noProof="1">
                <a:solidFill>
                  <a:schemeClr val="accent1"/>
                </a:solidFill>
                <a:latin typeface="Courier New" pitchFamily="49" charset="0"/>
              </a:rPr>
              <a:t>// visualizza "il mio primo programma"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public static void main(String[] args){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OutputWindow out = new OutputWindow();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out.write("il mio primo programma");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}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}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539552" y="5157192"/>
            <a:ext cx="83529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Un </a:t>
            </a:r>
            <a:r>
              <a:rPr lang="it-IT" sz="2000" u="sng" dirty="0">
                <a:solidFill>
                  <a:schemeClr val="accent1"/>
                </a:solidFill>
              </a:rPr>
              <a:t>commento di linea </a:t>
            </a:r>
            <a:r>
              <a:rPr lang="it-IT" sz="2000" dirty="0"/>
              <a:t>inizia con // e termina automaticamente al primo carattere di accapo (fine linea); può essere usato in alternativa al tipo di commento </a:t>
            </a:r>
            <a:r>
              <a:rPr lang="it-IT" sz="2000" dirty="0" err="1"/>
              <a:t>multilinea</a:t>
            </a:r>
            <a:r>
              <a:rPr lang="it-IT" sz="2000" dirty="0"/>
              <a:t>, quando il commento è breve</a:t>
            </a:r>
            <a:endParaRPr lang="it-IT" sz="2000" dirty="0">
              <a:latin typeface="+mj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“</a:t>
            </a:r>
            <a:r>
              <a:rPr lang="it-IT" dirty="0" err="1"/>
              <a:t>main</a:t>
            </a:r>
            <a:r>
              <a:rPr lang="it-IT" dirty="0"/>
              <a:t>”: intestazione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611560" y="1484784"/>
            <a:ext cx="7776864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import fond.io.OutputWindow;</a:t>
            </a:r>
          </a:p>
          <a:p>
            <a:pPr>
              <a:spcBef>
                <a:spcPct val="50000"/>
              </a:spcBef>
            </a:pPr>
            <a:endParaRPr lang="it-IT" noProof="1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public class PrimoProg{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/* visualizza "il mio primo programma“ */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public static </a:t>
            </a:r>
            <a:r>
              <a:rPr lang="it-IT" b="1" noProof="1">
                <a:solidFill>
                  <a:schemeClr val="accent1"/>
                </a:solidFill>
                <a:latin typeface="Courier New" pitchFamily="49" charset="0"/>
              </a:rPr>
              <a:t>void main(String[] args)</a:t>
            </a:r>
            <a:r>
              <a:rPr lang="it-IT" noProof="1">
                <a:latin typeface="Courier New" pitchFamily="49" charset="0"/>
              </a:rPr>
              <a:t>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OutputWindow out = new OutputWindow();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out.write("il mio primo programma");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}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}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539552" y="5157192"/>
            <a:ext cx="83529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Il metodo speciale </a:t>
            </a:r>
            <a:r>
              <a:rPr lang="it-IT" sz="2000" i="1" dirty="0" err="1">
                <a:solidFill>
                  <a:schemeClr val="accent2"/>
                </a:solidFill>
              </a:rPr>
              <a:t>main</a:t>
            </a:r>
            <a:r>
              <a:rPr lang="it-IT" sz="2000" i="1" dirty="0">
                <a:solidFill>
                  <a:schemeClr val="accent2"/>
                </a:solidFill>
              </a:rPr>
              <a:t> </a:t>
            </a:r>
            <a:r>
              <a:rPr lang="it-IT" sz="2000" dirty="0"/>
              <a:t>ha una intestazione predefinita, che non deve essere cambiata; non ritorna alcun valore (è di tipo </a:t>
            </a:r>
            <a:r>
              <a:rPr lang="it-IT" sz="2000" i="1" dirty="0" err="1">
                <a:solidFill>
                  <a:schemeClr val="accent2"/>
                </a:solidFill>
              </a:rPr>
              <a:t>void</a:t>
            </a:r>
            <a:r>
              <a:rPr lang="it-IT" sz="2000" dirty="0"/>
              <a:t>) e prende in ingresso un parametro che impareremo a comprendere e a considerare più avanti (vedi lezione D9)</a:t>
            </a:r>
            <a:endParaRPr lang="it-IT" sz="2000" dirty="0">
              <a:latin typeface="+mj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“</a:t>
            </a:r>
            <a:r>
              <a:rPr lang="it-IT" dirty="0" err="1"/>
              <a:t>main</a:t>
            </a:r>
            <a:r>
              <a:rPr lang="it-IT" dirty="0"/>
              <a:t>”: intestazione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611560" y="1484784"/>
            <a:ext cx="7776864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import fond.io.OutputWindow;</a:t>
            </a:r>
          </a:p>
          <a:p>
            <a:pPr>
              <a:spcBef>
                <a:spcPct val="50000"/>
              </a:spcBef>
            </a:pPr>
            <a:endParaRPr lang="it-IT" noProof="1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public class PrimoProg{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/* visualizza "il mio primo programma“ */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public </a:t>
            </a:r>
            <a:r>
              <a:rPr lang="it-IT" b="1" noProof="1">
                <a:solidFill>
                  <a:schemeClr val="accent1"/>
                </a:solidFill>
                <a:latin typeface="Courier New" pitchFamily="49" charset="0"/>
              </a:rPr>
              <a:t>static</a:t>
            </a:r>
            <a:r>
              <a:rPr lang="it-IT" noProof="1">
                <a:latin typeface="Courier New" pitchFamily="49" charset="0"/>
              </a:rPr>
              <a:t> void main(String[] args){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OutputWindow out = new OutputWindow();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out.write("il mio primo programma");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}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}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539552" y="5157192"/>
            <a:ext cx="83529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Il metodo speciale </a:t>
            </a:r>
            <a:r>
              <a:rPr lang="it-IT" sz="2000" i="1" dirty="0" err="1">
                <a:solidFill>
                  <a:schemeClr val="accent2"/>
                </a:solidFill>
              </a:rPr>
              <a:t>main</a:t>
            </a:r>
            <a:r>
              <a:rPr lang="it-IT" sz="2000" i="1" dirty="0">
                <a:solidFill>
                  <a:schemeClr val="accent2"/>
                </a:solidFill>
              </a:rPr>
              <a:t> </a:t>
            </a:r>
            <a:r>
              <a:rPr lang="it-IT" sz="2000" dirty="0"/>
              <a:t>è un metodo di classe (cioè statico); per questo viene definito con la parola chiave </a:t>
            </a:r>
            <a:r>
              <a:rPr lang="it-IT" sz="2000" i="1" dirty="0" err="1">
                <a:solidFill>
                  <a:schemeClr val="accent2"/>
                </a:solidFill>
              </a:rPr>
              <a:t>static</a:t>
            </a:r>
            <a:r>
              <a:rPr lang="it-IT" sz="2000" dirty="0"/>
              <a:t> davanti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“</a:t>
            </a:r>
            <a:r>
              <a:rPr lang="it-IT" dirty="0" err="1"/>
              <a:t>main</a:t>
            </a:r>
            <a:r>
              <a:rPr lang="it-IT" dirty="0"/>
              <a:t>”: intestazione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611560" y="1484784"/>
            <a:ext cx="7776864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import fond.io.OutputWindow;</a:t>
            </a:r>
          </a:p>
          <a:p>
            <a:pPr>
              <a:spcBef>
                <a:spcPct val="50000"/>
              </a:spcBef>
            </a:pPr>
            <a:endParaRPr lang="it-IT" noProof="1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public class PrimoProg{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/* visualizza "il mio primo programma“ */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</a:t>
            </a:r>
            <a:r>
              <a:rPr lang="it-IT" b="1" noProof="1">
                <a:solidFill>
                  <a:schemeClr val="accent1"/>
                </a:solidFill>
                <a:latin typeface="Courier New" pitchFamily="49" charset="0"/>
              </a:rPr>
              <a:t>public</a:t>
            </a:r>
            <a:r>
              <a:rPr lang="it-IT" noProof="1">
                <a:latin typeface="Courier New" pitchFamily="49" charset="0"/>
              </a:rPr>
              <a:t> static void main(String[] args){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OutputWindow out = new OutputWindow();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out.write("il mio primo programma");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}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}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539552" y="5157192"/>
            <a:ext cx="83529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Il metodo speciale </a:t>
            </a:r>
            <a:r>
              <a:rPr lang="it-IT" sz="2000" i="1" dirty="0" err="1">
                <a:solidFill>
                  <a:schemeClr val="accent2"/>
                </a:solidFill>
              </a:rPr>
              <a:t>main</a:t>
            </a:r>
            <a:r>
              <a:rPr lang="it-IT" sz="2000" i="1" dirty="0">
                <a:solidFill>
                  <a:schemeClr val="accent2"/>
                </a:solidFill>
              </a:rPr>
              <a:t> </a:t>
            </a:r>
            <a:r>
              <a:rPr lang="it-IT" sz="2000" dirty="0"/>
              <a:t>è di tipo </a:t>
            </a:r>
            <a:r>
              <a:rPr lang="it-IT" sz="2000" i="1" dirty="0">
                <a:solidFill>
                  <a:schemeClr val="accent2"/>
                </a:solidFill>
              </a:rPr>
              <a:t>public</a:t>
            </a:r>
            <a:r>
              <a:rPr lang="it-IT" sz="2000" dirty="0">
                <a:solidFill>
                  <a:schemeClr val="accent2"/>
                </a:solidFill>
              </a:rPr>
              <a:t>; </a:t>
            </a:r>
            <a:r>
              <a:rPr lang="it-IT" sz="2000" dirty="0"/>
              <a:t>ogni elemento (metodo o attributo) può essere preceduto da un modificatore di accesso: </a:t>
            </a:r>
            <a:r>
              <a:rPr lang="it-IT" sz="2000" i="1" dirty="0">
                <a:solidFill>
                  <a:schemeClr val="accent2"/>
                </a:solidFill>
              </a:rPr>
              <a:t>public</a:t>
            </a:r>
            <a:r>
              <a:rPr lang="it-IT" sz="2000" i="1" dirty="0"/>
              <a:t> </a:t>
            </a:r>
            <a:r>
              <a:rPr lang="it-IT" sz="2000" dirty="0"/>
              <a:t>indica che l’elemento è accessibile da ogni istruzione; </a:t>
            </a:r>
            <a:r>
              <a:rPr lang="it-IT" sz="2000" i="1" dirty="0">
                <a:solidFill>
                  <a:schemeClr val="accent2"/>
                </a:solidFill>
              </a:rPr>
              <a:t>private</a:t>
            </a:r>
            <a:r>
              <a:rPr lang="it-IT" sz="2000" i="1" dirty="0"/>
              <a:t> </a:t>
            </a:r>
            <a:r>
              <a:rPr lang="it-IT" sz="2000" dirty="0"/>
              <a:t>indica che l’elemento è accessibile solo da istruzioni di metodi della sua classe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“</a:t>
            </a:r>
            <a:r>
              <a:rPr lang="it-IT" dirty="0" err="1"/>
              <a:t>main</a:t>
            </a:r>
            <a:r>
              <a:rPr lang="it-IT" dirty="0"/>
              <a:t>”: intestazione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611560" y="1484784"/>
            <a:ext cx="7776864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import fond.io.OutputWindow;</a:t>
            </a:r>
          </a:p>
          <a:p>
            <a:pPr>
              <a:spcBef>
                <a:spcPct val="50000"/>
              </a:spcBef>
            </a:pPr>
            <a:endParaRPr lang="it-IT" noProof="1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public class PrimoProg{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/* visualizza "il mio primo programma“ */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</a:t>
            </a:r>
            <a:r>
              <a:rPr lang="it-IT" b="1" noProof="1">
                <a:solidFill>
                  <a:schemeClr val="accent1"/>
                </a:solidFill>
                <a:latin typeface="Courier New" pitchFamily="49" charset="0"/>
              </a:rPr>
              <a:t>public</a:t>
            </a:r>
            <a:r>
              <a:rPr lang="it-IT" noProof="1">
                <a:latin typeface="Courier New" pitchFamily="49" charset="0"/>
              </a:rPr>
              <a:t> static void main(String[] args){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OutputWindow out = new OutputWindow();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out.write("il mio primo programma");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}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}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539552" y="5157192"/>
            <a:ext cx="83529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Un terzo modificatore chiamato </a:t>
            </a:r>
            <a:r>
              <a:rPr lang="it-IT" sz="2000" i="1" dirty="0" err="1">
                <a:solidFill>
                  <a:schemeClr val="accent2"/>
                </a:solidFill>
              </a:rPr>
              <a:t>protected</a:t>
            </a:r>
            <a:r>
              <a:rPr lang="it-IT" sz="2000" i="1" dirty="0">
                <a:solidFill>
                  <a:schemeClr val="accent2"/>
                </a:solidFill>
              </a:rPr>
              <a:t> </a:t>
            </a:r>
            <a:r>
              <a:rPr lang="it-IT" sz="2000" dirty="0"/>
              <a:t>definisce un livello intermedio di accesso (spiegato nella lezione D10)</a:t>
            </a:r>
          </a:p>
          <a:p>
            <a:r>
              <a:rPr lang="it-IT" sz="2000" dirty="0"/>
              <a:t>In assenza di specifiche, l’elemento sarà accessibile solo da istruzioni di classi del suo stesso </a:t>
            </a:r>
            <a:r>
              <a:rPr lang="it-IT" sz="2000" i="1" dirty="0">
                <a:solidFill>
                  <a:schemeClr val="accent2"/>
                </a:solidFill>
              </a:rPr>
              <a:t>package</a:t>
            </a:r>
            <a:r>
              <a:rPr lang="it-IT" sz="2000" dirty="0"/>
              <a:t> (vedi più avanti)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“</a:t>
            </a:r>
            <a:r>
              <a:rPr lang="it-IT" dirty="0" err="1"/>
              <a:t>main</a:t>
            </a:r>
            <a:r>
              <a:rPr lang="it-IT" dirty="0"/>
              <a:t>”: corpo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611560" y="1484784"/>
            <a:ext cx="7776864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import fond.io.OutputWindow;</a:t>
            </a:r>
          </a:p>
          <a:p>
            <a:pPr>
              <a:spcBef>
                <a:spcPct val="50000"/>
              </a:spcBef>
            </a:pPr>
            <a:endParaRPr lang="it-IT" noProof="1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public class PrimoProg{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/* visualizza "il mio primo programma“ */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public static void main(String[] args)</a:t>
            </a:r>
            <a:r>
              <a:rPr lang="it-IT" b="1" noProof="1">
                <a:solidFill>
                  <a:schemeClr val="accent1"/>
                </a:solidFill>
                <a:latin typeface="Courier New" pitchFamily="49" charset="0"/>
              </a:rPr>
              <a:t>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OutputWindow out = new OutputWindow()</a:t>
            </a:r>
            <a:r>
              <a:rPr lang="it-IT" b="1" noProof="1">
                <a:solidFill>
                  <a:schemeClr val="accent1"/>
                </a:solidFill>
                <a:latin typeface="Courier New" pitchFamily="49" charset="0"/>
              </a:rPr>
              <a:t>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out.write("il mio primo programma")</a:t>
            </a:r>
            <a:r>
              <a:rPr lang="it-IT" b="1" noProof="1">
                <a:solidFill>
                  <a:schemeClr val="accent1"/>
                </a:solidFill>
                <a:latin typeface="Courier New" pitchFamily="49" charset="0"/>
              </a:rPr>
              <a:t>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</a:t>
            </a:r>
            <a:r>
              <a:rPr lang="it-IT" b="1" noProof="1">
                <a:solidFill>
                  <a:schemeClr val="accent1"/>
                </a:solidFill>
                <a:latin typeface="Courier New" pitchFamily="49" charset="0"/>
              </a:rPr>
              <a:t>}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}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539552" y="5157192"/>
            <a:ext cx="83529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Il </a:t>
            </a:r>
            <a:r>
              <a:rPr lang="it-IT" sz="2000" u="sng" dirty="0">
                <a:solidFill>
                  <a:schemeClr val="accent1"/>
                </a:solidFill>
              </a:rPr>
              <a:t>corpo</a:t>
            </a:r>
            <a:r>
              <a:rPr lang="it-IT" sz="2000" dirty="0"/>
              <a:t> del metodo </a:t>
            </a:r>
            <a:r>
              <a:rPr lang="it-IT" sz="2000" i="1" dirty="0" err="1">
                <a:solidFill>
                  <a:schemeClr val="accent2"/>
                </a:solidFill>
              </a:rPr>
              <a:t>main</a:t>
            </a:r>
            <a:r>
              <a:rPr lang="it-IT" sz="2000" dirty="0"/>
              <a:t> descrive la sua implementazione, cioè quali istruzioni verranno svolte quando il metodo sarà eseguito; il corpo di un metodo va sempre racchiuso tra due parentesi graffe; ogni istruzione è terminata dal simbolo “</a:t>
            </a:r>
            <a:r>
              <a:rPr lang="it-IT" sz="2000" i="1" dirty="0">
                <a:solidFill>
                  <a:schemeClr val="accent2"/>
                </a:solidFill>
              </a:rPr>
              <a:t>;</a:t>
            </a:r>
            <a:r>
              <a:rPr lang="it-IT" sz="2000" dirty="0"/>
              <a:t>”, detto </a:t>
            </a:r>
            <a:r>
              <a:rPr lang="it-IT" sz="2000" u="sng" dirty="0">
                <a:solidFill>
                  <a:schemeClr val="accent1"/>
                </a:solidFill>
              </a:rPr>
              <a:t>terminatore di istruzione</a:t>
            </a:r>
          </a:p>
        </p:txBody>
      </p:sp>
      <p:cxnSp>
        <p:nvCxnSpPr>
          <p:cNvPr id="8" name="Connettore 2 7"/>
          <p:cNvCxnSpPr/>
          <p:nvPr/>
        </p:nvCxnSpPr>
        <p:spPr>
          <a:xfrm>
            <a:off x="6660232" y="3356992"/>
            <a:ext cx="0" cy="108012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/>
          <p:cNvSpPr txBox="1"/>
          <p:nvPr/>
        </p:nvSpPr>
        <p:spPr>
          <a:xfrm>
            <a:off x="6876256" y="3635732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1"/>
                </a:solidFill>
              </a:rPr>
              <a:t>corpo</a:t>
            </a:r>
          </a:p>
        </p:txBody>
      </p:sp>
      <p:sp>
        <p:nvSpPr>
          <p:cNvPr id="10" name="Rettangolo 9"/>
          <p:cNvSpPr/>
          <p:nvPr/>
        </p:nvSpPr>
        <p:spPr>
          <a:xfrm>
            <a:off x="1043608" y="3501008"/>
            <a:ext cx="5472608" cy="864096"/>
          </a:xfrm>
          <a:prstGeom prst="rect">
            <a:avLst/>
          </a:prstGeom>
          <a:noFill/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Creazione di oggetti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611560" y="1484784"/>
            <a:ext cx="7776864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import fond.io.OutputWindow;</a:t>
            </a:r>
          </a:p>
          <a:p>
            <a:pPr>
              <a:spcBef>
                <a:spcPct val="50000"/>
              </a:spcBef>
            </a:pPr>
            <a:endParaRPr lang="it-IT" noProof="1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public class PrimoProg{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/* visualizza "il mio primo programma“ */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public static void main(String[] args){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</a:t>
            </a:r>
            <a:r>
              <a:rPr lang="it-IT" b="1" noProof="1">
                <a:solidFill>
                  <a:schemeClr val="accent1"/>
                </a:solidFill>
                <a:latin typeface="Courier New" pitchFamily="49" charset="0"/>
              </a:rPr>
              <a:t>OutputWindow out = new OutputWindow();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out.write("il mio primo programma");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}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}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539552" y="5157192"/>
            <a:ext cx="83529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La prima istruzione del metodo </a:t>
            </a:r>
            <a:r>
              <a:rPr lang="it-IT" sz="2000" i="1" dirty="0" err="1">
                <a:solidFill>
                  <a:schemeClr val="accent2"/>
                </a:solidFill>
              </a:rPr>
              <a:t>main</a:t>
            </a:r>
            <a:r>
              <a:rPr lang="it-IT" sz="2000" dirty="0"/>
              <a:t> è un’istruzione </a:t>
            </a:r>
            <a:r>
              <a:rPr lang="it-IT" sz="2000" u="sng" dirty="0">
                <a:solidFill>
                  <a:schemeClr val="accent1"/>
                </a:solidFill>
              </a:rPr>
              <a:t>composta</a:t>
            </a:r>
            <a:r>
              <a:rPr lang="it-IT" sz="2000" dirty="0"/>
              <a:t>, cioè formata da più istruzioni semplici, che servono a creare un oggetto di tipo </a:t>
            </a:r>
            <a:r>
              <a:rPr lang="it-IT" sz="2000" i="1" dirty="0" err="1">
                <a:solidFill>
                  <a:schemeClr val="accent2"/>
                </a:solidFill>
              </a:rPr>
              <a:t>OutputWindow</a:t>
            </a:r>
            <a:r>
              <a:rPr lang="it-IT" sz="2000" dirty="0"/>
              <a:t> e a memorizzarne il riferimento in modo da poterlo successivamente utilizzare; analizziamole di seguito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Creazione di oggetti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611560" y="1484784"/>
            <a:ext cx="7776864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import fond.io.OutputWindow;</a:t>
            </a:r>
          </a:p>
          <a:p>
            <a:pPr>
              <a:spcBef>
                <a:spcPct val="50000"/>
              </a:spcBef>
            </a:pPr>
            <a:endParaRPr lang="it-IT" noProof="1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public class PrimoProg{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/* visualizza "il mio primo programma“ */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public static void main(String[] args){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OutputWindow out = </a:t>
            </a:r>
            <a:r>
              <a:rPr lang="it-IT" b="1" noProof="1">
                <a:solidFill>
                  <a:schemeClr val="accent1"/>
                </a:solidFill>
                <a:latin typeface="Courier New" pitchFamily="49" charset="0"/>
              </a:rPr>
              <a:t>new OutputWindow();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out.write("il mio primo programma");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}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}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539552" y="5157192"/>
            <a:ext cx="83529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L’istruzione evidenziata (a destra del simbolo “</a:t>
            </a:r>
            <a:r>
              <a:rPr lang="it-IT" sz="2000" i="1" dirty="0">
                <a:solidFill>
                  <a:schemeClr val="accent2"/>
                </a:solidFill>
              </a:rPr>
              <a:t>=</a:t>
            </a:r>
            <a:r>
              <a:rPr lang="it-IT" sz="2000" dirty="0"/>
              <a:t>”) crea un oggetto di tipo </a:t>
            </a:r>
            <a:r>
              <a:rPr lang="it-IT" sz="2000" i="1" dirty="0" err="1">
                <a:solidFill>
                  <a:schemeClr val="accent2"/>
                </a:solidFill>
              </a:rPr>
              <a:t>OutputWindow</a:t>
            </a:r>
            <a:r>
              <a:rPr lang="it-IT" sz="2000" i="1" dirty="0">
                <a:solidFill>
                  <a:schemeClr val="accent2"/>
                </a:solidFill>
              </a:rPr>
              <a:t> – </a:t>
            </a:r>
            <a:r>
              <a:rPr lang="it-IT" sz="2000" dirty="0"/>
              <a:t>per chiarire l’istruzione, introduciamo prima un nuovo concetto chiave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Costruttori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it-IT" sz="2600" dirty="0"/>
              <a:t>Gli oggetti di una classe possono essere creati solo tramite dei metodi speciali chiamati </a:t>
            </a:r>
            <a:r>
              <a:rPr lang="it-IT" sz="2600" u="sng" dirty="0">
                <a:solidFill>
                  <a:schemeClr val="accent1"/>
                </a:solidFill>
              </a:rPr>
              <a:t>costruttori</a:t>
            </a:r>
          </a:p>
          <a:p>
            <a:pPr lvl="1"/>
            <a:r>
              <a:rPr lang="it-IT" sz="2200" dirty="0"/>
              <a:t>il nome di un costruttore deve sempre coincidere con il nome della classe</a:t>
            </a:r>
          </a:p>
          <a:p>
            <a:pPr lvl="1"/>
            <a:r>
              <a:rPr lang="it-IT" sz="2200" dirty="0"/>
              <a:t>se una classe ha più costruttori, essi debbono differire per la lista di parametri formali</a:t>
            </a:r>
          </a:p>
          <a:p>
            <a:pPr lvl="1"/>
            <a:r>
              <a:rPr lang="it-IT" sz="2200" dirty="0"/>
              <a:t>un costruttore non ha tipo di ritorno (neanche </a:t>
            </a:r>
            <a:r>
              <a:rPr lang="it-IT" sz="2200" i="1" dirty="0" err="1">
                <a:solidFill>
                  <a:schemeClr val="accent2"/>
                </a:solidFill>
              </a:rPr>
              <a:t>void</a:t>
            </a:r>
            <a:r>
              <a:rPr lang="it-IT" sz="2200" dirty="0"/>
              <a:t>)</a:t>
            </a:r>
          </a:p>
          <a:p>
            <a:pPr lvl="1"/>
            <a:r>
              <a:rPr lang="it-IT" sz="2200" dirty="0"/>
              <a:t>un costruttore può essere preceduto da un modificatore di accesso (tipicamente è </a:t>
            </a:r>
            <a:r>
              <a:rPr lang="it-IT" sz="2200" i="1" dirty="0">
                <a:solidFill>
                  <a:schemeClr val="accent2"/>
                </a:solidFill>
              </a:rPr>
              <a:t>public</a:t>
            </a:r>
            <a:r>
              <a:rPr lang="it-IT" sz="2200" dirty="0"/>
              <a:t>)</a:t>
            </a:r>
          </a:p>
          <a:p>
            <a:pPr lvl="1"/>
            <a:r>
              <a:rPr lang="it-IT" sz="2200" dirty="0"/>
              <a:t>un costruttore non può mai essere </a:t>
            </a:r>
            <a:r>
              <a:rPr lang="it-IT" sz="2200" i="1" dirty="0" err="1">
                <a:solidFill>
                  <a:schemeClr val="accent2"/>
                </a:solidFill>
              </a:rPr>
              <a:t>static</a:t>
            </a:r>
            <a:r>
              <a:rPr lang="it-IT" sz="2200" dirty="0"/>
              <a:t> (è sempre assimilabile ad un metodo di istanza)</a:t>
            </a:r>
            <a:endParaRPr lang="it-IT" sz="1800" dirty="0"/>
          </a:p>
          <a:p>
            <a:endParaRPr lang="it-IT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Ruolo di un costruttore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it-IT" sz="2600" dirty="0"/>
              <a:t>Un costruttore va richiamato opportunamente per poter creare un oggetto della sua classe</a:t>
            </a:r>
          </a:p>
          <a:p>
            <a:r>
              <a:rPr lang="it-IT" sz="2600" dirty="0"/>
              <a:t>Il principale ruolo di un costruttore è quello di </a:t>
            </a:r>
            <a:r>
              <a:rPr lang="it-IT" sz="2600" u="sng" dirty="0">
                <a:solidFill>
                  <a:schemeClr val="accent1"/>
                </a:solidFill>
              </a:rPr>
              <a:t>inizializzare</a:t>
            </a:r>
            <a:r>
              <a:rPr lang="it-IT" sz="2600" dirty="0"/>
              <a:t> lo stato dell’oggetto creato, cioè dare agli attributi dell’oggetto un primo valore</a:t>
            </a:r>
            <a:endParaRPr lang="it-IT" sz="1800" dirty="0"/>
          </a:p>
          <a:p>
            <a:endParaRPr lang="it-IT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Costruttori in </a:t>
            </a:r>
            <a:r>
              <a:rPr lang="it-IT" dirty="0" err="1"/>
              <a:t>OutputWindow</a:t>
            </a:r>
            <a:endParaRPr lang="it-IT" dirty="0"/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it-IT" sz="2600" dirty="0"/>
              <a:t>La classe </a:t>
            </a:r>
            <a:r>
              <a:rPr lang="it-IT" sz="2600" i="1" dirty="0" err="1">
                <a:solidFill>
                  <a:schemeClr val="accent2"/>
                </a:solidFill>
              </a:rPr>
              <a:t>OutputWindow</a:t>
            </a:r>
            <a:r>
              <a:rPr lang="it-IT" sz="2600" dirty="0"/>
              <a:t> dispone di vari costruttori; uno di essi è un costruttore senza parametri formali</a:t>
            </a:r>
          </a:p>
          <a:p>
            <a:endParaRPr lang="it-IT" sz="2600" dirty="0"/>
          </a:p>
          <a:p>
            <a:pPr algn="ctr">
              <a:buNone/>
            </a:pPr>
            <a:r>
              <a:rPr lang="it-IT" sz="2600" i="1" dirty="0" err="1">
                <a:solidFill>
                  <a:schemeClr val="accent2"/>
                </a:solidFill>
              </a:rPr>
              <a:t>OutpuWindow</a:t>
            </a:r>
            <a:r>
              <a:rPr lang="it-IT" sz="2600" i="1" dirty="0">
                <a:solidFill>
                  <a:schemeClr val="accent2"/>
                </a:solidFill>
              </a:rPr>
              <a:t> ()</a:t>
            </a:r>
            <a:endParaRPr lang="it-IT" sz="1800" i="1" dirty="0">
              <a:solidFill>
                <a:schemeClr val="accent2"/>
              </a:solidFill>
            </a:endParaRPr>
          </a:p>
          <a:p>
            <a:endParaRPr lang="it-IT" dirty="0"/>
          </a:p>
          <a:p>
            <a:r>
              <a:rPr lang="it-IT" sz="2600" dirty="0"/>
              <a:t>Tale costruttore inizializza lo stato dell’oggetto creato in modo che rappresenti una finestra </a:t>
            </a:r>
            <a:r>
              <a:rPr lang="it-IT" sz="2600" i="1" dirty="0">
                <a:solidFill>
                  <a:schemeClr val="accent2"/>
                </a:solidFill>
              </a:rPr>
              <a:t>vuota</a:t>
            </a:r>
            <a:r>
              <a:rPr lang="it-IT" sz="2600" dirty="0"/>
              <a:t> di </a:t>
            </a:r>
            <a:r>
              <a:rPr lang="it-IT" sz="2600" i="1" dirty="0">
                <a:solidFill>
                  <a:schemeClr val="accent2"/>
                </a:solidFill>
              </a:rPr>
              <a:t>dimensioni prefissate </a:t>
            </a:r>
            <a:r>
              <a:rPr lang="it-IT" sz="2600" dirty="0"/>
              <a:t>e con titolo </a:t>
            </a:r>
            <a:r>
              <a:rPr lang="it-IT" sz="2600" i="1" dirty="0">
                <a:solidFill>
                  <a:schemeClr val="accent2"/>
                </a:solidFill>
              </a:rPr>
              <a:t>“Output”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 dirty="0"/>
              <a:t>Usare i costruttori: l’istruzione “</a:t>
            </a:r>
            <a:r>
              <a:rPr lang="it-IT" sz="3600" dirty="0" err="1"/>
              <a:t>new</a:t>
            </a:r>
            <a:r>
              <a:rPr lang="it-IT" sz="3600" dirty="0"/>
              <a:t>”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84576"/>
          </a:xfrm>
        </p:spPr>
        <p:txBody>
          <a:bodyPr>
            <a:normAutofit/>
          </a:bodyPr>
          <a:lstStyle/>
          <a:p>
            <a:r>
              <a:rPr lang="it-IT" sz="2600" dirty="0"/>
              <a:t>Per creare un oggetto tramite un costruttore, è necessario usare la parola chiave </a:t>
            </a:r>
            <a:r>
              <a:rPr lang="it-IT" sz="2600" i="1" dirty="0" err="1">
                <a:solidFill>
                  <a:schemeClr val="accent2"/>
                </a:solidFill>
              </a:rPr>
              <a:t>new</a:t>
            </a:r>
            <a:r>
              <a:rPr lang="it-IT" sz="2600" dirty="0">
                <a:solidFill>
                  <a:schemeClr val="accent2"/>
                </a:solidFill>
              </a:rPr>
              <a:t>, </a:t>
            </a:r>
            <a:r>
              <a:rPr lang="it-IT" sz="2600" dirty="0"/>
              <a:t>seguita dal nome del costruttore e dagli eventuali parametri attuali che il costruttore si aspetta di ricevere</a:t>
            </a:r>
          </a:p>
          <a:p>
            <a:pPr>
              <a:buNone/>
            </a:pPr>
            <a:endParaRPr lang="it-IT" sz="2600" dirty="0"/>
          </a:p>
          <a:p>
            <a:pPr algn="ctr">
              <a:buNone/>
            </a:pPr>
            <a:r>
              <a:rPr lang="it-IT" sz="2600" i="1" dirty="0" err="1">
                <a:solidFill>
                  <a:schemeClr val="accent2"/>
                </a:solidFill>
              </a:rPr>
              <a:t>new</a:t>
            </a:r>
            <a:r>
              <a:rPr lang="it-IT" sz="2600" i="1" dirty="0">
                <a:solidFill>
                  <a:schemeClr val="accent2"/>
                </a:solidFill>
              </a:rPr>
              <a:t> &lt;nome costruttore&gt; (&lt;parametri attuali&gt;)</a:t>
            </a:r>
          </a:p>
          <a:p>
            <a:endParaRPr lang="it-IT" sz="2600" dirty="0"/>
          </a:p>
          <a:p>
            <a:r>
              <a:rPr lang="it-IT" sz="2600" dirty="0"/>
              <a:t>Ad esempio, per creare un oggetto </a:t>
            </a:r>
            <a:r>
              <a:rPr lang="it-IT" sz="2600" i="1" dirty="0" err="1">
                <a:solidFill>
                  <a:schemeClr val="accent2"/>
                </a:solidFill>
              </a:rPr>
              <a:t>OutputWindow</a:t>
            </a:r>
            <a:r>
              <a:rPr lang="it-IT" sz="2600" dirty="0"/>
              <a:t> utilizzando il costruttore senza parametri, occorre scrivere l’istruzione:</a:t>
            </a:r>
          </a:p>
          <a:p>
            <a:pPr algn="ctr">
              <a:buNone/>
            </a:pPr>
            <a:r>
              <a:rPr lang="it-IT" sz="2600" i="1" dirty="0" err="1">
                <a:solidFill>
                  <a:schemeClr val="accent2"/>
                </a:solidFill>
              </a:rPr>
              <a:t>new</a:t>
            </a:r>
            <a:r>
              <a:rPr lang="it-IT" sz="2600" i="1" dirty="0">
                <a:solidFill>
                  <a:schemeClr val="accent2"/>
                </a:solidFill>
              </a:rPr>
              <a:t> </a:t>
            </a:r>
            <a:r>
              <a:rPr lang="it-IT" sz="2600" i="1" dirty="0" err="1">
                <a:solidFill>
                  <a:schemeClr val="accent2"/>
                </a:solidFill>
              </a:rPr>
              <a:t>OutputWindow</a:t>
            </a:r>
            <a:r>
              <a:rPr lang="it-IT" sz="2600" i="1" dirty="0">
                <a:solidFill>
                  <a:schemeClr val="accent2"/>
                </a:solidFill>
              </a:rPr>
              <a:t>()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 dirty="0"/>
              <a:t>Usare i costruttori: l’istruzione “</a:t>
            </a:r>
            <a:r>
              <a:rPr lang="it-IT" sz="3600" dirty="0" err="1"/>
              <a:t>new</a:t>
            </a:r>
            <a:r>
              <a:rPr lang="it-IT" sz="3600" dirty="0"/>
              <a:t>”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84576"/>
          </a:xfrm>
        </p:spPr>
        <p:txBody>
          <a:bodyPr>
            <a:normAutofit/>
          </a:bodyPr>
          <a:lstStyle/>
          <a:p>
            <a:r>
              <a:rPr lang="it-IT" sz="2600" dirty="0"/>
              <a:t>Per creare l’oggetto, l’istruzione </a:t>
            </a:r>
            <a:r>
              <a:rPr lang="it-IT" sz="2600" i="1" dirty="0" err="1">
                <a:solidFill>
                  <a:schemeClr val="accent2"/>
                </a:solidFill>
              </a:rPr>
              <a:t>new</a:t>
            </a:r>
            <a:r>
              <a:rPr lang="it-IT" sz="2600" dirty="0"/>
              <a:t> riserva uno spazio nella memoria fisica (RAM) del calcolatore</a:t>
            </a:r>
          </a:p>
          <a:p>
            <a:pPr lvl="1"/>
            <a:r>
              <a:rPr lang="it-IT" sz="2000" dirty="0"/>
              <a:t>in tale spazio vengono scritte tutte le informazioni sull’oggetto creato, cioè il suo stato ed i suoi metodi</a:t>
            </a:r>
          </a:p>
          <a:p>
            <a:pPr lvl="1"/>
            <a:r>
              <a:rPr lang="it-IT" sz="2000" dirty="0"/>
              <a:t>affinché l’oggetto creato possa essere utilizzato, l’istruzione </a:t>
            </a:r>
            <a:r>
              <a:rPr lang="it-IT" sz="2000" i="1" dirty="0" err="1">
                <a:solidFill>
                  <a:schemeClr val="accent2"/>
                </a:solidFill>
              </a:rPr>
              <a:t>new</a:t>
            </a:r>
            <a:r>
              <a:rPr lang="it-IT" sz="2000" dirty="0"/>
              <a:t> restituisce il suo </a:t>
            </a:r>
            <a:r>
              <a:rPr lang="it-IT" sz="2000" u="sng" dirty="0">
                <a:solidFill>
                  <a:schemeClr val="accent1"/>
                </a:solidFill>
              </a:rPr>
              <a:t>riferimento</a:t>
            </a:r>
            <a:r>
              <a:rPr lang="it-IT" sz="2000" dirty="0"/>
              <a:t> (che equivale all’indirizzo della zona di memoria in cui risiede l’oggetto)</a:t>
            </a:r>
          </a:p>
          <a:p>
            <a:pPr lvl="1">
              <a:buNone/>
            </a:pPr>
            <a:endParaRPr lang="it-IT" sz="2000" dirty="0"/>
          </a:p>
          <a:p>
            <a:r>
              <a:rPr lang="it-IT" sz="2600" dirty="0"/>
              <a:t>Dopo aver creato l’oggetto, il </a:t>
            </a:r>
            <a:r>
              <a:rPr lang="it-IT" sz="2600" i="1" dirty="0" err="1">
                <a:solidFill>
                  <a:schemeClr val="accent2"/>
                </a:solidFill>
              </a:rPr>
              <a:t>new</a:t>
            </a:r>
            <a:r>
              <a:rPr lang="it-IT" sz="2600" dirty="0"/>
              <a:t> richiama il costruttore specificato, il quale inizializzerà lo stato di tale oggetto</a:t>
            </a:r>
          </a:p>
          <a:p>
            <a:pPr lvl="1">
              <a:buNone/>
            </a:pPr>
            <a:endParaRPr lang="it-IT" sz="2000" dirty="0"/>
          </a:p>
          <a:p>
            <a:endParaRPr lang="it-IT" sz="24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3"/>
          <p:cNvSpPr>
            <a:spLocks noChangeArrowheads="1"/>
          </p:cNvSpPr>
          <p:nvPr/>
        </p:nvSpPr>
        <p:spPr bwMode="auto">
          <a:xfrm>
            <a:off x="533400" y="4208676"/>
            <a:ext cx="7848600" cy="2286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it-IT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Creazione oggetti: schema</a:t>
            </a:r>
          </a:p>
        </p:txBody>
      </p:sp>
      <p:sp>
        <p:nvSpPr>
          <p:cNvPr id="31748" name="Line 3"/>
          <p:cNvSpPr>
            <a:spLocks noChangeShapeType="1"/>
          </p:cNvSpPr>
          <p:nvPr/>
        </p:nvSpPr>
        <p:spPr bwMode="auto">
          <a:xfrm>
            <a:off x="609600" y="1219200"/>
            <a:ext cx="78486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grpSp>
        <p:nvGrpSpPr>
          <p:cNvPr id="40" name="Gruppo 39"/>
          <p:cNvGrpSpPr/>
          <p:nvPr/>
        </p:nvGrpSpPr>
        <p:grpSpPr>
          <a:xfrm>
            <a:off x="4871803" y="1916832"/>
            <a:ext cx="2068643" cy="1821944"/>
            <a:chOff x="4871803" y="2051556"/>
            <a:chExt cx="2068643" cy="1821944"/>
          </a:xfrm>
        </p:grpSpPr>
        <p:sp>
          <p:nvSpPr>
            <p:cNvPr id="39" name="Rectangle 15"/>
            <p:cNvSpPr>
              <a:spLocks noChangeArrowheads="1"/>
            </p:cNvSpPr>
            <p:nvPr/>
          </p:nvSpPr>
          <p:spPr bwMode="auto">
            <a:xfrm>
              <a:off x="4871803" y="2060847"/>
              <a:ext cx="2068643" cy="38254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1778" name="Rectangle 15"/>
            <p:cNvSpPr>
              <a:spLocks noChangeArrowheads="1"/>
            </p:cNvSpPr>
            <p:nvPr/>
          </p:nvSpPr>
          <p:spPr bwMode="auto">
            <a:xfrm>
              <a:off x="4876800" y="2057400"/>
              <a:ext cx="2057400" cy="17637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1779" name="Line 16"/>
            <p:cNvSpPr>
              <a:spLocks noChangeShapeType="1"/>
            </p:cNvSpPr>
            <p:nvPr/>
          </p:nvSpPr>
          <p:spPr bwMode="auto">
            <a:xfrm>
              <a:off x="4876800" y="2438400"/>
              <a:ext cx="2057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1780" name="Text Box 17"/>
            <p:cNvSpPr txBox="1">
              <a:spLocks noChangeArrowheads="1"/>
            </p:cNvSpPr>
            <p:nvPr/>
          </p:nvSpPr>
          <p:spPr bwMode="auto">
            <a:xfrm>
              <a:off x="4886793" y="2051556"/>
              <a:ext cx="204740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it-IT" dirty="0" err="1"/>
                <a:t>OutputWindow</a:t>
              </a:r>
              <a:endParaRPr lang="it-IT" dirty="0"/>
            </a:p>
          </p:txBody>
        </p:sp>
        <p:sp>
          <p:nvSpPr>
            <p:cNvPr id="31781" name="Line 18"/>
            <p:cNvSpPr>
              <a:spLocks noChangeShapeType="1"/>
            </p:cNvSpPr>
            <p:nvPr/>
          </p:nvSpPr>
          <p:spPr bwMode="auto">
            <a:xfrm>
              <a:off x="4876800" y="3048000"/>
              <a:ext cx="2057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1782" name="Text Box 19"/>
            <p:cNvSpPr txBox="1">
              <a:spLocks noChangeArrowheads="1"/>
            </p:cNvSpPr>
            <p:nvPr/>
          </p:nvSpPr>
          <p:spPr bwMode="auto">
            <a:xfrm>
              <a:off x="4959096" y="3048000"/>
              <a:ext cx="1892808" cy="825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1600" b="1">
                  <a:solidFill>
                    <a:srgbClr val="0000FF"/>
                  </a:solidFill>
                </a:rPr>
                <a:t>OutputWindow ( )</a:t>
              </a:r>
              <a:br>
                <a:rPr lang="it-IT" sz="1600"/>
              </a:br>
              <a:r>
                <a:rPr lang="it-IT" sz="1600"/>
                <a:t>void write(String s)</a:t>
              </a:r>
              <a:br>
                <a:rPr lang="it-IT" sz="1600"/>
              </a:br>
              <a:r>
                <a:rPr lang="it-IT" sz="1600"/>
                <a:t>…..</a:t>
              </a:r>
            </a:p>
          </p:txBody>
        </p:sp>
      </p:grpSp>
      <p:sp>
        <p:nvSpPr>
          <p:cNvPr id="31750" name="Line 20"/>
          <p:cNvSpPr>
            <a:spLocks noChangeShapeType="1"/>
          </p:cNvSpPr>
          <p:nvPr/>
        </p:nvSpPr>
        <p:spPr bwMode="auto">
          <a:xfrm>
            <a:off x="2286000" y="2456076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31751" name="Text Box 21"/>
          <p:cNvSpPr txBox="1">
            <a:spLocks noChangeArrowheads="1"/>
          </p:cNvSpPr>
          <p:nvPr/>
        </p:nvSpPr>
        <p:spPr bwMode="auto">
          <a:xfrm>
            <a:off x="2133600" y="1998876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new OutputWindow ( )</a:t>
            </a:r>
          </a:p>
        </p:txBody>
      </p:sp>
      <p:sp>
        <p:nvSpPr>
          <p:cNvPr id="31754" name="Text Box 34"/>
          <p:cNvSpPr txBox="1">
            <a:spLocks noChangeArrowheads="1"/>
          </p:cNvSpPr>
          <p:nvPr/>
        </p:nvSpPr>
        <p:spPr bwMode="auto">
          <a:xfrm>
            <a:off x="609600" y="4284876"/>
            <a:ext cx="1752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RAM</a:t>
            </a:r>
          </a:p>
        </p:txBody>
      </p:sp>
      <p:grpSp>
        <p:nvGrpSpPr>
          <p:cNvPr id="51" name="Gruppo 50"/>
          <p:cNvGrpSpPr/>
          <p:nvPr/>
        </p:nvGrpSpPr>
        <p:grpSpPr>
          <a:xfrm>
            <a:off x="6765925" y="4513476"/>
            <a:ext cx="2073275" cy="1600200"/>
            <a:chOff x="6765925" y="4513476"/>
            <a:chExt cx="2073275" cy="1600200"/>
          </a:xfrm>
        </p:grpSpPr>
        <p:grpSp>
          <p:nvGrpSpPr>
            <p:cNvPr id="9" name="Group 39"/>
            <p:cNvGrpSpPr>
              <a:grpSpLocks/>
            </p:cNvGrpSpPr>
            <p:nvPr/>
          </p:nvGrpSpPr>
          <p:grpSpPr bwMode="auto">
            <a:xfrm>
              <a:off x="6765925" y="4513476"/>
              <a:ext cx="2073275" cy="1600200"/>
              <a:chOff x="4262" y="1344"/>
              <a:chExt cx="1306" cy="1008"/>
            </a:xfrm>
          </p:grpSpPr>
          <p:sp>
            <p:nvSpPr>
              <p:cNvPr id="31758" name="Line 35"/>
              <p:cNvSpPr>
                <a:spLocks noChangeShapeType="1"/>
              </p:cNvSpPr>
              <p:nvPr/>
            </p:nvSpPr>
            <p:spPr bwMode="auto">
              <a:xfrm flipV="1">
                <a:off x="4262" y="1344"/>
                <a:ext cx="658" cy="6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1759" name="Line 36"/>
              <p:cNvSpPr>
                <a:spLocks noChangeShapeType="1"/>
              </p:cNvSpPr>
              <p:nvPr/>
            </p:nvSpPr>
            <p:spPr bwMode="auto">
              <a:xfrm>
                <a:off x="4272" y="2064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58405" name="Text Box 37"/>
              <p:cNvSpPr txBox="1">
                <a:spLocks noChangeArrowheads="1"/>
              </p:cNvSpPr>
              <p:nvPr/>
            </p:nvSpPr>
            <p:spPr bwMode="auto">
              <a:xfrm>
                <a:off x="4848" y="1344"/>
                <a:ext cx="720" cy="100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it-IT" sz="1400"/>
                  <a:t>Istruzione 1</a:t>
                </a:r>
                <a:br>
                  <a:rPr lang="it-IT" sz="1400"/>
                </a:br>
                <a:r>
                  <a:rPr lang="it-IT" sz="1400"/>
                  <a:t>istruzione 2</a:t>
                </a:r>
                <a:br>
                  <a:rPr lang="it-IT" sz="1400"/>
                </a:br>
                <a:r>
                  <a:rPr lang="it-IT" sz="1400"/>
                  <a:t>istruzione 3</a:t>
                </a:r>
                <a:br>
                  <a:rPr lang="it-IT" sz="1400"/>
                </a:br>
                <a:r>
                  <a:rPr lang="it-IT" sz="1400"/>
                  <a:t>….</a:t>
                </a:r>
              </a:p>
              <a:p>
                <a:pPr>
                  <a:spcBef>
                    <a:spcPct val="50000"/>
                  </a:spcBef>
                  <a:defRPr/>
                </a:pPr>
                <a:r>
                  <a:rPr lang="it-IT" sz="1400"/>
                  <a:t>…..</a:t>
                </a:r>
              </a:p>
              <a:p>
                <a:pPr>
                  <a:spcBef>
                    <a:spcPct val="50000"/>
                  </a:spcBef>
                  <a:defRPr/>
                </a:pPr>
                <a:r>
                  <a:rPr lang="it-IT" sz="1400"/>
                  <a:t>Istruzione n</a:t>
                </a:r>
              </a:p>
            </p:txBody>
          </p:sp>
        </p:grpSp>
        <p:sp>
          <p:nvSpPr>
            <p:cNvPr id="58406" name="Line 38"/>
            <p:cNvSpPr>
              <a:spLocks noChangeShapeType="1"/>
            </p:cNvSpPr>
            <p:nvPr/>
          </p:nvSpPr>
          <p:spPr bwMode="auto">
            <a:xfrm>
              <a:off x="7620000" y="4589676"/>
              <a:ext cx="0" cy="152400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2" name="Gruppo 51"/>
          <p:cNvGrpSpPr/>
          <p:nvPr/>
        </p:nvGrpSpPr>
        <p:grpSpPr>
          <a:xfrm>
            <a:off x="914400" y="2038564"/>
            <a:ext cx="3352800" cy="3954462"/>
            <a:chOff x="914400" y="2038564"/>
            <a:chExt cx="3352800" cy="3954462"/>
          </a:xfrm>
        </p:grpSpPr>
        <p:grpSp>
          <p:nvGrpSpPr>
            <p:cNvPr id="3" name="Group 43"/>
            <p:cNvGrpSpPr>
              <a:grpSpLocks/>
            </p:cNvGrpSpPr>
            <p:nvPr/>
          </p:nvGrpSpPr>
          <p:grpSpPr bwMode="auto">
            <a:xfrm>
              <a:off x="914400" y="2038564"/>
              <a:ext cx="3352800" cy="3954462"/>
              <a:chOff x="576" y="1369"/>
              <a:chExt cx="2112" cy="2491"/>
            </a:xfrm>
          </p:grpSpPr>
          <p:sp>
            <p:nvSpPr>
              <p:cNvPr id="31773" name="Line 28"/>
              <p:cNvSpPr>
                <a:spLocks noChangeShapeType="1"/>
              </p:cNvSpPr>
              <p:nvPr/>
            </p:nvSpPr>
            <p:spPr bwMode="auto">
              <a:xfrm flipH="1">
                <a:off x="864" y="1488"/>
                <a:ext cx="480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it-IT"/>
              </a:p>
            </p:txBody>
          </p:sp>
          <p:grpSp>
            <p:nvGrpSpPr>
              <p:cNvPr id="4" name="Group 42"/>
              <p:cNvGrpSpPr>
                <a:grpSpLocks/>
              </p:cNvGrpSpPr>
              <p:nvPr/>
            </p:nvGrpSpPr>
            <p:grpSpPr bwMode="auto">
              <a:xfrm>
                <a:off x="576" y="1369"/>
                <a:ext cx="2112" cy="2491"/>
                <a:chOff x="576" y="1369"/>
                <a:chExt cx="2112" cy="2491"/>
              </a:xfrm>
            </p:grpSpPr>
            <p:sp>
              <p:nvSpPr>
                <p:cNvPr id="31775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576" y="1369"/>
                  <a:ext cx="384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it-IT"/>
                    <a:t>X</a:t>
                  </a:r>
                </a:p>
              </p:txBody>
            </p:sp>
            <p:sp>
              <p:nvSpPr>
                <p:cNvPr id="31776" name="Line 30"/>
                <p:cNvSpPr>
                  <a:spLocks noChangeShapeType="1"/>
                </p:cNvSpPr>
                <p:nvPr/>
              </p:nvSpPr>
              <p:spPr bwMode="auto">
                <a:xfrm flipV="1">
                  <a:off x="2256" y="3168"/>
                  <a:ext cx="336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it-IT"/>
                </a:p>
              </p:txBody>
            </p:sp>
            <p:sp>
              <p:nvSpPr>
                <p:cNvPr id="31777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1056" y="3456"/>
                  <a:ext cx="1632" cy="40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it-IT" dirty="0"/>
                    <a:t>Indirizzo di memoria</a:t>
                  </a:r>
                  <a:br>
                    <a:rPr lang="it-IT" dirty="0"/>
                  </a:br>
                  <a:r>
                    <a:rPr lang="it-IT" dirty="0"/>
                    <a:t>(riferimento all’oggetto)</a:t>
                  </a:r>
                </a:p>
              </p:txBody>
            </p:sp>
          </p:grpSp>
        </p:grpSp>
        <p:sp>
          <p:nvSpPr>
            <p:cNvPr id="58413" name="Line 45"/>
            <p:cNvSpPr>
              <a:spLocks noChangeShapeType="1"/>
            </p:cNvSpPr>
            <p:nvPr/>
          </p:nvSpPr>
          <p:spPr bwMode="auto">
            <a:xfrm flipH="1" flipV="1">
              <a:off x="1295400" y="2456076"/>
              <a:ext cx="1143000" cy="2819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0" name="Gruppo 49"/>
          <p:cNvGrpSpPr/>
          <p:nvPr/>
        </p:nvGrpSpPr>
        <p:grpSpPr>
          <a:xfrm>
            <a:off x="2895600" y="2608479"/>
            <a:ext cx="4044846" cy="3632831"/>
            <a:chOff x="2895600" y="2608479"/>
            <a:chExt cx="4044846" cy="3632831"/>
          </a:xfrm>
        </p:grpSpPr>
        <p:sp>
          <p:nvSpPr>
            <p:cNvPr id="31766" name="Freeform 25"/>
            <p:cNvSpPr>
              <a:spLocks/>
            </p:cNvSpPr>
            <p:nvPr/>
          </p:nvSpPr>
          <p:spPr bwMode="auto">
            <a:xfrm>
              <a:off x="3276600" y="2608479"/>
              <a:ext cx="2895600" cy="1752602"/>
            </a:xfrm>
            <a:custGeom>
              <a:avLst/>
              <a:gdLst>
                <a:gd name="T0" fmla="*/ 0 w 1824"/>
                <a:gd name="T1" fmla="*/ 0 h 1104"/>
                <a:gd name="T2" fmla="*/ 672 w 1824"/>
                <a:gd name="T3" fmla="*/ 816 h 1104"/>
                <a:gd name="T4" fmla="*/ 1632 w 1824"/>
                <a:gd name="T5" fmla="*/ 960 h 1104"/>
                <a:gd name="T6" fmla="*/ 1824 w 1824"/>
                <a:gd name="T7" fmla="*/ 1104 h 11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24"/>
                <a:gd name="T13" fmla="*/ 0 h 1104"/>
                <a:gd name="T14" fmla="*/ 1824 w 1824"/>
                <a:gd name="T15" fmla="*/ 1104 h 11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24" h="1104">
                  <a:moveTo>
                    <a:pt x="0" y="0"/>
                  </a:moveTo>
                  <a:cubicBezTo>
                    <a:pt x="200" y="328"/>
                    <a:pt x="400" y="656"/>
                    <a:pt x="672" y="816"/>
                  </a:cubicBezTo>
                  <a:cubicBezTo>
                    <a:pt x="944" y="976"/>
                    <a:pt x="1440" y="912"/>
                    <a:pt x="1632" y="960"/>
                  </a:cubicBezTo>
                  <a:cubicBezTo>
                    <a:pt x="1824" y="1008"/>
                    <a:pt x="1824" y="1056"/>
                    <a:pt x="1824" y="1104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1762" name="Text Box 32"/>
            <p:cNvSpPr txBox="1">
              <a:spLocks noChangeArrowheads="1"/>
            </p:cNvSpPr>
            <p:nvPr/>
          </p:nvSpPr>
          <p:spPr bwMode="auto">
            <a:xfrm>
              <a:off x="2895600" y="3537164"/>
              <a:ext cx="13716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creazione</a:t>
              </a:r>
            </a:p>
          </p:txBody>
        </p:sp>
        <p:grpSp>
          <p:nvGrpSpPr>
            <p:cNvPr id="49" name="Gruppo 48"/>
            <p:cNvGrpSpPr/>
            <p:nvPr/>
          </p:nvGrpSpPr>
          <p:grpSpPr>
            <a:xfrm>
              <a:off x="4114800" y="4419366"/>
              <a:ext cx="2825646" cy="1821944"/>
              <a:chOff x="4114800" y="4419366"/>
              <a:chExt cx="2825646" cy="1821944"/>
            </a:xfrm>
          </p:grpSpPr>
          <p:sp>
            <p:nvSpPr>
              <p:cNvPr id="31763" name="Text Box 23"/>
              <p:cNvSpPr txBox="1">
                <a:spLocks noChangeArrowheads="1"/>
              </p:cNvSpPr>
              <p:nvPr/>
            </p:nvSpPr>
            <p:spPr bwMode="auto">
              <a:xfrm>
                <a:off x="4114800" y="4451569"/>
                <a:ext cx="609600" cy="376238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it-IT"/>
                  <a:t>X</a:t>
                </a:r>
              </a:p>
            </p:txBody>
          </p:sp>
          <p:grpSp>
            <p:nvGrpSpPr>
              <p:cNvPr id="48" name="Gruppo 47"/>
              <p:cNvGrpSpPr/>
              <p:nvPr/>
            </p:nvGrpSpPr>
            <p:grpSpPr>
              <a:xfrm>
                <a:off x="4871803" y="4419366"/>
                <a:ext cx="2068643" cy="1821944"/>
                <a:chOff x="4871803" y="4554090"/>
                <a:chExt cx="2068643" cy="1821944"/>
              </a:xfrm>
            </p:grpSpPr>
            <p:sp>
              <p:nvSpPr>
                <p:cNvPr id="43" name="Rectangle 15"/>
                <p:cNvSpPr>
                  <a:spLocks noChangeArrowheads="1"/>
                </p:cNvSpPr>
                <p:nvPr/>
              </p:nvSpPr>
              <p:spPr bwMode="auto">
                <a:xfrm>
                  <a:off x="4876800" y="4559934"/>
                  <a:ext cx="2057400" cy="1763713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42" name="Rectangle 15"/>
                <p:cNvSpPr>
                  <a:spLocks noChangeArrowheads="1"/>
                </p:cNvSpPr>
                <p:nvPr/>
              </p:nvSpPr>
              <p:spPr bwMode="auto">
                <a:xfrm>
                  <a:off x="4871803" y="4563381"/>
                  <a:ext cx="2068643" cy="38254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44" name="Line 16"/>
                <p:cNvSpPr>
                  <a:spLocks noChangeShapeType="1"/>
                </p:cNvSpPr>
                <p:nvPr/>
              </p:nvSpPr>
              <p:spPr bwMode="auto">
                <a:xfrm>
                  <a:off x="4876800" y="4940934"/>
                  <a:ext cx="2057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it-IT"/>
                </a:p>
              </p:txBody>
            </p:sp>
            <p:sp>
              <p:nvSpPr>
                <p:cNvPr id="46" name="Line 18"/>
                <p:cNvSpPr>
                  <a:spLocks noChangeShapeType="1"/>
                </p:cNvSpPr>
                <p:nvPr/>
              </p:nvSpPr>
              <p:spPr bwMode="auto">
                <a:xfrm>
                  <a:off x="4876800" y="5550534"/>
                  <a:ext cx="2057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it-IT"/>
                </a:p>
              </p:txBody>
            </p:sp>
            <p:sp>
              <p:nvSpPr>
                <p:cNvPr id="47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4959096" y="5550534"/>
                  <a:ext cx="1892808" cy="8255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it-IT" sz="1600" b="1">
                      <a:solidFill>
                        <a:srgbClr val="0000FF"/>
                      </a:solidFill>
                    </a:rPr>
                    <a:t>OutputWindow ( )</a:t>
                  </a:r>
                  <a:br>
                    <a:rPr lang="it-IT" sz="1600"/>
                  </a:br>
                  <a:r>
                    <a:rPr lang="it-IT" sz="1600"/>
                    <a:t>void write(String s)</a:t>
                  </a:r>
                  <a:br>
                    <a:rPr lang="it-IT" sz="1600"/>
                  </a:br>
                  <a:r>
                    <a:rPr lang="it-IT" sz="1600"/>
                    <a:t>…..</a:t>
                  </a:r>
                </a:p>
              </p:txBody>
            </p:sp>
            <p:sp>
              <p:nvSpPr>
                <p:cNvPr id="45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886793" y="4554090"/>
                  <a:ext cx="2047407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it-IT" u="sng" dirty="0"/>
                    <a:t>..: </a:t>
                  </a:r>
                  <a:r>
                    <a:rPr lang="it-IT" u="sng" dirty="0" err="1"/>
                    <a:t>OutputWindow</a:t>
                  </a:r>
                  <a:endParaRPr lang="it-IT" u="sng" dirty="0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Operatori ed espressioni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84576"/>
          </a:xfrm>
        </p:spPr>
        <p:txBody>
          <a:bodyPr>
            <a:normAutofit/>
          </a:bodyPr>
          <a:lstStyle/>
          <a:p>
            <a:r>
              <a:rPr lang="it-IT" sz="2600" dirty="0"/>
              <a:t>La parola chiave </a:t>
            </a:r>
            <a:r>
              <a:rPr lang="it-IT" sz="2600" i="1" dirty="0" err="1">
                <a:solidFill>
                  <a:schemeClr val="accent2"/>
                </a:solidFill>
              </a:rPr>
              <a:t>new</a:t>
            </a:r>
            <a:r>
              <a:rPr lang="it-IT" sz="2600" dirty="0"/>
              <a:t> è un </a:t>
            </a:r>
            <a:r>
              <a:rPr lang="it-IT" sz="2600" u="sng" dirty="0">
                <a:solidFill>
                  <a:schemeClr val="accent1"/>
                </a:solidFill>
              </a:rPr>
              <a:t>operatore</a:t>
            </a:r>
            <a:r>
              <a:rPr lang="it-IT" sz="2600" dirty="0"/>
              <a:t>;</a:t>
            </a:r>
          </a:p>
          <a:p>
            <a:r>
              <a:rPr lang="it-IT" sz="2600" dirty="0"/>
              <a:t>Un operatore è un “simbolo speciale” del linguaggio che viene applicato ad un certo numero di operandi e che restituisce un valore come risultato:</a:t>
            </a:r>
          </a:p>
          <a:p>
            <a:pPr lvl="1"/>
            <a:r>
              <a:rPr lang="it-IT" sz="2200" dirty="0"/>
              <a:t>l’operatore </a:t>
            </a:r>
            <a:r>
              <a:rPr lang="it-IT" sz="2200" i="1" dirty="0" err="1">
                <a:solidFill>
                  <a:schemeClr val="accent2"/>
                </a:solidFill>
              </a:rPr>
              <a:t>new</a:t>
            </a:r>
            <a:r>
              <a:rPr lang="it-IT" sz="2200" dirty="0"/>
              <a:t> è un operatore unario, cioè applicato ad un solo operando (il costruttore che lo segue)</a:t>
            </a:r>
          </a:p>
          <a:p>
            <a:pPr lvl="1"/>
            <a:r>
              <a:rPr lang="it-IT" sz="2200" dirty="0"/>
              <a:t>l’operatore </a:t>
            </a:r>
            <a:r>
              <a:rPr lang="it-IT" sz="2200" i="1" dirty="0" err="1">
                <a:solidFill>
                  <a:schemeClr val="accent2"/>
                </a:solidFill>
              </a:rPr>
              <a:t>new</a:t>
            </a:r>
            <a:r>
              <a:rPr lang="it-IT" sz="2200" dirty="0"/>
              <a:t> restituisce il riferimento all’oggetto creato, cioè all’istruzione </a:t>
            </a:r>
            <a:r>
              <a:rPr lang="it-IT" sz="2200" i="1" dirty="0" err="1">
                <a:solidFill>
                  <a:schemeClr val="accent2"/>
                </a:solidFill>
              </a:rPr>
              <a:t>new</a:t>
            </a:r>
            <a:r>
              <a:rPr lang="it-IT" sz="2200" dirty="0"/>
              <a:t> eseguita rimarrà associato il riferimento all’oggetto</a:t>
            </a:r>
          </a:p>
          <a:p>
            <a:pPr lvl="1"/>
            <a:endParaRPr lang="it-IT" sz="2200" dirty="0"/>
          </a:p>
          <a:p>
            <a:r>
              <a:rPr lang="it-IT" sz="2600" dirty="0"/>
              <a:t>Una istruzione alla quale rimane associato un valore finale è detta </a:t>
            </a:r>
            <a:r>
              <a:rPr lang="it-IT" sz="2600" u="sng" dirty="0">
                <a:solidFill>
                  <a:schemeClr val="accent1"/>
                </a:solidFill>
              </a:rPr>
              <a:t>espressione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it-IT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Memorizzazione del riferimento</a:t>
            </a:r>
          </a:p>
        </p:txBody>
      </p:sp>
      <p:sp>
        <p:nvSpPr>
          <p:cNvPr id="32771" name="Line 3"/>
          <p:cNvSpPr>
            <a:spLocks noChangeShapeType="1"/>
          </p:cNvSpPr>
          <p:nvPr/>
        </p:nvSpPr>
        <p:spPr bwMode="auto">
          <a:xfrm>
            <a:off x="609600" y="1219200"/>
            <a:ext cx="78486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8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84576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  <a:defRPr/>
            </a:pPr>
            <a:r>
              <a:rPr lang="it-IT" dirty="0"/>
              <a:t>Per utilizzare l’oggetto di tipo</a:t>
            </a:r>
            <a:r>
              <a:rPr lang="it-IT" dirty="0">
                <a:solidFill>
                  <a:schemeClr val="tx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OutputWindow</a:t>
            </a:r>
            <a:r>
              <a:rPr lang="it-IT" dirty="0">
                <a:solidFill>
                  <a:schemeClr val="tx2"/>
                </a:solidFill>
              </a:rPr>
              <a:t> </a:t>
            </a:r>
            <a:r>
              <a:rPr lang="it-IT" dirty="0"/>
              <a:t>creato dobbiamo memorizzarne il riferimento</a:t>
            </a:r>
          </a:p>
          <a:p>
            <a:pPr lvl="1">
              <a:spcBef>
                <a:spcPct val="50000"/>
              </a:spcBef>
              <a:buFont typeface="Arial" pitchFamily="34" charset="0"/>
              <a:buChar char="─"/>
              <a:defRPr/>
            </a:pPr>
            <a:r>
              <a:rPr lang="it-IT" sz="2800" dirty="0"/>
              <a:t>i</a:t>
            </a:r>
            <a:r>
              <a:rPr lang="it-IT" dirty="0"/>
              <a:t>l riferimento restituito da </a:t>
            </a:r>
            <a:r>
              <a:rPr lang="it-IT" i="1" dirty="0" err="1">
                <a:solidFill>
                  <a:schemeClr val="accent2"/>
                </a:solidFill>
              </a:rPr>
              <a:t>new</a:t>
            </a:r>
            <a:r>
              <a:rPr lang="it-IT" dirty="0"/>
              <a:t> può essere memorizzato in una </a:t>
            </a:r>
            <a:r>
              <a:rPr lang="it-IT" u="sng" dirty="0">
                <a:solidFill>
                  <a:schemeClr val="accent1"/>
                </a:solidFill>
              </a:rPr>
              <a:t>variabile</a:t>
            </a:r>
          </a:p>
          <a:p>
            <a:pPr lvl="1">
              <a:spcBef>
                <a:spcPct val="50000"/>
              </a:spcBef>
              <a:buFont typeface="Arial" pitchFamily="34" charset="0"/>
              <a:buChar char="─"/>
              <a:defRPr/>
            </a:pPr>
            <a:r>
              <a:rPr lang="it-IT" dirty="0"/>
              <a:t>una variabile è un “contenitore” che può memorizzare un valore di un certo tipo, detto il </a:t>
            </a:r>
            <a:r>
              <a:rPr lang="it-IT" u="sng" dirty="0">
                <a:solidFill>
                  <a:schemeClr val="accent1"/>
                </a:solidFill>
              </a:rPr>
              <a:t>tipo della variabile</a:t>
            </a:r>
            <a:r>
              <a:rPr lang="it-IT" dirty="0"/>
              <a:t> (esattamente come per gli attributi)</a:t>
            </a:r>
          </a:p>
          <a:p>
            <a:pPr lvl="1">
              <a:spcBef>
                <a:spcPct val="50000"/>
              </a:spcBef>
              <a:buFont typeface="Arial" pitchFamily="34" charset="0"/>
              <a:buChar char="─"/>
              <a:defRPr/>
            </a:pPr>
            <a:r>
              <a:rPr lang="it-IT" dirty="0"/>
              <a:t>il valore di una variabile può cambiare nel tempo, ma il suo tipo rimane sempre lo stesso</a:t>
            </a:r>
          </a:p>
          <a:p>
            <a:endParaRPr lang="it-IT" sz="2600" u="sng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it-IT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Variabili riferimento</a:t>
            </a:r>
          </a:p>
        </p:txBody>
      </p:sp>
      <p:sp>
        <p:nvSpPr>
          <p:cNvPr id="33795" name="Line 3"/>
          <p:cNvSpPr>
            <a:spLocks noChangeShapeType="1"/>
          </p:cNvSpPr>
          <p:nvPr/>
        </p:nvSpPr>
        <p:spPr bwMode="auto">
          <a:xfrm>
            <a:off x="609600" y="1219200"/>
            <a:ext cx="78486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609600" y="1600200"/>
            <a:ext cx="7772400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it-IT" sz="2800" dirty="0"/>
              <a:t> Le variabili che permettono di memorizzare il riferimento ad un oggetto di una classe si chiamano </a:t>
            </a:r>
            <a:r>
              <a:rPr lang="it-IT" sz="2800" u="sng" dirty="0">
                <a:solidFill>
                  <a:schemeClr val="accent1"/>
                </a:solidFill>
              </a:rPr>
              <a:t>variabili riferimento</a:t>
            </a:r>
          </a:p>
          <a:p>
            <a:pPr marL="457200" lvl="2">
              <a:spcBef>
                <a:spcPct val="50000"/>
              </a:spcBef>
              <a:buFont typeface="Arial" pitchFamily="34" charset="0"/>
              <a:buChar char="─"/>
              <a:defRPr/>
            </a:pPr>
            <a:r>
              <a:rPr lang="it-IT" sz="2400" dirty="0"/>
              <a:t> il tipo di una variabile riferimento è la classe degli oggetti che la variabile può referenziare</a:t>
            </a:r>
          </a:p>
          <a:p>
            <a:pPr marL="457200" lvl="2">
              <a:spcBef>
                <a:spcPct val="50000"/>
              </a:spcBef>
              <a:buFont typeface="Arial" pitchFamily="34" charset="0"/>
              <a:buChar char="─"/>
              <a:defRPr/>
            </a:pPr>
            <a:r>
              <a:rPr lang="it-IT" sz="2400" dirty="0"/>
              <a:t> il valore di una variabile riferimento è il riferimento (indirizzo) ad un oggetto del tipo della variabile</a:t>
            </a:r>
            <a:endParaRPr lang="it-IT" sz="2400" u="sng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it-IT" sz="40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Definizione di variabili riferimento</a:t>
            </a:r>
          </a:p>
        </p:txBody>
      </p:sp>
      <p:sp>
        <p:nvSpPr>
          <p:cNvPr id="34819" name="Line 3"/>
          <p:cNvSpPr>
            <a:spLocks noChangeShapeType="1"/>
          </p:cNvSpPr>
          <p:nvPr/>
        </p:nvSpPr>
        <p:spPr bwMode="auto">
          <a:xfrm>
            <a:off x="609600" y="1219200"/>
            <a:ext cx="78486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61444" name="Text Box 4"/>
          <p:cNvSpPr txBox="1">
            <a:spLocks noChangeArrowheads="1"/>
          </p:cNvSpPr>
          <p:nvPr/>
        </p:nvSpPr>
        <p:spPr bwMode="auto">
          <a:xfrm>
            <a:off x="609600" y="1600200"/>
            <a:ext cx="7772400" cy="137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it-IT" sz="2800" dirty="0"/>
              <a:t> Una variabile riferimento si definisce specificando il suo tipo (il nome di una classe) ed il suo nome</a:t>
            </a:r>
            <a:endParaRPr lang="it-IT" sz="2800" u="sng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445" name="Text Box 5"/>
          <p:cNvSpPr txBox="1">
            <a:spLocks noChangeArrowheads="1"/>
          </p:cNvSpPr>
          <p:nvPr/>
        </p:nvSpPr>
        <p:spPr bwMode="auto">
          <a:xfrm>
            <a:off x="609600" y="3505200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 algn="ctr">
              <a:spcBef>
                <a:spcPct val="50000"/>
              </a:spcBef>
              <a:defRPr/>
            </a:pPr>
            <a:r>
              <a:rPr lang="it-IT" sz="2400" dirty="0">
                <a:solidFill>
                  <a:schemeClr val="accent2"/>
                </a:solidFill>
              </a:rPr>
              <a:t> </a:t>
            </a:r>
            <a:r>
              <a:rPr lang="it-IT" sz="2400" i="1" dirty="0" err="1">
                <a:solidFill>
                  <a:schemeClr val="accent2"/>
                </a:solidFill>
              </a:rPr>
              <a:t>OutputWindow</a:t>
            </a:r>
            <a:r>
              <a:rPr lang="it-IT" sz="2400" dirty="0">
                <a:solidFill>
                  <a:schemeClr val="accent2"/>
                </a:solidFill>
              </a:rPr>
              <a:t> </a:t>
            </a:r>
            <a:r>
              <a:rPr lang="it-IT" sz="2400" i="1" dirty="0">
                <a:solidFill>
                  <a:schemeClr val="accent2"/>
                </a:solidFill>
              </a:rPr>
              <a:t>out</a:t>
            </a:r>
            <a:endParaRPr lang="it-IT" sz="2400" i="1" u="sng" dirty="0">
              <a:solidFill>
                <a:schemeClr val="accent2"/>
              </a:solidFill>
            </a:endParaRPr>
          </a:p>
        </p:txBody>
      </p:sp>
      <p:sp>
        <p:nvSpPr>
          <p:cNvPr id="34822" name="Line 7"/>
          <p:cNvSpPr>
            <a:spLocks noChangeShapeType="1"/>
          </p:cNvSpPr>
          <p:nvPr/>
        </p:nvSpPr>
        <p:spPr bwMode="auto">
          <a:xfrm flipV="1">
            <a:off x="2895600" y="3962400"/>
            <a:ext cx="1143000" cy="114300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34823" name="Text Box 8"/>
          <p:cNvSpPr txBox="1">
            <a:spLocks noChangeArrowheads="1"/>
          </p:cNvSpPr>
          <p:nvPr/>
        </p:nvSpPr>
        <p:spPr bwMode="auto">
          <a:xfrm>
            <a:off x="1331640" y="5105400"/>
            <a:ext cx="270696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 sz="2000" dirty="0"/>
              <a:t>tipo della variabile</a:t>
            </a:r>
          </a:p>
        </p:txBody>
      </p:sp>
      <p:sp>
        <p:nvSpPr>
          <p:cNvPr id="34824" name="Text Box 9"/>
          <p:cNvSpPr txBox="1">
            <a:spLocks noChangeArrowheads="1"/>
          </p:cNvSpPr>
          <p:nvPr/>
        </p:nvSpPr>
        <p:spPr bwMode="auto">
          <a:xfrm>
            <a:off x="4788024" y="5105400"/>
            <a:ext cx="26349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 sz="2000" dirty="0"/>
              <a:t>nome della variabile</a:t>
            </a:r>
          </a:p>
        </p:txBody>
      </p:sp>
      <p:sp>
        <p:nvSpPr>
          <p:cNvPr id="34825" name="Line 10"/>
          <p:cNvSpPr>
            <a:spLocks noChangeShapeType="1"/>
          </p:cNvSpPr>
          <p:nvPr/>
        </p:nvSpPr>
        <p:spPr bwMode="auto">
          <a:xfrm flipH="1" flipV="1">
            <a:off x="5715000" y="3962400"/>
            <a:ext cx="304800" cy="114300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it-IT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Assegnamento di valori</a:t>
            </a:r>
          </a:p>
        </p:txBody>
      </p:sp>
      <p:sp>
        <p:nvSpPr>
          <p:cNvPr id="35843" name="Line 3"/>
          <p:cNvSpPr>
            <a:spLocks noChangeShapeType="1"/>
          </p:cNvSpPr>
          <p:nvPr/>
        </p:nvSpPr>
        <p:spPr bwMode="auto">
          <a:xfrm>
            <a:off x="609600" y="1219200"/>
            <a:ext cx="78486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609600" y="1600200"/>
            <a:ext cx="7772400" cy="137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it-IT" sz="2800" dirty="0"/>
              <a:t> Per assegnare un valore ad una variabile riferimento si deve usare il simbolo “</a:t>
            </a:r>
            <a:r>
              <a:rPr lang="it-IT" sz="2800" i="1" dirty="0">
                <a:solidFill>
                  <a:schemeClr val="accent2"/>
                </a:solidFill>
              </a:rPr>
              <a:t>=</a:t>
            </a:r>
            <a:r>
              <a:rPr lang="it-IT" sz="2800" dirty="0"/>
              <a:t>” (</a:t>
            </a:r>
            <a:r>
              <a:rPr lang="it-IT" sz="2800" u="sng" dirty="0">
                <a:solidFill>
                  <a:schemeClr val="accent1"/>
                </a:solidFill>
              </a:rPr>
              <a:t>operatore di assegnazione</a:t>
            </a:r>
            <a:r>
              <a:rPr lang="it-IT" sz="2800" dirty="0"/>
              <a:t>)</a:t>
            </a:r>
            <a:endParaRPr lang="it-IT" sz="2800" u="sng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2469" name="Text Box 5"/>
          <p:cNvSpPr txBox="1">
            <a:spLocks noChangeArrowheads="1"/>
          </p:cNvSpPr>
          <p:nvPr/>
        </p:nvSpPr>
        <p:spPr bwMode="auto">
          <a:xfrm>
            <a:off x="609600" y="3505200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 algn="ctr">
              <a:spcBef>
                <a:spcPct val="50000"/>
              </a:spcBef>
              <a:defRPr/>
            </a:pPr>
            <a:r>
              <a:rPr lang="it-IT" sz="2400" i="1" dirty="0">
                <a:solidFill>
                  <a:schemeClr val="accent2"/>
                </a:solidFill>
              </a:rPr>
              <a:t>out = &lt;un riferimento </a:t>
            </a:r>
            <a:r>
              <a:rPr lang="it-IT" sz="2400" i="1" dirty="0" err="1">
                <a:solidFill>
                  <a:schemeClr val="accent2"/>
                </a:solidFill>
              </a:rPr>
              <a:t>OutputWindow</a:t>
            </a:r>
            <a:r>
              <a:rPr lang="it-IT" sz="2400" i="1" dirty="0">
                <a:solidFill>
                  <a:schemeClr val="accent2"/>
                </a:solidFill>
              </a:rPr>
              <a:t>&gt;</a:t>
            </a:r>
            <a:endParaRPr lang="it-IT" sz="2400" i="1" u="sng" dirty="0">
              <a:solidFill>
                <a:schemeClr val="accent2"/>
              </a:solidFill>
            </a:endParaRPr>
          </a:p>
        </p:txBody>
      </p:sp>
      <p:sp>
        <p:nvSpPr>
          <p:cNvPr id="35846" name="Line 6"/>
          <p:cNvSpPr>
            <a:spLocks noChangeShapeType="1"/>
          </p:cNvSpPr>
          <p:nvPr/>
        </p:nvSpPr>
        <p:spPr bwMode="auto">
          <a:xfrm flipV="1">
            <a:off x="1905000" y="3933056"/>
            <a:ext cx="578768" cy="1019944"/>
          </a:xfrm>
          <a:prstGeom prst="line">
            <a:avLst/>
          </a:prstGeom>
          <a:noFill/>
          <a:ln w="9525">
            <a:solidFill>
              <a:schemeClr val="accent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35847" name="Text Box 7"/>
          <p:cNvSpPr txBox="1">
            <a:spLocks noChangeArrowheads="1"/>
          </p:cNvSpPr>
          <p:nvPr/>
        </p:nvSpPr>
        <p:spPr bwMode="auto">
          <a:xfrm>
            <a:off x="762000" y="4953000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 sz="2000" dirty="0"/>
              <a:t>nome della variabile</a:t>
            </a:r>
          </a:p>
        </p:txBody>
      </p:sp>
      <p:sp>
        <p:nvSpPr>
          <p:cNvPr id="35848" name="Text Box 8"/>
          <p:cNvSpPr txBox="1">
            <a:spLocks noChangeArrowheads="1"/>
          </p:cNvSpPr>
          <p:nvPr/>
        </p:nvSpPr>
        <p:spPr bwMode="auto">
          <a:xfrm>
            <a:off x="5105400" y="5105400"/>
            <a:ext cx="2209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 sz="2000"/>
              <a:t>valore assegnato alla variabile</a:t>
            </a:r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5105400" y="3962400"/>
            <a:ext cx="914400" cy="114300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3"/>
          <p:cNvSpPr>
            <a:spLocks noChangeArrowheads="1"/>
          </p:cNvSpPr>
          <p:nvPr/>
        </p:nvSpPr>
        <p:spPr bwMode="auto">
          <a:xfrm>
            <a:off x="533400" y="4343400"/>
            <a:ext cx="7848600" cy="2286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36867" name="Text Box 14"/>
          <p:cNvSpPr txBox="1">
            <a:spLocks noChangeArrowheads="1"/>
          </p:cNvSpPr>
          <p:nvPr/>
        </p:nvSpPr>
        <p:spPr bwMode="auto">
          <a:xfrm>
            <a:off x="609600" y="4419600"/>
            <a:ext cx="1752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RAM</a:t>
            </a:r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it-IT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Variabili riferimento e memoria</a:t>
            </a:r>
          </a:p>
        </p:txBody>
      </p:sp>
      <p:sp>
        <p:nvSpPr>
          <p:cNvPr id="36869" name="Line 3"/>
          <p:cNvSpPr>
            <a:spLocks noChangeShapeType="1"/>
          </p:cNvSpPr>
          <p:nvPr/>
        </p:nvSpPr>
        <p:spPr bwMode="auto">
          <a:xfrm>
            <a:off x="609600" y="1219200"/>
            <a:ext cx="78486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609600" y="1600200"/>
            <a:ext cx="8229600" cy="137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it-IT" sz="2800" dirty="0"/>
              <a:t> Una variabile riferimento ha una zona di memoria (RAM) associata, che serve per memorizzare il suo valore corrente (il riferimento ad un oggetto)</a:t>
            </a:r>
            <a:endParaRPr lang="it-IT" sz="2800" u="sng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28" name="Gruppo 27"/>
          <p:cNvGrpSpPr/>
          <p:nvPr/>
        </p:nvGrpSpPr>
        <p:grpSpPr>
          <a:xfrm>
            <a:off x="3817938" y="3505200"/>
            <a:ext cx="3397597" cy="2851151"/>
            <a:chOff x="3817938" y="3505200"/>
            <a:chExt cx="3397597" cy="2851151"/>
          </a:xfrm>
        </p:grpSpPr>
        <p:sp>
          <p:nvSpPr>
            <p:cNvPr id="63503" name="Rectangle 15"/>
            <p:cNvSpPr>
              <a:spLocks noChangeArrowheads="1"/>
            </p:cNvSpPr>
            <p:nvPr/>
          </p:nvSpPr>
          <p:spPr bwMode="auto">
            <a:xfrm>
              <a:off x="3817938" y="3505200"/>
              <a:ext cx="339759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it-IT" sz="2400" dirty="0">
                  <a:solidFill>
                    <a:schemeClr val="accent2"/>
                  </a:solidFill>
                </a:rPr>
                <a:t> </a:t>
              </a:r>
              <a:r>
                <a:rPr lang="it-IT" sz="2400" i="1" dirty="0">
                  <a:solidFill>
                    <a:schemeClr val="accent2"/>
                  </a:solidFill>
                </a:rPr>
                <a:t>  </a:t>
              </a:r>
              <a:r>
                <a:rPr lang="it-IT" sz="2400" i="1" dirty="0" err="1">
                  <a:solidFill>
                    <a:schemeClr val="accent2"/>
                  </a:solidFill>
                </a:rPr>
                <a:t>new</a:t>
              </a:r>
              <a:r>
                <a:rPr lang="it-IT" sz="2400" i="1" dirty="0">
                  <a:solidFill>
                    <a:schemeClr val="accent2"/>
                  </a:solidFill>
                </a:rPr>
                <a:t> </a:t>
              </a:r>
              <a:r>
                <a:rPr lang="it-IT" sz="2400" i="1" dirty="0" err="1">
                  <a:solidFill>
                    <a:schemeClr val="accent2"/>
                  </a:solidFill>
                </a:rPr>
                <a:t>OutputWindow</a:t>
              </a:r>
              <a:r>
                <a:rPr lang="it-IT" sz="2400" i="1" dirty="0">
                  <a:solidFill>
                    <a:schemeClr val="accent2"/>
                  </a:solidFill>
                </a:rPr>
                <a:t> ()</a:t>
              </a:r>
            </a:p>
          </p:txBody>
        </p:sp>
        <p:grpSp>
          <p:nvGrpSpPr>
            <p:cNvPr id="27" name="Gruppo 26"/>
            <p:cNvGrpSpPr/>
            <p:nvPr/>
          </p:nvGrpSpPr>
          <p:grpSpPr>
            <a:xfrm>
              <a:off x="4267200" y="4572362"/>
              <a:ext cx="2895600" cy="1783989"/>
              <a:chOff x="4267200" y="4572362"/>
              <a:chExt cx="2895600" cy="1783989"/>
            </a:xfrm>
          </p:grpSpPr>
          <p:sp>
            <p:nvSpPr>
              <p:cNvPr id="36884" name="Rectangle 21"/>
              <p:cNvSpPr>
                <a:spLocks noChangeArrowheads="1"/>
              </p:cNvSpPr>
              <p:nvPr/>
            </p:nvSpPr>
            <p:spPr bwMode="auto">
              <a:xfrm>
                <a:off x="4953000" y="4592638"/>
                <a:ext cx="2209800" cy="176371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6" name="Rectangle 21"/>
              <p:cNvSpPr>
                <a:spLocks noChangeArrowheads="1"/>
              </p:cNvSpPr>
              <p:nvPr/>
            </p:nvSpPr>
            <p:spPr bwMode="auto">
              <a:xfrm>
                <a:off x="4955241" y="4572362"/>
                <a:ext cx="2195710" cy="39727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36883" name="Text Box 18"/>
              <p:cNvSpPr txBox="1">
                <a:spLocks noChangeArrowheads="1"/>
              </p:cNvSpPr>
              <p:nvPr/>
            </p:nvSpPr>
            <p:spPr bwMode="auto">
              <a:xfrm>
                <a:off x="4267200" y="4606926"/>
                <a:ext cx="609600" cy="376238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it-IT"/>
                  <a:t>X</a:t>
                </a:r>
              </a:p>
            </p:txBody>
          </p:sp>
          <p:sp>
            <p:nvSpPr>
              <p:cNvPr id="36885" name="Text Box 22"/>
              <p:cNvSpPr txBox="1">
                <a:spLocks noChangeArrowheads="1"/>
              </p:cNvSpPr>
              <p:nvPr/>
            </p:nvSpPr>
            <p:spPr bwMode="auto">
              <a:xfrm>
                <a:off x="5041900" y="5583238"/>
                <a:ext cx="2032000" cy="5810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it-IT" sz="1600"/>
                  <a:t>void write(String s)</a:t>
                </a:r>
                <a:br>
                  <a:rPr lang="it-IT" sz="1600"/>
                </a:br>
                <a:r>
                  <a:rPr lang="it-IT" sz="1600"/>
                  <a:t>…..</a:t>
                </a:r>
              </a:p>
            </p:txBody>
          </p:sp>
          <p:sp>
            <p:nvSpPr>
              <p:cNvPr id="36886" name="Text Box 23"/>
              <p:cNvSpPr txBox="1">
                <a:spLocks noChangeArrowheads="1"/>
              </p:cNvSpPr>
              <p:nvPr/>
            </p:nvSpPr>
            <p:spPr bwMode="auto">
              <a:xfrm>
                <a:off x="5041900" y="5062538"/>
                <a:ext cx="1944688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it-IT"/>
                  <a:t>……</a:t>
                </a:r>
              </a:p>
            </p:txBody>
          </p:sp>
          <p:sp>
            <p:nvSpPr>
              <p:cNvPr id="36887" name="Line 24"/>
              <p:cNvSpPr>
                <a:spLocks noChangeShapeType="1"/>
              </p:cNvSpPr>
              <p:nvPr/>
            </p:nvSpPr>
            <p:spPr bwMode="auto">
              <a:xfrm>
                <a:off x="4953000" y="5583238"/>
                <a:ext cx="2209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6888" name="Text Box 25"/>
              <p:cNvSpPr txBox="1">
                <a:spLocks noChangeArrowheads="1"/>
              </p:cNvSpPr>
              <p:nvPr/>
            </p:nvSpPr>
            <p:spPr bwMode="auto">
              <a:xfrm>
                <a:off x="5011738" y="4605338"/>
                <a:ext cx="2120900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it-IT" u="sng"/>
                  <a:t>…:OutputWindo</a:t>
                </a:r>
                <a:r>
                  <a:rPr lang="it-IT"/>
                  <a:t>w</a:t>
                </a:r>
              </a:p>
            </p:txBody>
          </p:sp>
          <p:sp>
            <p:nvSpPr>
              <p:cNvPr id="36889" name="Line 26"/>
              <p:cNvSpPr>
                <a:spLocks noChangeShapeType="1"/>
              </p:cNvSpPr>
              <p:nvPr/>
            </p:nvSpPr>
            <p:spPr bwMode="auto">
              <a:xfrm>
                <a:off x="4953000" y="4973638"/>
                <a:ext cx="2209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</p:grp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609600" y="3505200"/>
            <a:ext cx="3352800" cy="2133600"/>
            <a:chOff x="384" y="2208"/>
            <a:chExt cx="2112" cy="1344"/>
          </a:xfrm>
        </p:grpSpPr>
        <p:sp>
          <p:nvSpPr>
            <p:cNvPr id="63499" name="Text Box 11"/>
            <p:cNvSpPr txBox="1">
              <a:spLocks noChangeArrowheads="1"/>
            </p:cNvSpPr>
            <p:nvPr/>
          </p:nvSpPr>
          <p:spPr bwMode="auto">
            <a:xfrm>
              <a:off x="384" y="2208"/>
              <a:ext cx="21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lvl="1">
                <a:spcBef>
                  <a:spcPct val="50000"/>
                </a:spcBef>
                <a:defRPr/>
              </a:pPr>
              <a:r>
                <a:rPr lang="it-IT" sz="2400" dirty="0">
                  <a:solidFill>
                    <a:schemeClr val="accent2"/>
                  </a:solidFill>
                </a:rPr>
                <a:t> </a:t>
              </a:r>
              <a:r>
                <a:rPr lang="it-IT" sz="2400" i="1" dirty="0" err="1">
                  <a:solidFill>
                    <a:schemeClr val="accent2"/>
                  </a:solidFill>
                </a:rPr>
                <a:t>OutputWindow</a:t>
              </a:r>
              <a:r>
                <a:rPr lang="it-IT" sz="2400" dirty="0">
                  <a:solidFill>
                    <a:schemeClr val="accent2"/>
                  </a:solidFill>
                </a:rPr>
                <a:t> </a:t>
              </a:r>
              <a:r>
                <a:rPr lang="it-IT" sz="2400" i="1" dirty="0">
                  <a:solidFill>
                    <a:schemeClr val="accent2"/>
                  </a:solidFill>
                </a:rPr>
                <a:t>out </a:t>
              </a:r>
              <a:endParaRPr lang="it-IT" sz="2400" i="1" u="sng" dirty="0">
                <a:solidFill>
                  <a:schemeClr val="accent2"/>
                </a:solidFill>
              </a:endParaRPr>
            </a:p>
          </p:txBody>
        </p:sp>
        <p:sp>
          <p:nvSpPr>
            <p:cNvPr id="36879" name="Rectangle 10"/>
            <p:cNvSpPr>
              <a:spLocks noChangeArrowheads="1"/>
            </p:cNvSpPr>
            <p:nvPr/>
          </p:nvSpPr>
          <p:spPr bwMode="auto">
            <a:xfrm>
              <a:off x="1008" y="3264"/>
              <a:ext cx="33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it-IT"/>
            </a:p>
          </p:txBody>
        </p:sp>
        <p:sp>
          <p:nvSpPr>
            <p:cNvPr id="36880" name="Text Box 12"/>
            <p:cNvSpPr txBox="1">
              <a:spLocks noChangeArrowheads="1"/>
            </p:cNvSpPr>
            <p:nvPr/>
          </p:nvSpPr>
          <p:spPr bwMode="auto">
            <a:xfrm>
              <a:off x="656" y="3264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it-IT"/>
                <a:t>out</a:t>
              </a:r>
            </a:p>
          </p:txBody>
        </p:sp>
      </p:grpSp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1600200" y="3505200"/>
            <a:ext cx="2590800" cy="2133600"/>
            <a:chOff x="1008" y="2208"/>
            <a:chExt cx="1632" cy="1344"/>
          </a:xfrm>
        </p:grpSpPr>
        <p:grpSp>
          <p:nvGrpSpPr>
            <p:cNvPr id="6" name="Group 31"/>
            <p:cNvGrpSpPr>
              <a:grpSpLocks/>
            </p:cNvGrpSpPr>
            <p:nvPr/>
          </p:nvGrpSpPr>
          <p:grpSpPr bwMode="auto">
            <a:xfrm>
              <a:off x="1008" y="2998"/>
              <a:ext cx="1580" cy="554"/>
              <a:chOff x="1008" y="2998"/>
              <a:chExt cx="1580" cy="554"/>
            </a:xfrm>
          </p:grpSpPr>
          <p:sp>
            <p:nvSpPr>
              <p:cNvPr id="36876" name="Rectangle 29"/>
              <p:cNvSpPr>
                <a:spLocks noChangeArrowheads="1"/>
              </p:cNvSpPr>
              <p:nvPr/>
            </p:nvSpPr>
            <p:spPr bwMode="auto">
              <a:xfrm>
                <a:off x="1008" y="3264"/>
                <a:ext cx="336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it-IT"/>
                  <a:t>X</a:t>
                </a:r>
              </a:p>
            </p:txBody>
          </p:sp>
          <p:sp>
            <p:nvSpPr>
              <p:cNvPr id="36877" name="Line 30"/>
              <p:cNvSpPr>
                <a:spLocks noChangeShapeType="1"/>
              </p:cNvSpPr>
              <p:nvPr/>
            </p:nvSpPr>
            <p:spPr bwMode="auto">
              <a:xfrm flipV="1">
                <a:off x="1344" y="2998"/>
                <a:ext cx="1244" cy="4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it-IT"/>
              </a:p>
            </p:txBody>
          </p:sp>
        </p:grpSp>
        <p:sp>
          <p:nvSpPr>
            <p:cNvPr id="63523" name="Text Box 35"/>
            <p:cNvSpPr txBox="1">
              <a:spLocks noChangeArrowheads="1"/>
            </p:cNvSpPr>
            <p:nvPr/>
          </p:nvSpPr>
          <p:spPr bwMode="auto">
            <a:xfrm>
              <a:off x="2352" y="2208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it-IT" sz="2400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=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it-IT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Variabili riferimento e memoria</a:t>
            </a:r>
          </a:p>
        </p:txBody>
      </p:sp>
      <p:sp>
        <p:nvSpPr>
          <p:cNvPr id="36869" name="Line 3"/>
          <p:cNvSpPr>
            <a:spLocks noChangeShapeType="1"/>
          </p:cNvSpPr>
          <p:nvPr/>
        </p:nvSpPr>
        <p:spPr bwMode="auto">
          <a:xfrm>
            <a:off x="609600" y="1219200"/>
            <a:ext cx="78486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609600" y="1600200"/>
            <a:ext cx="8229600" cy="187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it-IT" sz="2800" dirty="0"/>
              <a:t> Una variabile riferimento può essere usata nel programma per indicare l’oggetto che referenzia; </a:t>
            </a:r>
          </a:p>
          <a:p>
            <a:pPr lvl="1">
              <a:spcBef>
                <a:spcPct val="50000"/>
              </a:spcBef>
              <a:buFont typeface="Arial" pitchFamily="34" charset="0"/>
              <a:buChar char="─"/>
              <a:defRPr/>
            </a:pPr>
            <a:r>
              <a:rPr lang="it-IT" sz="2400" dirty="0"/>
              <a:t> il nome della variabile può essere pensato come </a:t>
            </a:r>
            <a:br>
              <a:rPr lang="it-IT" sz="2400" dirty="0"/>
            </a:br>
            <a:r>
              <a:rPr lang="it-IT" sz="2400" dirty="0"/>
              <a:t>un </a:t>
            </a:r>
            <a:r>
              <a:rPr lang="it-IT" sz="2400" u="sng" dirty="0">
                <a:solidFill>
                  <a:srgbClr val="0000FF"/>
                </a:solidFill>
              </a:rPr>
              <a:t>nome dell’oggetto</a:t>
            </a:r>
          </a:p>
        </p:txBody>
      </p:sp>
      <p:grpSp>
        <p:nvGrpSpPr>
          <p:cNvPr id="2" name="Gruppo 27"/>
          <p:cNvGrpSpPr/>
          <p:nvPr/>
        </p:nvGrpSpPr>
        <p:grpSpPr>
          <a:xfrm>
            <a:off x="3817938" y="3505200"/>
            <a:ext cx="3397597" cy="2851151"/>
            <a:chOff x="3817938" y="3505200"/>
            <a:chExt cx="3397597" cy="2851151"/>
          </a:xfrm>
        </p:grpSpPr>
        <p:sp>
          <p:nvSpPr>
            <p:cNvPr id="63503" name="Rectangle 15"/>
            <p:cNvSpPr>
              <a:spLocks noChangeArrowheads="1"/>
            </p:cNvSpPr>
            <p:nvPr/>
          </p:nvSpPr>
          <p:spPr bwMode="auto">
            <a:xfrm>
              <a:off x="3817938" y="3505200"/>
              <a:ext cx="339759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it-IT" sz="2400" dirty="0">
                  <a:solidFill>
                    <a:schemeClr val="accent2"/>
                  </a:solidFill>
                </a:rPr>
                <a:t> </a:t>
              </a:r>
              <a:r>
                <a:rPr lang="it-IT" sz="2400" i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</a:t>
              </a:r>
              <a:r>
                <a:rPr lang="it-IT" sz="2400" i="1" dirty="0" err="1">
                  <a:solidFill>
                    <a:schemeClr val="accent2"/>
                  </a:solidFill>
                </a:rPr>
                <a:t>new</a:t>
              </a:r>
              <a:r>
                <a:rPr lang="it-IT" sz="2400" i="1" dirty="0">
                  <a:solidFill>
                    <a:schemeClr val="accent2"/>
                  </a:solidFill>
                </a:rPr>
                <a:t> </a:t>
              </a:r>
              <a:r>
                <a:rPr lang="it-IT" sz="2400" i="1" dirty="0" err="1">
                  <a:solidFill>
                    <a:schemeClr val="accent2"/>
                  </a:solidFill>
                </a:rPr>
                <a:t>OutputWindow</a:t>
              </a:r>
              <a:r>
                <a:rPr lang="it-IT" sz="2400" i="1" dirty="0">
                  <a:solidFill>
                    <a:schemeClr val="accent2"/>
                  </a:solidFill>
                </a:rPr>
                <a:t> ()</a:t>
              </a:r>
            </a:p>
          </p:txBody>
        </p:sp>
        <p:grpSp>
          <p:nvGrpSpPr>
            <p:cNvPr id="3" name="Gruppo 26"/>
            <p:cNvGrpSpPr/>
            <p:nvPr/>
          </p:nvGrpSpPr>
          <p:grpSpPr>
            <a:xfrm>
              <a:off x="4267200" y="4572362"/>
              <a:ext cx="2895600" cy="1783989"/>
              <a:chOff x="4267200" y="4572362"/>
              <a:chExt cx="2895600" cy="1783989"/>
            </a:xfrm>
          </p:grpSpPr>
          <p:sp>
            <p:nvSpPr>
              <p:cNvPr id="36884" name="Rectangle 21"/>
              <p:cNvSpPr>
                <a:spLocks noChangeArrowheads="1"/>
              </p:cNvSpPr>
              <p:nvPr/>
            </p:nvSpPr>
            <p:spPr bwMode="auto">
              <a:xfrm>
                <a:off x="4953000" y="4592638"/>
                <a:ext cx="2209800" cy="176371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6" name="Rectangle 21"/>
              <p:cNvSpPr>
                <a:spLocks noChangeArrowheads="1"/>
              </p:cNvSpPr>
              <p:nvPr/>
            </p:nvSpPr>
            <p:spPr bwMode="auto">
              <a:xfrm>
                <a:off x="4955241" y="4572362"/>
                <a:ext cx="2195710" cy="39727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36883" name="Text Box 18"/>
              <p:cNvSpPr txBox="1">
                <a:spLocks noChangeArrowheads="1"/>
              </p:cNvSpPr>
              <p:nvPr/>
            </p:nvSpPr>
            <p:spPr bwMode="auto">
              <a:xfrm>
                <a:off x="4267200" y="4606926"/>
                <a:ext cx="609600" cy="376238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it-IT"/>
                  <a:t>X</a:t>
                </a:r>
              </a:p>
            </p:txBody>
          </p:sp>
          <p:sp>
            <p:nvSpPr>
              <p:cNvPr id="36885" name="Text Box 22"/>
              <p:cNvSpPr txBox="1">
                <a:spLocks noChangeArrowheads="1"/>
              </p:cNvSpPr>
              <p:nvPr/>
            </p:nvSpPr>
            <p:spPr bwMode="auto">
              <a:xfrm>
                <a:off x="5041900" y="5583238"/>
                <a:ext cx="2032000" cy="5810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it-IT" sz="1600"/>
                  <a:t>void write(String s)</a:t>
                </a:r>
                <a:br>
                  <a:rPr lang="it-IT" sz="1600"/>
                </a:br>
                <a:r>
                  <a:rPr lang="it-IT" sz="1600"/>
                  <a:t>…..</a:t>
                </a:r>
              </a:p>
            </p:txBody>
          </p:sp>
          <p:sp>
            <p:nvSpPr>
              <p:cNvPr id="36886" name="Text Box 23"/>
              <p:cNvSpPr txBox="1">
                <a:spLocks noChangeArrowheads="1"/>
              </p:cNvSpPr>
              <p:nvPr/>
            </p:nvSpPr>
            <p:spPr bwMode="auto">
              <a:xfrm>
                <a:off x="5041900" y="5062538"/>
                <a:ext cx="1944688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it-IT"/>
                  <a:t>……</a:t>
                </a:r>
              </a:p>
            </p:txBody>
          </p:sp>
          <p:sp>
            <p:nvSpPr>
              <p:cNvPr id="36887" name="Line 24"/>
              <p:cNvSpPr>
                <a:spLocks noChangeShapeType="1"/>
              </p:cNvSpPr>
              <p:nvPr/>
            </p:nvSpPr>
            <p:spPr bwMode="auto">
              <a:xfrm>
                <a:off x="4953000" y="5583238"/>
                <a:ext cx="2209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6888" name="Text Box 25"/>
              <p:cNvSpPr txBox="1">
                <a:spLocks noChangeArrowheads="1"/>
              </p:cNvSpPr>
              <p:nvPr/>
            </p:nvSpPr>
            <p:spPr bwMode="auto">
              <a:xfrm>
                <a:off x="5011738" y="4605338"/>
                <a:ext cx="2120900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it-IT" u="sng" dirty="0"/>
                  <a:t>out:</a:t>
                </a:r>
                <a:r>
                  <a:rPr lang="it-IT" u="sng" dirty="0" err="1"/>
                  <a:t>OutputWindo</a:t>
                </a:r>
                <a:r>
                  <a:rPr lang="it-IT" dirty="0" err="1"/>
                  <a:t>w</a:t>
                </a:r>
                <a:endParaRPr lang="it-IT" dirty="0"/>
              </a:p>
            </p:txBody>
          </p:sp>
          <p:sp>
            <p:nvSpPr>
              <p:cNvPr id="36889" name="Line 26"/>
              <p:cNvSpPr>
                <a:spLocks noChangeShapeType="1"/>
              </p:cNvSpPr>
              <p:nvPr/>
            </p:nvSpPr>
            <p:spPr bwMode="auto">
              <a:xfrm>
                <a:off x="4953000" y="4973638"/>
                <a:ext cx="2209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</p:grp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609600" y="3505200"/>
            <a:ext cx="3352800" cy="2133600"/>
            <a:chOff x="384" y="2208"/>
            <a:chExt cx="2112" cy="1344"/>
          </a:xfrm>
        </p:grpSpPr>
        <p:sp>
          <p:nvSpPr>
            <p:cNvPr id="63499" name="Text Box 11"/>
            <p:cNvSpPr txBox="1">
              <a:spLocks noChangeArrowheads="1"/>
            </p:cNvSpPr>
            <p:nvPr/>
          </p:nvSpPr>
          <p:spPr bwMode="auto">
            <a:xfrm>
              <a:off x="384" y="2208"/>
              <a:ext cx="21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lvl="1">
                <a:spcBef>
                  <a:spcPct val="50000"/>
                </a:spcBef>
                <a:defRPr/>
              </a:pPr>
              <a:r>
                <a:rPr lang="it-IT" sz="2400" dirty="0">
                  <a:solidFill>
                    <a:schemeClr val="accent2"/>
                  </a:solidFill>
                </a:rPr>
                <a:t> </a:t>
              </a:r>
              <a:r>
                <a:rPr lang="it-IT" sz="2400" i="1" dirty="0" err="1">
                  <a:solidFill>
                    <a:schemeClr val="accent2"/>
                  </a:solidFill>
                </a:rPr>
                <a:t>OutputWindow</a:t>
              </a:r>
              <a:r>
                <a:rPr lang="it-IT" sz="2400" dirty="0">
                  <a:solidFill>
                    <a:schemeClr val="accent2"/>
                  </a:solidFill>
                </a:rPr>
                <a:t> </a:t>
              </a:r>
              <a:r>
                <a:rPr lang="it-IT" sz="2400" i="1" dirty="0">
                  <a:solidFill>
                    <a:schemeClr val="accent2"/>
                  </a:solidFill>
                </a:rPr>
                <a:t>out </a:t>
              </a:r>
              <a:endParaRPr lang="it-IT" sz="2400" i="1" u="sng" dirty="0">
                <a:solidFill>
                  <a:schemeClr val="accent2"/>
                </a:solidFill>
              </a:endParaRPr>
            </a:p>
          </p:txBody>
        </p:sp>
        <p:sp>
          <p:nvSpPr>
            <p:cNvPr id="36879" name="Rectangle 10"/>
            <p:cNvSpPr>
              <a:spLocks noChangeArrowheads="1"/>
            </p:cNvSpPr>
            <p:nvPr/>
          </p:nvSpPr>
          <p:spPr bwMode="auto">
            <a:xfrm>
              <a:off x="1008" y="3264"/>
              <a:ext cx="33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it-IT"/>
            </a:p>
          </p:txBody>
        </p:sp>
        <p:sp>
          <p:nvSpPr>
            <p:cNvPr id="36880" name="Text Box 12"/>
            <p:cNvSpPr txBox="1">
              <a:spLocks noChangeArrowheads="1"/>
            </p:cNvSpPr>
            <p:nvPr/>
          </p:nvSpPr>
          <p:spPr bwMode="auto">
            <a:xfrm>
              <a:off x="656" y="3264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it-IT"/>
                <a:t>out</a:t>
              </a:r>
            </a:p>
          </p:txBody>
        </p:sp>
      </p:grpSp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1600200" y="3505200"/>
            <a:ext cx="2590800" cy="2133600"/>
            <a:chOff x="1008" y="2208"/>
            <a:chExt cx="1632" cy="1344"/>
          </a:xfrm>
        </p:grpSpPr>
        <p:grpSp>
          <p:nvGrpSpPr>
            <p:cNvPr id="6" name="Group 31"/>
            <p:cNvGrpSpPr>
              <a:grpSpLocks/>
            </p:cNvGrpSpPr>
            <p:nvPr/>
          </p:nvGrpSpPr>
          <p:grpSpPr bwMode="auto">
            <a:xfrm>
              <a:off x="1008" y="2998"/>
              <a:ext cx="1580" cy="554"/>
              <a:chOff x="1008" y="2998"/>
              <a:chExt cx="1580" cy="554"/>
            </a:xfrm>
          </p:grpSpPr>
          <p:sp>
            <p:nvSpPr>
              <p:cNvPr id="36876" name="Rectangle 29"/>
              <p:cNvSpPr>
                <a:spLocks noChangeArrowheads="1"/>
              </p:cNvSpPr>
              <p:nvPr/>
            </p:nvSpPr>
            <p:spPr bwMode="auto">
              <a:xfrm>
                <a:off x="1008" y="3264"/>
                <a:ext cx="336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it-IT"/>
                  <a:t>X</a:t>
                </a:r>
              </a:p>
            </p:txBody>
          </p:sp>
          <p:sp>
            <p:nvSpPr>
              <p:cNvPr id="36877" name="Line 30"/>
              <p:cNvSpPr>
                <a:spLocks noChangeShapeType="1"/>
              </p:cNvSpPr>
              <p:nvPr/>
            </p:nvSpPr>
            <p:spPr bwMode="auto">
              <a:xfrm flipV="1">
                <a:off x="1344" y="2998"/>
                <a:ext cx="1244" cy="4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it-IT"/>
              </a:p>
            </p:txBody>
          </p:sp>
        </p:grpSp>
        <p:sp>
          <p:nvSpPr>
            <p:cNvPr id="63523" name="Text Box 35"/>
            <p:cNvSpPr txBox="1">
              <a:spLocks noChangeArrowheads="1"/>
            </p:cNvSpPr>
            <p:nvPr/>
          </p:nvSpPr>
          <p:spPr bwMode="auto">
            <a:xfrm>
              <a:off x="2352" y="2208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it-IT" sz="2400" dirty="0">
                  <a:solidFill>
                    <a:schemeClr val="accent2"/>
                  </a:solidFill>
                </a:rPr>
                <a:t>=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Scomposizione di istruzioni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it-IT" sz="2600" dirty="0"/>
              <a:t>Una istruzione composta può essere scomposta in istruzioni più semplici.</a:t>
            </a:r>
          </a:p>
          <a:p>
            <a:r>
              <a:rPr lang="it-IT" sz="2600" dirty="0"/>
              <a:t>Ad esempio, l’istruzione</a:t>
            </a:r>
          </a:p>
          <a:p>
            <a:pPr algn="ctr">
              <a:buNone/>
            </a:pPr>
            <a:r>
              <a:rPr lang="it-IT" sz="2600" i="1" dirty="0" err="1">
                <a:solidFill>
                  <a:schemeClr val="accent2"/>
                </a:solidFill>
              </a:rPr>
              <a:t>OutputWindow</a:t>
            </a:r>
            <a:r>
              <a:rPr lang="it-IT" sz="2600" i="1" dirty="0">
                <a:solidFill>
                  <a:schemeClr val="accent2"/>
                </a:solidFill>
              </a:rPr>
              <a:t> out = </a:t>
            </a:r>
            <a:r>
              <a:rPr lang="it-IT" sz="2600" i="1" dirty="0" err="1">
                <a:solidFill>
                  <a:schemeClr val="accent2"/>
                </a:solidFill>
              </a:rPr>
              <a:t>new</a:t>
            </a:r>
            <a:r>
              <a:rPr lang="it-IT" sz="2600" i="1" dirty="0">
                <a:solidFill>
                  <a:schemeClr val="accent2"/>
                </a:solidFill>
              </a:rPr>
              <a:t> </a:t>
            </a:r>
            <a:r>
              <a:rPr lang="it-IT" sz="2600" i="1" dirty="0" err="1">
                <a:solidFill>
                  <a:schemeClr val="accent2"/>
                </a:solidFill>
              </a:rPr>
              <a:t>OutputWindow</a:t>
            </a:r>
            <a:r>
              <a:rPr lang="it-IT" sz="2600" i="1" dirty="0">
                <a:solidFill>
                  <a:schemeClr val="accent2"/>
                </a:solidFill>
              </a:rPr>
              <a:t>();</a:t>
            </a:r>
          </a:p>
          <a:p>
            <a:pPr>
              <a:buNone/>
            </a:pPr>
            <a:r>
              <a:rPr lang="it-IT" sz="2600" i="1" dirty="0">
                <a:solidFill>
                  <a:schemeClr val="accent2"/>
                </a:solidFill>
              </a:rPr>
              <a:t>	</a:t>
            </a:r>
          </a:p>
          <a:p>
            <a:pPr>
              <a:buNone/>
            </a:pPr>
            <a:r>
              <a:rPr lang="it-IT" sz="2600" i="1" dirty="0">
                <a:solidFill>
                  <a:schemeClr val="accent2"/>
                </a:solidFill>
              </a:rPr>
              <a:t>	</a:t>
            </a:r>
            <a:r>
              <a:rPr lang="it-IT" sz="2600" dirty="0"/>
              <a:t>si può riscrivere con due istruzioni semplici:</a:t>
            </a:r>
          </a:p>
          <a:p>
            <a:pPr>
              <a:buNone/>
            </a:pPr>
            <a:r>
              <a:rPr lang="it-IT" sz="2600" i="1" dirty="0"/>
              <a:t>		</a:t>
            </a:r>
            <a:r>
              <a:rPr lang="it-IT" sz="2600" i="1" dirty="0" err="1">
                <a:solidFill>
                  <a:schemeClr val="accent2"/>
                </a:solidFill>
              </a:rPr>
              <a:t>OutputWindow</a:t>
            </a:r>
            <a:r>
              <a:rPr lang="it-IT" sz="2600" i="1" dirty="0">
                <a:solidFill>
                  <a:schemeClr val="accent2"/>
                </a:solidFill>
              </a:rPr>
              <a:t> out;</a:t>
            </a:r>
          </a:p>
          <a:p>
            <a:pPr>
              <a:buNone/>
            </a:pPr>
            <a:r>
              <a:rPr lang="it-IT" sz="2600" i="1" dirty="0">
                <a:solidFill>
                  <a:schemeClr val="accent2"/>
                </a:solidFill>
              </a:rPr>
              <a:t>		out = </a:t>
            </a:r>
            <a:r>
              <a:rPr lang="it-IT" sz="2600" i="1" dirty="0" err="1">
                <a:solidFill>
                  <a:schemeClr val="accent2"/>
                </a:solidFill>
              </a:rPr>
              <a:t>new</a:t>
            </a:r>
            <a:r>
              <a:rPr lang="it-IT" sz="2600" i="1" dirty="0">
                <a:solidFill>
                  <a:schemeClr val="accent2"/>
                </a:solidFill>
              </a:rPr>
              <a:t> </a:t>
            </a:r>
            <a:r>
              <a:rPr lang="it-IT" sz="2600" i="1" dirty="0" err="1">
                <a:solidFill>
                  <a:schemeClr val="accent2"/>
                </a:solidFill>
              </a:rPr>
              <a:t>OutputWindow</a:t>
            </a:r>
            <a:r>
              <a:rPr lang="it-IT" sz="2600" i="1" dirty="0">
                <a:solidFill>
                  <a:schemeClr val="accent2"/>
                </a:solidFill>
              </a:rPr>
              <a:t>();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Invocazione di metodi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611560" y="1484784"/>
            <a:ext cx="7776864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import fond.io.OutputWindow;</a:t>
            </a:r>
          </a:p>
          <a:p>
            <a:pPr>
              <a:spcBef>
                <a:spcPct val="50000"/>
              </a:spcBef>
            </a:pPr>
            <a:endParaRPr lang="it-IT" noProof="1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public class PrimoProg{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/* visualizza "il mio primo programma“ */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public static void main(String[] args){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OutputWindow out = new OutputWindow();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</a:t>
            </a:r>
            <a:r>
              <a:rPr lang="it-IT" b="1" noProof="1">
                <a:solidFill>
                  <a:schemeClr val="accent1"/>
                </a:solidFill>
                <a:latin typeface="Courier New" pitchFamily="49" charset="0"/>
              </a:rPr>
              <a:t>out.write("il mio primo programma");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}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}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539552" y="5157192"/>
            <a:ext cx="83529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L’ultima istruzione del metodo </a:t>
            </a:r>
            <a:r>
              <a:rPr lang="it-IT" sz="2000" i="1" dirty="0" err="1">
                <a:solidFill>
                  <a:schemeClr val="accent2"/>
                </a:solidFill>
              </a:rPr>
              <a:t>main</a:t>
            </a:r>
            <a:r>
              <a:rPr lang="it-IT" sz="2000" dirty="0"/>
              <a:t> è l’invocazione del metodo </a:t>
            </a:r>
            <a:r>
              <a:rPr lang="it-IT" sz="2000" i="1" dirty="0" err="1">
                <a:solidFill>
                  <a:schemeClr val="accent2"/>
                </a:solidFill>
              </a:rPr>
              <a:t>write</a:t>
            </a:r>
            <a:r>
              <a:rPr lang="it-IT" sz="2000" dirty="0"/>
              <a:t> sull’oggetto </a:t>
            </a:r>
            <a:r>
              <a:rPr lang="it-IT" sz="2000" i="1" dirty="0">
                <a:solidFill>
                  <a:schemeClr val="accent2"/>
                </a:solidFill>
              </a:rPr>
              <a:t>out; </a:t>
            </a:r>
            <a:r>
              <a:rPr lang="it-IT" sz="2000" dirty="0"/>
              <a:t>la sintassi generale per invocare un metodo su un oggetto è: </a:t>
            </a:r>
            <a:r>
              <a:rPr lang="it-IT" sz="2000" i="1" dirty="0">
                <a:solidFill>
                  <a:schemeClr val="accent2"/>
                </a:solidFill>
              </a:rPr>
              <a:t>&lt;riferimento oggetto&gt;.&lt;nome metodo&gt;(&lt;parametri attuali&gt;)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Invocazione di metodi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611560" y="1484784"/>
            <a:ext cx="7776864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import fond.io.OutputWindow;</a:t>
            </a:r>
          </a:p>
          <a:p>
            <a:pPr>
              <a:spcBef>
                <a:spcPct val="50000"/>
              </a:spcBef>
            </a:pPr>
            <a:endParaRPr lang="it-IT" noProof="1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public class PrimoProg{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/* visualizza "il mio primo programma“ */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public static void main(String[] args){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OutputWindow out = new OutputWindow();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</a:t>
            </a:r>
            <a:r>
              <a:rPr lang="it-IT" b="1" noProof="1">
                <a:solidFill>
                  <a:schemeClr val="accent1"/>
                </a:solidFill>
                <a:latin typeface="Courier New" pitchFamily="49" charset="0"/>
              </a:rPr>
              <a:t>out.write("il mio primo programma");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}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}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539552" y="5157192"/>
            <a:ext cx="83529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Quando si invoca il metodo </a:t>
            </a:r>
            <a:r>
              <a:rPr lang="it-IT" sz="2000" i="1" dirty="0" err="1">
                <a:solidFill>
                  <a:schemeClr val="accent2"/>
                </a:solidFill>
              </a:rPr>
              <a:t>write</a:t>
            </a:r>
            <a:r>
              <a:rPr lang="it-IT" sz="2000" dirty="0"/>
              <a:t>, gli si passa il riferimento ad un oggetto della classe </a:t>
            </a:r>
            <a:r>
              <a:rPr lang="it-IT" sz="2000" i="1" dirty="0" err="1">
                <a:solidFill>
                  <a:schemeClr val="accent2"/>
                </a:solidFill>
              </a:rPr>
              <a:t>String</a:t>
            </a:r>
            <a:r>
              <a:rPr lang="it-IT" sz="2000" dirty="0"/>
              <a:t>, che come detto rappresenta una qualunque sequenza finita di caratteri</a:t>
            </a:r>
            <a:endParaRPr lang="it-IT" sz="20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Invocazione di metodi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611560" y="1484784"/>
            <a:ext cx="7776864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import fond.io.OutputWindow;</a:t>
            </a:r>
          </a:p>
          <a:p>
            <a:pPr>
              <a:spcBef>
                <a:spcPct val="50000"/>
              </a:spcBef>
            </a:pPr>
            <a:endParaRPr lang="it-IT" noProof="1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public class PrimoProg{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/* visualizza "il mio primo programma“ */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public static void main(String[] args){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OutputWindow out = new OutputWindow();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</a:t>
            </a:r>
            <a:r>
              <a:rPr lang="it-IT" b="1" noProof="1">
                <a:solidFill>
                  <a:schemeClr val="accent1"/>
                </a:solidFill>
                <a:latin typeface="Courier New" pitchFamily="49" charset="0"/>
              </a:rPr>
              <a:t>out.write("il mio primo programma");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}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}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539552" y="5157192"/>
            <a:ext cx="83529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In particolare, in luogo di un parametro di tipo </a:t>
            </a:r>
            <a:r>
              <a:rPr lang="it-IT" sz="2000" i="1" dirty="0" err="1">
                <a:solidFill>
                  <a:schemeClr val="accent2"/>
                </a:solidFill>
              </a:rPr>
              <a:t>String</a:t>
            </a:r>
            <a:r>
              <a:rPr lang="it-IT" sz="2000" i="1" dirty="0">
                <a:solidFill>
                  <a:schemeClr val="accent2"/>
                </a:solidFill>
              </a:rPr>
              <a:t> </a:t>
            </a:r>
            <a:r>
              <a:rPr lang="it-IT" sz="2000" dirty="0"/>
              <a:t>si può passare una sequenza di caratteri tra apici doppi, chiamata </a:t>
            </a:r>
            <a:r>
              <a:rPr lang="it-IT" sz="2000" u="sng" dirty="0">
                <a:solidFill>
                  <a:schemeClr val="accent1"/>
                </a:solidFill>
              </a:rPr>
              <a:t>letterale stringa; </a:t>
            </a:r>
            <a:r>
              <a:rPr lang="it-IT" sz="2000" dirty="0"/>
              <a:t>il metodo </a:t>
            </a:r>
            <a:r>
              <a:rPr lang="it-IT" sz="2000" i="1" dirty="0" err="1">
                <a:solidFill>
                  <a:schemeClr val="accent2"/>
                </a:solidFill>
              </a:rPr>
              <a:t>write</a:t>
            </a:r>
            <a:r>
              <a:rPr lang="it-IT" sz="2000" dirty="0"/>
              <a:t> è implementato in modo da far apparire la stringa passatagli come parametro, nella finestra rappresentata dall’oggetto </a:t>
            </a:r>
            <a:r>
              <a:rPr lang="it-IT" sz="2000" i="1" dirty="0">
                <a:solidFill>
                  <a:schemeClr val="accent2"/>
                </a:solidFill>
              </a:rPr>
              <a:t>out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Invocazione di metodi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611560" y="1484784"/>
            <a:ext cx="7776864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import fond.io.OutputWindow;</a:t>
            </a:r>
          </a:p>
          <a:p>
            <a:pPr>
              <a:spcBef>
                <a:spcPct val="50000"/>
              </a:spcBef>
            </a:pPr>
            <a:endParaRPr lang="it-IT" noProof="1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public class PrimoProg{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/* visualizza "il mio primo programma“ */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public static void main(String[] args){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OutputWindow out = new OutputWindow();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  </a:t>
            </a:r>
            <a:r>
              <a:rPr lang="it-IT" b="1" noProof="1">
                <a:solidFill>
                  <a:schemeClr val="accent1"/>
                </a:solidFill>
                <a:latin typeface="Courier New" pitchFamily="49" charset="0"/>
              </a:rPr>
              <a:t>out.write("il mio primo programma");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}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}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539552" y="5157192"/>
            <a:ext cx="83529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Quando il metodo </a:t>
            </a:r>
            <a:r>
              <a:rPr lang="it-IT" sz="2000" i="1" dirty="0" err="1">
                <a:solidFill>
                  <a:schemeClr val="accent2"/>
                </a:solidFill>
              </a:rPr>
              <a:t>write</a:t>
            </a:r>
            <a:r>
              <a:rPr lang="it-IT" sz="2000" dirty="0"/>
              <a:t> viene invocato, il controllo del programma passa temporaneamente dal metodo </a:t>
            </a:r>
            <a:r>
              <a:rPr lang="it-IT" sz="2000" i="1" dirty="0" err="1">
                <a:solidFill>
                  <a:schemeClr val="accent2"/>
                </a:solidFill>
              </a:rPr>
              <a:t>main</a:t>
            </a:r>
            <a:r>
              <a:rPr lang="it-IT" sz="2000" dirty="0"/>
              <a:t> della classe </a:t>
            </a:r>
            <a:r>
              <a:rPr lang="it-IT" sz="2000" i="1" dirty="0" err="1">
                <a:solidFill>
                  <a:schemeClr val="accent2"/>
                </a:solidFill>
              </a:rPr>
              <a:t>PrimoProg</a:t>
            </a:r>
            <a:r>
              <a:rPr lang="it-IT" sz="2000" dirty="0"/>
              <a:t> al metodo </a:t>
            </a:r>
            <a:r>
              <a:rPr lang="it-IT" sz="2000" i="1" dirty="0" err="1">
                <a:solidFill>
                  <a:schemeClr val="accent2"/>
                </a:solidFill>
              </a:rPr>
              <a:t>write</a:t>
            </a:r>
            <a:r>
              <a:rPr lang="it-IT" sz="2000" dirty="0"/>
              <a:t> dell’oggetto out di tipo </a:t>
            </a:r>
            <a:r>
              <a:rPr lang="it-IT" sz="2000" i="1" dirty="0" err="1">
                <a:solidFill>
                  <a:schemeClr val="accent2"/>
                </a:solidFill>
              </a:rPr>
              <a:t>OutputWindow</a:t>
            </a:r>
            <a:r>
              <a:rPr lang="it-IT" sz="2000" i="1" dirty="0">
                <a:solidFill>
                  <a:schemeClr val="accent2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Diagramma di sequenza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/>
          </a:bodyPr>
          <a:lstStyle/>
          <a:p>
            <a:r>
              <a:rPr lang="it-IT" sz="2400" dirty="0"/>
              <a:t>I </a:t>
            </a:r>
            <a:r>
              <a:rPr lang="it-IT" sz="2400" u="sng" dirty="0">
                <a:solidFill>
                  <a:schemeClr val="accent1"/>
                </a:solidFill>
              </a:rPr>
              <a:t>diagrammi di sequenza </a:t>
            </a:r>
            <a:r>
              <a:rPr lang="it-IT" sz="2400" dirty="0"/>
              <a:t>UML illustrano i passaggi di controllo tra le classi e gli oggetti interagenti</a:t>
            </a:r>
            <a:endParaRPr lang="it-IT" sz="2400" i="1" dirty="0">
              <a:solidFill>
                <a:schemeClr val="accent2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3492" y="2852936"/>
            <a:ext cx="6008828" cy="2898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Versione compatta di </a:t>
            </a:r>
            <a:r>
              <a:rPr lang="it-IT" dirty="0" err="1"/>
              <a:t>PrimoProg</a:t>
            </a:r>
            <a:endParaRPr lang="it-IT" dirty="0"/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611560" y="1484784"/>
            <a:ext cx="8208912" cy="3277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import fond.io.OutputWindow;</a:t>
            </a:r>
          </a:p>
          <a:p>
            <a:pPr>
              <a:spcBef>
                <a:spcPct val="50000"/>
              </a:spcBef>
            </a:pPr>
            <a:endParaRPr lang="it-IT" noProof="1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public class PrimoProg{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/* visualizza "il mio primo programma“ */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public static void main(String[] args){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	</a:t>
            </a:r>
            <a:r>
              <a:rPr lang="it-IT" b="1" noProof="1">
                <a:solidFill>
                  <a:schemeClr val="accent1"/>
                </a:solidFill>
                <a:latin typeface="Courier New" pitchFamily="49" charset="0"/>
              </a:rPr>
              <a:t>new OutputWindow().write("il mio primo programma");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  }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}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539552" y="5157192"/>
            <a:ext cx="83529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In questa versione si invoca direttamente il metodo </a:t>
            </a:r>
            <a:r>
              <a:rPr lang="it-IT" sz="2000" i="1" dirty="0" err="1">
                <a:solidFill>
                  <a:schemeClr val="accent2"/>
                </a:solidFill>
              </a:rPr>
              <a:t>write</a:t>
            </a:r>
            <a:r>
              <a:rPr lang="it-IT" sz="2000" dirty="0"/>
              <a:t> sul riferimento restituito dall’operatore </a:t>
            </a:r>
            <a:r>
              <a:rPr lang="it-IT" sz="2000" i="1" dirty="0" err="1">
                <a:solidFill>
                  <a:schemeClr val="accent2"/>
                </a:solidFill>
              </a:rPr>
              <a:t>new</a:t>
            </a:r>
            <a:r>
              <a:rPr lang="it-IT" sz="2000" dirty="0"/>
              <a:t> – l’oggetto può essere usato una sola volta, poiché non si è memorizzato il suo riferimento in una variabile</a:t>
            </a:r>
            <a:endParaRPr lang="it-IT" sz="20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Fase operativa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it-IT" dirty="0"/>
              <a:t>Vediamo ora come è possibile operativamente effettuare le seguenti attività: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scrittura</a:t>
            </a:r>
            <a:r>
              <a:rPr lang="it-IT" dirty="0"/>
              <a:t> del programma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compilazione</a:t>
            </a:r>
            <a:r>
              <a:rPr lang="it-IT" dirty="0"/>
              <a:t> del programma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esecuzione</a:t>
            </a:r>
            <a:r>
              <a:rPr lang="it-IT" dirty="0"/>
              <a:t> del programma</a:t>
            </a:r>
          </a:p>
          <a:p>
            <a:pPr lvl="1"/>
            <a:endParaRPr lang="it-IT" dirty="0"/>
          </a:p>
          <a:p>
            <a:pPr lvl="1"/>
            <a:endParaRPr lang="it-IT" dirty="0"/>
          </a:p>
          <a:p>
            <a:r>
              <a:rPr lang="it-IT" dirty="0"/>
              <a:t>Per alcuni dettagli tecnici si rimanda al testo di riferimento del corso</a:t>
            </a:r>
          </a:p>
          <a:p>
            <a:pPr lvl="1">
              <a:buNone/>
            </a:pPr>
            <a:endParaRPr lang="it-IT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Scrittura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it-IT" sz="2600" dirty="0"/>
              <a:t>Abbiamo detto che ogni classe di nome </a:t>
            </a:r>
            <a:r>
              <a:rPr lang="it-IT" sz="2600" i="1" dirty="0">
                <a:solidFill>
                  <a:schemeClr val="accent2"/>
                </a:solidFill>
              </a:rPr>
              <a:t>C</a:t>
            </a:r>
            <a:r>
              <a:rPr lang="it-IT" sz="2600" dirty="0"/>
              <a:t> va scritta in un file di testo distinto di nome </a:t>
            </a:r>
            <a:r>
              <a:rPr lang="it-IT" sz="2600" i="1" dirty="0" err="1">
                <a:solidFill>
                  <a:schemeClr val="accent2"/>
                </a:solidFill>
              </a:rPr>
              <a:t>C.java</a:t>
            </a:r>
            <a:endParaRPr lang="it-IT" sz="2600" i="1" dirty="0">
              <a:solidFill>
                <a:schemeClr val="accent2"/>
              </a:solidFill>
            </a:endParaRPr>
          </a:p>
          <a:p>
            <a:pPr lvl="1"/>
            <a:r>
              <a:rPr lang="it-IT" dirty="0"/>
              <a:t>in realtà questa regola si applica ad ogni classe pubblica (nel nostro caso tutte)</a:t>
            </a:r>
          </a:p>
          <a:p>
            <a:pPr lvl="1">
              <a:buNone/>
            </a:pPr>
            <a:endParaRPr lang="it-IT" dirty="0"/>
          </a:p>
          <a:p>
            <a:r>
              <a:rPr lang="it-IT" sz="2600" dirty="0"/>
              <a:t>Le classi </a:t>
            </a:r>
            <a:r>
              <a:rPr lang="it-IT" sz="2600" i="1" dirty="0" err="1">
                <a:solidFill>
                  <a:schemeClr val="accent2"/>
                </a:solidFill>
              </a:rPr>
              <a:t>String</a:t>
            </a:r>
            <a:r>
              <a:rPr lang="it-IT" sz="2600" dirty="0"/>
              <a:t> e </a:t>
            </a:r>
            <a:r>
              <a:rPr lang="it-IT" sz="2600" i="1" dirty="0" err="1">
                <a:solidFill>
                  <a:schemeClr val="accent2"/>
                </a:solidFill>
              </a:rPr>
              <a:t>OutputWindow</a:t>
            </a:r>
            <a:r>
              <a:rPr lang="it-IT" sz="2600" dirty="0"/>
              <a:t> sono già state scritte da qualcun altro nei file </a:t>
            </a:r>
            <a:r>
              <a:rPr lang="it-IT" sz="2600" i="1" dirty="0" err="1">
                <a:solidFill>
                  <a:schemeClr val="accent2"/>
                </a:solidFill>
              </a:rPr>
              <a:t>String.java</a:t>
            </a:r>
            <a:r>
              <a:rPr lang="it-IT" sz="2600" dirty="0"/>
              <a:t> e </a:t>
            </a:r>
            <a:r>
              <a:rPr lang="it-IT" sz="2600" i="1" dirty="0" err="1">
                <a:solidFill>
                  <a:schemeClr val="accent2"/>
                </a:solidFill>
              </a:rPr>
              <a:t>OutputWindow.java</a:t>
            </a:r>
            <a:endParaRPr lang="it-IT" sz="2600" i="1" dirty="0">
              <a:solidFill>
                <a:schemeClr val="accent2"/>
              </a:solidFill>
            </a:endParaRPr>
          </a:p>
          <a:p>
            <a:endParaRPr lang="it-IT" sz="2600" dirty="0"/>
          </a:p>
          <a:p>
            <a:r>
              <a:rPr lang="it-IT" sz="2600" dirty="0"/>
              <a:t>Dobbiamo dunque scrivere la sola classe </a:t>
            </a:r>
            <a:r>
              <a:rPr lang="it-IT" sz="2600" i="1" dirty="0" err="1">
                <a:solidFill>
                  <a:schemeClr val="accent2"/>
                </a:solidFill>
              </a:rPr>
              <a:t>PrimoProg</a:t>
            </a:r>
            <a:r>
              <a:rPr lang="it-IT" sz="2600" dirty="0"/>
              <a:t> all’interno di un file di testo di nome </a:t>
            </a:r>
            <a:r>
              <a:rPr lang="it-IT" sz="2600" i="1" dirty="0" err="1">
                <a:solidFill>
                  <a:schemeClr val="accent2"/>
                </a:solidFill>
              </a:rPr>
              <a:t>PrimoProg.java</a:t>
            </a:r>
            <a:endParaRPr lang="it-IT" sz="2600" i="1" dirty="0">
              <a:solidFill>
                <a:schemeClr val="accent2"/>
              </a:solidFill>
            </a:endParaRPr>
          </a:p>
          <a:p>
            <a:pPr lvl="1">
              <a:buNone/>
            </a:pPr>
            <a:endParaRPr lang="it-IT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Package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it-IT" sz="2600" dirty="0"/>
              <a:t>Vogliamo ora capire meglio:</a:t>
            </a:r>
          </a:p>
          <a:p>
            <a:pPr lvl="1"/>
            <a:r>
              <a:rPr lang="it-IT" sz="2200" dirty="0"/>
              <a:t>in che modo si possano utilizzare classi già pronte in </a:t>
            </a:r>
            <a:r>
              <a:rPr lang="it-IT" sz="2200" i="1" dirty="0" err="1">
                <a:solidFill>
                  <a:schemeClr val="accent2"/>
                </a:solidFill>
              </a:rPr>
              <a:t>PrimoProg</a:t>
            </a:r>
            <a:r>
              <a:rPr lang="it-IT" sz="2200" dirty="0"/>
              <a:t> (o in altre classi che </a:t>
            </a:r>
            <a:r>
              <a:rPr lang="it-IT" sz="2200"/>
              <a:t>realizzeremo);</a:t>
            </a:r>
            <a:endParaRPr lang="it-IT" sz="2200" dirty="0"/>
          </a:p>
          <a:p>
            <a:pPr lvl="1"/>
            <a:r>
              <a:rPr lang="it-IT" sz="2200" dirty="0"/>
              <a:t>in che modo sia possibile compilare ed eseguire correttamente programmi composti da più classi </a:t>
            </a:r>
          </a:p>
          <a:p>
            <a:endParaRPr lang="it-IT" sz="2600" dirty="0"/>
          </a:p>
          <a:p>
            <a:r>
              <a:rPr lang="it-IT" sz="2600" dirty="0"/>
              <a:t>A tal fine è necessario definire il concetto di </a:t>
            </a:r>
            <a:r>
              <a:rPr lang="it-IT" sz="2600" u="sng" dirty="0">
                <a:solidFill>
                  <a:schemeClr val="accent1"/>
                </a:solidFill>
              </a:rPr>
              <a:t>package</a:t>
            </a:r>
            <a:endParaRPr lang="it-IT" sz="2200" i="1" u="sng" dirty="0">
              <a:solidFill>
                <a:schemeClr val="accent1"/>
              </a:solidFill>
            </a:endParaRPr>
          </a:p>
          <a:p>
            <a:pPr lvl="1">
              <a:buNone/>
            </a:pPr>
            <a:endParaRPr lang="it-IT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Package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r>
              <a:rPr lang="it-IT" sz="2600" dirty="0"/>
              <a:t>Un </a:t>
            </a:r>
            <a:r>
              <a:rPr lang="it-IT" sz="2600" u="sng" dirty="0">
                <a:solidFill>
                  <a:schemeClr val="accent1"/>
                </a:solidFill>
              </a:rPr>
              <a:t>package</a:t>
            </a:r>
            <a:r>
              <a:rPr lang="it-IT" sz="2600" dirty="0"/>
              <a:t> in Java rappresenta un gruppo di classi con funzionalità affini (es. grafica, input/output, …)</a:t>
            </a:r>
          </a:p>
          <a:p>
            <a:r>
              <a:rPr lang="it-IT" sz="2600" dirty="0"/>
              <a:t>Esiste una </a:t>
            </a:r>
            <a:r>
              <a:rPr lang="it-IT" sz="2600" i="1" dirty="0">
                <a:solidFill>
                  <a:schemeClr val="accent2"/>
                </a:solidFill>
              </a:rPr>
              <a:t>associazione tra package e directory</a:t>
            </a:r>
            <a:r>
              <a:rPr lang="it-IT" sz="2600" dirty="0"/>
              <a:t>:</a:t>
            </a:r>
          </a:p>
          <a:p>
            <a:pPr lvl="1"/>
            <a:r>
              <a:rPr lang="it-IT" sz="2200" dirty="0"/>
              <a:t>per definire un package di nome </a:t>
            </a:r>
            <a:r>
              <a:rPr lang="it-IT" sz="2200" i="1" dirty="0">
                <a:solidFill>
                  <a:schemeClr val="accent2"/>
                </a:solidFill>
              </a:rPr>
              <a:t>x</a:t>
            </a:r>
            <a:r>
              <a:rPr lang="it-IT" sz="2200" dirty="0"/>
              <a:t>, occorre creare una directory di nome </a:t>
            </a:r>
            <a:r>
              <a:rPr lang="it-IT" sz="2200" i="1" dirty="0">
                <a:solidFill>
                  <a:schemeClr val="accent2"/>
                </a:solidFill>
              </a:rPr>
              <a:t>x</a:t>
            </a:r>
          </a:p>
          <a:p>
            <a:pPr lvl="1"/>
            <a:r>
              <a:rPr lang="it-IT" sz="2200" dirty="0"/>
              <a:t>per definire un package </a:t>
            </a:r>
            <a:r>
              <a:rPr lang="it-IT" sz="2200" i="1" dirty="0">
                <a:solidFill>
                  <a:schemeClr val="accent2"/>
                </a:solidFill>
              </a:rPr>
              <a:t>y</a:t>
            </a:r>
            <a:r>
              <a:rPr lang="it-IT" sz="2200" dirty="0"/>
              <a:t> interno ad </a:t>
            </a:r>
            <a:r>
              <a:rPr lang="it-IT" sz="2200" i="1" dirty="0">
                <a:solidFill>
                  <a:schemeClr val="accent2"/>
                </a:solidFill>
              </a:rPr>
              <a:t>x</a:t>
            </a:r>
            <a:r>
              <a:rPr lang="it-IT" sz="2200" dirty="0"/>
              <a:t>, occorre creare una directory </a:t>
            </a:r>
            <a:r>
              <a:rPr lang="it-IT" sz="2200" i="1" dirty="0">
                <a:solidFill>
                  <a:schemeClr val="accent2"/>
                </a:solidFill>
              </a:rPr>
              <a:t>y</a:t>
            </a:r>
            <a:r>
              <a:rPr lang="it-IT" sz="2200" dirty="0"/>
              <a:t> all’interno di </a:t>
            </a:r>
            <a:r>
              <a:rPr lang="it-IT" sz="2200" i="1" dirty="0">
                <a:solidFill>
                  <a:schemeClr val="accent2"/>
                </a:solidFill>
              </a:rPr>
              <a:t>x</a:t>
            </a:r>
          </a:p>
          <a:p>
            <a:pPr lvl="1"/>
            <a:r>
              <a:rPr lang="it-IT" sz="2200" dirty="0"/>
              <a:t>ogni classe </a:t>
            </a:r>
            <a:r>
              <a:rPr lang="it-IT" sz="2200" i="1" dirty="0">
                <a:solidFill>
                  <a:schemeClr val="accent2"/>
                </a:solidFill>
              </a:rPr>
              <a:t>C</a:t>
            </a:r>
            <a:r>
              <a:rPr lang="it-IT" sz="2200" dirty="0"/>
              <a:t> di un package </a:t>
            </a:r>
            <a:r>
              <a:rPr lang="it-IT" sz="2200" i="1" dirty="0">
                <a:solidFill>
                  <a:schemeClr val="accent2"/>
                </a:solidFill>
              </a:rPr>
              <a:t>x</a:t>
            </a:r>
            <a:r>
              <a:rPr lang="it-IT" sz="2200" dirty="0"/>
              <a:t> va scritta in un file </a:t>
            </a:r>
            <a:r>
              <a:rPr lang="it-IT" sz="2200" i="1" dirty="0" err="1">
                <a:solidFill>
                  <a:schemeClr val="accent2"/>
                </a:solidFill>
              </a:rPr>
              <a:t>C.java</a:t>
            </a:r>
            <a:r>
              <a:rPr lang="it-IT" sz="2200" dirty="0"/>
              <a:t> all’interno della directory </a:t>
            </a:r>
            <a:r>
              <a:rPr lang="it-IT" sz="2200" i="1" dirty="0">
                <a:solidFill>
                  <a:schemeClr val="accent2"/>
                </a:solidFill>
              </a:rPr>
              <a:t>x</a:t>
            </a:r>
            <a:r>
              <a:rPr lang="it-IT" sz="2200" dirty="0"/>
              <a:t>; all’inizio del file </a:t>
            </a:r>
            <a:r>
              <a:rPr lang="it-IT" sz="2200" i="1" dirty="0" err="1">
                <a:solidFill>
                  <a:schemeClr val="accent2"/>
                </a:solidFill>
              </a:rPr>
              <a:t>C.java</a:t>
            </a:r>
            <a:r>
              <a:rPr lang="it-IT" sz="2200" dirty="0"/>
              <a:t> va riportata la specifica: </a:t>
            </a:r>
            <a:r>
              <a:rPr lang="it-IT" sz="2200" i="1" dirty="0">
                <a:solidFill>
                  <a:schemeClr val="accent2"/>
                </a:solidFill>
              </a:rPr>
              <a:t>package x;</a:t>
            </a:r>
          </a:p>
          <a:p>
            <a:pPr lvl="1">
              <a:buNone/>
            </a:pPr>
            <a:endParaRPr lang="it-IT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Package di default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r>
              <a:rPr lang="it-IT" sz="2600" dirty="0"/>
              <a:t>Se in un file </a:t>
            </a:r>
            <a:r>
              <a:rPr lang="it-IT" sz="2600" i="1" dirty="0" err="1">
                <a:solidFill>
                  <a:schemeClr val="accent2"/>
                </a:solidFill>
              </a:rPr>
              <a:t>C.java</a:t>
            </a:r>
            <a:r>
              <a:rPr lang="it-IT" sz="2600" dirty="0"/>
              <a:t> non è specificato il package di appartenenza, la classe </a:t>
            </a:r>
            <a:r>
              <a:rPr lang="it-IT" sz="2600" i="1" dirty="0">
                <a:solidFill>
                  <a:schemeClr val="accent2"/>
                </a:solidFill>
              </a:rPr>
              <a:t>C</a:t>
            </a:r>
            <a:r>
              <a:rPr lang="it-IT" sz="2600" dirty="0"/>
              <a:t> viene associata ad un così detto </a:t>
            </a:r>
            <a:r>
              <a:rPr lang="it-IT" sz="2600" u="sng" dirty="0">
                <a:solidFill>
                  <a:schemeClr val="accent1"/>
                </a:solidFill>
              </a:rPr>
              <a:t>package di default</a:t>
            </a:r>
          </a:p>
          <a:p>
            <a:pPr lvl="1"/>
            <a:r>
              <a:rPr lang="it-IT" sz="2200" dirty="0"/>
              <a:t>tutte le classi in una stessa directory che non hanno la specifica di un package vengono associate allo stesso package di default</a:t>
            </a:r>
            <a:endParaRPr lang="it-IT" sz="2200" i="1" dirty="0">
              <a:solidFill>
                <a:schemeClr val="accent2"/>
              </a:solidFill>
            </a:endParaRPr>
          </a:p>
          <a:p>
            <a:pPr lvl="1">
              <a:buNone/>
            </a:pPr>
            <a:endParaRPr lang="it-IT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Utilizzo di package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it-IT" sz="2600" dirty="0"/>
              <a:t>Una classe può utilizzare liberamente classi del suo stesso package (a meno che non siano private)</a:t>
            </a:r>
          </a:p>
          <a:p>
            <a:r>
              <a:rPr lang="it-IT" sz="2600" dirty="0"/>
              <a:t>Una classe può utilizzare solo classi pubbliche di un package diverso dal suo:</a:t>
            </a:r>
          </a:p>
          <a:p>
            <a:pPr lvl="1"/>
            <a:r>
              <a:rPr lang="it-IT" sz="2200" dirty="0"/>
              <a:t>è necessario utilizzare una direttiva di importazione, che specifichi l’intero percorso della classe che si vuol usare;</a:t>
            </a:r>
          </a:p>
          <a:p>
            <a:pPr lvl="1"/>
            <a:r>
              <a:rPr lang="it-IT" sz="2200" dirty="0"/>
              <a:t>ad esempio, se una classe </a:t>
            </a:r>
            <a:r>
              <a:rPr lang="it-IT" sz="2200" i="1" dirty="0">
                <a:solidFill>
                  <a:schemeClr val="accent2"/>
                </a:solidFill>
              </a:rPr>
              <a:t>A</a:t>
            </a:r>
            <a:r>
              <a:rPr lang="it-IT" sz="2200" dirty="0"/>
              <a:t> deve usare un’altra classe </a:t>
            </a:r>
            <a:r>
              <a:rPr lang="it-IT" sz="2200" i="1" dirty="0">
                <a:solidFill>
                  <a:schemeClr val="accent2"/>
                </a:solidFill>
              </a:rPr>
              <a:t>B</a:t>
            </a:r>
            <a:r>
              <a:rPr lang="it-IT" sz="2200" dirty="0"/>
              <a:t> di un package </a:t>
            </a:r>
            <a:r>
              <a:rPr lang="it-IT" sz="2200" i="1" dirty="0">
                <a:solidFill>
                  <a:schemeClr val="accent2"/>
                </a:solidFill>
              </a:rPr>
              <a:t>y</a:t>
            </a:r>
            <a:r>
              <a:rPr lang="it-IT" sz="2200" dirty="0"/>
              <a:t> interno ad un package </a:t>
            </a:r>
            <a:r>
              <a:rPr lang="it-IT" sz="2200" i="1" dirty="0">
                <a:solidFill>
                  <a:schemeClr val="accent2"/>
                </a:solidFill>
              </a:rPr>
              <a:t>x</a:t>
            </a:r>
            <a:r>
              <a:rPr lang="it-IT" sz="2200" dirty="0"/>
              <a:t>, nel file </a:t>
            </a:r>
            <a:r>
              <a:rPr lang="it-IT" sz="2200" i="1" dirty="0" err="1">
                <a:solidFill>
                  <a:schemeClr val="accent2"/>
                </a:solidFill>
              </a:rPr>
              <a:t>A.java</a:t>
            </a:r>
            <a:r>
              <a:rPr lang="it-IT" sz="2200" dirty="0"/>
              <a:t> devo scrivere: </a:t>
            </a:r>
            <a:r>
              <a:rPr lang="it-IT" sz="2200" i="1" dirty="0">
                <a:solidFill>
                  <a:schemeClr val="accent2"/>
                </a:solidFill>
              </a:rPr>
              <a:t>import </a:t>
            </a:r>
            <a:r>
              <a:rPr lang="it-IT" sz="2200" i="1" dirty="0" err="1">
                <a:solidFill>
                  <a:schemeClr val="accent2"/>
                </a:solidFill>
              </a:rPr>
              <a:t>x.y.B</a:t>
            </a:r>
            <a:endParaRPr lang="it-IT" sz="2200" i="1" dirty="0">
              <a:solidFill>
                <a:schemeClr val="accent2"/>
              </a:solidFill>
            </a:endParaRPr>
          </a:p>
          <a:p>
            <a:pPr lvl="1"/>
            <a:r>
              <a:rPr lang="it-IT" sz="2200" dirty="0"/>
              <a:t>Scrivendo </a:t>
            </a:r>
            <a:r>
              <a:rPr lang="it-IT" sz="2200" i="1" dirty="0">
                <a:solidFill>
                  <a:schemeClr val="accent2"/>
                </a:solidFill>
              </a:rPr>
              <a:t>import x.y.*  </a:t>
            </a:r>
            <a:r>
              <a:rPr lang="it-IT" sz="2200" dirty="0"/>
              <a:t>potrò usare tutte le classi che appartengono direttamente al package </a:t>
            </a:r>
            <a:r>
              <a:rPr lang="it-IT" sz="2200" i="1" dirty="0">
                <a:solidFill>
                  <a:schemeClr val="accent2"/>
                </a:solidFill>
              </a:rPr>
              <a:t>y</a:t>
            </a:r>
            <a:r>
              <a:rPr lang="it-IT" sz="2200" dirty="0"/>
              <a:t> all’interno di </a:t>
            </a:r>
            <a:r>
              <a:rPr lang="it-IT" sz="2200" i="1" dirty="0">
                <a:solidFill>
                  <a:schemeClr val="accent2"/>
                </a:solidFill>
              </a:rPr>
              <a:t>x</a:t>
            </a:r>
            <a:r>
              <a:rPr lang="it-IT" sz="2200" dirty="0"/>
              <a:t>   </a:t>
            </a:r>
          </a:p>
          <a:p>
            <a:endParaRPr lang="it-IT" sz="2200" i="1" dirty="0">
              <a:solidFill>
                <a:schemeClr val="accent2"/>
              </a:solidFill>
            </a:endParaRPr>
          </a:p>
          <a:p>
            <a:pPr lvl="1">
              <a:buNone/>
            </a:pPr>
            <a:endParaRPr lang="it-IT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API di Java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it-IT" sz="2600" dirty="0"/>
              <a:t>Java offre un ampio insieme di classi già pronte per l’uso, suddivise in vari package</a:t>
            </a:r>
          </a:p>
          <a:p>
            <a:r>
              <a:rPr lang="it-IT" sz="2600" dirty="0"/>
              <a:t>Questa libreria di classi si chiama </a:t>
            </a:r>
            <a:r>
              <a:rPr lang="it-IT" sz="2600" u="sng" dirty="0">
                <a:solidFill>
                  <a:schemeClr val="accent1"/>
                </a:solidFill>
              </a:rPr>
              <a:t>API (</a:t>
            </a:r>
            <a:r>
              <a:rPr lang="it-IT" sz="2600" u="sng" dirty="0" err="1">
                <a:solidFill>
                  <a:schemeClr val="accent1"/>
                </a:solidFill>
              </a:rPr>
              <a:t>Application</a:t>
            </a:r>
            <a:r>
              <a:rPr lang="it-IT" sz="2600" u="sng" dirty="0">
                <a:solidFill>
                  <a:schemeClr val="accent1"/>
                </a:solidFill>
              </a:rPr>
              <a:t> </a:t>
            </a:r>
            <a:r>
              <a:rPr lang="it-IT" sz="2600" u="sng" dirty="0" err="1">
                <a:solidFill>
                  <a:schemeClr val="accent1"/>
                </a:solidFill>
              </a:rPr>
              <a:t>Programming</a:t>
            </a:r>
            <a:r>
              <a:rPr lang="it-IT" sz="2600" u="sng" dirty="0">
                <a:solidFill>
                  <a:schemeClr val="accent1"/>
                </a:solidFill>
              </a:rPr>
              <a:t> Interface) </a:t>
            </a:r>
            <a:r>
              <a:rPr lang="it-IT" sz="2600" dirty="0"/>
              <a:t>di Java</a:t>
            </a:r>
          </a:p>
          <a:p>
            <a:pPr lvl="1"/>
            <a:r>
              <a:rPr lang="it-IT" sz="2200" dirty="0"/>
              <a:t>Ogni package dell’API di Java ha come radice un package di nome </a:t>
            </a:r>
            <a:r>
              <a:rPr lang="it-IT" sz="2200" i="1" dirty="0">
                <a:solidFill>
                  <a:schemeClr val="accent2"/>
                </a:solidFill>
              </a:rPr>
              <a:t>java</a:t>
            </a:r>
            <a:r>
              <a:rPr lang="it-IT" sz="2200" dirty="0"/>
              <a:t> oppure </a:t>
            </a:r>
            <a:r>
              <a:rPr lang="it-IT" sz="2200" i="1" dirty="0" err="1">
                <a:solidFill>
                  <a:schemeClr val="accent2"/>
                </a:solidFill>
              </a:rPr>
              <a:t>javax</a:t>
            </a:r>
            <a:r>
              <a:rPr lang="it-IT" sz="2200" i="1" dirty="0">
                <a:solidFill>
                  <a:schemeClr val="accent2"/>
                </a:solidFill>
              </a:rPr>
              <a:t> </a:t>
            </a:r>
            <a:r>
              <a:rPr lang="it-IT" sz="1400" i="1" dirty="0">
                <a:solidFill>
                  <a:schemeClr val="accent2"/>
                </a:solidFill>
              </a:rPr>
              <a:t>   </a:t>
            </a:r>
          </a:p>
          <a:p>
            <a:endParaRPr lang="it-IT" sz="2600" dirty="0"/>
          </a:p>
          <a:p>
            <a:r>
              <a:rPr lang="it-IT" sz="2600" dirty="0"/>
              <a:t>La classe </a:t>
            </a:r>
            <a:r>
              <a:rPr lang="it-IT" sz="2600" i="1" dirty="0" err="1">
                <a:solidFill>
                  <a:schemeClr val="accent2"/>
                </a:solidFill>
              </a:rPr>
              <a:t>String</a:t>
            </a:r>
            <a:r>
              <a:rPr lang="it-IT" sz="2600" dirty="0"/>
              <a:t> si trova nel package </a:t>
            </a:r>
            <a:r>
              <a:rPr lang="it-IT" sz="2600" i="1" dirty="0" err="1">
                <a:solidFill>
                  <a:schemeClr val="accent2"/>
                </a:solidFill>
              </a:rPr>
              <a:t>java.lang</a:t>
            </a:r>
            <a:endParaRPr lang="it-IT" sz="2600" i="1" dirty="0">
              <a:solidFill>
                <a:schemeClr val="accent2"/>
              </a:solidFill>
            </a:endParaRPr>
          </a:p>
          <a:p>
            <a:pPr lvl="1"/>
            <a:r>
              <a:rPr lang="it-IT" sz="2200" dirty="0"/>
              <a:t>tale package raggruppa classi di uso molto frequente</a:t>
            </a:r>
          </a:p>
          <a:p>
            <a:pPr lvl="1"/>
            <a:r>
              <a:rPr lang="it-IT" sz="2200" dirty="0"/>
              <a:t>per usare le classi di questo package non è richiesta la direttiva di importazione</a:t>
            </a:r>
          </a:p>
          <a:p>
            <a:pPr lvl="1">
              <a:buNone/>
            </a:pPr>
            <a:endParaRPr lang="it-IT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Package del corso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it-IT" sz="2600" dirty="0"/>
              <a:t>In questo corso vengono fornite classi aggiuntive a quelle dell’API di Java (es. la classe </a:t>
            </a:r>
            <a:r>
              <a:rPr lang="it-IT" sz="2600" i="1" dirty="0" err="1">
                <a:solidFill>
                  <a:schemeClr val="accent2"/>
                </a:solidFill>
              </a:rPr>
              <a:t>OutputWindow</a:t>
            </a:r>
            <a:r>
              <a:rPr lang="it-IT" sz="2600" dirty="0"/>
              <a:t>)</a:t>
            </a:r>
            <a:endParaRPr lang="it-IT" dirty="0"/>
          </a:p>
          <a:p>
            <a:r>
              <a:rPr lang="it-IT" sz="2600" dirty="0"/>
              <a:t>Le classi fornite appartengono tutte ad un package di nome </a:t>
            </a:r>
            <a:r>
              <a:rPr lang="it-IT" sz="2600" i="1" dirty="0" err="1">
                <a:solidFill>
                  <a:schemeClr val="accent2"/>
                </a:solidFill>
              </a:rPr>
              <a:t>fond</a:t>
            </a:r>
            <a:endParaRPr lang="it-IT" sz="2600" i="1" dirty="0">
              <a:solidFill>
                <a:schemeClr val="accent2"/>
              </a:solidFill>
            </a:endParaRPr>
          </a:p>
          <a:p>
            <a:pPr lvl="1"/>
            <a:r>
              <a:rPr lang="it-IT" sz="2200" dirty="0"/>
              <a:t>la classe </a:t>
            </a:r>
            <a:r>
              <a:rPr lang="it-IT" sz="2200" i="1" dirty="0" err="1">
                <a:solidFill>
                  <a:schemeClr val="accent2"/>
                </a:solidFill>
              </a:rPr>
              <a:t>OutputWindow</a:t>
            </a:r>
            <a:r>
              <a:rPr lang="it-IT" sz="2200" dirty="0"/>
              <a:t> si trova nel package </a:t>
            </a:r>
            <a:r>
              <a:rPr lang="it-IT" sz="2200" i="1" dirty="0" err="1">
                <a:solidFill>
                  <a:schemeClr val="accent2"/>
                </a:solidFill>
              </a:rPr>
              <a:t>fond.io</a:t>
            </a:r>
            <a:endParaRPr lang="it-IT" sz="2200" i="1" dirty="0">
              <a:solidFill>
                <a:schemeClr val="accent2"/>
              </a:solidFill>
            </a:endParaRPr>
          </a:p>
          <a:p>
            <a:pPr lvl="1"/>
            <a:r>
              <a:rPr lang="it-IT" sz="2200" dirty="0"/>
              <a:t>ecco perché per usarla nella classe </a:t>
            </a:r>
            <a:r>
              <a:rPr lang="it-IT" sz="2200" i="1" dirty="0" err="1">
                <a:solidFill>
                  <a:schemeClr val="accent2"/>
                </a:solidFill>
              </a:rPr>
              <a:t>PrimoProg</a:t>
            </a:r>
            <a:r>
              <a:rPr lang="it-IT" sz="2200" dirty="0"/>
              <a:t> abbiamo usato la direttiva </a:t>
            </a:r>
            <a:r>
              <a:rPr lang="it-IT" sz="2200" i="1" dirty="0">
                <a:solidFill>
                  <a:schemeClr val="accent2"/>
                </a:solidFill>
              </a:rPr>
              <a:t>import </a:t>
            </a:r>
            <a:r>
              <a:rPr lang="it-IT" sz="2200" i="1" dirty="0" err="1">
                <a:solidFill>
                  <a:schemeClr val="accent2"/>
                </a:solidFill>
              </a:rPr>
              <a:t>fond.io.OutputWindow</a:t>
            </a:r>
            <a:endParaRPr lang="it-IT" sz="22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Compilazione ed esecuzione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040560"/>
          </a:xfrm>
        </p:spPr>
        <p:txBody>
          <a:bodyPr>
            <a:normAutofit/>
          </a:bodyPr>
          <a:lstStyle/>
          <a:p>
            <a:r>
              <a:rPr lang="it-IT" sz="2600" dirty="0"/>
              <a:t>Per compilare ed eseguire programmi Java, è necessario scaricare (gratuitamente) il software </a:t>
            </a:r>
            <a:r>
              <a:rPr lang="it-IT" sz="2600" u="sng" dirty="0">
                <a:solidFill>
                  <a:schemeClr val="accent1"/>
                </a:solidFill>
              </a:rPr>
              <a:t>JDK (Java </a:t>
            </a:r>
            <a:r>
              <a:rPr lang="it-IT" sz="2600" u="sng" dirty="0" err="1">
                <a:solidFill>
                  <a:schemeClr val="accent1"/>
                </a:solidFill>
              </a:rPr>
              <a:t>Development</a:t>
            </a:r>
            <a:r>
              <a:rPr lang="it-IT" sz="2600" u="sng" dirty="0">
                <a:solidFill>
                  <a:schemeClr val="accent1"/>
                </a:solidFill>
              </a:rPr>
              <a:t> Kit) </a:t>
            </a:r>
            <a:r>
              <a:rPr lang="it-IT" sz="2600" dirty="0"/>
              <a:t>dal sito: </a:t>
            </a:r>
            <a:r>
              <a:rPr lang="it-IT" sz="2600" i="1" dirty="0">
                <a:solidFill>
                  <a:schemeClr val="accent2"/>
                </a:solidFill>
              </a:rPr>
              <a:t>www.oracle.com</a:t>
            </a:r>
            <a:r>
              <a:rPr lang="it-IT" sz="2600" dirty="0"/>
              <a:t> </a:t>
            </a:r>
          </a:p>
          <a:p>
            <a:endParaRPr lang="it-IT" sz="2600" i="1" dirty="0">
              <a:solidFill>
                <a:schemeClr val="accent2"/>
              </a:solidFill>
            </a:endParaRPr>
          </a:p>
          <a:p>
            <a:r>
              <a:rPr lang="it-IT" sz="2600" dirty="0"/>
              <a:t>JDK include tra l’altro:</a:t>
            </a:r>
          </a:p>
          <a:p>
            <a:pPr lvl="1"/>
            <a:r>
              <a:rPr lang="it-IT" sz="2200" dirty="0"/>
              <a:t>un </a:t>
            </a:r>
            <a:r>
              <a:rPr lang="it-IT" sz="2200" u="sng" dirty="0">
                <a:solidFill>
                  <a:schemeClr val="accent1"/>
                </a:solidFill>
              </a:rPr>
              <a:t>compilatore Java</a:t>
            </a:r>
            <a:r>
              <a:rPr lang="it-IT" sz="2200" dirty="0"/>
              <a:t>, che permette di tradurre un file sorgente nel </a:t>
            </a:r>
            <a:r>
              <a:rPr lang="it-IT" sz="2200" u="sng" dirty="0" err="1">
                <a:solidFill>
                  <a:schemeClr val="accent1"/>
                </a:solidFill>
              </a:rPr>
              <a:t>bytecode</a:t>
            </a:r>
            <a:r>
              <a:rPr lang="it-IT" sz="2200" dirty="0"/>
              <a:t> eseguibile dalla JVM</a:t>
            </a:r>
          </a:p>
          <a:p>
            <a:pPr lvl="1"/>
            <a:r>
              <a:rPr lang="it-IT" sz="2200" dirty="0"/>
              <a:t>un </a:t>
            </a:r>
            <a:r>
              <a:rPr lang="it-IT" sz="2200" u="sng" dirty="0">
                <a:solidFill>
                  <a:schemeClr val="accent1"/>
                </a:solidFill>
              </a:rPr>
              <a:t>esecutore Java</a:t>
            </a:r>
            <a:r>
              <a:rPr lang="it-IT" sz="2200" dirty="0"/>
              <a:t>, che permette di eseguire i </a:t>
            </a:r>
            <a:r>
              <a:rPr lang="it-IT" sz="2200" dirty="0" err="1"/>
              <a:t>bytecode</a:t>
            </a:r>
            <a:endParaRPr lang="it-IT" sz="2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Compilazione ed esecuzione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it-IT" sz="2600" dirty="0"/>
              <a:t>Per compilare un file </a:t>
            </a:r>
            <a:r>
              <a:rPr lang="it-IT" sz="2600" i="1" dirty="0" err="1">
                <a:solidFill>
                  <a:schemeClr val="accent2"/>
                </a:solidFill>
              </a:rPr>
              <a:t>C.java</a:t>
            </a:r>
            <a:r>
              <a:rPr lang="it-IT" sz="2600" dirty="0"/>
              <a:t> si può scrivere in un </a:t>
            </a:r>
            <a:r>
              <a:rPr lang="it-IT" sz="2600" dirty="0" err="1"/>
              <a:t>prompt</a:t>
            </a:r>
            <a:r>
              <a:rPr lang="it-IT" sz="2600" dirty="0"/>
              <a:t> dei comandi il seguente comando:</a:t>
            </a:r>
            <a:endParaRPr lang="it-IT" sz="2200" dirty="0"/>
          </a:p>
          <a:p>
            <a:pPr algn="ctr">
              <a:buNone/>
            </a:pPr>
            <a:r>
              <a:rPr lang="it-IT" sz="2600" i="1" dirty="0" err="1">
                <a:solidFill>
                  <a:schemeClr val="accent2"/>
                </a:solidFill>
              </a:rPr>
              <a:t>javac</a:t>
            </a:r>
            <a:r>
              <a:rPr lang="it-IT" sz="2600" i="1" dirty="0">
                <a:solidFill>
                  <a:schemeClr val="accent2"/>
                </a:solidFill>
              </a:rPr>
              <a:t> </a:t>
            </a:r>
            <a:r>
              <a:rPr lang="it-IT" sz="2600" i="1" dirty="0" err="1">
                <a:solidFill>
                  <a:schemeClr val="accent2"/>
                </a:solidFill>
              </a:rPr>
              <a:t>C.java</a:t>
            </a:r>
            <a:endParaRPr lang="it-IT" sz="2600" i="1" dirty="0">
              <a:solidFill>
                <a:schemeClr val="accent2"/>
              </a:solidFill>
            </a:endParaRPr>
          </a:p>
          <a:p>
            <a:endParaRPr lang="it-IT" sz="2600" dirty="0"/>
          </a:p>
          <a:p>
            <a:r>
              <a:rPr lang="it-IT" sz="2600" dirty="0"/>
              <a:t>In assenza di errori sintattici, verrà generato il </a:t>
            </a:r>
            <a:r>
              <a:rPr lang="it-IT" sz="2600" dirty="0" err="1"/>
              <a:t>bytecode</a:t>
            </a:r>
            <a:r>
              <a:rPr lang="it-IT" sz="2600" dirty="0"/>
              <a:t> all’interno di un file di nome </a:t>
            </a:r>
            <a:r>
              <a:rPr lang="it-IT" sz="2600" i="1" dirty="0" err="1">
                <a:solidFill>
                  <a:schemeClr val="accent2"/>
                </a:solidFill>
              </a:rPr>
              <a:t>C.class</a:t>
            </a:r>
            <a:endParaRPr lang="it-IT" sz="2600" i="1" dirty="0">
              <a:solidFill>
                <a:schemeClr val="accent2"/>
              </a:solidFill>
            </a:endParaRPr>
          </a:p>
          <a:p>
            <a:endParaRPr lang="it-IT" sz="2600" i="1" dirty="0">
              <a:solidFill>
                <a:schemeClr val="accent2"/>
              </a:solidFill>
            </a:endParaRPr>
          </a:p>
          <a:p>
            <a:r>
              <a:rPr lang="it-IT" sz="2600" dirty="0"/>
              <a:t>Se la classe </a:t>
            </a:r>
            <a:r>
              <a:rPr lang="it-IT" sz="2600" i="1" dirty="0">
                <a:solidFill>
                  <a:schemeClr val="accent2"/>
                </a:solidFill>
              </a:rPr>
              <a:t>C</a:t>
            </a:r>
            <a:r>
              <a:rPr lang="it-IT" sz="2600" dirty="0"/>
              <a:t> contiene il metodo speciale </a:t>
            </a:r>
            <a:r>
              <a:rPr lang="it-IT" sz="2600" i="1" dirty="0" err="1">
                <a:solidFill>
                  <a:schemeClr val="accent2"/>
                </a:solidFill>
              </a:rPr>
              <a:t>main</a:t>
            </a:r>
            <a:r>
              <a:rPr lang="it-IT" sz="2600" dirty="0"/>
              <a:t>, è possibile eseguire la classe con il comando:</a:t>
            </a:r>
          </a:p>
          <a:p>
            <a:pPr algn="ctr">
              <a:buNone/>
            </a:pPr>
            <a:r>
              <a:rPr lang="it-IT" sz="2600" i="1" dirty="0">
                <a:solidFill>
                  <a:schemeClr val="accent2"/>
                </a:solidFill>
              </a:rPr>
              <a:t>java C</a:t>
            </a:r>
            <a:r>
              <a:rPr lang="it-IT" sz="2600" dirty="0"/>
              <a:t> </a:t>
            </a:r>
            <a:endParaRPr lang="it-IT" sz="26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000" dirty="0"/>
              <a:t>Compilare ed eseguire </a:t>
            </a:r>
            <a:r>
              <a:rPr lang="it-IT" sz="4000" dirty="0" err="1"/>
              <a:t>PrimoProg</a:t>
            </a:r>
            <a:endParaRPr lang="it-IT" sz="4000" dirty="0"/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it-IT" sz="2600" dirty="0"/>
              <a:t>Per compilare ed eseguire </a:t>
            </a:r>
            <a:r>
              <a:rPr lang="it-IT" sz="2600" i="1" dirty="0" err="1">
                <a:solidFill>
                  <a:schemeClr val="accent2"/>
                </a:solidFill>
              </a:rPr>
              <a:t>PrimoProg</a:t>
            </a:r>
            <a:r>
              <a:rPr lang="it-IT" sz="2600" dirty="0"/>
              <a:t> (e gli altri programmi del corso) occorre prima scaricare il package </a:t>
            </a:r>
            <a:r>
              <a:rPr lang="it-IT" sz="2600" i="1" dirty="0" err="1">
                <a:solidFill>
                  <a:schemeClr val="accent2"/>
                </a:solidFill>
              </a:rPr>
              <a:t>fond</a:t>
            </a:r>
            <a:r>
              <a:rPr lang="it-IT" sz="2600" dirty="0"/>
              <a:t> e poi configurare alcuni parametri del sistema operativo</a:t>
            </a:r>
          </a:p>
          <a:p>
            <a:pPr lvl="1"/>
            <a:r>
              <a:rPr lang="it-IT" sz="2200" dirty="0"/>
              <a:t>si rimanda al testo di riferimento del corso per dettagli in merito a tale configurazione</a:t>
            </a:r>
          </a:p>
          <a:p>
            <a:pPr lvl="1"/>
            <a:endParaRPr lang="it-IT" sz="2200" dirty="0"/>
          </a:p>
          <a:p>
            <a:r>
              <a:rPr lang="it-IT" sz="2600" dirty="0"/>
              <a:t>Occorrerà poi compilare la classe </a:t>
            </a:r>
            <a:r>
              <a:rPr lang="it-IT" sz="2600" i="1" dirty="0" err="1">
                <a:solidFill>
                  <a:schemeClr val="accent2"/>
                </a:solidFill>
              </a:rPr>
              <a:t>PrimoProg</a:t>
            </a:r>
            <a:r>
              <a:rPr lang="it-IT" sz="2600" dirty="0"/>
              <a:t>, con il comando </a:t>
            </a:r>
            <a:r>
              <a:rPr lang="it-IT" sz="2600" i="1" dirty="0" err="1">
                <a:solidFill>
                  <a:schemeClr val="accent2"/>
                </a:solidFill>
              </a:rPr>
              <a:t>javac</a:t>
            </a:r>
            <a:r>
              <a:rPr lang="it-IT" sz="2600" i="1" dirty="0">
                <a:solidFill>
                  <a:schemeClr val="accent2"/>
                </a:solidFill>
              </a:rPr>
              <a:t> </a:t>
            </a:r>
            <a:r>
              <a:rPr lang="it-IT" sz="2600" i="1" dirty="0" err="1">
                <a:solidFill>
                  <a:schemeClr val="accent2"/>
                </a:solidFill>
              </a:rPr>
              <a:t>PrimoProg.java</a:t>
            </a:r>
            <a:r>
              <a:rPr lang="it-IT" sz="2600" i="1" dirty="0">
                <a:solidFill>
                  <a:schemeClr val="accent2"/>
                </a:solidFill>
              </a:rPr>
              <a:t> </a:t>
            </a:r>
            <a:br>
              <a:rPr lang="it-IT" sz="2600" i="1" dirty="0">
                <a:solidFill>
                  <a:schemeClr val="accent2"/>
                </a:solidFill>
              </a:rPr>
            </a:br>
            <a:r>
              <a:rPr lang="it-IT" sz="2600" dirty="0"/>
              <a:t>e poi eseguirla con il comando </a:t>
            </a:r>
            <a:r>
              <a:rPr lang="it-IT" sz="2600" i="1" dirty="0">
                <a:solidFill>
                  <a:schemeClr val="accent2"/>
                </a:solidFill>
              </a:rPr>
              <a:t>java </a:t>
            </a:r>
            <a:r>
              <a:rPr lang="it-IT" sz="2600" i="1" dirty="0" err="1">
                <a:solidFill>
                  <a:schemeClr val="accent2"/>
                </a:solidFill>
              </a:rPr>
              <a:t>PrimoProg</a:t>
            </a:r>
            <a:endParaRPr lang="it-IT" sz="26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000" dirty="0"/>
              <a:t>Errori di compilazione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it-IT" sz="2600" dirty="0"/>
              <a:t>Se il codice di una classe contiene errori sintattici, il compilatore non produrrà il </a:t>
            </a:r>
            <a:r>
              <a:rPr lang="it-IT" sz="2600" dirty="0" err="1"/>
              <a:t>bytecode</a:t>
            </a:r>
            <a:r>
              <a:rPr lang="it-IT" sz="2600" dirty="0"/>
              <a:t>, e rileverà tali errori con degli opportuni messaggi:</a:t>
            </a:r>
          </a:p>
          <a:p>
            <a:pPr lvl="1"/>
            <a:r>
              <a:rPr lang="it-IT" sz="2200" dirty="0"/>
              <a:t>i messaggi di errore del compilatore </a:t>
            </a:r>
            <a:r>
              <a:rPr lang="it-IT" sz="2200" i="1" dirty="0">
                <a:solidFill>
                  <a:schemeClr val="accent2"/>
                </a:solidFill>
              </a:rPr>
              <a:t>aiutano</a:t>
            </a:r>
            <a:r>
              <a:rPr lang="it-IT" sz="2200" dirty="0"/>
              <a:t> a comprendere gli errori e a correggerli</a:t>
            </a:r>
          </a:p>
          <a:p>
            <a:pPr lvl="1"/>
            <a:r>
              <a:rPr lang="it-IT" sz="2200" dirty="0"/>
              <a:t>nel testo di riferimento del corso sono contenuti vari suggerimenti su come interpretare i messaggi del compilatore e su come procedere per correggere errori sintattici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000" dirty="0"/>
              <a:t>Errori di esecuzione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968552"/>
          </a:xfrm>
        </p:spPr>
        <p:txBody>
          <a:bodyPr>
            <a:normAutofit/>
          </a:bodyPr>
          <a:lstStyle/>
          <a:p>
            <a:r>
              <a:rPr lang="it-IT" dirty="0"/>
              <a:t>Un programma può anche contenere o generare errori in fase di esecuzione, di varia natura:</a:t>
            </a:r>
          </a:p>
          <a:p>
            <a:pPr lvl="1"/>
            <a:r>
              <a:rPr lang="it-IT" u="sng" dirty="0">
                <a:solidFill>
                  <a:schemeClr val="accent1"/>
                </a:solidFill>
              </a:rPr>
              <a:t>errori di robustezza</a:t>
            </a:r>
            <a:r>
              <a:rPr lang="it-IT" dirty="0"/>
              <a:t>: dovuti a situazioni limite mal controllate dal programmatore (es. si assegna ad una variabile numerica un valore al di fuori del suo dominio)</a:t>
            </a:r>
          </a:p>
          <a:p>
            <a:pPr lvl="1"/>
            <a:r>
              <a:rPr lang="it-IT" u="sng" dirty="0">
                <a:solidFill>
                  <a:schemeClr val="accent1"/>
                </a:solidFill>
              </a:rPr>
              <a:t>errori di natura esterna</a:t>
            </a:r>
            <a:r>
              <a:rPr lang="it-IT" dirty="0"/>
              <a:t>: un evento esterno imprevisto impedisce la corretta prosecuzione del programma</a:t>
            </a:r>
          </a:p>
          <a:p>
            <a:pPr lvl="1"/>
            <a:r>
              <a:rPr lang="it-IT" u="sng" dirty="0">
                <a:solidFill>
                  <a:schemeClr val="accent1"/>
                </a:solidFill>
              </a:rPr>
              <a:t>errori di logica</a:t>
            </a:r>
            <a:r>
              <a:rPr lang="it-IT" dirty="0"/>
              <a:t>: il programma fornisce output inesatti a causa di un errore di logica nell’implementazione di qualche algoritmo da parte del programmatore</a:t>
            </a:r>
            <a:endParaRPr lang="it-IT" u="sng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000" dirty="0"/>
              <a:t>Ancora sulla classe </a:t>
            </a:r>
            <a:r>
              <a:rPr lang="it-IT" sz="4000" dirty="0" err="1"/>
              <a:t>OutputWindow</a:t>
            </a:r>
            <a:endParaRPr lang="it-IT" sz="40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Nel corso useremo diffusamente oggetti di tipo </a:t>
            </a:r>
            <a:r>
              <a:rPr lang="it-IT" i="1" dirty="0" err="1">
                <a:solidFill>
                  <a:schemeClr val="accent2"/>
                </a:solidFill>
              </a:rPr>
              <a:t>OutputWindow</a:t>
            </a:r>
            <a:r>
              <a:rPr lang="it-IT" dirty="0"/>
              <a:t> per inviare messaggi a video</a:t>
            </a:r>
          </a:p>
          <a:p>
            <a:r>
              <a:rPr lang="it-IT" dirty="0"/>
              <a:t>La classe offre altri tre costruttori oltre a quello visto</a:t>
            </a:r>
          </a:p>
          <a:p>
            <a:pPr lvl="1"/>
            <a:r>
              <a:rPr lang="it-IT" i="1" dirty="0" err="1">
                <a:solidFill>
                  <a:schemeClr val="accent2"/>
                </a:solidFill>
              </a:rPr>
              <a:t>OutputWindow</a:t>
            </a:r>
            <a:r>
              <a:rPr lang="it-IT" i="1" dirty="0">
                <a:solidFill>
                  <a:schemeClr val="accent2"/>
                </a:solidFill>
              </a:rPr>
              <a:t> (</a:t>
            </a:r>
            <a:r>
              <a:rPr lang="it-IT" i="1" dirty="0" err="1">
                <a:solidFill>
                  <a:schemeClr val="accent2"/>
                </a:solidFill>
              </a:rPr>
              <a:t>String</a:t>
            </a:r>
            <a:r>
              <a:rPr lang="it-IT" i="1" dirty="0">
                <a:solidFill>
                  <a:schemeClr val="accent2"/>
                </a:solidFill>
              </a:rPr>
              <a:t> s)</a:t>
            </a:r>
            <a:r>
              <a:rPr lang="it-IT" dirty="0"/>
              <a:t>: permette di specificare il titolo della finestra di output</a:t>
            </a:r>
            <a:r>
              <a:rPr lang="it-IT" i="1" dirty="0"/>
              <a:t> </a:t>
            </a:r>
            <a:endParaRPr lang="it-IT" i="1" dirty="0">
              <a:solidFill>
                <a:schemeClr val="accent2"/>
              </a:solidFill>
            </a:endParaRPr>
          </a:p>
          <a:p>
            <a:pPr lvl="1"/>
            <a:r>
              <a:rPr lang="it-IT" i="1" dirty="0" err="1">
                <a:solidFill>
                  <a:schemeClr val="accent2"/>
                </a:solidFill>
              </a:rPr>
              <a:t>OutputWindow</a:t>
            </a:r>
            <a:r>
              <a:rPr lang="it-IT" i="1" dirty="0">
                <a:solidFill>
                  <a:schemeClr val="accent2"/>
                </a:solidFill>
              </a:rPr>
              <a:t> (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 altezza, 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 larghezza)</a:t>
            </a:r>
            <a:r>
              <a:rPr lang="it-IT" dirty="0"/>
              <a:t>: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/>
              <a:t>permette di specificare le dimensioni della finestra di output</a:t>
            </a:r>
            <a:endParaRPr lang="it-IT" i="1" dirty="0">
              <a:solidFill>
                <a:schemeClr val="accent2"/>
              </a:solidFill>
            </a:endParaRPr>
          </a:p>
          <a:p>
            <a:pPr lvl="1"/>
            <a:r>
              <a:rPr lang="it-IT" i="1" dirty="0" err="1">
                <a:solidFill>
                  <a:schemeClr val="accent2"/>
                </a:solidFill>
              </a:rPr>
              <a:t>OutputWindow</a:t>
            </a:r>
            <a:r>
              <a:rPr lang="it-IT" i="1" dirty="0">
                <a:solidFill>
                  <a:schemeClr val="accent2"/>
                </a:solidFill>
              </a:rPr>
              <a:t> (</a:t>
            </a:r>
            <a:r>
              <a:rPr lang="it-IT" i="1" dirty="0" err="1">
                <a:solidFill>
                  <a:schemeClr val="accent2"/>
                </a:solidFill>
              </a:rPr>
              <a:t>String</a:t>
            </a:r>
            <a:r>
              <a:rPr lang="it-IT" i="1" dirty="0">
                <a:solidFill>
                  <a:schemeClr val="accent2"/>
                </a:solidFill>
              </a:rPr>
              <a:t> s, 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 altezza, 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 larghezza)</a:t>
            </a:r>
            <a:r>
              <a:rPr lang="it-IT" dirty="0"/>
              <a:t>: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/>
              <a:t>permette di specificare titolo e dimensioni della finestra di output</a:t>
            </a:r>
            <a:endParaRPr lang="it-IT" i="1" dirty="0">
              <a:solidFill>
                <a:schemeClr val="accent2"/>
              </a:solidFill>
            </a:endParaRPr>
          </a:p>
          <a:p>
            <a:endParaRPr lang="it-IT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000" dirty="0"/>
              <a:t>Esempio: la classe </a:t>
            </a:r>
            <a:r>
              <a:rPr lang="it-IT" sz="4000" dirty="0" err="1"/>
              <a:t>TreFinestre</a:t>
            </a:r>
            <a:endParaRPr lang="it-IT" sz="40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90872" y="1340768"/>
            <a:ext cx="8229600" cy="478539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import fond.io.OutputWindow;</a:t>
            </a:r>
          </a:p>
          <a:p>
            <a:pPr>
              <a:buNone/>
            </a:pPr>
            <a:endParaRPr lang="it-IT" sz="1800" noProof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public class TreFinestre{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/* crea tre diverse finestre di output */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public static void main(String[] args){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  new OutputWindow(40, 50).write("ciao");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  new OutputWindow("Output1").write("ciao");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  new OutputWindow("Output2", 10, 20).write("ciao");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}</a:t>
            </a:r>
            <a:endParaRPr lang="it-IT" sz="1800" i="1" noProof="1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it-IT" sz="1800" noProof="1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800" dirty="0"/>
              <a:t>Metodi della classe </a:t>
            </a:r>
            <a:r>
              <a:rPr lang="it-IT" sz="3800" dirty="0" err="1"/>
              <a:t>OutputWindow</a:t>
            </a:r>
            <a:endParaRPr lang="it-IT" sz="3800" dirty="0"/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/>
          </a:bodyPr>
          <a:lstStyle/>
          <a:p>
            <a:pPr>
              <a:spcBef>
                <a:spcPct val="50000"/>
              </a:spcBef>
              <a:defRPr/>
            </a:pPr>
            <a:r>
              <a:rPr lang="it-IT" dirty="0"/>
              <a:t>Gli oggetti di tipo </a:t>
            </a:r>
            <a:r>
              <a:rPr lang="it-IT" i="1" dirty="0" err="1">
                <a:solidFill>
                  <a:schemeClr val="accent2"/>
                </a:solidFill>
              </a:rPr>
              <a:t>OutputWindow</a:t>
            </a:r>
            <a:r>
              <a:rPr lang="it-IT" dirty="0"/>
              <a:t> offrono altri metodi utili:</a:t>
            </a:r>
          </a:p>
          <a:p>
            <a:pPr lvl="1">
              <a:spcBef>
                <a:spcPct val="50000"/>
              </a:spcBef>
              <a:defRPr/>
            </a:pPr>
            <a:r>
              <a:rPr lang="it-IT" dirty="0"/>
              <a:t>un metodo </a:t>
            </a:r>
            <a:r>
              <a:rPr lang="it-IT" i="1" dirty="0" err="1">
                <a:solidFill>
                  <a:schemeClr val="accent2"/>
                </a:solidFill>
              </a:rPr>
              <a:t>write</a:t>
            </a:r>
            <a:r>
              <a:rPr lang="it-IT" dirty="0"/>
              <a:t> diverso per ogni “possibile” tipo di dato che si vuol visualizzare</a:t>
            </a:r>
          </a:p>
          <a:p>
            <a:pPr lvl="1">
              <a:spcBef>
                <a:spcPct val="50000"/>
              </a:spcBef>
              <a:defRPr/>
            </a:pPr>
            <a:endParaRPr lang="it-IT" dirty="0"/>
          </a:p>
          <a:p>
            <a:pPr lvl="1">
              <a:spcBef>
                <a:spcPct val="50000"/>
              </a:spcBef>
              <a:defRPr/>
            </a:pPr>
            <a:endParaRPr lang="it-IT" dirty="0"/>
          </a:p>
          <a:p>
            <a:pPr lvl="1">
              <a:spcBef>
                <a:spcPct val="50000"/>
              </a:spcBef>
              <a:defRPr/>
            </a:pPr>
            <a:r>
              <a:rPr lang="it-IT" dirty="0"/>
              <a:t>per ogni </a:t>
            </a:r>
            <a:r>
              <a:rPr lang="it-IT" i="1" dirty="0" err="1">
                <a:solidFill>
                  <a:schemeClr val="accent2"/>
                </a:solidFill>
              </a:rPr>
              <a:t>write</a:t>
            </a:r>
            <a:r>
              <a:rPr lang="it-IT" dirty="0"/>
              <a:t> esiste anche la variante </a:t>
            </a:r>
            <a:r>
              <a:rPr lang="it-IT" i="1" dirty="0" err="1">
                <a:solidFill>
                  <a:schemeClr val="accent2"/>
                </a:solidFill>
              </a:rPr>
              <a:t>writeln</a:t>
            </a:r>
            <a:r>
              <a:rPr lang="it-IT" dirty="0"/>
              <a:t> che cambia linea alla fine del dato visualizzato</a:t>
            </a:r>
          </a:p>
          <a:p>
            <a:pPr lvl="1">
              <a:spcBef>
                <a:spcPct val="50000"/>
              </a:spcBef>
              <a:defRPr/>
            </a:pPr>
            <a:r>
              <a:rPr lang="it-IT" dirty="0"/>
              <a:t>un metodo per cambiare tipo e dimensione del font</a:t>
            </a:r>
          </a:p>
          <a:p>
            <a:pPr lvl="1">
              <a:spcBef>
                <a:spcPct val="50000"/>
              </a:spcBef>
              <a:defRPr/>
            </a:pPr>
            <a:endParaRPr lang="it-IT" i="1" u="sng" dirty="0">
              <a:solidFill>
                <a:srgbClr val="339933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endParaRPr lang="it-IT" dirty="0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448544" y="3284984"/>
            <a:ext cx="4419600" cy="119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void write(int i)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void write(double d)</a:t>
            </a:r>
          </a:p>
          <a:p>
            <a:pPr>
              <a:spcBef>
                <a:spcPct val="50000"/>
              </a:spcBef>
            </a:pPr>
            <a:r>
              <a:rPr lang="it-IT" noProof="1">
                <a:latin typeface="Courier New" pitchFamily="49" charset="0"/>
              </a:rPr>
              <a:t>...</a:t>
            </a: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1403648" y="5877272"/>
            <a:ext cx="4876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dirty="0" err="1">
                <a:latin typeface="Courier New" pitchFamily="49" charset="0"/>
              </a:rPr>
              <a:t>void</a:t>
            </a:r>
            <a:r>
              <a:rPr lang="it-IT" dirty="0">
                <a:latin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</a:rPr>
              <a:t>setFont</a:t>
            </a:r>
            <a:r>
              <a:rPr lang="it-IT" dirty="0">
                <a:latin typeface="Courier New" pitchFamily="49" charset="0"/>
              </a:rPr>
              <a:t>(</a:t>
            </a:r>
            <a:r>
              <a:rPr lang="it-IT" dirty="0" err="1">
                <a:latin typeface="Courier New" pitchFamily="49" charset="0"/>
              </a:rPr>
              <a:t>String</a:t>
            </a:r>
            <a:r>
              <a:rPr lang="it-IT" dirty="0">
                <a:latin typeface="Courier New" pitchFamily="49" charset="0"/>
              </a:rPr>
              <a:t> f, </a:t>
            </a:r>
            <a:r>
              <a:rPr lang="it-IT" dirty="0" err="1">
                <a:latin typeface="Courier New" pitchFamily="49" charset="0"/>
              </a:rPr>
              <a:t>int</a:t>
            </a:r>
            <a:r>
              <a:rPr lang="it-IT" dirty="0">
                <a:latin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</a:rPr>
              <a:t>dim</a:t>
            </a:r>
            <a:r>
              <a:rPr lang="it-IT" dirty="0">
                <a:latin typeface="Courier New" pitchFamily="49" charset="0"/>
              </a:rPr>
              <a:t>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000" dirty="0"/>
              <a:t>Esempio: la classe </a:t>
            </a:r>
            <a:r>
              <a:rPr lang="it-IT" sz="4000" dirty="0" err="1"/>
              <a:t>ProvaFont</a:t>
            </a:r>
            <a:endParaRPr lang="it-IT" sz="40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90872" y="1340768"/>
            <a:ext cx="8229600" cy="4785395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import fond.io.OutputWindow;</a:t>
            </a:r>
          </a:p>
          <a:p>
            <a:pPr>
              <a:buNone/>
            </a:pPr>
            <a:endParaRPr lang="it-IT" sz="1800" noProof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public class ProvaFont{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/* crea due finestre di output con font diversi */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public static void main(String[] args){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  OutputWindow out1 = new OutputWindow("Output 1", 10, 40);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  OutputWindow out2 = new OutputWindow("Output 2", 10, 40);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  out1.setFont("Arial", 20);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  out2.setFont("Script MT Bold", 20);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  out1.writeln("Ciao");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  out1.write("Sto usando il font Arial");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  out2.writeln("Ciao");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  out2.write("Sto usando il font Script MT Bold");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000" dirty="0"/>
              <a:t>Esecuzione della classe </a:t>
            </a:r>
            <a:r>
              <a:rPr lang="it-IT" sz="4000" dirty="0" err="1"/>
              <a:t>ProvaFont</a:t>
            </a:r>
            <a:endParaRPr lang="it-IT" sz="4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2060848"/>
            <a:ext cx="6356176" cy="3391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Lo standard output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r>
              <a:rPr lang="it-IT" sz="2600" dirty="0"/>
              <a:t>L’API di Java offre una classe di nome </a:t>
            </a:r>
            <a:r>
              <a:rPr lang="it-IT" sz="2600" i="1" dirty="0">
                <a:solidFill>
                  <a:schemeClr val="accent2"/>
                </a:solidFill>
              </a:rPr>
              <a:t>System</a:t>
            </a:r>
            <a:r>
              <a:rPr lang="it-IT" sz="2600" dirty="0"/>
              <a:t>, che rappresenta una astrazione del sistema (JVM, sistema operativo, hardware)</a:t>
            </a:r>
          </a:p>
          <a:p>
            <a:pPr lvl="1"/>
            <a:r>
              <a:rPr lang="it-IT" sz="2200" dirty="0"/>
              <a:t>la classe </a:t>
            </a:r>
            <a:r>
              <a:rPr lang="it-IT" sz="2200" i="1" dirty="0">
                <a:solidFill>
                  <a:schemeClr val="accent2"/>
                </a:solidFill>
              </a:rPr>
              <a:t>System</a:t>
            </a:r>
            <a:r>
              <a:rPr lang="it-IT" sz="2200" dirty="0"/>
              <a:t> è definita nel package </a:t>
            </a:r>
            <a:r>
              <a:rPr lang="it-IT" sz="2200" i="1" dirty="0" err="1">
                <a:solidFill>
                  <a:schemeClr val="accent2"/>
                </a:solidFill>
              </a:rPr>
              <a:t>java.lang</a:t>
            </a:r>
            <a:r>
              <a:rPr lang="it-IT" sz="2200" dirty="0"/>
              <a:t>, e quindi si può usare senza direttive di importazione</a:t>
            </a:r>
          </a:p>
          <a:p>
            <a:r>
              <a:rPr lang="it-IT" sz="2600" dirty="0"/>
              <a:t>Nella classe </a:t>
            </a:r>
            <a:r>
              <a:rPr lang="it-IT" sz="2600" i="1" dirty="0">
                <a:solidFill>
                  <a:schemeClr val="accent2"/>
                </a:solidFill>
              </a:rPr>
              <a:t>System</a:t>
            </a:r>
            <a:r>
              <a:rPr lang="it-IT" sz="2600" dirty="0"/>
              <a:t> </a:t>
            </a:r>
            <a:r>
              <a:rPr lang="it-IT" sz="2600"/>
              <a:t>è definito </a:t>
            </a:r>
            <a:r>
              <a:rPr lang="it-IT" sz="2600" dirty="0"/>
              <a:t>un attributo di tipo riferimento, chiamato </a:t>
            </a:r>
            <a:r>
              <a:rPr lang="it-IT" sz="2600" i="1" dirty="0">
                <a:solidFill>
                  <a:schemeClr val="accent2"/>
                </a:solidFill>
              </a:rPr>
              <a:t>out</a:t>
            </a:r>
            <a:r>
              <a:rPr lang="it-IT" sz="2600" dirty="0"/>
              <a:t>, che rappresenta il così detto </a:t>
            </a:r>
            <a:r>
              <a:rPr lang="it-IT" sz="2600" u="sng" dirty="0">
                <a:solidFill>
                  <a:schemeClr val="accent1"/>
                </a:solidFill>
              </a:rPr>
              <a:t>standard output</a:t>
            </a:r>
            <a:r>
              <a:rPr lang="it-IT" sz="2600" dirty="0"/>
              <a:t>:</a:t>
            </a:r>
          </a:p>
          <a:p>
            <a:pPr lvl="1"/>
            <a:r>
              <a:rPr lang="it-IT" sz="2200" dirty="0"/>
              <a:t>in Windows, lo standard output è il terminale video testuale (</a:t>
            </a:r>
            <a:r>
              <a:rPr lang="it-IT" sz="2200" dirty="0" err="1"/>
              <a:t>prompt</a:t>
            </a:r>
            <a:r>
              <a:rPr lang="it-IT" sz="2200" dirty="0"/>
              <a:t> dei comandi) dal quale si lancia il programma</a:t>
            </a:r>
          </a:p>
          <a:p>
            <a:pPr lvl="1"/>
            <a:r>
              <a:rPr lang="it-IT" sz="2200" dirty="0"/>
              <a:t>lo standard output può essere ridefinito</a:t>
            </a:r>
            <a:endParaRPr lang="it-IT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L’oggetto </a:t>
            </a:r>
            <a:r>
              <a:rPr lang="it-IT" dirty="0" err="1"/>
              <a:t>System.out</a:t>
            </a:r>
            <a:endParaRPr lang="it-IT" dirty="0"/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r>
              <a:rPr lang="it-IT" sz="2600" dirty="0"/>
              <a:t>Dunque, l’espressione </a:t>
            </a:r>
            <a:r>
              <a:rPr lang="it-IT" sz="2600" i="1" dirty="0" err="1">
                <a:solidFill>
                  <a:schemeClr val="accent2"/>
                </a:solidFill>
              </a:rPr>
              <a:t>System.out</a:t>
            </a:r>
            <a:r>
              <a:rPr lang="it-IT" sz="2600" dirty="0"/>
              <a:t> referenzia l’oggetto che rappresenta lo standard output</a:t>
            </a:r>
          </a:p>
          <a:p>
            <a:pPr lvl="1"/>
            <a:r>
              <a:rPr lang="it-IT" sz="2200" i="1" dirty="0" err="1">
                <a:solidFill>
                  <a:schemeClr val="accent2"/>
                </a:solidFill>
              </a:rPr>
              <a:t>System.out</a:t>
            </a:r>
            <a:r>
              <a:rPr lang="it-IT" sz="2200" dirty="0"/>
              <a:t> è un oggetto già pronto per l’uso, e non va creato esplicitamente come gli oggetti </a:t>
            </a:r>
            <a:r>
              <a:rPr lang="it-IT" sz="2200" i="1" dirty="0" err="1">
                <a:solidFill>
                  <a:schemeClr val="accent2"/>
                </a:solidFill>
              </a:rPr>
              <a:t>OutputWindow</a:t>
            </a:r>
            <a:endParaRPr lang="it-IT" sz="2200" dirty="0"/>
          </a:p>
          <a:p>
            <a:endParaRPr lang="it-IT" sz="2600" i="1" dirty="0">
              <a:solidFill>
                <a:schemeClr val="accent2"/>
              </a:solidFill>
            </a:endParaRPr>
          </a:p>
          <a:p>
            <a:r>
              <a:rPr lang="it-IT" sz="2600" dirty="0"/>
              <a:t>L’oggetto </a:t>
            </a:r>
            <a:r>
              <a:rPr lang="it-IT" sz="2600" i="1" dirty="0" err="1">
                <a:solidFill>
                  <a:schemeClr val="accent2"/>
                </a:solidFill>
              </a:rPr>
              <a:t>System.out</a:t>
            </a:r>
            <a:r>
              <a:rPr lang="it-IT" sz="2600" dirty="0"/>
              <a:t> ha i metodi </a:t>
            </a:r>
            <a:r>
              <a:rPr lang="it-IT" sz="2600" i="1" dirty="0" err="1">
                <a:solidFill>
                  <a:schemeClr val="accent2"/>
                </a:solidFill>
              </a:rPr>
              <a:t>print</a:t>
            </a:r>
            <a:r>
              <a:rPr lang="it-IT" sz="2600" dirty="0"/>
              <a:t> e </a:t>
            </a:r>
            <a:r>
              <a:rPr lang="it-IT" sz="2600" i="1" dirty="0" err="1">
                <a:solidFill>
                  <a:schemeClr val="accent2"/>
                </a:solidFill>
              </a:rPr>
              <a:t>println</a:t>
            </a:r>
            <a:r>
              <a:rPr lang="it-IT" sz="2600" dirty="0"/>
              <a:t>, che svolgono lo stesso ruolo dei metodi </a:t>
            </a:r>
            <a:r>
              <a:rPr lang="it-IT" sz="2600" i="1" dirty="0" err="1">
                <a:solidFill>
                  <a:schemeClr val="accent2"/>
                </a:solidFill>
              </a:rPr>
              <a:t>write</a:t>
            </a:r>
            <a:r>
              <a:rPr lang="it-IT" sz="2600" dirty="0"/>
              <a:t> e </a:t>
            </a:r>
            <a:r>
              <a:rPr lang="it-IT" sz="2600" i="1" dirty="0" err="1">
                <a:solidFill>
                  <a:schemeClr val="accent2"/>
                </a:solidFill>
              </a:rPr>
              <a:t>writeln</a:t>
            </a:r>
            <a:r>
              <a:rPr lang="it-IT" sz="2600" dirty="0"/>
              <a:t> degli oggetti </a:t>
            </a:r>
            <a:r>
              <a:rPr lang="it-IT" sz="2600" i="1" dirty="0" err="1">
                <a:solidFill>
                  <a:schemeClr val="accent2"/>
                </a:solidFill>
              </a:rPr>
              <a:t>OutputWindow</a:t>
            </a:r>
            <a:endParaRPr lang="it-IT" sz="2600" i="1" dirty="0">
              <a:solidFill>
                <a:schemeClr val="accent2"/>
              </a:solidFill>
            </a:endParaRPr>
          </a:p>
          <a:p>
            <a:pPr lvl="1"/>
            <a:r>
              <a:rPr lang="it-IT" sz="2200" dirty="0"/>
              <a:t>I messaggi stampati </a:t>
            </a:r>
            <a:r>
              <a:rPr lang="it-IT" sz="2200" dirty="0" err="1"/>
              <a:t>con</a:t>
            </a:r>
            <a:r>
              <a:rPr lang="it-IT" sz="2200" i="1" dirty="0" err="1">
                <a:solidFill>
                  <a:schemeClr val="accent2"/>
                </a:solidFill>
              </a:rPr>
              <a:t>System.out</a:t>
            </a:r>
            <a:r>
              <a:rPr lang="it-IT" sz="2200" dirty="0"/>
              <a:t> non appaiono però su una finestra grafica personalizzabile, bensì sul </a:t>
            </a:r>
            <a:r>
              <a:rPr lang="it-IT" sz="2200" dirty="0" err="1"/>
              <a:t>prompt</a:t>
            </a:r>
            <a:r>
              <a:rPr lang="it-IT" sz="2200" dirty="0"/>
              <a:t> dei comandi (finestra testuale)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000" dirty="0"/>
              <a:t>Esempio di uso di </a:t>
            </a:r>
            <a:r>
              <a:rPr lang="it-IT" sz="4000" dirty="0" err="1"/>
              <a:t>System.out</a:t>
            </a:r>
            <a:endParaRPr lang="it-IT" sz="40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90872" y="1340768"/>
            <a:ext cx="8229600" cy="478539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public class CiaoMondo{</a:t>
            </a:r>
          </a:p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  /* stampa "ciao mondo" sullo standard output */</a:t>
            </a:r>
          </a:p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  public static void main(String[] args){</a:t>
            </a:r>
          </a:p>
          <a:p>
            <a:pPr>
              <a:buNone/>
            </a:pPr>
            <a:r>
              <a:rPr lang="it-IT" sz="18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System.out.print("ciao mondo");</a:t>
            </a:r>
          </a:p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611560" y="3645024"/>
            <a:ext cx="7704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L’oggetto </a:t>
            </a:r>
            <a:r>
              <a:rPr lang="it-IT" sz="2400" i="1" dirty="0" err="1">
                <a:solidFill>
                  <a:schemeClr val="accent2"/>
                </a:solidFill>
              </a:rPr>
              <a:t>System.out</a:t>
            </a:r>
            <a:r>
              <a:rPr lang="it-IT" sz="2400" dirty="0"/>
              <a:t> può essere usato direttamente</a:t>
            </a:r>
          </a:p>
        </p:txBody>
      </p:sp>
      <p:cxnSp>
        <p:nvCxnSpPr>
          <p:cNvPr id="6" name="Connettore 2 5"/>
          <p:cNvCxnSpPr>
            <a:stCxn id="4" idx="0"/>
          </p:cNvCxnSpPr>
          <p:nvPr/>
        </p:nvCxnSpPr>
        <p:spPr>
          <a:xfrm flipH="1" flipV="1">
            <a:off x="2915816" y="2708920"/>
            <a:ext cx="1548172" cy="936104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Altri esempi di uso di oggetti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r>
              <a:rPr lang="it-IT" dirty="0"/>
              <a:t>Fino ad ora abbiamo visto come inviare messaggi a video</a:t>
            </a:r>
          </a:p>
          <a:p>
            <a:r>
              <a:rPr lang="it-IT" dirty="0"/>
              <a:t>Molti programmi necessitano anche di acquisire dati dall’esterno (ad esempio dall’utente)</a:t>
            </a:r>
          </a:p>
          <a:p>
            <a:endParaRPr lang="it-IT" dirty="0"/>
          </a:p>
          <a:p>
            <a:r>
              <a:rPr lang="it-IT" dirty="0"/>
              <a:t>Vedremo ora altri esempi di uso di oggetti introducendo un nuovo tipo di oggetti che useremo per acquisire dati immessi dall’utente tramite la tastiera</a:t>
            </a:r>
            <a:endParaRPr lang="it-IT" sz="2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</a:t>
            </a:r>
            <a:r>
              <a:rPr lang="it-IT" dirty="0" err="1"/>
              <a:t>InputWindow</a:t>
            </a:r>
            <a:endParaRPr lang="it-IT" dirty="0"/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r>
              <a:rPr lang="it-IT" dirty="0"/>
              <a:t>In questo corso forniamo la classe </a:t>
            </a:r>
            <a:r>
              <a:rPr lang="it-IT" i="1" dirty="0" err="1">
                <a:solidFill>
                  <a:schemeClr val="accent2"/>
                </a:solidFill>
              </a:rPr>
              <a:t>InputWindow</a:t>
            </a:r>
            <a:r>
              <a:rPr lang="it-IT" dirty="0"/>
              <a:t>, che consente ai programmi di acquisire dati immessi da tastiera</a:t>
            </a:r>
          </a:p>
          <a:p>
            <a:pPr lvl="1"/>
            <a:r>
              <a:rPr lang="it-IT" dirty="0"/>
              <a:t>la classe </a:t>
            </a:r>
            <a:r>
              <a:rPr lang="it-IT" i="1" dirty="0" err="1">
                <a:solidFill>
                  <a:schemeClr val="accent2"/>
                </a:solidFill>
              </a:rPr>
              <a:t>InputWindow</a:t>
            </a:r>
            <a:r>
              <a:rPr lang="it-IT" dirty="0"/>
              <a:t> si trova nel package </a:t>
            </a:r>
            <a:r>
              <a:rPr lang="it-IT" i="1" dirty="0" err="1">
                <a:solidFill>
                  <a:schemeClr val="accent2"/>
                </a:solidFill>
              </a:rPr>
              <a:t>fond.io</a:t>
            </a:r>
            <a:endParaRPr lang="it-IT" i="1" dirty="0">
              <a:solidFill>
                <a:schemeClr val="accent2"/>
              </a:solidFill>
            </a:endParaRPr>
          </a:p>
          <a:p>
            <a:pPr lvl="1"/>
            <a:r>
              <a:rPr lang="it-IT" dirty="0"/>
              <a:t>la classe </a:t>
            </a:r>
            <a:r>
              <a:rPr lang="it-IT" i="1" dirty="0" err="1">
                <a:solidFill>
                  <a:schemeClr val="accent2"/>
                </a:solidFill>
              </a:rPr>
              <a:t>InputWindow</a:t>
            </a:r>
            <a:r>
              <a:rPr lang="it-IT" dirty="0"/>
              <a:t> ha un solo costruttore per creare oggetti, il costruttore che non prende parametri</a:t>
            </a:r>
          </a:p>
          <a:p>
            <a:pPr lvl="1"/>
            <a:endParaRPr lang="it-IT" dirty="0"/>
          </a:p>
          <a:p>
            <a:pPr lvl="1"/>
            <a:endParaRPr lang="it-IT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</a:t>
            </a:r>
            <a:r>
              <a:rPr lang="it-IT" dirty="0" err="1"/>
              <a:t>InputWindow</a:t>
            </a:r>
            <a:r>
              <a:rPr lang="it-IT" dirty="0"/>
              <a:t>: metodi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r>
              <a:rPr lang="it-IT" dirty="0"/>
              <a:t>Un oggetto di tipo </a:t>
            </a:r>
            <a:r>
              <a:rPr lang="it-IT" i="1" dirty="0" err="1">
                <a:solidFill>
                  <a:schemeClr val="accent2"/>
                </a:solidFill>
              </a:rPr>
              <a:t>InputWindow</a:t>
            </a:r>
            <a:r>
              <a:rPr lang="it-IT" dirty="0"/>
              <a:t> ha metodi di istanza per acquisire dati di varia natura:</a:t>
            </a:r>
          </a:p>
          <a:p>
            <a:pPr lvl="1"/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readInt</a:t>
            </a:r>
            <a:r>
              <a:rPr lang="it-IT" i="1" dirty="0">
                <a:solidFill>
                  <a:schemeClr val="accent2"/>
                </a:solidFill>
              </a:rPr>
              <a:t>(); // acquisisce un intero</a:t>
            </a:r>
          </a:p>
          <a:p>
            <a:pPr lvl="1"/>
            <a:r>
              <a:rPr lang="it-IT" i="1" dirty="0" err="1">
                <a:solidFill>
                  <a:schemeClr val="accent2"/>
                </a:solidFill>
              </a:rPr>
              <a:t>double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readDouble</a:t>
            </a:r>
            <a:r>
              <a:rPr lang="it-IT" i="1" dirty="0">
                <a:solidFill>
                  <a:schemeClr val="accent2"/>
                </a:solidFill>
              </a:rPr>
              <a:t>(); // acquisisce un numero reale</a:t>
            </a:r>
          </a:p>
          <a:p>
            <a:pPr lvl="1"/>
            <a:r>
              <a:rPr lang="it-IT" i="1" dirty="0" err="1">
                <a:solidFill>
                  <a:schemeClr val="accent2"/>
                </a:solidFill>
              </a:rPr>
              <a:t>String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readString</a:t>
            </a:r>
            <a:r>
              <a:rPr lang="it-IT" i="1" dirty="0">
                <a:solidFill>
                  <a:schemeClr val="accent2"/>
                </a:solidFill>
              </a:rPr>
              <a:t>(); // acquisisce una stringa</a:t>
            </a:r>
          </a:p>
          <a:p>
            <a:endParaRPr lang="it-IT" dirty="0"/>
          </a:p>
          <a:p>
            <a:r>
              <a:rPr lang="it-IT"/>
              <a:t>È possibile </a:t>
            </a:r>
            <a:r>
              <a:rPr lang="it-IT" dirty="0"/>
              <a:t>acquisire anche altri tipi di dato (di cui parleremo nella lezione D6)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</a:t>
            </a:r>
            <a:r>
              <a:rPr lang="it-IT" dirty="0" err="1"/>
              <a:t>InputWindow</a:t>
            </a:r>
            <a:r>
              <a:rPr lang="it-IT" dirty="0"/>
              <a:t>: metodi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r>
              <a:rPr lang="it-IT" dirty="0"/>
              <a:t>Quando si invoca un metodo di acquisizione dati su un oggetto </a:t>
            </a:r>
            <a:r>
              <a:rPr lang="it-IT" i="1" dirty="0" err="1">
                <a:solidFill>
                  <a:schemeClr val="accent2"/>
                </a:solidFill>
              </a:rPr>
              <a:t>InputWindow</a:t>
            </a:r>
            <a:r>
              <a:rPr lang="it-IT" dirty="0"/>
              <a:t>, tale metodo apre a video un pannello grafico in cui l’utente può inserire il dato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Ad esempio, invocando il metodo </a:t>
            </a:r>
            <a:r>
              <a:rPr lang="it-IT" i="1" dirty="0" err="1">
                <a:solidFill>
                  <a:schemeClr val="accent2"/>
                </a:solidFill>
              </a:rPr>
              <a:t>readString</a:t>
            </a:r>
            <a:r>
              <a:rPr lang="it-IT" i="1" dirty="0">
                <a:solidFill>
                  <a:schemeClr val="accent2"/>
                </a:solidFill>
              </a:rPr>
              <a:t>()</a:t>
            </a:r>
            <a:r>
              <a:rPr lang="it-IT" dirty="0">
                <a:solidFill>
                  <a:schemeClr val="accent2"/>
                </a:solidFill>
              </a:rPr>
              <a:t> </a:t>
            </a:r>
            <a:r>
              <a:rPr lang="it-IT" dirty="0"/>
              <a:t>apparirebbe il seguente pannello</a:t>
            </a:r>
            <a:endParaRPr lang="it-IT" i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20000" y="4204800"/>
            <a:ext cx="4857750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</a:t>
            </a:r>
            <a:r>
              <a:rPr lang="it-IT" dirty="0" err="1"/>
              <a:t>InputWindow</a:t>
            </a:r>
            <a:r>
              <a:rPr lang="it-IT" dirty="0"/>
              <a:t>: metodi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r>
              <a:rPr lang="it-IT" sz="2600" dirty="0"/>
              <a:t>Per ogni metodo </a:t>
            </a:r>
            <a:r>
              <a:rPr lang="it-IT" sz="2600" i="1" dirty="0" err="1">
                <a:solidFill>
                  <a:schemeClr val="accent2"/>
                </a:solidFill>
              </a:rPr>
              <a:t>readX</a:t>
            </a:r>
            <a:r>
              <a:rPr lang="it-IT" sz="2600" i="1" dirty="0">
                <a:solidFill>
                  <a:schemeClr val="accent2"/>
                </a:solidFill>
              </a:rPr>
              <a:t>()</a:t>
            </a:r>
            <a:r>
              <a:rPr lang="it-IT" sz="2600" i="1" dirty="0"/>
              <a:t> </a:t>
            </a:r>
            <a:r>
              <a:rPr lang="it-IT" sz="2600" dirty="0"/>
              <a:t>della classe </a:t>
            </a:r>
            <a:r>
              <a:rPr lang="it-IT" sz="2600" i="1" dirty="0" err="1">
                <a:solidFill>
                  <a:schemeClr val="accent2"/>
                </a:solidFill>
              </a:rPr>
              <a:t>InputWindow</a:t>
            </a:r>
            <a:r>
              <a:rPr lang="it-IT" sz="2600" dirty="0"/>
              <a:t>, esiste anche la variante </a:t>
            </a:r>
            <a:r>
              <a:rPr lang="it-IT" sz="2600" i="1" dirty="0" err="1">
                <a:solidFill>
                  <a:schemeClr val="accent2"/>
                </a:solidFill>
              </a:rPr>
              <a:t>readX</a:t>
            </a:r>
            <a:r>
              <a:rPr lang="it-IT" sz="2600" i="1" dirty="0">
                <a:solidFill>
                  <a:schemeClr val="accent2"/>
                </a:solidFill>
              </a:rPr>
              <a:t>(</a:t>
            </a:r>
            <a:r>
              <a:rPr lang="it-IT" sz="2600" i="1" dirty="0" err="1">
                <a:solidFill>
                  <a:schemeClr val="accent2"/>
                </a:solidFill>
              </a:rPr>
              <a:t>String</a:t>
            </a:r>
            <a:r>
              <a:rPr lang="it-IT" sz="2600" i="1" dirty="0">
                <a:solidFill>
                  <a:schemeClr val="accent2"/>
                </a:solidFill>
              </a:rPr>
              <a:t> s)</a:t>
            </a:r>
            <a:r>
              <a:rPr lang="it-IT" sz="2600" i="1" dirty="0"/>
              <a:t>, </a:t>
            </a:r>
            <a:r>
              <a:rPr lang="it-IT" sz="2600" dirty="0"/>
              <a:t>che permette di personalizzare il messaggio di richiesta inserimento del dato con la stringa passata come parametro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4205436"/>
            <a:ext cx="4857750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ttangolo 5"/>
          <p:cNvSpPr/>
          <p:nvPr/>
        </p:nvSpPr>
        <p:spPr>
          <a:xfrm>
            <a:off x="2627784" y="4925516"/>
            <a:ext cx="1361332" cy="25206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8" name="Connettore 2 7"/>
          <p:cNvCxnSpPr/>
          <p:nvPr/>
        </p:nvCxnSpPr>
        <p:spPr>
          <a:xfrm flipH="1">
            <a:off x="4067944" y="3917404"/>
            <a:ext cx="1440160" cy="1008112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/>
          <p:cNvSpPr txBox="1"/>
          <p:nvPr/>
        </p:nvSpPr>
        <p:spPr>
          <a:xfrm>
            <a:off x="5580112" y="3485356"/>
            <a:ext cx="2664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messaggio personalizzabile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</a:t>
            </a:r>
            <a:r>
              <a:rPr lang="it-IT" dirty="0" err="1"/>
              <a:t>Echo</a:t>
            </a:r>
            <a:endParaRPr lang="it-IT" dirty="0"/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r>
              <a:rPr lang="it-IT" dirty="0"/>
              <a:t>Vogliamo scrivere un programma che:</a:t>
            </a:r>
          </a:p>
          <a:p>
            <a:pPr lvl="1"/>
            <a:r>
              <a:rPr lang="it-IT" dirty="0"/>
              <a:t>chieda all’utente di inserire una stringa qualsiasi</a:t>
            </a:r>
          </a:p>
          <a:p>
            <a:pPr lvl="1"/>
            <a:r>
              <a:rPr lang="it-IT" dirty="0"/>
              <a:t>stampi in una finestra grafica la stringa inserita dall’utente</a:t>
            </a:r>
          </a:p>
          <a:p>
            <a:r>
              <a:rPr lang="it-IT" dirty="0"/>
              <a:t>A tal fine realizzeremo una semplice classe di nome </a:t>
            </a:r>
            <a:r>
              <a:rPr lang="it-IT" i="1" dirty="0" err="1">
                <a:solidFill>
                  <a:schemeClr val="accent2"/>
                </a:solidFill>
              </a:rPr>
              <a:t>Echo</a:t>
            </a:r>
            <a:r>
              <a:rPr lang="it-IT" dirty="0"/>
              <a:t>, dotata al solito del solo metodo speciale </a:t>
            </a:r>
            <a:r>
              <a:rPr lang="it-IT" i="1" dirty="0" err="1">
                <a:solidFill>
                  <a:schemeClr val="accent2"/>
                </a:solidFill>
              </a:rPr>
              <a:t>main</a:t>
            </a:r>
            <a:endParaRPr lang="it-IT" i="1" dirty="0">
              <a:solidFill>
                <a:schemeClr val="accent2"/>
              </a:solidFill>
            </a:endParaRPr>
          </a:p>
          <a:p>
            <a:pPr lvl="1"/>
            <a:r>
              <a:rPr lang="it-IT" dirty="0"/>
              <a:t>mostreremo dapprima l’intero codice della classe </a:t>
            </a:r>
            <a:r>
              <a:rPr lang="it-IT" i="1" dirty="0" err="1">
                <a:solidFill>
                  <a:schemeClr val="accent2"/>
                </a:solidFill>
              </a:rPr>
              <a:t>Echo</a:t>
            </a:r>
            <a:r>
              <a:rPr lang="it-IT" dirty="0"/>
              <a:t>, e discuteremo poi le parti più rilevanti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</a:t>
            </a:r>
            <a:r>
              <a:rPr lang="it-IT" dirty="0" err="1"/>
              <a:t>Echo</a:t>
            </a:r>
            <a:r>
              <a:rPr lang="it-IT" dirty="0"/>
              <a:t>: il codice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sz="1800" noProof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public class Echo{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/* visualizza una stringa inserita dall'utente */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public static void main(String[] args){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	 InputWindow in = new InputWindow();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	 String str = in.readString();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	 OutputWindow out = new OutputWindow("Echo");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	 out.write(str);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Creazione oggetto </a:t>
            </a:r>
            <a:r>
              <a:rPr lang="it-IT" dirty="0" err="1"/>
              <a:t>InputWindow</a:t>
            </a:r>
            <a:endParaRPr lang="it-IT" dirty="0"/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367240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sz="1800" noProof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public class Echo{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/* visualizza una stringa inserita dall'utente */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public static void main(String[] args){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	 </a:t>
            </a:r>
            <a:r>
              <a:rPr lang="it-IT" sz="18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InputWindow in = new InputWindow();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	 String str = in.readString();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	 OutputWindow out = new OutputWindow("Echo");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	 out.write(str);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539552" y="5157192"/>
            <a:ext cx="83529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L’istruzione crea un oggetto di tipo </a:t>
            </a:r>
            <a:r>
              <a:rPr lang="it-IT" sz="2000" i="1" dirty="0" err="1">
                <a:solidFill>
                  <a:schemeClr val="accent2"/>
                </a:solidFill>
              </a:rPr>
              <a:t>InputWindow</a:t>
            </a:r>
            <a:r>
              <a:rPr lang="it-IT" sz="2000" dirty="0"/>
              <a:t> con l’unico costruttore possibile (quello senza parametri) e memorizza poi il riferimento a tale oggetto in una variabile riferimento di tipo </a:t>
            </a:r>
            <a:r>
              <a:rPr lang="it-IT" sz="2000" i="1" dirty="0" err="1">
                <a:solidFill>
                  <a:schemeClr val="accent2"/>
                </a:solidFill>
              </a:rPr>
              <a:t>InputWindow</a:t>
            </a:r>
            <a:endParaRPr lang="it-IT" sz="20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Lettura del dato stringa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367240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sz="1800" noProof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public class Echo{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/* visualizza una stringa inserita dall'utente */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public static void main(String[] args){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	 InputWindow in = new InputWindow();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	 </a:t>
            </a:r>
            <a:r>
              <a:rPr lang="it-IT" sz="18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String str = in.readString();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	 OutputWindow out = new OutputWindow("Echo");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	 out.write(str);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539552" y="5157192"/>
            <a:ext cx="83529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L’istruzione </a:t>
            </a:r>
            <a:r>
              <a:rPr lang="it-IT" sz="2000" i="1" dirty="0" err="1">
                <a:solidFill>
                  <a:schemeClr val="accent2"/>
                </a:solidFill>
              </a:rPr>
              <a:t>in.readString</a:t>
            </a:r>
            <a:r>
              <a:rPr lang="it-IT" sz="2000" i="1" dirty="0">
                <a:solidFill>
                  <a:schemeClr val="accent2"/>
                </a:solidFill>
              </a:rPr>
              <a:t>() </a:t>
            </a:r>
            <a:r>
              <a:rPr lang="it-IT" sz="2000" dirty="0"/>
              <a:t>invoca il metodo </a:t>
            </a:r>
            <a:r>
              <a:rPr lang="it-IT" sz="2000" i="1" dirty="0" err="1">
                <a:solidFill>
                  <a:schemeClr val="accent2"/>
                </a:solidFill>
              </a:rPr>
              <a:t>readString</a:t>
            </a:r>
            <a:r>
              <a:rPr lang="it-IT" sz="2000" i="1" dirty="0">
                <a:solidFill>
                  <a:schemeClr val="accent2"/>
                </a:solidFill>
              </a:rPr>
              <a:t>() </a:t>
            </a:r>
            <a:r>
              <a:rPr lang="it-IT" sz="2000" dirty="0"/>
              <a:t>sull’oggetto </a:t>
            </a:r>
            <a:r>
              <a:rPr lang="it-IT" sz="2000" i="1" dirty="0">
                <a:solidFill>
                  <a:schemeClr val="accent2"/>
                </a:solidFill>
              </a:rPr>
              <a:t>in</a:t>
            </a:r>
            <a:r>
              <a:rPr lang="it-IT" sz="2000" dirty="0"/>
              <a:t>. Il metodo causa l’apertura di un pannello di dialogo, in cui l’utente dovrà inserire una stringa; fatto ciò, il metodo restituisce la stringa inserita, la quale viene memorizzata nella variabile riferimento </a:t>
            </a:r>
            <a:r>
              <a:rPr lang="it-IT" sz="2000" i="1" dirty="0">
                <a:solidFill>
                  <a:schemeClr val="accent2"/>
                </a:solidFill>
              </a:rPr>
              <a:t>str</a:t>
            </a:r>
            <a:r>
              <a:rPr lang="it-IT" sz="2000" dirty="0"/>
              <a:t>. </a:t>
            </a:r>
            <a:endParaRPr lang="it-IT" sz="20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Lettura del dato stringa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2852936"/>
            <a:ext cx="7372350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egnaposto contenuto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1152128"/>
          </a:xfrm>
        </p:spPr>
        <p:txBody>
          <a:bodyPr>
            <a:normAutofit/>
          </a:bodyPr>
          <a:lstStyle/>
          <a:p>
            <a:r>
              <a:rPr lang="it-IT" dirty="0"/>
              <a:t>Ecco come apparirebbe l’output del programma durante l’esecuzione del metodo </a:t>
            </a:r>
            <a:r>
              <a:rPr lang="it-IT" i="1" dirty="0" err="1">
                <a:solidFill>
                  <a:schemeClr val="accent2"/>
                </a:solidFill>
              </a:rPr>
              <a:t>readString</a:t>
            </a:r>
            <a:r>
              <a:rPr lang="it-IT" i="1" dirty="0">
                <a:solidFill>
                  <a:schemeClr val="accent2"/>
                </a:solidFill>
              </a:rPr>
              <a:t>()</a:t>
            </a:r>
          </a:p>
          <a:p>
            <a:endParaRPr lang="it-IT" dirty="0"/>
          </a:p>
        </p:txBody>
      </p:sp>
      <p:sp>
        <p:nvSpPr>
          <p:cNvPr id="8" name="Segnaposto contenuto 2"/>
          <p:cNvSpPr txBox="1">
            <a:spLocks/>
          </p:cNvSpPr>
          <p:nvPr/>
        </p:nvSpPr>
        <p:spPr>
          <a:xfrm>
            <a:off x="457200" y="4725144"/>
            <a:ext cx="8229600" cy="1512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t-IT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Il metodo </a:t>
            </a:r>
            <a:r>
              <a:rPr kumimoji="0" lang="it-IT" sz="2800" b="0" i="1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readString</a:t>
            </a:r>
            <a:r>
              <a:rPr kumimoji="0" lang="it-IT" sz="2800" b="0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() </a:t>
            </a:r>
            <a:r>
              <a:rPr kumimoji="0" lang="it-IT" sz="28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rimane in attesa fino a quando l’utente non conferma</a:t>
            </a:r>
            <a:r>
              <a:rPr kumimoji="0" lang="it-IT" sz="2800" b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 l’inserimento del dato, premendo il bottone </a:t>
            </a:r>
            <a:r>
              <a:rPr kumimoji="0" lang="it-IT" sz="2800" b="1" u="sng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O</a:t>
            </a:r>
            <a:r>
              <a:rPr kumimoji="0" lang="it-IT" sz="2800" b="1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K</a:t>
            </a:r>
            <a:r>
              <a:rPr kumimoji="0" lang="it-IT" sz="2800" b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.</a:t>
            </a:r>
            <a:endParaRPr kumimoji="0" lang="it-IT" sz="28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Arial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it-IT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Lettura del dato stringa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2852936"/>
            <a:ext cx="7372350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egnaposto contenuto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1152128"/>
          </a:xfrm>
        </p:spPr>
        <p:txBody>
          <a:bodyPr>
            <a:normAutofit/>
          </a:bodyPr>
          <a:lstStyle/>
          <a:p>
            <a:r>
              <a:rPr lang="it-IT" dirty="0"/>
              <a:t>Ecco come apparirebbe l’output del programma durante l’esecuzione del metodo </a:t>
            </a:r>
            <a:r>
              <a:rPr lang="it-IT" i="1" dirty="0" err="1">
                <a:solidFill>
                  <a:schemeClr val="accent2"/>
                </a:solidFill>
              </a:rPr>
              <a:t>readString</a:t>
            </a:r>
            <a:r>
              <a:rPr lang="it-IT" i="1" dirty="0">
                <a:solidFill>
                  <a:schemeClr val="accent2"/>
                </a:solidFill>
              </a:rPr>
              <a:t>()</a:t>
            </a:r>
          </a:p>
          <a:p>
            <a:endParaRPr lang="it-IT" dirty="0"/>
          </a:p>
        </p:txBody>
      </p:sp>
      <p:sp>
        <p:nvSpPr>
          <p:cNvPr id="8" name="Segnaposto contenuto 2"/>
          <p:cNvSpPr txBox="1">
            <a:spLocks/>
          </p:cNvSpPr>
          <p:nvPr/>
        </p:nvSpPr>
        <p:spPr>
          <a:xfrm>
            <a:off x="457200" y="4725144"/>
            <a:ext cx="8229600" cy="180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kumimoji="0" lang="it-IT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Se l’utente premesse </a:t>
            </a:r>
            <a:r>
              <a:rPr kumimoji="0" lang="it-IT" sz="28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A</a:t>
            </a:r>
            <a:r>
              <a:rPr kumimoji="0" lang="it-IT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nnulla, </a:t>
            </a:r>
            <a:r>
              <a:rPr lang="it-IT" sz="2800" dirty="0">
                <a:cs typeface="Arial" pitchFamily="34" charset="0"/>
              </a:rPr>
              <a:t>il metodo restituirebbe un riferimento “nullo”, denotato dalla parola chiave </a:t>
            </a:r>
            <a:r>
              <a:rPr lang="it-IT" sz="2800" i="1" dirty="0" err="1">
                <a:solidFill>
                  <a:schemeClr val="accent2"/>
                </a:solidFill>
                <a:cs typeface="Arial" pitchFamily="34" charset="0"/>
              </a:rPr>
              <a:t>null</a:t>
            </a:r>
            <a:r>
              <a:rPr lang="it-IT" sz="2800" i="1" dirty="0">
                <a:solidFill>
                  <a:schemeClr val="accent2"/>
                </a:solidFill>
                <a:cs typeface="Arial" pitchFamily="34" charset="0"/>
              </a:rPr>
              <a:t> </a:t>
            </a:r>
            <a:r>
              <a:rPr lang="it-IT" sz="2800" dirty="0">
                <a:cs typeface="Arial" pitchFamily="34" charset="0"/>
              </a:rPr>
              <a:t>(torneremo più avanti su questo concetto)</a:t>
            </a:r>
            <a:endParaRPr kumimoji="0" lang="it-IT" sz="2800" b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Arial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it-IT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000" dirty="0"/>
              <a:t>Creazione oggetto </a:t>
            </a:r>
            <a:r>
              <a:rPr lang="it-IT" sz="4000" dirty="0" err="1"/>
              <a:t>OutputWindow</a:t>
            </a:r>
            <a:endParaRPr lang="it-IT" sz="4000" dirty="0"/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367240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sz="1800" noProof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public class Echo{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/* visualizza una stringa inserita dall'utente */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public static void main(String[] args){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	 InputWindow in = new InputWindow();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	 String str = in.readString();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	 </a:t>
            </a:r>
            <a:r>
              <a:rPr lang="it-IT" sz="18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OutputWindow out = new OutputWindow("Echo");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	 out.write(str);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1800" noProof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539552" y="5157192"/>
            <a:ext cx="83529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Viene quindi creato un oggetto </a:t>
            </a:r>
            <a:r>
              <a:rPr lang="it-IT" sz="2000" i="1" dirty="0" err="1">
                <a:solidFill>
                  <a:schemeClr val="accent2"/>
                </a:solidFill>
              </a:rPr>
              <a:t>OutputWindow</a:t>
            </a:r>
            <a:r>
              <a:rPr lang="it-IT" sz="2000" dirty="0"/>
              <a:t>, la cui finestra grafica associata avrà come titolo “</a:t>
            </a:r>
            <a:r>
              <a:rPr lang="it-IT" sz="2000" dirty="0" err="1"/>
              <a:t>Echo</a:t>
            </a:r>
            <a:r>
              <a:rPr lang="it-IT" sz="2000" dirty="0"/>
              <a:t>”. Il riferimento all’oggetto creato è memorizzato nella variabile riferimento </a:t>
            </a:r>
            <a:r>
              <a:rPr lang="it-IT" sz="2000" i="1" dirty="0">
                <a:solidFill>
                  <a:schemeClr val="accent2"/>
                </a:solidFill>
              </a:rPr>
              <a:t>out</a:t>
            </a:r>
            <a:r>
              <a:rPr lang="it-IT" sz="2000" dirty="0"/>
              <a:t>.</a:t>
            </a:r>
            <a:endParaRPr lang="it-IT" sz="20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000" dirty="0"/>
              <a:t>Stampa nella finestra grafica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367240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sz="1800" b="1" noProof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public class Echo{</a:t>
            </a:r>
          </a:p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  /* visualizza una stringa inserita dall'utente */</a:t>
            </a:r>
          </a:p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  public static void main(String[] args){</a:t>
            </a:r>
          </a:p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  	 InputWindow in = new InputWindow();</a:t>
            </a:r>
          </a:p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  	 String str = in.readString();</a:t>
            </a:r>
          </a:p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  	 OutputWindow out = new OutputWindow("Echo");</a:t>
            </a:r>
          </a:p>
          <a:p>
            <a:pPr>
              <a:buNone/>
            </a:pPr>
            <a:r>
              <a:rPr lang="it-IT" sz="18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	 out.write(str);</a:t>
            </a:r>
          </a:p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539552" y="5157192"/>
            <a:ext cx="83529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Infine, si invoca su </a:t>
            </a:r>
            <a:r>
              <a:rPr lang="it-IT" sz="2000" i="1" dirty="0">
                <a:solidFill>
                  <a:schemeClr val="accent2"/>
                </a:solidFill>
              </a:rPr>
              <a:t>out</a:t>
            </a:r>
            <a:r>
              <a:rPr lang="it-IT" sz="2000" dirty="0"/>
              <a:t> il metodo </a:t>
            </a:r>
            <a:r>
              <a:rPr lang="it-IT" sz="2000" i="1" dirty="0" err="1">
                <a:solidFill>
                  <a:schemeClr val="accent2"/>
                </a:solidFill>
              </a:rPr>
              <a:t>write</a:t>
            </a:r>
            <a:r>
              <a:rPr lang="it-IT" sz="2000" i="1" dirty="0">
                <a:solidFill>
                  <a:schemeClr val="accent2"/>
                </a:solidFill>
              </a:rPr>
              <a:t>(str)</a:t>
            </a:r>
            <a:r>
              <a:rPr lang="it-IT" sz="2000" dirty="0"/>
              <a:t>, al fine di stampare nella finestra grafica la stringa memorizzata da </a:t>
            </a:r>
            <a:r>
              <a:rPr lang="it-IT" sz="2000" i="1" dirty="0">
                <a:solidFill>
                  <a:schemeClr val="accent2"/>
                </a:solidFill>
              </a:rPr>
              <a:t>str</a:t>
            </a:r>
            <a:r>
              <a:rPr lang="it-IT" sz="2000" dirty="0"/>
              <a:t>. Si osservi che il parametro </a:t>
            </a:r>
            <a:r>
              <a:rPr lang="it-IT" sz="2000" i="1" dirty="0">
                <a:solidFill>
                  <a:schemeClr val="accent2"/>
                </a:solidFill>
              </a:rPr>
              <a:t>str</a:t>
            </a:r>
            <a:r>
              <a:rPr lang="it-IT" sz="2000" dirty="0"/>
              <a:t> non è un letterale!!</a:t>
            </a:r>
            <a:endParaRPr lang="it-IT" sz="20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Un altro esempio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r>
              <a:rPr lang="it-IT" dirty="0"/>
              <a:t>Vogliamo realizzare un programma capace di calcolare e fornire le soluzioni reali di una equazione di secondo grado:</a:t>
            </a:r>
          </a:p>
          <a:p>
            <a:pPr lvl="1"/>
            <a:r>
              <a:rPr lang="it-IT" dirty="0"/>
              <a:t>il programma chiederà all’utente di inserire i coefficienti a, b, c di una equazione della forma: </a:t>
            </a:r>
            <a:br>
              <a:rPr lang="it-IT" dirty="0"/>
            </a:br>
            <a:r>
              <a:rPr lang="it-IT" dirty="0"/>
              <a:t>ax</a:t>
            </a:r>
            <a:r>
              <a:rPr lang="it-IT" baseline="30000" dirty="0"/>
              <a:t>2</a:t>
            </a:r>
            <a:r>
              <a:rPr lang="it-IT" dirty="0"/>
              <a:t> + </a:t>
            </a:r>
            <a:r>
              <a:rPr lang="it-IT" dirty="0" err="1"/>
              <a:t>bx</a:t>
            </a:r>
            <a:r>
              <a:rPr lang="it-IT" dirty="0"/>
              <a:t> + c = 0</a:t>
            </a:r>
          </a:p>
          <a:p>
            <a:pPr lvl="1"/>
            <a:r>
              <a:rPr lang="it-IT" dirty="0"/>
              <a:t>successivamente stamperà le soluzioni reali in una finestra grafica e anche sullo standard output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 dirty="0"/>
              <a:t>La classe  </a:t>
            </a:r>
            <a:r>
              <a:rPr lang="it-IT" sz="3600" dirty="0" err="1"/>
              <a:t>EquazioneDiSecondoGrado</a:t>
            </a:r>
            <a:endParaRPr lang="it-IT" sz="3600" dirty="0"/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256584"/>
          </a:xfrm>
        </p:spPr>
        <p:txBody>
          <a:bodyPr>
            <a:normAutofit fontScale="92500"/>
          </a:bodyPr>
          <a:lstStyle/>
          <a:p>
            <a:r>
              <a:rPr lang="it-IT" dirty="0"/>
              <a:t>Per realizzare il programma possiamo usufruire di una classe già pronta (fornita dagli autori del corso), chiamata </a:t>
            </a:r>
            <a:r>
              <a:rPr lang="it-IT" i="1" dirty="0" err="1">
                <a:solidFill>
                  <a:schemeClr val="accent2"/>
                </a:solidFill>
              </a:rPr>
              <a:t>EquazioneDiSecondoGrado</a:t>
            </a:r>
            <a:endParaRPr lang="it-IT" i="1" dirty="0">
              <a:solidFill>
                <a:schemeClr val="accent2"/>
              </a:solidFill>
            </a:endParaRPr>
          </a:p>
          <a:p>
            <a:pPr lvl="1"/>
            <a:r>
              <a:rPr lang="it-IT" dirty="0"/>
              <a:t>La classe è disponibile nel package </a:t>
            </a:r>
            <a:r>
              <a:rPr lang="it-IT" i="1" dirty="0">
                <a:solidFill>
                  <a:schemeClr val="accent2"/>
                </a:solidFill>
              </a:rPr>
              <a:t>fond.esempi.capitolo5</a:t>
            </a:r>
          </a:p>
          <a:p>
            <a:endParaRPr lang="it-IT" dirty="0"/>
          </a:p>
          <a:p>
            <a:r>
              <a:rPr lang="it-IT" dirty="0"/>
              <a:t>Costruttori e metodi della classe:</a:t>
            </a:r>
          </a:p>
          <a:p>
            <a:pPr lvl="1"/>
            <a:r>
              <a:rPr lang="it-IT" sz="2000" i="1" dirty="0" err="1">
                <a:solidFill>
                  <a:schemeClr val="accent2"/>
                </a:solidFill>
              </a:rPr>
              <a:t>EquazioneDiSecontoGrado</a:t>
            </a:r>
            <a:r>
              <a:rPr lang="it-IT" sz="2000" i="1" dirty="0">
                <a:solidFill>
                  <a:schemeClr val="accent2"/>
                </a:solidFill>
              </a:rPr>
              <a:t>(</a:t>
            </a:r>
            <a:r>
              <a:rPr lang="it-IT" sz="2000" i="1" dirty="0" err="1">
                <a:solidFill>
                  <a:schemeClr val="accent2"/>
                </a:solidFill>
              </a:rPr>
              <a:t>double</a:t>
            </a:r>
            <a:r>
              <a:rPr lang="it-IT" sz="2000" i="1" dirty="0">
                <a:solidFill>
                  <a:schemeClr val="accent2"/>
                </a:solidFill>
              </a:rPr>
              <a:t> a, </a:t>
            </a:r>
            <a:r>
              <a:rPr lang="it-IT" sz="2000" i="1" dirty="0" err="1">
                <a:solidFill>
                  <a:schemeClr val="accent2"/>
                </a:solidFill>
              </a:rPr>
              <a:t>double</a:t>
            </a:r>
            <a:r>
              <a:rPr lang="it-IT" sz="2000" i="1" dirty="0">
                <a:solidFill>
                  <a:schemeClr val="accent2"/>
                </a:solidFill>
              </a:rPr>
              <a:t> b, </a:t>
            </a:r>
            <a:r>
              <a:rPr lang="it-IT" sz="2000" i="1" dirty="0" err="1">
                <a:solidFill>
                  <a:schemeClr val="accent2"/>
                </a:solidFill>
              </a:rPr>
              <a:t>double</a:t>
            </a:r>
            <a:r>
              <a:rPr lang="it-IT" sz="2000" i="1" dirty="0">
                <a:solidFill>
                  <a:schemeClr val="accent2"/>
                </a:solidFill>
              </a:rPr>
              <a:t> c)</a:t>
            </a:r>
            <a:r>
              <a:rPr lang="it-IT" sz="2000" dirty="0"/>
              <a:t>: costruttore per creare un oggetto che rappresenta l’equazione nella forma ax</a:t>
            </a:r>
            <a:r>
              <a:rPr lang="it-IT" sz="2000" baseline="30000" dirty="0"/>
              <a:t>2</a:t>
            </a:r>
            <a:r>
              <a:rPr lang="it-IT" sz="2000" dirty="0"/>
              <a:t> + </a:t>
            </a:r>
            <a:r>
              <a:rPr lang="it-IT" sz="2000" dirty="0" err="1"/>
              <a:t>bx</a:t>
            </a:r>
            <a:r>
              <a:rPr lang="it-IT" sz="2000" dirty="0"/>
              <a:t> + c = 0 </a:t>
            </a:r>
          </a:p>
          <a:p>
            <a:pPr lvl="1"/>
            <a:r>
              <a:rPr lang="it-IT" sz="2000" i="1" dirty="0" err="1">
                <a:solidFill>
                  <a:schemeClr val="accent2"/>
                </a:solidFill>
              </a:rPr>
              <a:t>void</a:t>
            </a:r>
            <a:r>
              <a:rPr lang="it-IT" sz="2000" i="1" dirty="0">
                <a:solidFill>
                  <a:schemeClr val="accent2"/>
                </a:solidFill>
              </a:rPr>
              <a:t> </a:t>
            </a:r>
            <a:r>
              <a:rPr lang="it-IT" sz="2000" i="1" dirty="0" err="1">
                <a:solidFill>
                  <a:schemeClr val="accent2"/>
                </a:solidFill>
              </a:rPr>
              <a:t>stampaSoluzioni</a:t>
            </a:r>
            <a:r>
              <a:rPr lang="it-IT" sz="2000" i="1" dirty="0">
                <a:solidFill>
                  <a:schemeClr val="accent2"/>
                </a:solidFill>
              </a:rPr>
              <a:t>()</a:t>
            </a:r>
            <a:r>
              <a:rPr lang="it-IT" sz="2000" dirty="0">
                <a:solidFill>
                  <a:schemeClr val="accent2"/>
                </a:solidFill>
              </a:rPr>
              <a:t>: </a:t>
            </a:r>
            <a:r>
              <a:rPr lang="it-IT" sz="2000" dirty="0"/>
              <a:t>stampa le soluzioni dell’equazione sullo standard output</a:t>
            </a:r>
          </a:p>
          <a:p>
            <a:pPr lvl="1"/>
            <a:r>
              <a:rPr lang="it-IT" sz="2000" i="1" dirty="0" err="1">
                <a:solidFill>
                  <a:schemeClr val="accent2"/>
                </a:solidFill>
              </a:rPr>
              <a:t>void</a:t>
            </a:r>
            <a:r>
              <a:rPr lang="it-IT" sz="2000" i="1" dirty="0">
                <a:solidFill>
                  <a:schemeClr val="accent2"/>
                </a:solidFill>
              </a:rPr>
              <a:t> </a:t>
            </a:r>
            <a:r>
              <a:rPr lang="it-IT" sz="2000" i="1" dirty="0" err="1">
                <a:solidFill>
                  <a:schemeClr val="accent2"/>
                </a:solidFill>
              </a:rPr>
              <a:t>stampaSoluzioni</a:t>
            </a:r>
            <a:r>
              <a:rPr lang="it-IT" sz="2000" i="1" dirty="0">
                <a:solidFill>
                  <a:schemeClr val="accent2"/>
                </a:solidFill>
              </a:rPr>
              <a:t>(</a:t>
            </a:r>
            <a:r>
              <a:rPr lang="it-IT" sz="2000" i="1" dirty="0" err="1">
                <a:solidFill>
                  <a:schemeClr val="accent2"/>
                </a:solidFill>
              </a:rPr>
              <a:t>OutputWindow</a:t>
            </a:r>
            <a:r>
              <a:rPr lang="it-IT" sz="2000" i="1" dirty="0">
                <a:solidFill>
                  <a:schemeClr val="accent2"/>
                </a:solidFill>
              </a:rPr>
              <a:t> out)</a:t>
            </a:r>
            <a:r>
              <a:rPr lang="it-IT" sz="2000" dirty="0"/>
              <a:t>: stampa le soluzioni dell’equazione nella finestra grafica </a:t>
            </a:r>
            <a:r>
              <a:rPr lang="it-IT" sz="2000" i="1" dirty="0">
                <a:solidFill>
                  <a:schemeClr val="accent2"/>
                </a:solidFill>
              </a:rPr>
              <a:t>out</a:t>
            </a:r>
            <a:r>
              <a:rPr lang="it-IT" sz="2000" dirty="0"/>
              <a:t> specificata come parametro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</a:t>
            </a:r>
            <a:r>
              <a:rPr lang="it-IT" dirty="0" err="1"/>
              <a:t>CalcolaEquazione</a:t>
            </a:r>
            <a:endParaRPr lang="it-IT" dirty="0"/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r>
              <a:rPr lang="it-IT" dirty="0"/>
              <a:t>Scriviamo una classe con il solo metodo speciale </a:t>
            </a:r>
            <a:r>
              <a:rPr lang="it-IT" i="1" dirty="0" err="1">
                <a:solidFill>
                  <a:schemeClr val="accent2"/>
                </a:solidFill>
              </a:rPr>
              <a:t>main</a:t>
            </a:r>
            <a:r>
              <a:rPr lang="it-IT" dirty="0"/>
              <a:t>, che ci permetterà di avviare il programma</a:t>
            </a:r>
            <a:endParaRPr lang="it-IT" i="1" dirty="0">
              <a:solidFill>
                <a:schemeClr val="accent2"/>
              </a:solidFill>
            </a:endParaRPr>
          </a:p>
          <a:p>
            <a:endParaRPr lang="it-IT" dirty="0"/>
          </a:p>
          <a:p>
            <a:r>
              <a:rPr lang="it-IT" dirty="0"/>
              <a:t>Chiamiamo questa classe </a:t>
            </a:r>
            <a:r>
              <a:rPr lang="it-IT" i="1" dirty="0" err="1">
                <a:solidFill>
                  <a:schemeClr val="accent2"/>
                </a:solidFill>
              </a:rPr>
              <a:t>CalcolaEquazione</a:t>
            </a:r>
            <a:r>
              <a:rPr lang="it-IT" dirty="0"/>
              <a:t>; il suo metodo </a:t>
            </a:r>
            <a:r>
              <a:rPr lang="it-IT" i="1" dirty="0" err="1">
                <a:solidFill>
                  <a:schemeClr val="accent2"/>
                </a:solidFill>
              </a:rPr>
              <a:t>main</a:t>
            </a:r>
            <a:r>
              <a:rPr lang="it-IT" dirty="0"/>
              <a:t> dovrà utilizzare oggetti di tipo: </a:t>
            </a:r>
            <a:r>
              <a:rPr lang="it-IT" i="1" dirty="0" err="1">
                <a:solidFill>
                  <a:schemeClr val="accent2"/>
                </a:solidFill>
              </a:rPr>
              <a:t>InputWindow</a:t>
            </a:r>
            <a:r>
              <a:rPr lang="it-IT" dirty="0"/>
              <a:t>, </a:t>
            </a:r>
            <a:r>
              <a:rPr lang="it-IT" i="1" dirty="0" err="1">
                <a:solidFill>
                  <a:schemeClr val="accent2"/>
                </a:solidFill>
              </a:rPr>
              <a:t>EquazioneDiSecondoGrado</a:t>
            </a:r>
            <a:r>
              <a:rPr lang="it-IT" dirty="0"/>
              <a:t>, </a:t>
            </a:r>
            <a:r>
              <a:rPr lang="it-IT" i="1" dirty="0" err="1">
                <a:solidFill>
                  <a:schemeClr val="accent2"/>
                </a:solidFill>
              </a:rPr>
              <a:t>OutputWindow</a:t>
            </a:r>
            <a:r>
              <a:rPr lang="it-IT" dirty="0"/>
              <a:t> e l’oggetto </a:t>
            </a:r>
            <a:r>
              <a:rPr lang="it-IT" i="1" dirty="0" err="1">
                <a:solidFill>
                  <a:schemeClr val="accent2"/>
                </a:solidFill>
              </a:rPr>
              <a:t>System.out</a:t>
            </a: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</a:t>
            </a:r>
            <a:r>
              <a:rPr lang="it-IT" dirty="0" err="1"/>
              <a:t>CalcolaEquazione</a:t>
            </a:r>
            <a:endParaRPr lang="it-IT" dirty="0"/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51125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import fond.esempi.capitolo5.EquazioneDiSecondoGrado;</a:t>
            </a:r>
          </a:p>
          <a:p>
            <a:pPr>
              <a:buNone/>
            </a:pPr>
            <a:endParaRPr lang="it-IT" sz="1800" b="1" noProof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public class CalcolaEquazione{</a:t>
            </a:r>
          </a:p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  /* calcola le soluzioni reali di equazioni di secondo grado espresse nella forma: ax^2 + bx + c = 0.*/</a:t>
            </a:r>
          </a:p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  public static void main(String[] args){</a:t>
            </a:r>
          </a:p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    InputWindow in = new InputWindow();</a:t>
            </a:r>
          </a:p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    double a = in.readDouble("Inserisci il coefficiente a");</a:t>
            </a:r>
          </a:p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    double b = in.readDouble("Inserisci il coefficiente b");</a:t>
            </a:r>
          </a:p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    double c = in.readDouble("Inserisci il coefficiente c");</a:t>
            </a:r>
          </a:p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    EquazioneDiSecondoGrado eq;</a:t>
            </a:r>
          </a:p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    eq = new EquazioneDiSecondoGrado(a, b, c);</a:t>
            </a:r>
          </a:p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    eq.stampaSoluzioni();</a:t>
            </a:r>
          </a:p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    eq.stampaSoluzioni(new OutputWindow());</a:t>
            </a:r>
          </a:p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1800" b="1" noProof="1">
                <a:latin typeface="Courier New" pitchFamily="49" charset="0"/>
                <a:cs typeface="Courier New" pitchFamily="49" charset="0"/>
              </a:rPr>
              <a:t>}</a:t>
            </a:r>
            <a:endParaRPr lang="it-IT" sz="1800" b="1" i="1" noProof="1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000" dirty="0"/>
              <a:t>Diagramma di sequenza (parziale)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3" y="1261980"/>
            <a:ext cx="6192688" cy="5596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Rimozione di oggetti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r>
              <a:rPr lang="it-IT" dirty="0"/>
              <a:t>In tutti gli esempi visti sin qui, i programmi si sono solo preoccupati di creare oggetti, ma mai di rimuoverli</a:t>
            </a:r>
          </a:p>
          <a:p>
            <a:r>
              <a:rPr lang="it-IT" dirty="0"/>
              <a:t>Se durante l’esecuzione di un programma un oggetto diventa inutile, esso andrebbe eliminato dalla memoria, al fine di liberare risorse a disposizione del programma</a:t>
            </a:r>
          </a:p>
          <a:p>
            <a:pPr lvl="1"/>
            <a:r>
              <a:rPr lang="it-IT" dirty="0"/>
              <a:t>un oggetto diventa inutile quando non ci sono più variabili che lo referenziano (esso diventa irraggiungibile)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Garbage</a:t>
            </a:r>
            <a:r>
              <a:rPr lang="it-IT" dirty="0"/>
              <a:t> </a:t>
            </a:r>
            <a:r>
              <a:rPr lang="it-IT" dirty="0" err="1"/>
              <a:t>collection</a:t>
            </a:r>
            <a:endParaRPr lang="it-IT" dirty="0"/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r>
              <a:rPr lang="it-IT" dirty="0"/>
              <a:t>Java adotta un meccanismo automatico di rimozione degli oggetti inutili, chiamato </a:t>
            </a:r>
            <a:r>
              <a:rPr lang="it-IT" u="sng" dirty="0" err="1">
                <a:solidFill>
                  <a:schemeClr val="accent1"/>
                </a:solidFill>
              </a:rPr>
              <a:t>garbage</a:t>
            </a:r>
            <a:r>
              <a:rPr lang="it-IT" u="sng" dirty="0">
                <a:solidFill>
                  <a:schemeClr val="accent1"/>
                </a:solidFill>
              </a:rPr>
              <a:t> </a:t>
            </a:r>
            <a:r>
              <a:rPr lang="it-IT" u="sng" dirty="0" err="1">
                <a:solidFill>
                  <a:schemeClr val="accent1"/>
                </a:solidFill>
              </a:rPr>
              <a:t>collection</a:t>
            </a:r>
            <a:r>
              <a:rPr lang="it-IT" dirty="0"/>
              <a:t>;</a:t>
            </a:r>
          </a:p>
          <a:p>
            <a:pPr lvl="1"/>
            <a:r>
              <a:rPr lang="it-IT" dirty="0"/>
              <a:t>esiste una sorta di sottoprocesso (“</a:t>
            </a:r>
            <a:r>
              <a:rPr lang="it-IT" dirty="0" err="1"/>
              <a:t>thread</a:t>
            </a:r>
            <a:r>
              <a:rPr lang="it-IT" dirty="0"/>
              <a:t> demone”), detto </a:t>
            </a:r>
            <a:r>
              <a:rPr lang="it-IT" u="sng" dirty="0" err="1">
                <a:solidFill>
                  <a:schemeClr val="accent1"/>
                </a:solidFill>
              </a:rPr>
              <a:t>garbage</a:t>
            </a:r>
            <a:r>
              <a:rPr lang="it-IT" u="sng" dirty="0">
                <a:solidFill>
                  <a:schemeClr val="accent1"/>
                </a:solidFill>
              </a:rPr>
              <a:t> </a:t>
            </a:r>
            <a:r>
              <a:rPr lang="it-IT" u="sng" dirty="0" err="1">
                <a:solidFill>
                  <a:schemeClr val="accent1"/>
                </a:solidFill>
              </a:rPr>
              <a:t>collector</a:t>
            </a:r>
            <a:r>
              <a:rPr lang="it-IT" dirty="0"/>
              <a:t>, che monitora costantemente gli oggetti creati durante l’esecuzione di un programma</a:t>
            </a:r>
          </a:p>
          <a:p>
            <a:pPr lvl="1"/>
            <a:r>
              <a:rPr lang="it-IT" dirty="0"/>
              <a:t>se il </a:t>
            </a:r>
            <a:r>
              <a:rPr lang="it-IT" dirty="0" err="1"/>
              <a:t>garbage</a:t>
            </a:r>
            <a:r>
              <a:rPr lang="it-IT" dirty="0"/>
              <a:t> </a:t>
            </a:r>
            <a:r>
              <a:rPr lang="it-IT" dirty="0" err="1"/>
              <a:t>collector</a:t>
            </a:r>
            <a:r>
              <a:rPr lang="it-IT" dirty="0"/>
              <a:t> rileva che un oggetto è divenuto inutile, lo rimuove alla prima occasione possibile</a:t>
            </a:r>
          </a:p>
          <a:p>
            <a:pPr lvl="1"/>
            <a:r>
              <a:rPr lang="it-IT" dirty="0"/>
              <a:t>non c’è modo di controllare il </a:t>
            </a:r>
            <a:r>
              <a:rPr lang="it-IT" dirty="0" err="1"/>
              <a:t>garbage</a:t>
            </a:r>
            <a:r>
              <a:rPr lang="it-IT" dirty="0"/>
              <a:t> </a:t>
            </a:r>
            <a:r>
              <a:rPr lang="it-IT" dirty="0" err="1"/>
              <a:t>collector</a:t>
            </a:r>
            <a:r>
              <a:rPr lang="it-IT" dirty="0"/>
              <a:t>, ma lo si può “sollecitare” (vedi esempio più avanti) 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Uso di metodi statici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r>
              <a:rPr lang="it-IT" dirty="0"/>
              <a:t>Negli esempi visti sin qui abbiamo solo utilizzato metodi di istanza; sappiamo però che una classe può avere anche metodi statici (cioè metodi di classe)</a:t>
            </a:r>
          </a:p>
          <a:p>
            <a:pPr>
              <a:buNone/>
            </a:pPr>
            <a:endParaRPr lang="it-IT" dirty="0"/>
          </a:p>
          <a:p>
            <a:r>
              <a:rPr lang="it-IT" dirty="0"/>
              <a:t>Ricordiamo che i metodi statici sono servizi offerti dalla classe e vanno invocati sulla classe con la seguente sintassi generale:</a:t>
            </a:r>
          </a:p>
          <a:p>
            <a:pPr algn="ctr">
              <a:buNone/>
            </a:pPr>
            <a:r>
              <a:rPr lang="it-IT" i="1" dirty="0">
                <a:solidFill>
                  <a:schemeClr val="accent2"/>
                </a:solidFill>
              </a:rPr>
              <a:t>&lt;nome classe&gt;.&lt;nome metodo&gt; (&lt;parametri&gt;)</a:t>
            </a:r>
          </a:p>
          <a:p>
            <a:pPr lvl="1"/>
            <a:endParaRPr lang="it-IT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Uso di metodi statici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r>
              <a:rPr lang="it-IT" dirty="0"/>
              <a:t>Durante il corso vedremo vari esempi di metodi statici (ad esempio parlando della classe </a:t>
            </a:r>
            <a:r>
              <a:rPr lang="it-IT" i="1" dirty="0" err="1">
                <a:solidFill>
                  <a:schemeClr val="accent2"/>
                </a:solidFill>
              </a:rPr>
              <a:t>String</a:t>
            </a:r>
            <a:r>
              <a:rPr lang="it-IT" dirty="0"/>
              <a:t>); per ora mostriamo un semplice esempio di uso di metodi statici</a:t>
            </a:r>
          </a:p>
          <a:p>
            <a:r>
              <a:rPr lang="it-IT" dirty="0"/>
              <a:t>La classe </a:t>
            </a:r>
            <a:r>
              <a:rPr lang="it-IT" i="1" dirty="0">
                <a:solidFill>
                  <a:schemeClr val="accent2"/>
                </a:solidFill>
              </a:rPr>
              <a:t>System</a:t>
            </a:r>
            <a:r>
              <a:rPr lang="it-IT" dirty="0"/>
              <a:t> dispone di vari metodi statici, tra cui i due seguenti:</a:t>
            </a:r>
          </a:p>
          <a:p>
            <a:pPr lvl="1"/>
            <a:r>
              <a:rPr lang="it-IT" sz="2000" i="1" dirty="0">
                <a:solidFill>
                  <a:schemeClr val="accent2"/>
                </a:solidFill>
              </a:rPr>
              <a:t>static long currentTimeMillis()</a:t>
            </a:r>
            <a:r>
              <a:rPr lang="it-IT" sz="2000" dirty="0"/>
              <a:t>: restituisce i millisecondi trascorsi dalle ore 0:00 del 1 gennaio 1970 (UTC) (</a:t>
            </a:r>
            <a:r>
              <a:rPr lang="it-IT" sz="2000" i="1" dirty="0">
                <a:solidFill>
                  <a:schemeClr val="accent2"/>
                </a:solidFill>
              </a:rPr>
              <a:t>long</a:t>
            </a:r>
            <a:r>
              <a:rPr lang="it-IT" sz="2000" dirty="0"/>
              <a:t> è un </a:t>
            </a:r>
            <a:r>
              <a:rPr lang="it-IT" sz="2000" dirty="0" err="1"/>
              <a:t>sovrainsieme</a:t>
            </a:r>
            <a:r>
              <a:rPr lang="it-IT" sz="2000" dirty="0"/>
              <a:t> del tipo </a:t>
            </a:r>
            <a:r>
              <a:rPr lang="it-IT" sz="2000" i="1" dirty="0" err="1">
                <a:solidFill>
                  <a:schemeClr val="accent2"/>
                </a:solidFill>
              </a:rPr>
              <a:t>int</a:t>
            </a:r>
            <a:r>
              <a:rPr lang="it-IT" sz="2000" i="1" dirty="0">
                <a:solidFill>
                  <a:schemeClr val="accent2"/>
                </a:solidFill>
              </a:rPr>
              <a:t>, </a:t>
            </a:r>
            <a:r>
              <a:rPr lang="it-IT" sz="2000" dirty="0"/>
              <a:t>come vedremo nella lezione D6)</a:t>
            </a:r>
          </a:p>
          <a:p>
            <a:pPr lvl="1"/>
            <a:r>
              <a:rPr lang="it-IT" sz="2000" i="1" dirty="0">
                <a:solidFill>
                  <a:schemeClr val="accent2"/>
                </a:solidFill>
              </a:rPr>
              <a:t>static void gc()</a:t>
            </a:r>
            <a:r>
              <a:rPr lang="it-IT" sz="2000" dirty="0"/>
              <a:t>: sollecita l’esecuzione immediata del </a:t>
            </a:r>
            <a:r>
              <a:rPr lang="it-IT" sz="2000" dirty="0" err="1"/>
              <a:t>garbage</a:t>
            </a:r>
            <a:r>
              <a:rPr lang="it-IT" sz="2000" dirty="0"/>
              <a:t> </a:t>
            </a:r>
            <a:r>
              <a:rPr lang="it-IT" sz="2000" dirty="0" err="1"/>
              <a:t>collector</a:t>
            </a:r>
            <a:r>
              <a:rPr lang="it-IT" sz="2000" dirty="0"/>
              <a:t>; la JVM terrà conto di questa chiamata, senza però fornire garanzie che il garbage </a:t>
            </a:r>
            <a:r>
              <a:rPr lang="it-IT" sz="2000" dirty="0" err="1"/>
              <a:t>collector</a:t>
            </a:r>
            <a:r>
              <a:rPr lang="it-IT" sz="2000" dirty="0"/>
              <a:t> entrerà subito in azione.</a:t>
            </a:r>
          </a:p>
          <a:p>
            <a:endParaRPr lang="it-IT" dirty="0"/>
          </a:p>
          <a:p>
            <a:pPr lvl="1"/>
            <a:endParaRPr lang="it-IT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r>
              <a:rPr lang="it-IT" dirty="0"/>
              <a:t>Scriviamo un piccolo programma che:</a:t>
            </a:r>
          </a:p>
          <a:p>
            <a:pPr lvl="1"/>
            <a:r>
              <a:rPr lang="it-IT" dirty="0"/>
              <a:t>chiede all’utente di inserire una stringa;</a:t>
            </a:r>
          </a:p>
          <a:p>
            <a:pPr lvl="1"/>
            <a:r>
              <a:rPr lang="it-IT" dirty="0"/>
              <a:t>stampa all’utente la stringa inserita e il tempo che lui ha impiegato per inserire la stringa da quando gli viene fatta la richiesta</a:t>
            </a:r>
          </a:p>
          <a:p>
            <a:r>
              <a:rPr lang="it-IT" dirty="0"/>
              <a:t>Il programma farà uso dei metodi statici: </a:t>
            </a:r>
          </a:p>
          <a:p>
            <a:pPr lvl="1"/>
            <a:r>
              <a:rPr lang="it-IT" i="1" dirty="0" err="1">
                <a:solidFill>
                  <a:schemeClr val="accent2"/>
                </a:solidFill>
              </a:rPr>
              <a:t>static</a:t>
            </a:r>
            <a:r>
              <a:rPr lang="it-IT" i="1" dirty="0">
                <a:solidFill>
                  <a:schemeClr val="accent2"/>
                </a:solidFill>
              </a:rPr>
              <a:t> long </a:t>
            </a:r>
            <a:r>
              <a:rPr lang="it-IT" i="1" dirty="0" err="1">
                <a:solidFill>
                  <a:schemeClr val="accent2"/>
                </a:solidFill>
              </a:rPr>
              <a:t>currentTimeMillis</a:t>
            </a:r>
            <a:r>
              <a:rPr lang="it-IT" i="1" dirty="0">
                <a:solidFill>
                  <a:schemeClr val="accent2"/>
                </a:solidFill>
              </a:rPr>
              <a:t>()</a:t>
            </a:r>
            <a:r>
              <a:rPr lang="it-IT" dirty="0"/>
              <a:t>,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/>
              <a:t>per calcolare il tempo impiegato dall’utente ad inserire il dato</a:t>
            </a:r>
          </a:p>
          <a:p>
            <a:pPr lvl="1"/>
            <a:r>
              <a:rPr lang="it-IT" i="1" dirty="0" err="1">
                <a:solidFill>
                  <a:schemeClr val="accent2"/>
                </a:solidFill>
              </a:rPr>
              <a:t>static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void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gc</a:t>
            </a:r>
            <a:r>
              <a:rPr lang="it-IT" i="1" dirty="0">
                <a:solidFill>
                  <a:schemeClr val="accent2"/>
                </a:solidFill>
              </a:rPr>
              <a:t>()</a:t>
            </a:r>
            <a:r>
              <a:rPr lang="it-IT" dirty="0"/>
              <a:t>, per chiedere alla JVM di rimuovere l’oggetto </a:t>
            </a:r>
            <a:r>
              <a:rPr lang="it-IT" i="1" dirty="0" err="1">
                <a:solidFill>
                  <a:schemeClr val="accent2"/>
                </a:solidFill>
              </a:rPr>
              <a:t>InputWindow</a:t>
            </a:r>
            <a:r>
              <a:rPr lang="it-IT" dirty="0"/>
              <a:t> con cui si è acquisito il dato, una volta che esso non serve più</a:t>
            </a:r>
          </a:p>
          <a:p>
            <a:pPr lvl="1"/>
            <a:endParaRPr lang="it-IT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Esempio: codice del programma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sz="1600" noProof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public class ProvaSystem{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public static void main(String[] args){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InputWindow in = new InputWindow();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long t0 = System.currentTimeMillis();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String str = in.readString();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long t1 = System.currentTimeMillis();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long diff = t1-t0;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in = null;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System.gc();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OutputWindow out = new OutputWindow();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out.write("Stringa inserita: ");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out.writeln(str);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out.write("Tempo impiegato per l'inserimento (in ms): ");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out.writeln(diff);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>
              <a:buNone/>
            </a:pPr>
            <a:endParaRPr lang="it-IT" sz="1600" noProof="1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Esempio: codice del programma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sz="1600" noProof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public class ProvaSystem{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public static void main(String[] args){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6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InputWindow in = new InputWindow();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long t0 = System.currentTimeMillis();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String str = in.readString();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long t1 = System.currentTimeMillis();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long diff = t1-t0;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in = null;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System.gc();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OutputWindow out = new OutputWindow();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out.write("Stringa inserita: ");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out.writeln(str);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out.write("Tempo impiegato per l'inserimento (in ms): ");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out.writeln(diff);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>
              <a:buNone/>
            </a:pPr>
            <a:endParaRPr lang="it-IT" sz="1600" noProof="1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7" name="Connettore 2 6"/>
          <p:cNvCxnSpPr/>
          <p:nvPr/>
        </p:nvCxnSpPr>
        <p:spPr>
          <a:xfrm flipH="1">
            <a:off x="5364088" y="2204864"/>
            <a:ext cx="1224136" cy="432048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/>
          <p:cNvSpPr txBox="1"/>
          <p:nvPr/>
        </p:nvSpPr>
        <p:spPr>
          <a:xfrm>
            <a:off x="6588224" y="1772816"/>
            <a:ext cx="1944216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2000" dirty="0"/>
              <a:t>crea oggetto </a:t>
            </a:r>
            <a:r>
              <a:rPr lang="it-IT" sz="2000" i="1" dirty="0" err="1">
                <a:solidFill>
                  <a:schemeClr val="accent2"/>
                </a:solidFill>
              </a:rPr>
              <a:t>InputWindow</a:t>
            </a:r>
            <a:endParaRPr lang="it-IT" sz="20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Esempio: codice del programma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sz="1600" noProof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public class ProvaSystem{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public static void main(String[] args){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InputWindow in = new InputWindow();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6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long t0 = System.currentTimeMillis();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String str = in.readString();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long t1 = System.currentTimeMillis();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long diff = t1-t0;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in = null;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System.gc();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OutputWindow out = new OutputWindow();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out.write("Stringa inserita: ");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out.writeln(str);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out.write("Tempo impiegato per l'inserimento (in ms): ");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out.writeln(diff);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>
              <a:buNone/>
            </a:pPr>
            <a:endParaRPr lang="it-IT" sz="1600" noProof="1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7" name="Connettore 2 6"/>
          <p:cNvCxnSpPr/>
          <p:nvPr/>
        </p:nvCxnSpPr>
        <p:spPr>
          <a:xfrm flipH="1">
            <a:off x="5436096" y="2204864"/>
            <a:ext cx="1152128" cy="648072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/>
          <p:cNvSpPr txBox="1"/>
          <p:nvPr/>
        </p:nvSpPr>
        <p:spPr>
          <a:xfrm>
            <a:off x="6588224" y="1772816"/>
            <a:ext cx="2088232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2000" dirty="0"/>
              <a:t>registra il tempo corrente</a:t>
            </a:r>
            <a:endParaRPr lang="it-IT" sz="20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Esempio: codice del programma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sz="1600" noProof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public class ProvaSystem{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public static void main(String[] args){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InputWindow in = new InputWindow();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long t0 = System.currentTimeMillis();</a:t>
            </a:r>
          </a:p>
          <a:p>
            <a:pPr>
              <a:buNone/>
            </a:pPr>
            <a:r>
              <a:rPr lang="it-IT" sz="16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String str = in.readString();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long t1 = System.currentTimeMillis();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long diff = t1-t0;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in = null;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System.gc();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OutputWindow out = new OutputWindow();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out.write("Stringa inserita: ");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out.writeln(str);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out.write("Tempo impiegato per l'inserimento (in ms): ");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out.writeln(diff);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>
              <a:buNone/>
            </a:pPr>
            <a:endParaRPr lang="it-IT" sz="1600" noProof="1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7" name="Connettore 2 6"/>
          <p:cNvCxnSpPr/>
          <p:nvPr/>
        </p:nvCxnSpPr>
        <p:spPr>
          <a:xfrm flipH="1">
            <a:off x="4716016" y="3140968"/>
            <a:ext cx="1368152" cy="144016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/>
          <p:cNvSpPr txBox="1"/>
          <p:nvPr/>
        </p:nvSpPr>
        <p:spPr>
          <a:xfrm>
            <a:off x="6228184" y="2780928"/>
            <a:ext cx="2520280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2000" dirty="0"/>
              <a:t>effettua la richiesta di inserimento all’utente</a:t>
            </a:r>
            <a:endParaRPr lang="it-IT" sz="20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Esempio: codice del programma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sz="1600" noProof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public class ProvaSystem{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public static void main(String[] args){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InputWindow in = new InputWindow();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long t0 = System.currentTimeMillis();</a:t>
            </a:r>
          </a:p>
          <a:p>
            <a:pPr>
              <a:buNone/>
            </a:pPr>
            <a:r>
              <a:rPr lang="it-IT" sz="16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600" noProof="1">
                <a:latin typeface="Courier New" pitchFamily="49" charset="0"/>
                <a:cs typeface="Courier New" pitchFamily="49" charset="0"/>
              </a:rPr>
              <a:t>String str = in.readString();</a:t>
            </a:r>
          </a:p>
          <a:p>
            <a:pPr>
              <a:buNone/>
            </a:pPr>
            <a:r>
              <a:rPr lang="it-IT" sz="16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long t1 = System.currentTimeMillis();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long diff = t1-t0;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in = null;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System.gc();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OutputWindow out = new OutputWindow();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out.write("Stringa inserita: ");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out.writeln(str);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out.write("Tempo impiegato per l'inserimento (in ms): ");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out.writeln(diff);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>
              <a:buNone/>
            </a:pPr>
            <a:endParaRPr lang="it-IT" sz="1600" noProof="1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7" name="Connettore 2 6"/>
          <p:cNvCxnSpPr/>
          <p:nvPr/>
        </p:nvCxnSpPr>
        <p:spPr>
          <a:xfrm flipH="1">
            <a:off x="5652120" y="3501008"/>
            <a:ext cx="576064" cy="72008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/>
          <p:cNvSpPr txBox="1"/>
          <p:nvPr/>
        </p:nvSpPr>
        <p:spPr>
          <a:xfrm>
            <a:off x="6300192" y="3009146"/>
            <a:ext cx="2520280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2000" dirty="0"/>
              <a:t>registra di nuovo il tempo corrente</a:t>
            </a:r>
            <a:endParaRPr lang="it-IT" sz="20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Esempio: codice del programma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sz="1600" noProof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public class ProvaSystem{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public static void main(String[] args){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InputWindow in = new InputWindow();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long t0 = System.currentTimeMillis();</a:t>
            </a:r>
          </a:p>
          <a:p>
            <a:pPr>
              <a:buNone/>
            </a:pPr>
            <a:r>
              <a:rPr lang="it-IT" sz="16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600" noProof="1">
                <a:latin typeface="Courier New" pitchFamily="49" charset="0"/>
                <a:cs typeface="Courier New" pitchFamily="49" charset="0"/>
              </a:rPr>
              <a:t>String str = in.readString();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long t1 = System.currentTimeMillis();</a:t>
            </a:r>
          </a:p>
          <a:p>
            <a:pPr>
              <a:buNone/>
            </a:pPr>
            <a:r>
              <a:rPr lang="it-IT" sz="16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long diff = t1-t0;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in = null;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System.gc();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OutputWindow out = new OutputWindow();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out.write("Stringa inserita: ");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out.writeln(str);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out.write("Tempo impiegato per l'inserimento (in ms): ");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out.writeln(diff);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>
              <a:buNone/>
            </a:pPr>
            <a:endParaRPr lang="it-IT" sz="1600" noProof="1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7" name="Connettore 2 6"/>
          <p:cNvCxnSpPr>
            <a:stCxn id="8" idx="1"/>
          </p:cNvCxnSpPr>
          <p:nvPr/>
        </p:nvCxnSpPr>
        <p:spPr>
          <a:xfrm flipH="1" flipV="1">
            <a:off x="3347864" y="3861048"/>
            <a:ext cx="2664296" cy="3776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/>
          <p:cNvSpPr txBox="1"/>
          <p:nvPr/>
        </p:nvSpPr>
        <p:spPr>
          <a:xfrm>
            <a:off x="6012160" y="3356992"/>
            <a:ext cx="2520280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2000" dirty="0"/>
              <a:t>calcola la differenza tra i tempi registrati (tempo trascorso)</a:t>
            </a:r>
            <a:endParaRPr lang="it-IT" sz="2000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Esempio: codice del programma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sz="1600" noProof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public class ProvaSystem{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public static void main(String[] args){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InputWindow in = new InputWindow();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long t0 = System.currentTimeMillis();</a:t>
            </a:r>
          </a:p>
          <a:p>
            <a:pPr>
              <a:buNone/>
            </a:pPr>
            <a:r>
              <a:rPr lang="it-IT" sz="16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600" noProof="1">
                <a:latin typeface="Courier New" pitchFamily="49" charset="0"/>
                <a:cs typeface="Courier New" pitchFamily="49" charset="0"/>
              </a:rPr>
              <a:t>String str = in.readString();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long t1 = System.currentTimeMillis();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long diff = t1-t0;</a:t>
            </a:r>
          </a:p>
          <a:p>
            <a:pPr>
              <a:buNone/>
            </a:pPr>
            <a:r>
              <a:rPr lang="it-IT" sz="16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in = null;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System.gc();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OutputWindow out = new OutputWindow();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out.write("Stringa inserita: ");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out.writeln(str);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out.write("Tempo impiegato per l'inserimento (in ms): ");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out.writeln(diff);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>
              <a:buNone/>
            </a:pPr>
            <a:endParaRPr lang="it-IT" sz="1600" noProof="1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7" name="Connettore 2 6"/>
          <p:cNvCxnSpPr>
            <a:stCxn id="8" idx="1"/>
          </p:cNvCxnSpPr>
          <p:nvPr/>
        </p:nvCxnSpPr>
        <p:spPr>
          <a:xfrm flipH="1">
            <a:off x="2339752" y="4048329"/>
            <a:ext cx="3672408" cy="28743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/>
          <p:cNvSpPr txBox="1"/>
          <p:nvPr/>
        </p:nvSpPr>
        <p:spPr>
          <a:xfrm>
            <a:off x="6012160" y="2924944"/>
            <a:ext cx="2952328" cy="22467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2000" dirty="0"/>
              <a:t>annulla il riferimento memorizzato nella variabile </a:t>
            </a:r>
            <a:r>
              <a:rPr lang="it-IT" sz="2000" i="1" dirty="0">
                <a:solidFill>
                  <a:schemeClr val="accent2"/>
                </a:solidFill>
              </a:rPr>
              <a:t>in </a:t>
            </a:r>
            <a:r>
              <a:rPr lang="it-IT" sz="2000" dirty="0"/>
              <a:t>(da questo momento l’oggetto </a:t>
            </a:r>
            <a:r>
              <a:rPr lang="it-IT" sz="2000" i="1" dirty="0" err="1">
                <a:solidFill>
                  <a:schemeClr val="accent2"/>
                </a:solidFill>
              </a:rPr>
              <a:t>InputWindow</a:t>
            </a:r>
            <a:r>
              <a:rPr lang="it-IT" sz="2000" dirty="0"/>
              <a:t> non è più raggiungibile, quindi diventa inutile)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Esempio: codice del programma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sz="1600" noProof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public class ProvaSystem{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public static void main(String[] args){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InputWindow in = new InputWindow();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long t0 = System.currentTimeMillis();</a:t>
            </a:r>
          </a:p>
          <a:p>
            <a:pPr>
              <a:buNone/>
            </a:pPr>
            <a:r>
              <a:rPr lang="it-IT" sz="16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600" noProof="1">
                <a:latin typeface="Courier New" pitchFamily="49" charset="0"/>
                <a:cs typeface="Courier New" pitchFamily="49" charset="0"/>
              </a:rPr>
              <a:t>String str = in.readString();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long t1 = System.currentTimeMillis();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long diff = t1-t0;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in = null;</a:t>
            </a:r>
          </a:p>
          <a:p>
            <a:pPr>
              <a:buNone/>
            </a:pPr>
            <a:r>
              <a:rPr lang="it-IT" sz="16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System.gc();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OutputWindow out = new OutputWindow();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out.write("Stringa inserita: ");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out.writeln(str);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out.write("Tempo impiegato per l'inserimento (in ms): ");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out.writeln(diff);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>
              <a:buNone/>
            </a:pPr>
            <a:endParaRPr lang="it-IT" sz="1600" noProof="1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7" name="Connettore 2 6"/>
          <p:cNvCxnSpPr>
            <a:stCxn id="8" idx="1"/>
          </p:cNvCxnSpPr>
          <p:nvPr/>
        </p:nvCxnSpPr>
        <p:spPr>
          <a:xfrm flipH="1">
            <a:off x="2555776" y="4018712"/>
            <a:ext cx="3456384" cy="41840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/>
          <p:cNvSpPr txBox="1"/>
          <p:nvPr/>
        </p:nvSpPr>
        <p:spPr>
          <a:xfrm>
            <a:off x="6012160" y="3356992"/>
            <a:ext cx="2952328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2000" dirty="0"/>
              <a:t>sollecita la rimozione degli oggetti inutili (quindi dell’oggetto </a:t>
            </a:r>
            <a:r>
              <a:rPr lang="it-IT" sz="2000" i="1" dirty="0" err="1">
                <a:solidFill>
                  <a:schemeClr val="accent2"/>
                </a:solidFill>
              </a:rPr>
              <a:t>InputWindow</a:t>
            </a:r>
            <a:r>
              <a:rPr lang="it-IT" sz="2000" dirty="0"/>
              <a:t>)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Esempio: codice del programma</a:t>
            </a:r>
          </a:p>
        </p:txBody>
      </p:sp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sz="1600" noProof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public class ProvaSystem{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public static void main(String[] args){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InputWindow in = new InputWindow();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long t0 = System.currentTimeMillis();</a:t>
            </a:r>
          </a:p>
          <a:p>
            <a:pPr>
              <a:buNone/>
            </a:pPr>
            <a:r>
              <a:rPr lang="it-IT" sz="16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600" noProof="1">
                <a:latin typeface="Courier New" pitchFamily="49" charset="0"/>
                <a:cs typeface="Courier New" pitchFamily="49" charset="0"/>
              </a:rPr>
              <a:t>String str = in.readString();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long t1 = System.currentTimeMillis();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long diff = t1-t0;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in = null;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System.gc();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6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OutputWindow out = new OutputWindow();</a:t>
            </a:r>
          </a:p>
          <a:p>
            <a:pPr>
              <a:buNone/>
            </a:pPr>
            <a:r>
              <a:rPr lang="it-IT" sz="16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out.write("Stringa inserita: ");</a:t>
            </a:r>
          </a:p>
          <a:p>
            <a:pPr>
              <a:buNone/>
            </a:pPr>
            <a:r>
              <a:rPr lang="it-IT" sz="16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out.writeln(str);</a:t>
            </a:r>
          </a:p>
          <a:p>
            <a:pPr>
              <a:buNone/>
            </a:pPr>
            <a:r>
              <a:rPr lang="it-IT" sz="16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out.write("Tempo impiegato per l'inserimento (in ms): ");</a:t>
            </a:r>
          </a:p>
          <a:p>
            <a:pPr>
              <a:buNone/>
            </a:pPr>
            <a:r>
              <a:rPr lang="it-IT" sz="1600" b="1" noProof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out.writeln(diff);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1600" noProof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>
              <a:buNone/>
            </a:pPr>
            <a:endParaRPr lang="it-IT" sz="1600" noProof="1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7" name="Connettore 2 6"/>
          <p:cNvCxnSpPr>
            <a:stCxn id="8" idx="2"/>
          </p:cNvCxnSpPr>
          <p:nvPr/>
        </p:nvCxnSpPr>
        <p:spPr>
          <a:xfrm flipH="1">
            <a:off x="5940152" y="3901118"/>
            <a:ext cx="1727684" cy="1256074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/>
          <p:cNvSpPr txBox="1"/>
          <p:nvPr/>
        </p:nvSpPr>
        <p:spPr>
          <a:xfrm>
            <a:off x="6191672" y="3501008"/>
            <a:ext cx="2952328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2000" dirty="0"/>
              <a:t>stampa i dati a video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ndamenti">
  <a:themeElements>
    <a:clrScheme name="Personalizzato 2">
      <a:dk1>
        <a:sysClr val="windowText" lastClr="000000"/>
      </a:dk1>
      <a:lt1>
        <a:sysClr val="window" lastClr="FFFFFF"/>
      </a:lt1>
      <a:dk2>
        <a:srgbClr val="990000"/>
      </a:dk2>
      <a:lt2>
        <a:srgbClr val="EEECE1"/>
      </a:lt2>
      <a:accent1>
        <a:srgbClr val="0000FF"/>
      </a:accent1>
      <a:accent2>
        <a:srgbClr val="00660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o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D65CA2515402D41A280901C776553D9" ma:contentTypeVersion="11" ma:contentTypeDescription="Creare un nuovo documento." ma:contentTypeScope="" ma:versionID="42a50dcfe7cdc16628150e4ed664f597">
  <xsd:schema xmlns:xsd="http://www.w3.org/2001/XMLSchema" xmlns:xs="http://www.w3.org/2001/XMLSchema" xmlns:p="http://schemas.microsoft.com/office/2006/metadata/properties" xmlns:ns2="b59b3c25-9a25-49d1-a0d3-94991f66772c" xmlns:ns3="276b7aae-0fa0-446d-a82e-a7696b2dbbea" targetNamespace="http://schemas.microsoft.com/office/2006/metadata/properties" ma:root="true" ma:fieldsID="5c83b0c1b3186f8798f8242386c1ecd8" ns2:_="" ns3:_="">
    <xsd:import namespace="b59b3c25-9a25-49d1-a0d3-94991f66772c"/>
    <xsd:import namespace="276b7aae-0fa0-446d-a82e-a7696b2dbb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9b3c25-9a25-49d1-a0d3-94991f6677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 immagine" ma:readOnly="false" ma:fieldId="{5cf76f15-5ced-4ddc-b409-7134ff3c332f}" ma:taxonomyMulti="true" ma:sspId="9d414cec-426e-4329-9a45-dc9697900c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6b7aae-0fa0-446d-a82e-a7696b2dbbe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4d34081-00a8-48ef-94a0-c9629acd59b6}" ma:internalName="TaxCatchAll" ma:showField="CatchAllData" ma:web="276b7aae-0fa0-446d-a82e-a7696b2dbb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59b3c25-9a25-49d1-a0d3-94991f66772c">
      <Terms xmlns="http://schemas.microsoft.com/office/infopath/2007/PartnerControls"/>
    </lcf76f155ced4ddcb4097134ff3c332f>
    <TaxCatchAll xmlns="276b7aae-0fa0-446d-a82e-a7696b2dbbea" xsi:nil="true"/>
  </documentManagement>
</p:properties>
</file>

<file path=customXml/itemProps1.xml><?xml version="1.0" encoding="utf-8"?>
<ds:datastoreItem xmlns:ds="http://schemas.openxmlformats.org/officeDocument/2006/customXml" ds:itemID="{0008ADC0-3A0B-400C-A926-47A8EEA5D4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9b3c25-9a25-49d1-a0d3-94991f66772c"/>
    <ds:schemaRef ds:uri="276b7aae-0fa0-446d-a82e-a7696b2dbb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7356522-AE0A-420D-84C8-397356F17E1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6C79450-AF52-4AA6-B9A4-209652C0761F}">
  <ds:schemaRefs>
    <ds:schemaRef ds:uri="http://schemas.microsoft.com/office/2006/metadata/properties"/>
    <ds:schemaRef ds:uri="http://schemas.microsoft.com/office/infopath/2007/PartnerControls"/>
    <ds:schemaRef ds:uri="b59b3c25-9a25-49d1-a0d3-94991f66772c"/>
    <ds:schemaRef ds:uri="276b7aae-0fa0-446d-a82e-a7696b2dbbe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Fondamenti</Template>
  <TotalTime>335</TotalTime>
  <Words>7438</Words>
  <Application>Microsoft Office PowerPoint</Application>
  <PresentationFormat>On-screen Show (4:3)</PresentationFormat>
  <Paragraphs>860</Paragraphs>
  <Slides>97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98" baseType="lpstr">
      <vt:lpstr>Fondamenti</vt:lpstr>
      <vt:lpstr>Uso di Classi e Oggetti in Java </vt:lpstr>
      <vt:lpstr>Obiettivi</vt:lpstr>
      <vt:lpstr>Struttura di un programma Java</vt:lpstr>
      <vt:lpstr>Struttura di un programma Java</vt:lpstr>
      <vt:lpstr>Il primo programma Java</vt:lpstr>
      <vt:lpstr>Struttura di PrimoProg</vt:lpstr>
      <vt:lpstr>La classe OutputWindow</vt:lpstr>
      <vt:lpstr>Codificare una classe</vt:lpstr>
      <vt:lpstr>La classe PrimoProg</vt:lpstr>
      <vt:lpstr>Codice della classe PrimoProg</vt:lpstr>
      <vt:lpstr>Direttive di importazione</vt:lpstr>
      <vt:lpstr>La parola “class”</vt:lpstr>
      <vt:lpstr>Modificatori di accesso</vt:lpstr>
      <vt:lpstr>Modificatori di accesso</vt:lpstr>
      <vt:lpstr>Modificatori di accesso</vt:lpstr>
      <vt:lpstr>Commenti</vt:lpstr>
      <vt:lpstr>Commenti di linea</vt:lpstr>
      <vt:lpstr>Il metodo “main”: intestazione</vt:lpstr>
      <vt:lpstr>Il metodo “main”: intestazione</vt:lpstr>
      <vt:lpstr>Il metodo “main”: intestazione</vt:lpstr>
      <vt:lpstr>Il metodo “main”: intestazione</vt:lpstr>
      <vt:lpstr>Il metodo “main”: corpo</vt:lpstr>
      <vt:lpstr>Creazione di oggetti</vt:lpstr>
      <vt:lpstr>Creazione di oggetti</vt:lpstr>
      <vt:lpstr>Costruttori</vt:lpstr>
      <vt:lpstr>Ruolo di un costruttore</vt:lpstr>
      <vt:lpstr>Costruttori in OutputWindow</vt:lpstr>
      <vt:lpstr>Usare i costruttori: l’istruzione “new”</vt:lpstr>
      <vt:lpstr>Usare i costruttori: l’istruzione “new”</vt:lpstr>
      <vt:lpstr>Creazione oggetti: schema</vt:lpstr>
      <vt:lpstr>Operatori ed espressioni</vt:lpstr>
      <vt:lpstr>Memorizzazione del riferimento</vt:lpstr>
      <vt:lpstr>Variabili riferimento</vt:lpstr>
      <vt:lpstr>Definizione di variabili riferimento</vt:lpstr>
      <vt:lpstr>Assegnamento di valori</vt:lpstr>
      <vt:lpstr>Variabili riferimento e memoria</vt:lpstr>
      <vt:lpstr>Variabili riferimento e memoria</vt:lpstr>
      <vt:lpstr>Scomposizione di istruzioni</vt:lpstr>
      <vt:lpstr>Invocazione di metodi</vt:lpstr>
      <vt:lpstr>Invocazione di metodi</vt:lpstr>
      <vt:lpstr>Invocazione di metodi</vt:lpstr>
      <vt:lpstr>Invocazione di metodi</vt:lpstr>
      <vt:lpstr>Diagramma di sequenza</vt:lpstr>
      <vt:lpstr>Versione compatta di PrimoProg</vt:lpstr>
      <vt:lpstr>Fase operativa</vt:lpstr>
      <vt:lpstr>Scrittura</vt:lpstr>
      <vt:lpstr>Package</vt:lpstr>
      <vt:lpstr>Package</vt:lpstr>
      <vt:lpstr>Package di default</vt:lpstr>
      <vt:lpstr>Utilizzo di package</vt:lpstr>
      <vt:lpstr>API di Java</vt:lpstr>
      <vt:lpstr>Package del corso</vt:lpstr>
      <vt:lpstr>Compilazione ed esecuzione</vt:lpstr>
      <vt:lpstr>Compilazione ed esecuzione</vt:lpstr>
      <vt:lpstr>Compilare ed eseguire PrimoProg</vt:lpstr>
      <vt:lpstr>Errori di compilazione</vt:lpstr>
      <vt:lpstr>Errori di esecuzione</vt:lpstr>
      <vt:lpstr>Ancora sulla classe OutputWindow</vt:lpstr>
      <vt:lpstr>Esempio: la classe TreFinestre</vt:lpstr>
      <vt:lpstr>Metodi della classe OutputWindow</vt:lpstr>
      <vt:lpstr>Esempio: la classe ProvaFont</vt:lpstr>
      <vt:lpstr>Esecuzione della classe ProvaFont</vt:lpstr>
      <vt:lpstr>Lo standard output</vt:lpstr>
      <vt:lpstr>L’oggetto System.out</vt:lpstr>
      <vt:lpstr>Esempio di uso di System.out</vt:lpstr>
      <vt:lpstr>Altri esempi di uso di oggetti</vt:lpstr>
      <vt:lpstr>La classe InputWindow</vt:lpstr>
      <vt:lpstr>La classe InputWindow: metodi</vt:lpstr>
      <vt:lpstr>La classe InputWindow: metodi</vt:lpstr>
      <vt:lpstr>La classe InputWindow: metodi</vt:lpstr>
      <vt:lpstr>La classe Echo</vt:lpstr>
      <vt:lpstr>La classe Echo: il codice</vt:lpstr>
      <vt:lpstr>Creazione oggetto InputWindow</vt:lpstr>
      <vt:lpstr>Lettura del dato stringa</vt:lpstr>
      <vt:lpstr>Lettura del dato stringa</vt:lpstr>
      <vt:lpstr>Lettura del dato stringa</vt:lpstr>
      <vt:lpstr>Creazione oggetto OutputWindow</vt:lpstr>
      <vt:lpstr>Stampa nella finestra grafica</vt:lpstr>
      <vt:lpstr>Un altro esempio</vt:lpstr>
      <vt:lpstr>La classe  EquazioneDiSecondoGrado</vt:lpstr>
      <vt:lpstr>La classe CalcolaEquazione</vt:lpstr>
      <vt:lpstr>La classe CalcolaEquazione</vt:lpstr>
      <vt:lpstr>Diagramma di sequenza (parziale)</vt:lpstr>
      <vt:lpstr>Rimozione di oggetti</vt:lpstr>
      <vt:lpstr>Garbage collection</vt:lpstr>
      <vt:lpstr>Uso di metodi statici</vt:lpstr>
      <vt:lpstr>Uso di metodi statici</vt:lpstr>
      <vt:lpstr>Esempio</vt:lpstr>
      <vt:lpstr>Esempio: codice del programma</vt:lpstr>
      <vt:lpstr>Esempio: codice del programma</vt:lpstr>
      <vt:lpstr>Esempio: codice del programma</vt:lpstr>
      <vt:lpstr>Esempio: codice del programma</vt:lpstr>
      <vt:lpstr>Esempio: codice del programma</vt:lpstr>
      <vt:lpstr>Esempio: codice del programma</vt:lpstr>
      <vt:lpstr>Esempio: codice del programma</vt:lpstr>
      <vt:lpstr>Esempio: codice del programma</vt:lpstr>
      <vt:lpstr>Esempio: codice del programma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Algoritmi, linguaggi e programmi</dc:title>
  <dc:creator>Walter</dc:creator>
  <cp:lastModifiedBy>cristian agliani</cp:lastModifiedBy>
  <cp:revision>342</cp:revision>
  <dcterms:created xsi:type="dcterms:W3CDTF">2014-02-04T14:25:56Z</dcterms:created>
  <dcterms:modified xsi:type="dcterms:W3CDTF">2026-01-16T14:43:04Z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0x0101000D65CA2515402D41A280901C776553D9</vt:lpwstr>
  </property>
  <property fmtid="{D5CDD505-2E9C-101B-9397-08002B2CF9AE}" pid="3" name="MediaServiceImageTags">
    <vt:lpwstr/>
  </property>
</Properties>
</file>