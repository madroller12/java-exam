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26" r:id="rId3"/>
    <p:sldId id="427" r:id="rId4"/>
    <p:sldId id="429" r:id="rId5"/>
    <p:sldId id="428" r:id="rId6"/>
    <p:sldId id="431" r:id="rId7"/>
    <p:sldId id="433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6" r:id="rId19"/>
    <p:sldId id="445" r:id="rId20"/>
    <p:sldId id="447" r:id="rId21"/>
    <p:sldId id="448" r:id="rId22"/>
    <p:sldId id="449" r:id="rId23"/>
    <p:sldId id="450" r:id="rId24"/>
    <p:sldId id="451" r:id="rId25"/>
    <p:sldId id="452" r:id="rId26"/>
    <p:sldId id="453" r:id="rId27"/>
    <p:sldId id="454" r:id="rId28"/>
    <p:sldId id="455" r:id="rId29"/>
    <p:sldId id="456" r:id="rId30"/>
    <p:sldId id="457" r:id="rId31"/>
    <p:sldId id="458" r:id="rId32"/>
    <p:sldId id="459" r:id="rId33"/>
    <p:sldId id="460" r:id="rId34"/>
    <p:sldId id="461" r:id="rId35"/>
    <p:sldId id="462" r:id="rId36"/>
    <p:sldId id="463" r:id="rId37"/>
    <p:sldId id="464" r:id="rId38"/>
    <p:sldId id="465" r:id="rId39"/>
    <p:sldId id="466" r:id="rId40"/>
    <p:sldId id="467" r:id="rId41"/>
    <p:sldId id="468" r:id="rId42"/>
    <p:sldId id="469" r:id="rId43"/>
    <p:sldId id="470" r:id="rId44"/>
    <p:sldId id="471" r:id="rId45"/>
    <p:sldId id="472" r:id="rId46"/>
    <p:sldId id="473" r:id="rId47"/>
    <p:sldId id="474" r:id="rId48"/>
    <p:sldId id="475" r:id="rId49"/>
    <p:sldId id="476" r:id="rId50"/>
    <p:sldId id="477" r:id="rId51"/>
    <p:sldId id="478" r:id="rId52"/>
    <p:sldId id="479" r:id="rId53"/>
    <p:sldId id="480" r:id="rId54"/>
    <p:sldId id="481" r:id="rId55"/>
    <p:sldId id="482" r:id="rId56"/>
    <p:sldId id="483" r:id="rId57"/>
    <p:sldId id="484" r:id="rId58"/>
    <p:sldId id="488" r:id="rId59"/>
    <p:sldId id="485" r:id="rId60"/>
    <p:sldId id="486" r:id="rId61"/>
    <p:sldId id="487" r:id="rId62"/>
    <p:sldId id="489" r:id="rId63"/>
    <p:sldId id="490" r:id="rId64"/>
    <p:sldId id="491" r:id="rId65"/>
    <p:sldId id="492" r:id="rId66"/>
    <p:sldId id="493" r:id="rId67"/>
    <p:sldId id="494" r:id="rId68"/>
    <p:sldId id="496" r:id="rId69"/>
    <p:sldId id="497" r:id="rId70"/>
    <p:sldId id="498" r:id="rId71"/>
    <p:sldId id="499" r:id="rId72"/>
    <p:sldId id="500" r:id="rId73"/>
    <p:sldId id="501" r:id="rId74"/>
    <p:sldId id="502" r:id="rId75"/>
    <p:sldId id="503" r:id="rId76"/>
    <p:sldId id="504" r:id="rId77"/>
    <p:sldId id="505" r:id="rId78"/>
    <p:sldId id="506" r:id="rId79"/>
    <p:sldId id="507" r:id="rId80"/>
    <p:sldId id="508" r:id="rId81"/>
    <p:sldId id="509" r:id="rId82"/>
    <p:sldId id="510" r:id="rId83"/>
    <p:sldId id="513" r:id="rId84"/>
    <p:sldId id="511" r:id="rId85"/>
    <p:sldId id="512" r:id="rId8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ustomXml" Target="../customXml/item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Didimo" userId="9ca42508-544e-487b-b4d0-e55fa49f242a" providerId="ADAL" clId="{E77CF718-E66C-4FD1-9237-6CF422602BF2}"/>
    <pc:docChg chg="modSld">
      <pc:chgData name="Walter Didimo" userId="9ca42508-544e-487b-b4d0-e55fa49f242a" providerId="ADAL" clId="{E77CF718-E66C-4FD1-9237-6CF422602BF2}" dt="2021-03-25T07:45:43.584" v="1" actId="20577"/>
      <pc:docMkLst>
        <pc:docMk/>
      </pc:docMkLst>
      <pc:sldChg chg="modSp mod">
        <pc:chgData name="Walter Didimo" userId="9ca42508-544e-487b-b4d0-e55fa49f242a" providerId="ADAL" clId="{E77CF718-E66C-4FD1-9237-6CF422602BF2}" dt="2021-03-25T07:45:43.584" v="1" actId="20577"/>
        <pc:sldMkLst>
          <pc:docMk/>
          <pc:sldMk cId="0" sldId="481"/>
        </pc:sldMkLst>
        <pc:spChg chg="mod">
          <ac:chgData name="Walter Didimo" userId="9ca42508-544e-487b-b4d0-e55fa49f242a" providerId="ADAL" clId="{E77CF718-E66C-4FD1-9237-6CF422602BF2}" dt="2021-03-25T07:45:43.584" v="1" actId="20577"/>
          <ac:spMkLst>
            <pc:docMk/>
            <pc:sldMk cId="0" sldId="48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412467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28600" y="19050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" y="3886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Fare clic per modificare lo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Secondo livello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Terzo livello</a:t>
            </a:r>
          </a:p>
          <a:p>
            <a: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4400" kern="1200" dirty="0" smtClean="0">
          <a:solidFill>
            <a:srgbClr val="99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8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9144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Calibri" pitchFamily="34" charset="0"/>
        <a:buChar char="‒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3716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8288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286000" indent="-2304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Limite delle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it-IT" dirty="0"/>
              <a:t>L’utilizzo di variabili “semplici” come quelle viste fino ad ora non è sufficiente per risolvere problemi in cui si debbano gestire collezioni di dati di dimensione non nota a priori</a:t>
            </a:r>
          </a:p>
          <a:p>
            <a:pPr>
              <a:spcBef>
                <a:spcPct val="50000"/>
              </a:spcBef>
            </a:pPr>
            <a:r>
              <a:rPr lang="it-IT" dirty="0"/>
              <a:t>Consideriamo ad esempio il seguente problema: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vogliamo far inserire all’utente una sequenza di stringhe e poi un numero intero positivo </a:t>
            </a:r>
            <a:r>
              <a:rPr lang="it-IT" i="1" dirty="0"/>
              <a:t>n</a:t>
            </a:r>
            <a:endParaRPr lang="it-IT" dirty="0"/>
          </a:p>
          <a:p>
            <a:pPr lvl="1">
              <a:spcBef>
                <a:spcPct val="50000"/>
              </a:spcBef>
            </a:pPr>
            <a:r>
              <a:rPr lang="it-IT" dirty="0"/>
              <a:t>vogliamo visualizzare all’utente le sole stringhe inserite che hanno lunghezza maggiore di </a:t>
            </a:r>
            <a:r>
              <a:rPr lang="it-IT" i="1" dirty="0"/>
              <a:t>n</a:t>
            </a:r>
            <a:endParaRPr lang="it-IT" dirty="0"/>
          </a:p>
          <a:p>
            <a:pPr>
              <a:spcBef>
                <a:spcPct val="50000"/>
              </a:spcBef>
            </a:pPr>
            <a:endParaRPr lang="it-IT" sz="24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Limite delle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problema può avere due varianti:</a:t>
            </a:r>
          </a:p>
          <a:p>
            <a:pPr lvl="1"/>
            <a:r>
              <a:rPr lang="it-IT" dirty="0"/>
              <a:t>la lunghezza della sequenza da fare inserire all’utente è fissata prima di scrivere il programma</a:t>
            </a:r>
          </a:p>
          <a:p>
            <a:pPr lvl="1"/>
            <a:r>
              <a:rPr lang="it-IT" dirty="0"/>
              <a:t>la lunghezza della sequenza da fare inserire all’utente è scelta dall’utente stesso (e quindi non nota all’atto della scrittura del codice)</a:t>
            </a:r>
          </a:p>
          <a:p>
            <a:r>
              <a:rPr lang="it-IT" dirty="0"/>
              <a:t>Consideriamo inizialmente la prima variante e supponiamo che la lunghezza della sequenza sia quattro:</a:t>
            </a:r>
          </a:p>
          <a:p>
            <a:pPr lvl="1"/>
            <a:r>
              <a:rPr lang="it-IT" dirty="0"/>
              <a:t>in questo caso potremmo risolvere il problema con gli strumenti che conosciamo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SequenzaStringheDimensioneFissa1{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out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stringhe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s1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stringa 1");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s2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stringa 2");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s3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stringa 3");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s4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stringa 4");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intero positivo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k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un intero positivo");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SequenzaStringheDimensioneFissa1{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stampa stringhe di lunghezza maggiore di k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("Stringhe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piu'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lunghe di " + k + ":");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(s1.length()&gt;k)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(s1);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(s2.length()&gt;k)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(s2);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(s3.length()&gt;k)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(s3);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(s4.length()&gt;k)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(s4);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Limiti della soluzione vista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it-IT" dirty="0"/>
              <a:t>La soluzione illustrata necessita di definire 4 variabili distinte per memorizzare le stringhe della sequenza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it-IT" dirty="0"/>
              <a:t>Inoltre, la soluzione illustrata deve ripetere le stesse cose (lettura, verifica lunghezza e stampa) per ognuna delle stringhe inserite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it-IT" dirty="0"/>
              <a:t>Cosa succede se voglio fissare la lunghezza della sequenza a 100, o addirittura a 100.000? 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it-IT" dirty="0"/>
              <a:t>è molto dispendioso scrivere un codice in cui definisco esplicitamente 100.000 variabili ed in cui ripeto 100.000 istruzioni “quasi” uguali!!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Variante con lunghezza non fissata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it-IT" dirty="0"/>
              <a:t>Nel caso in cui la lunghezza della sequenza non fosse fissata nel programma, ma decisa dall’utente, sarebbe addirittura impossibile scrivere il programma usando i soli strumenti che abbiamo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non sappiamo quante variabili bisogna usare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non sappiamo quante volte ripetere le operazioni di lettura, verifica della lunghezza e stampa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Gli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Per risolvere problemi come quello precedente, i linguaggi di programmazione forniscono una struttura dati nota come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endParaRPr lang="it-IT" u="sng" dirty="0">
              <a:solidFill>
                <a:schemeClr val="accent1"/>
              </a:solidFill>
            </a:endParaRPr>
          </a:p>
          <a:p>
            <a:r>
              <a:rPr lang="it-IT" dirty="0"/>
              <a:t>Un </a:t>
            </a:r>
            <a:r>
              <a:rPr lang="it-IT" dirty="0" err="1"/>
              <a:t>array</a:t>
            </a:r>
            <a:r>
              <a:rPr lang="it-IT" dirty="0"/>
              <a:t> è una sequenza di variabili:</a:t>
            </a:r>
          </a:p>
          <a:p>
            <a:pPr lvl="1"/>
            <a:r>
              <a:rPr lang="it-IT" dirty="0"/>
              <a:t>tutte le variabili di un </a:t>
            </a:r>
            <a:r>
              <a:rPr lang="it-IT" dirty="0" err="1"/>
              <a:t>array</a:t>
            </a:r>
            <a:r>
              <a:rPr lang="it-IT" dirty="0"/>
              <a:t> hanno lo stesso tipo di dato (il </a:t>
            </a:r>
            <a:r>
              <a:rPr lang="it-IT" u="sng" dirty="0">
                <a:solidFill>
                  <a:schemeClr val="accent1"/>
                </a:solidFill>
              </a:rPr>
              <a:t>tipo dell’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dirty="0"/>
              <a:t>), e si chiamano anche </a:t>
            </a:r>
            <a:r>
              <a:rPr lang="it-IT" u="sng" dirty="0">
                <a:solidFill>
                  <a:schemeClr val="accent1"/>
                </a:solidFill>
              </a:rPr>
              <a:t>elementi dell’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dirty="0"/>
              <a:t>ogni variabile ha associato un </a:t>
            </a:r>
            <a:r>
              <a:rPr lang="it-IT" u="sng" dirty="0">
                <a:solidFill>
                  <a:schemeClr val="accent1"/>
                </a:solidFill>
              </a:rPr>
              <a:t>indice</a:t>
            </a:r>
            <a:r>
              <a:rPr lang="it-IT" dirty="0"/>
              <a:t> (numero intero non negativo)</a:t>
            </a:r>
          </a:p>
          <a:p>
            <a:pPr lvl="1"/>
            <a:r>
              <a:rPr lang="it-IT" dirty="0"/>
              <a:t>la </a:t>
            </a:r>
            <a:r>
              <a:rPr lang="it-IT" u="sng" dirty="0">
                <a:solidFill>
                  <a:schemeClr val="accent1"/>
                </a:solidFill>
              </a:rPr>
              <a:t>dimensione</a:t>
            </a:r>
            <a:r>
              <a:rPr lang="it-IT" dirty="0"/>
              <a:t> (o </a:t>
            </a:r>
            <a:r>
              <a:rPr lang="it-IT" u="sng" dirty="0">
                <a:solidFill>
                  <a:schemeClr val="accent1"/>
                </a:solidFill>
              </a:rPr>
              <a:t>lunghezza</a:t>
            </a:r>
            <a:r>
              <a:rPr lang="it-IT" dirty="0"/>
              <a:t>) dell’</a:t>
            </a:r>
            <a:r>
              <a:rPr lang="it-IT" dirty="0" err="1"/>
              <a:t>array</a:t>
            </a:r>
            <a:r>
              <a:rPr lang="it-IT" dirty="0"/>
              <a:t> è il numero delle sue variabili</a:t>
            </a:r>
          </a:p>
          <a:p>
            <a:endParaRPr lang="it-IT" sz="2400" u="sng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in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Java un </a:t>
            </a:r>
            <a:r>
              <a:rPr lang="it-IT" dirty="0" err="1"/>
              <a:t>array</a:t>
            </a:r>
            <a:r>
              <a:rPr lang="it-IT" dirty="0"/>
              <a:t> è un oggetto</a:t>
            </a:r>
          </a:p>
          <a:p>
            <a:r>
              <a:rPr lang="it-IT" dirty="0"/>
              <a:t>Rispetto ad un oggetto “standard” presenta alcune differenze:</a:t>
            </a:r>
          </a:p>
          <a:p>
            <a:pPr lvl="1"/>
            <a:r>
              <a:rPr lang="it-IT" dirty="0"/>
              <a:t>non è un’istanza di una classe predefinita</a:t>
            </a:r>
          </a:p>
          <a:p>
            <a:pPr lvl="1"/>
            <a:r>
              <a:rPr lang="it-IT" dirty="0"/>
              <a:t>non possiede metodi</a:t>
            </a: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in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Come gli altri oggetti viene creato con l’operatore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all’atto della creazione va specificato sia il tipo che la dimensione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tipo di dato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[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dimensione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]</a:t>
            </a:r>
          </a:p>
          <a:p>
            <a:pPr lvl="1"/>
            <a:r>
              <a:rPr lang="it-IT" dirty="0">
                <a:sym typeface="Symbol"/>
              </a:rPr>
              <a:t>Esempio: creazione di un </a:t>
            </a:r>
            <a:r>
              <a:rPr lang="it-IT" dirty="0" err="1">
                <a:sym typeface="Symbol"/>
              </a:rPr>
              <a:t>array</a:t>
            </a:r>
            <a:r>
              <a:rPr lang="it-IT" dirty="0">
                <a:sym typeface="Symbol"/>
              </a:rPr>
              <a:t> di tipo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String</a:t>
            </a:r>
            <a:r>
              <a:rPr lang="it-IT" dirty="0">
                <a:sym typeface="Symbol"/>
              </a:rPr>
              <a:t> di dimensione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5</a:t>
            </a:r>
            <a:r>
              <a:rPr lang="it-IT" dirty="0">
                <a:sym typeface="Symbol"/>
              </a:rPr>
              <a:t>:</a:t>
            </a:r>
          </a:p>
          <a:p>
            <a:pPr lvl="1">
              <a:buNone/>
            </a:pPr>
            <a:r>
              <a:rPr lang="it-IT" i="1" dirty="0">
                <a:solidFill>
                  <a:schemeClr val="accent2"/>
                </a:solidFill>
                <a:sym typeface="Symbol"/>
              </a:rPr>
              <a:t>	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new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String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[5]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in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Come per la creazione di oggetti l’operatore </a:t>
            </a:r>
            <a:r>
              <a:rPr lang="it-IT" dirty="0" err="1"/>
              <a:t>new</a:t>
            </a:r>
            <a:r>
              <a:rPr lang="it-IT" dirty="0"/>
              <a:t> restituisce un riferimento all’</a:t>
            </a:r>
            <a:r>
              <a:rPr lang="it-IT" dirty="0" err="1"/>
              <a:t>array</a:t>
            </a:r>
            <a:r>
              <a:rPr lang="it-IT" dirty="0"/>
              <a:t> creato</a:t>
            </a:r>
          </a:p>
          <a:p>
            <a:r>
              <a:rPr lang="it-IT" dirty="0"/>
              <a:t>Tale riferimento deve essere salvato in un’opportuna variabile per poter poi utilizzare l’</a:t>
            </a:r>
            <a:r>
              <a:rPr lang="it-IT" dirty="0" err="1"/>
              <a:t>array</a:t>
            </a:r>
            <a:endParaRPr lang="it-IT" dirty="0"/>
          </a:p>
          <a:p>
            <a:r>
              <a:rPr lang="it-IT" dirty="0"/>
              <a:t>Quale deve essere il tipo di questa variabile?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in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ogni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/>
              <a:t> è automaticamente definito il tipo </a:t>
            </a:r>
            <a:r>
              <a:rPr lang="it-IT" i="1" dirty="0">
                <a:solidFill>
                  <a:schemeClr val="accent2"/>
                </a:solidFill>
              </a:rPr>
              <a:t>T[] </a:t>
            </a:r>
            <a:r>
              <a:rPr lang="it-IT" dirty="0"/>
              <a:t>chiamato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di tipo T</a:t>
            </a:r>
          </a:p>
          <a:p>
            <a:r>
              <a:rPr lang="it-IT" dirty="0"/>
              <a:t>Una variabile di tipo </a:t>
            </a:r>
            <a:r>
              <a:rPr lang="it-IT" i="1" dirty="0">
                <a:solidFill>
                  <a:schemeClr val="accent2"/>
                </a:solidFill>
              </a:rPr>
              <a:t>T[]</a:t>
            </a:r>
            <a:r>
              <a:rPr lang="it-IT" dirty="0"/>
              <a:t> può memorizzare un riferimento ad un </a:t>
            </a:r>
            <a:r>
              <a:rPr lang="it-IT" dirty="0" err="1"/>
              <a:t>array</a:t>
            </a:r>
            <a:r>
              <a:rPr lang="it-IT" dirty="0"/>
              <a:t> il cui tipo è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</a:p>
          <a:p>
            <a:r>
              <a:rPr lang="it-IT" dirty="0"/>
              <a:t>Esempio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[] s =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[5];</a:t>
            </a:r>
          </a:p>
          <a:p>
            <a:r>
              <a:rPr lang="it-IT" dirty="0"/>
              <a:t>L’istruzione precedente crea un </a:t>
            </a:r>
            <a:r>
              <a:rPr lang="it-IT" dirty="0" err="1"/>
              <a:t>array</a:t>
            </a:r>
            <a:r>
              <a:rPr lang="it-IT" dirty="0"/>
              <a:t> di stringhe di dimensione </a:t>
            </a:r>
            <a:r>
              <a:rPr lang="it-IT" i="1" dirty="0">
                <a:solidFill>
                  <a:schemeClr val="accent2"/>
                </a:solidFill>
              </a:rPr>
              <a:t>5</a:t>
            </a:r>
            <a:r>
              <a:rPr lang="it-IT" dirty="0"/>
              <a:t> e memorizza un riferimento ad esso in una variabile </a:t>
            </a:r>
            <a:r>
              <a:rPr lang="it-IT" i="1" dirty="0">
                <a:solidFill>
                  <a:schemeClr val="accent2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Accesso agli elementi di un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 </a:t>
            </a:r>
            <a:r>
              <a:rPr lang="it-IT" dirty="0" err="1"/>
              <a:t>array</a:t>
            </a:r>
            <a:r>
              <a:rPr lang="it-IT" dirty="0"/>
              <a:t> di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/>
              <a:t> di dimensione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è costituito da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variabili di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</a:p>
          <a:p>
            <a:r>
              <a:rPr lang="it-IT" dirty="0"/>
              <a:t>Ognuna di tali variabili può memorizzare un dato di tipo</a:t>
            </a:r>
            <a:r>
              <a:rPr lang="it-IT" i="1" dirty="0">
                <a:solidFill>
                  <a:schemeClr val="accent2"/>
                </a:solidFill>
              </a:rPr>
              <a:t> T</a:t>
            </a:r>
            <a:r>
              <a:rPr lang="it-IT" dirty="0"/>
              <a:t> e può essere acceduta (in lettura o scrittura) indipendentemente dalle altre</a:t>
            </a:r>
          </a:p>
          <a:p>
            <a:r>
              <a:rPr lang="it-IT" dirty="0"/>
              <a:t>L’accesso ad una certa variabile avviene specificando un indice</a:t>
            </a:r>
          </a:p>
          <a:p>
            <a:pPr lvl="1"/>
            <a:r>
              <a:rPr lang="it-IT" dirty="0"/>
              <a:t>Ogni elemento di un </a:t>
            </a:r>
            <a:r>
              <a:rPr lang="it-IT" dirty="0" err="1"/>
              <a:t>array</a:t>
            </a:r>
            <a:r>
              <a:rPr lang="it-IT" dirty="0"/>
              <a:t> è infatti associato ad un indice compreso tra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n-1 </a:t>
            </a:r>
          </a:p>
          <a:p>
            <a:pPr lvl="1">
              <a:buNone/>
            </a:pP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riferimento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array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[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espressione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]</a:t>
            </a:r>
            <a:endParaRPr lang="it-IT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Accesso agli elementi di un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Esempio: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[] s = new String[5];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s[0] = "Silvia";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s[1] = "Walter";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s[2] = "Lisa";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s[3] = "Tommaso";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s[4] = "Matteo";</a:t>
            </a:r>
          </a:p>
          <a:p>
            <a:r>
              <a:rPr lang="it-IT" dirty="0"/>
              <a:t>Il brano precedente crea un </a:t>
            </a:r>
            <a:r>
              <a:rPr lang="it-IT" dirty="0" err="1"/>
              <a:t>array</a:t>
            </a:r>
            <a:r>
              <a:rPr lang="it-IT" dirty="0"/>
              <a:t> di stringhe di dimensione 5 e assegna ad ogni elemento di tale </a:t>
            </a:r>
            <a:r>
              <a:rPr lang="it-IT" dirty="0" err="1"/>
              <a:t>array</a:t>
            </a:r>
            <a:r>
              <a:rPr lang="it-IT" dirty="0"/>
              <a:t> un riferimento ad una stringa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Schema di un </a:t>
            </a:r>
            <a:r>
              <a:rPr lang="it-IT" dirty="0" err="1"/>
              <a:t>array</a:t>
            </a:r>
            <a:endParaRPr lang="it-I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6013" y="1916832"/>
            <a:ext cx="4371975" cy="438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di tipi primitivi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Nell’esempio precedente abbiamo fatto riferimento ad un </a:t>
            </a:r>
            <a:r>
              <a:rPr lang="it-IT" dirty="0" err="1"/>
              <a:t>array</a:t>
            </a:r>
            <a:r>
              <a:rPr lang="it-IT" dirty="0"/>
              <a:t> di oggetti</a:t>
            </a:r>
          </a:p>
          <a:p>
            <a:r>
              <a:rPr lang="it-IT" dirty="0"/>
              <a:t>È possibile creare anche </a:t>
            </a:r>
            <a:r>
              <a:rPr lang="it-IT" dirty="0" err="1"/>
              <a:t>array</a:t>
            </a:r>
            <a:r>
              <a:rPr lang="it-IT" dirty="0"/>
              <a:t> di tipi primitivi</a:t>
            </a:r>
          </a:p>
          <a:p>
            <a:pPr>
              <a:buNone/>
            </a:pPr>
            <a:r>
              <a:rPr lang="it-IT" dirty="0"/>
              <a:t>		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[] a = new int[3];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a[0] = 100;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a[1] = 50;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a[2] = a[0]+a[1];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3501008"/>
            <a:ext cx="3883343" cy="2631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Riconsideriamo il nostro problema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Utilizzando gli </a:t>
            </a:r>
            <a:r>
              <a:rPr lang="it-IT" dirty="0" err="1"/>
              <a:t>array</a:t>
            </a:r>
            <a:r>
              <a:rPr lang="it-IT" dirty="0"/>
              <a:t> possiamo risolvere il problema della sequenza di stringhe</a:t>
            </a:r>
          </a:p>
          <a:p>
            <a:r>
              <a:rPr lang="it-IT" dirty="0"/>
              <a:t>Creiamo un </a:t>
            </a:r>
            <a:r>
              <a:rPr lang="it-IT" dirty="0" err="1"/>
              <a:t>array</a:t>
            </a:r>
            <a:r>
              <a:rPr lang="it-IT" dirty="0"/>
              <a:t> di dimensione opportuna per memorizzare la sequenza di stringhe</a:t>
            </a:r>
          </a:p>
          <a:p>
            <a:r>
              <a:rPr lang="it-IT" dirty="0"/>
              <a:t>Sia la lettura delle stringhe che la valutazione della loro lunghezza (con eventuale stampa) avviene scandendo gli elementi dell’</a:t>
            </a:r>
            <a:r>
              <a:rPr lang="it-IT" dirty="0" err="1"/>
              <a:t>array</a:t>
            </a:r>
            <a:endParaRPr 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SequenzaStringheDimensioneFissa2{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out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creazione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array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per memorizzare le stringhe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DIM = 4;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[] s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[DIM];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stringhe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i = 0; i&lt;DIM; i++)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s[i]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in.readString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("Inserire stringa "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+i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SequenzaStringheDimensioneFissa2{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intero positivo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k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un intero positivo");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stampa stringhe di lunghezza maggiore di k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("Stringhe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piu'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lunghe di " + k + ":");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i = 0; i&lt;DIM; i++)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(s[i].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()&gt;k)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(s[i]);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2: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soluzione 2 è più compatta della soluzione 1</a:t>
            </a:r>
          </a:p>
          <a:p>
            <a:pPr lvl="1"/>
            <a:r>
              <a:rPr lang="it-IT" dirty="0"/>
              <a:t>non c’è bisogno di ripetere più volte le stesse istruzioni</a:t>
            </a:r>
          </a:p>
          <a:p>
            <a:r>
              <a:rPr lang="it-IT" dirty="0"/>
              <a:t>Il codice inoltre è facilmente modificabile nel caso la lunghezza della sequenza cambi:</a:t>
            </a:r>
          </a:p>
          <a:p>
            <a:pPr lvl="1"/>
            <a:r>
              <a:rPr lang="it-IT" dirty="0"/>
              <a:t>per passare da </a:t>
            </a:r>
            <a:r>
              <a:rPr lang="it-IT" i="1" dirty="0">
                <a:solidFill>
                  <a:schemeClr val="accent2"/>
                </a:solidFill>
              </a:rPr>
              <a:t>4</a:t>
            </a:r>
            <a:r>
              <a:rPr lang="it-IT" dirty="0"/>
              <a:t> a </a:t>
            </a:r>
            <a:r>
              <a:rPr lang="it-IT" i="1" dirty="0">
                <a:solidFill>
                  <a:schemeClr val="accent2"/>
                </a:solidFill>
              </a:rPr>
              <a:t>100</a:t>
            </a:r>
            <a:r>
              <a:rPr lang="it-IT" dirty="0"/>
              <a:t> stringhe è sufficiente cambiare il valore della costante </a:t>
            </a:r>
            <a:r>
              <a:rPr lang="it-IT" i="1" dirty="0">
                <a:solidFill>
                  <a:schemeClr val="accent2"/>
                </a:solidFill>
              </a:rPr>
              <a:t>DIM</a:t>
            </a:r>
          </a:p>
          <a:p>
            <a:r>
              <a:rPr lang="it-IT" dirty="0"/>
              <a:t>È inoltre possibile adattare facilmente il codice al caso in cui la lunghezza della sequenza viene scelta dall’utente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3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478539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SequenzaStringheDimensioneFissa2{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out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creazione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array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per memorizzare le stringhe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dim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("Quante stringhe vuoi inserire?");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[] s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dim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stringhe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dim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s[i]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in.readString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("Inserire stringa "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+i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Soluzione 3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SequenzaStringheDimensioneFissa2{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intero positivo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k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("Inserire un intero positivo");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stampa stringhe di lunghezza maggiore di k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("Stringhe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piu'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lunghe di " + k + ":");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dim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(s[i].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()&gt;k)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(s[i]);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L’attributo </a:t>
            </a:r>
            <a:r>
              <a:rPr lang="it-IT" dirty="0" err="1"/>
              <a:t>length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</a:t>
            </a:r>
            <a:r>
              <a:rPr lang="it-IT" dirty="0" err="1"/>
              <a:t>array</a:t>
            </a:r>
            <a:r>
              <a:rPr lang="it-IT" dirty="0"/>
              <a:t> non hanno metodi, ma ogni </a:t>
            </a:r>
            <a:r>
              <a:rPr lang="it-IT" dirty="0" err="1"/>
              <a:t>array</a:t>
            </a:r>
            <a:r>
              <a:rPr lang="it-IT" dirty="0"/>
              <a:t> ha un attributo pubblico di nome 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Tale attributo memorizza la lunghezza dell’</a:t>
            </a:r>
            <a:r>
              <a:rPr lang="it-IT" dirty="0" err="1"/>
              <a:t>array</a:t>
            </a:r>
            <a:endParaRPr lang="it-IT" dirty="0"/>
          </a:p>
          <a:p>
            <a:r>
              <a:rPr lang="it-IT" dirty="0"/>
              <a:t>L’attributo è di sola lettura </a:t>
            </a:r>
          </a:p>
          <a:p>
            <a:pPr lvl="1"/>
            <a:r>
              <a:rPr lang="it-IT" dirty="0"/>
              <a:t>non è possibile cambiare la dimensione di un </a:t>
            </a:r>
            <a:r>
              <a:rPr lang="it-IT" dirty="0" err="1"/>
              <a:t>array</a:t>
            </a:r>
            <a:r>
              <a:rPr lang="it-IT" dirty="0"/>
              <a:t> una volta creato</a:t>
            </a:r>
          </a:p>
          <a:p>
            <a:r>
              <a:rPr lang="it-IT" dirty="0"/>
              <a:t>A cosa serve l’attributo 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ad esempio a conoscere la dimensione di un </a:t>
            </a:r>
            <a:r>
              <a:rPr lang="it-IT" dirty="0" err="1"/>
              <a:t>array</a:t>
            </a:r>
            <a:r>
              <a:rPr lang="it-IT" dirty="0"/>
              <a:t> ricevuto come parametro di un metodo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L’attributo </a:t>
            </a:r>
            <a:r>
              <a:rPr lang="it-IT" dirty="0" err="1"/>
              <a:t>length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int sommaElementi(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int[] 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somma = 0;</a:t>
            </a:r>
          </a:p>
          <a:p>
            <a:pPr>
              <a:buNone/>
            </a:pPr>
            <a:r>
              <a:rPr lang="nn-NO" sz="2000" dirty="0">
                <a:latin typeface="Courier New" pitchFamily="49" charset="0"/>
                <a:cs typeface="Courier New" pitchFamily="49" charset="0"/>
              </a:rPr>
              <a:t>	for (int i = 0; i&lt;</a:t>
            </a:r>
            <a:r>
              <a:rPr lang="nn-NO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a.length</a:t>
            </a:r>
            <a:r>
              <a:rPr lang="nn-NO" sz="2000" dirty="0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somma += a[i];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somma;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metodo precedente riceve un </a:t>
            </a:r>
            <a:r>
              <a:rPr lang="it-IT" dirty="0" err="1"/>
              <a:t>array</a:t>
            </a:r>
            <a:r>
              <a:rPr lang="it-IT" dirty="0"/>
              <a:t> di interi come parametro e restituisce la somma di tutti i suoi elementi </a:t>
            </a:r>
          </a:p>
          <a:p>
            <a:r>
              <a:rPr lang="it-IT" dirty="0"/>
              <a:t>Poiché l’</a:t>
            </a:r>
            <a:r>
              <a:rPr lang="it-IT" dirty="0" err="1"/>
              <a:t>array</a:t>
            </a:r>
            <a:r>
              <a:rPr lang="it-IT" dirty="0"/>
              <a:t> è creato esternamente al metodo l’unico modo per conoscere la sua lunghezza è tramite l’attributo 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Ancora sugli indici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Abbiamo visto che gli elementi di un </a:t>
            </a:r>
            <a:r>
              <a:rPr lang="it-IT" dirty="0" err="1"/>
              <a:t>array</a:t>
            </a:r>
            <a:r>
              <a:rPr lang="it-IT" dirty="0"/>
              <a:t> a sono associati agli indici da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ad </a:t>
            </a:r>
            <a:r>
              <a:rPr lang="it-IT" i="1" dirty="0">
                <a:solidFill>
                  <a:schemeClr val="accent2"/>
                </a:solidFill>
              </a:rPr>
              <a:t>a.length-1</a:t>
            </a:r>
            <a:r>
              <a:rPr lang="it-IT" dirty="0"/>
              <a:t> </a:t>
            </a:r>
          </a:p>
          <a:p>
            <a:r>
              <a:rPr lang="it-IT" dirty="0"/>
              <a:t>Che cosa succede se tentiamo di accedere ad una posizione non valida, cioè ad un indice minore di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o maggiore di </a:t>
            </a:r>
            <a:r>
              <a:rPr lang="it-IT" i="1" dirty="0">
                <a:solidFill>
                  <a:schemeClr val="accent2"/>
                </a:solidFill>
              </a:rPr>
              <a:t>a.length-1</a:t>
            </a:r>
            <a:r>
              <a:rPr lang="it-IT" dirty="0"/>
              <a:t>? </a:t>
            </a:r>
          </a:p>
          <a:p>
            <a:r>
              <a:rPr lang="it-IT" dirty="0"/>
              <a:t>In fase di compilazione non si ha nessun problema</a:t>
            </a:r>
          </a:p>
          <a:p>
            <a:pPr lvl="1"/>
            <a:r>
              <a:rPr lang="it-IT" dirty="0"/>
              <a:t>l’espressione usata come indice non viene valutata ma viene soltanto controllato che il tipo sia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In fase di esecuzione si ottiene un errore del tipo </a:t>
            </a:r>
            <a:r>
              <a:rPr lang="it-IT" i="1" dirty="0" err="1">
                <a:solidFill>
                  <a:schemeClr val="accent2"/>
                </a:solidFill>
              </a:rPr>
              <a:t>ArrayIndexOutOfBoundException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Inizializzazione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In Java quando un </a:t>
            </a:r>
            <a:r>
              <a:rPr lang="it-IT" dirty="0" err="1"/>
              <a:t>array</a:t>
            </a:r>
            <a:r>
              <a:rPr lang="it-IT" dirty="0"/>
              <a:t> viene creato i suoi elementi vengono inizializzati con il valore di default del loro tipo</a:t>
            </a:r>
          </a:p>
          <a:p>
            <a:pPr lvl="1"/>
            <a:r>
              <a:rPr lang="it-IT" dirty="0"/>
              <a:t>ad esempio gli elementi di un </a:t>
            </a:r>
            <a:r>
              <a:rPr lang="it-IT" dirty="0" err="1"/>
              <a:t>array</a:t>
            </a:r>
            <a:r>
              <a:rPr lang="it-IT" dirty="0"/>
              <a:t> di interi vengono inizializzati con il valore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</a:p>
          <a:p>
            <a:pPr lvl="1"/>
            <a:r>
              <a:rPr lang="it-IT" dirty="0"/>
              <a:t>mentre gli elementi di un </a:t>
            </a:r>
            <a:r>
              <a:rPr lang="it-IT" dirty="0" err="1"/>
              <a:t>array</a:t>
            </a:r>
            <a:r>
              <a:rPr lang="it-IT" dirty="0"/>
              <a:t> di stringhe vengono inizializzati con il valore </a:t>
            </a:r>
            <a:r>
              <a:rPr lang="it-IT" i="1" dirty="0" err="1">
                <a:solidFill>
                  <a:schemeClr val="accent2"/>
                </a:solidFill>
              </a:rPr>
              <a:t>null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Ovviamente è possibile (e auspicabile) inizializzare esplicitamente gli elementi di un </a:t>
            </a:r>
            <a:r>
              <a:rPr lang="it-IT" dirty="0" err="1"/>
              <a:t>array</a:t>
            </a:r>
            <a:r>
              <a:rPr lang="it-IT" dirty="0"/>
              <a:t> 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Inizializzazione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In Java è anche possibile inizializzare gli elementi di un </a:t>
            </a:r>
            <a:r>
              <a:rPr lang="it-IT" dirty="0" err="1"/>
              <a:t>array</a:t>
            </a:r>
            <a:r>
              <a:rPr lang="it-IT" dirty="0"/>
              <a:t> contestualmente alla sua creazione</a:t>
            </a:r>
          </a:p>
          <a:p>
            <a:pPr lvl="1"/>
            <a:r>
              <a:rPr lang="it-IT" dirty="0"/>
              <a:t>in questo caso la creazione avviene con un meccanismo diverso dall’uso del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Esempio</a:t>
            </a:r>
          </a:p>
          <a:p>
            <a:pPr>
              <a:buNone/>
            </a:pP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[] </a:t>
            </a:r>
            <a:r>
              <a:rPr lang="it-IT" sz="2400" i="1" dirty="0" err="1">
                <a:solidFill>
                  <a:schemeClr val="accent2"/>
                </a:solidFill>
              </a:rPr>
              <a:t>s=</a:t>
            </a:r>
            <a:r>
              <a:rPr lang="it-IT" sz="2400" dirty="0">
                <a:solidFill>
                  <a:schemeClr val="accent2"/>
                </a:solidFill>
              </a:rPr>
              <a:t>{</a:t>
            </a:r>
            <a:r>
              <a:rPr lang="it-IT" sz="2400" i="1" dirty="0">
                <a:solidFill>
                  <a:schemeClr val="accent2"/>
                </a:solidFill>
              </a:rPr>
              <a:t>“Silvia”, “Walter”, “Lisa”, “Tommaso”, “Matteo”</a:t>
            </a:r>
            <a:r>
              <a:rPr lang="it-IT" sz="2400" dirty="0">
                <a:solidFill>
                  <a:schemeClr val="accent2"/>
                </a:solidFill>
              </a:rPr>
              <a:t>};</a:t>
            </a:r>
          </a:p>
          <a:p>
            <a:r>
              <a:rPr lang="it-IT" dirty="0">
                <a:solidFill>
                  <a:schemeClr val="accent2"/>
                </a:solidFill>
              </a:rPr>
              <a:t>{</a:t>
            </a:r>
            <a:r>
              <a:rPr lang="it-IT" i="1" dirty="0">
                <a:solidFill>
                  <a:schemeClr val="accent2"/>
                </a:solidFill>
              </a:rPr>
              <a:t>“Silvia”, “Walter”, “Lisa”, “Tommaso”, “Matteo”</a:t>
            </a:r>
            <a:r>
              <a:rPr lang="it-IT" dirty="0">
                <a:solidFill>
                  <a:schemeClr val="accent2"/>
                </a:solidFill>
              </a:rPr>
              <a:t>}</a:t>
            </a:r>
            <a:r>
              <a:rPr lang="it-IT" dirty="0"/>
              <a:t> è un </a:t>
            </a:r>
            <a:r>
              <a:rPr lang="it-IT" u="sng" dirty="0">
                <a:solidFill>
                  <a:schemeClr val="accent1"/>
                </a:solidFill>
              </a:rPr>
              <a:t>letterale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Letterali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v1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v2</a:t>
            </a:r>
            <a:r>
              <a:rPr lang="it-IT" dirty="0"/>
              <a:t>, ..., </a:t>
            </a:r>
            <a:r>
              <a:rPr lang="it-IT" i="1" dirty="0" err="1">
                <a:solidFill>
                  <a:schemeClr val="accent2"/>
                </a:solidFill>
              </a:rPr>
              <a:t>vk</a:t>
            </a:r>
            <a:r>
              <a:rPr lang="it-IT" dirty="0"/>
              <a:t> sono letterali di un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{v1, v2, ..., </a:t>
            </a:r>
            <a:r>
              <a:rPr lang="it-IT" i="1" dirty="0" err="1">
                <a:solidFill>
                  <a:schemeClr val="accent2"/>
                </a:solidFill>
              </a:rPr>
              <a:t>vk</a:t>
            </a:r>
            <a:r>
              <a:rPr lang="it-IT" i="1" dirty="0">
                <a:solidFill>
                  <a:schemeClr val="accent2"/>
                </a:solidFill>
              </a:rPr>
              <a:t>}</a:t>
            </a:r>
            <a:r>
              <a:rPr lang="it-IT" dirty="0"/>
              <a:t> è un letterale </a:t>
            </a:r>
            <a:r>
              <a:rPr lang="it-IT" dirty="0" err="1"/>
              <a:t>array</a:t>
            </a:r>
            <a:r>
              <a:rPr lang="it-IT" dirty="0"/>
              <a:t> di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</a:p>
          <a:p>
            <a:r>
              <a:rPr lang="it-IT" dirty="0"/>
              <a:t>I letterali </a:t>
            </a:r>
            <a:r>
              <a:rPr lang="it-IT" dirty="0" err="1"/>
              <a:t>array</a:t>
            </a:r>
            <a:r>
              <a:rPr lang="it-IT" dirty="0"/>
              <a:t> possono essere utilizzati per creare </a:t>
            </a:r>
            <a:r>
              <a:rPr lang="it-IT" dirty="0" err="1"/>
              <a:t>array</a:t>
            </a:r>
            <a:r>
              <a:rPr lang="it-IT" dirty="0"/>
              <a:t> ed inizializzarli all’atto della creazione</a:t>
            </a:r>
          </a:p>
          <a:p>
            <a:r>
              <a:rPr lang="it-IT" dirty="0"/>
              <a:t>L’assegnazione di un letterale </a:t>
            </a:r>
            <a:r>
              <a:rPr lang="it-IT" dirty="0" err="1"/>
              <a:t>array</a:t>
            </a:r>
            <a:r>
              <a:rPr lang="it-IT" dirty="0"/>
              <a:t> di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/>
              <a:t> ad una variabile di tipo </a:t>
            </a:r>
            <a:r>
              <a:rPr lang="it-IT" i="1" dirty="0">
                <a:solidFill>
                  <a:schemeClr val="accent2"/>
                </a:solidFill>
              </a:rPr>
              <a:t>T[]</a:t>
            </a:r>
            <a:r>
              <a:rPr lang="it-IT" dirty="0"/>
              <a:t> deve avvenire contestualmente alla definizione della variabile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[] </a:t>
            </a:r>
            <a:r>
              <a:rPr lang="it-IT" i="1" dirty="0" err="1">
                <a:solidFill>
                  <a:schemeClr val="accent2"/>
                </a:solidFill>
              </a:rPr>
              <a:t>a=</a:t>
            </a:r>
            <a:r>
              <a:rPr lang="it-IT" dirty="0">
                <a:solidFill>
                  <a:schemeClr val="accent2"/>
                </a:solidFill>
              </a:rPr>
              <a:t>{</a:t>
            </a:r>
            <a:r>
              <a:rPr lang="it-IT" i="1" dirty="0">
                <a:solidFill>
                  <a:schemeClr val="accent2"/>
                </a:solidFill>
              </a:rPr>
              <a:t>1</a:t>
            </a:r>
            <a:r>
              <a:rPr lang="it-IT" dirty="0">
                <a:solidFill>
                  <a:schemeClr val="accent2"/>
                </a:solidFill>
              </a:rPr>
              <a:t>,</a:t>
            </a:r>
            <a:r>
              <a:rPr lang="it-IT" i="1" dirty="0">
                <a:solidFill>
                  <a:schemeClr val="accent2"/>
                </a:solidFill>
              </a:rPr>
              <a:t>2</a:t>
            </a:r>
            <a:r>
              <a:rPr lang="it-IT" dirty="0">
                <a:solidFill>
                  <a:schemeClr val="accent2"/>
                </a:solidFill>
              </a:rPr>
              <a:t>,</a:t>
            </a:r>
            <a:r>
              <a:rPr lang="it-IT" i="1" dirty="0">
                <a:solidFill>
                  <a:schemeClr val="accent2"/>
                </a:solidFill>
              </a:rPr>
              <a:t>3</a:t>
            </a:r>
            <a:r>
              <a:rPr lang="it-IT" dirty="0">
                <a:solidFill>
                  <a:schemeClr val="accent2"/>
                </a:solidFill>
              </a:rPr>
              <a:t>} //</a:t>
            </a:r>
            <a:r>
              <a:rPr lang="it-IT" i="1" dirty="0">
                <a:solidFill>
                  <a:schemeClr val="accent2"/>
                </a:solidFill>
              </a:rPr>
              <a:t>OK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[]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>
                <a:solidFill>
                  <a:schemeClr val="accent2"/>
                </a:solidFill>
              </a:rPr>
              <a:t>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rgbClr val="FF0000"/>
                </a:solidFill>
              </a:rPr>
              <a:t>b</a:t>
            </a:r>
            <a:r>
              <a:rPr lang="it-IT" dirty="0" err="1">
                <a:solidFill>
                  <a:srgbClr val="FF0000"/>
                </a:solidFill>
              </a:rPr>
              <a:t>=</a:t>
            </a:r>
            <a:r>
              <a:rPr lang="it-IT" dirty="0">
                <a:solidFill>
                  <a:srgbClr val="FF0000"/>
                </a:solidFill>
              </a:rPr>
              <a:t>{</a:t>
            </a:r>
            <a:r>
              <a:rPr lang="it-IT" i="1" dirty="0">
                <a:solidFill>
                  <a:srgbClr val="FF0000"/>
                </a:solidFill>
              </a:rPr>
              <a:t>4</a:t>
            </a:r>
            <a:r>
              <a:rPr lang="it-IT" dirty="0">
                <a:solidFill>
                  <a:srgbClr val="FF0000"/>
                </a:solidFill>
              </a:rPr>
              <a:t>,</a:t>
            </a:r>
            <a:r>
              <a:rPr lang="it-IT" i="1" dirty="0">
                <a:solidFill>
                  <a:srgbClr val="FF0000"/>
                </a:solidFill>
              </a:rPr>
              <a:t>5</a:t>
            </a:r>
            <a:r>
              <a:rPr lang="it-IT" dirty="0">
                <a:solidFill>
                  <a:srgbClr val="FF0000"/>
                </a:solidFill>
              </a:rPr>
              <a:t>,</a:t>
            </a:r>
            <a:r>
              <a:rPr lang="it-IT" i="1" dirty="0">
                <a:solidFill>
                  <a:srgbClr val="FF0000"/>
                </a:solidFill>
              </a:rPr>
              <a:t>6</a:t>
            </a:r>
            <a:r>
              <a:rPr lang="it-IT" dirty="0">
                <a:solidFill>
                  <a:srgbClr val="FF0000"/>
                </a:solidFill>
              </a:rPr>
              <a:t>}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</a:rPr>
              <a:t>// </a:t>
            </a:r>
            <a:r>
              <a:rPr lang="it-IT" i="1" dirty="0">
                <a:solidFill>
                  <a:srgbClr val="FF0000"/>
                </a:solidFill>
              </a:rPr>
              <a:t>Errore!! </a:t>
            </a:r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Copia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Un’operazione piuttosto ricorrente nei programmi è la copia di un </a:t>
            </a:r>
            <a:r>
              <a:rPr lang="it-IT" dirty="0" err="1"/>
              <a:t>array</a:t>
            </a:r>
            <a:endParaRPr lang="it-IT" dirty="0"/>
          </a:p>
          <a:p>
            <a:r>
              <a:rPr lang="it-IT" dirty="0"/>
              <a:t>Copiare un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significa creare un nuovo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i cui elementi hanno lo stesso valore di quelli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r>
              <a:rPr lang="it-IT" dirty="0"/>
              <a:t>La copia avviene in due passi:</a:t>
            </a:r>
          </a:p>
          <a:p>
            <a:pPr lvl="1"/>
            <a:r>
              <a:rPr lang="it-IT" dirty="0"/>
              <a:t>si crea l’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con la stessa dimensione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pPr lvl="1"/>
            <a:r>
              <a:rPr lang="it-IT" dirty="0"/>
              <a:t>si copiano gli elementi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i="1" dirty="0"/>
              <a:t>,</a:t>
            </a:r>
            <a:r>
              <a:rPr lang="it-IT" dirty="0"/>
              <a:t> uno alla volta, in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</a:p>
          <a:p>
            <a:pPr>
              <a:buNone/>
            </a:pP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Copia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Si supponga che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sia un </a:t>
            </a:r>
            <a:r>
              <a:rPr lang="it-IT" dirty="0" err="1"/>
              <a:t>array</a:t>
            </a:r>
            <a:r>
              <a:rPr lang="it-IT" dirty="0"/>
              <a:t> di tipo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: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[] b =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[</a:t>
            </a:r>
            <a:r>
              <a:rPr lang="it-IT" i="1" dirty="0" err="1">
                <a:solidFill>
                  <a:schemeClr val="accent2"/>
                </a:solidFill>
              </a:rPr>
              <a:t>a.length</a:t>
            </a:r>
            <a:r>
              <a:rPr lang="it-IT" i="1" dirty="0">
                <a:solidFill>
                  <a:schemeClr val="accent2"/>
                </a:solidFill>
              </a:rPr>
              <a:t>];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i</a:t>
            </a:r>
            <a:r>
              <a:rPr lang="it-IT" dirty="0">
                <a:solidFill>
                  <a:schemeClr val="accent2"/>
                </a:solidFill>
              </a:rPr>
              <a:t>=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>
                <a:solidFill>
                  <a:schemeClr val="accent2"/>
                </a:solidFill>
              </a:rPr>
              <a:t>;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a</a:t>
            </a:r>
            <a:r>
              <a:rPr lang="it-IT" dirty="0" err="1">
                <a:solidFill>
                  <a:schemeClr val="accent2"/>
                </a:solidFill>
              </a:rPr>
              <a:t>.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dirty="0">
                <a:solidFill>
                  <a:schemeClr val="accent2"/>
                </a:solidFill>
              </a:rPr>
              <a:t>;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>
                <a:solidFill>
                  <a:schemeClr val="accent2"/>
                </a:solidFill>
              </a:rPr>
              <a:t>++)</a:t>
            </a:r>
          </a:p>
          <a:p>
            <a:pPr>
              <a:buNone/>
            </a:pPr>
            <a:r>
              <a:rPr lang="it-IT" i="1" dirty="0"/>
              <a:t>			</a:t>
            </a:r>
            <a:r>
              <a:rPr lang="it-IT" i="1" dirty="0">
                <a:solidFill>
                  <a:schemeClr val="accent2"/>
                </a:solidFill>
              </a:rPr>
              <a:t>b[i] = a[i];</a:t>
            </a:r>
          </a:p>
          <a:p>
            <a:endParaRPr lang="it-IT" i="1" dirty="0">
              <a:solidFill>
                <a:schemeClr val="accent2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9663" y="3717032"/>
            <a:ext cx="69246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Copia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Nota</a:t>
            </a:r>
            <a:r>
              <a:rPr lang="it-IT" dirty="0"/>
              <a:t>: l’istruzione </a:t>
            </a:r>
            <a:r>
              <a:rPr lang="it-IT" i="1" dirty="0" err="1">
                <a:solidFill>
                  <a:schemeClr val="accent2"/>
                </a:solidFill>
              </a:rPr>
              <a:t>b=a</a:t>
            </a:r>
            <a:r>
              <a:rPr lang="it-IT" dirty="0"/>
              <a:t> NON effettua la copia dell’</a:t>
            </a:r>
            <a:r>
              <a:rPr lang="it-IT" dirty="0" err="1"/>
              <a:t>array</a:t>
            </a:r>
            <a:r>
              <a:rPr lang="it-IT" dirty="0"/>
              <a:t> </a:t>
            </a:r>
          </a:p>
          <a:p>
            <a:r>
              <a:rPr lang="it-IT" dirty="0"/>
              <a:t>In questo caso si copia soltanto il riferimento all’</a:t>
            </a:r>
            <a:r>
              <a:rPr lang="it-IT" dirty="0" err="1"/>
              <a:t>array</a:t>
            </a:r>
            <a:endParaRPr lang="it-IT" dirty="0"/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5585" y="3861048"/>
            <a:ext cx="3592830" cy="2434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4505" y="3284984"/>
            <a:ext cx="5634990" cy="3234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Copia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Si supponga che </a:t>
            </a:r>
            <a:r>
              <a:rPr lang="it-IT" i="1" dirty="0">
                <a:solidFill>
                  <a:schemeClr val="accent2"/>
                </a:solidFill>
              </a:rPr>
              <a:t>s</a:t>
            </a:r>
            <a:r>
              <a:rPr lang="it-IT" dirty="0"/>
              <a:t> sia un </a:t>
            </a:r>
            <a:r>
              <a:rPr lang="it-IT" dirty="0" err="1"/>
              <a:t>array</a:t>
            </a:r>
            <a:r>
              <a:rPr lang="it-IT" dirty="0"/>
              <a:t> di stringhe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[] t =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[</a:t>
            </a:r>
            <a:r>
              <a:rPr lang="it-IT" i="1" dirty="0" err="1">
                <a:solidFill>
                  <a:schemeClr val="accent2"/>
                </a:solidFill>
              </a:rPr>
              <a:t>s.length</a:t>
            </a:r>
            <a:r>
              <a:rPr lang="it-IT" i="1" dirty="0">
                <a:solidFill>
                  <a:schemeClr val="accent2"/>
                </a:solidFill>
              </a:rPr>
              <a:t>];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i</a:t>
            </a:r>
            <a:r>
              <a:rPr lang="it-IT" dirty="0">
                <a:solidFill>
                  <a:schemeClr val="accent2"/>
                </a:solidFill>
              </a:rPr>
              <a:t>=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>
                <a:solidFill>
                  <a:schemeClr val="accent2"/>
                </a:solidFill>
              </a:rPr>
              <a:t>;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>
                <a:solidFill>
                  <a:schemeClr val="accent2"/>
                </a:solidFill>
              </a:rPr>
              <a:t>&lt;</a:t>
            </a:r>
            <a:r>
              <a:rPr lang="it-IT" i="1" dirty="0" err="1">
                <a:solidFill>
                  <a:schemeClr val="accent2"/>
                </a:solidFill>
              </a:rPr>
              <a:t>s</a:t>
            </a:r>
            <a:r>
              <a:rPr lang="it-IT" dirty="0" err="1">
                <a:solidFill>
                  <a:schemeClr val="accent2"/>
                </a:solidFill>
              </a:rPr>
              <a:t>.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dirty="0">
                <a:solidFill>
                  <a:schemeClr val="accent2"/>
                </a:solidFill>
              </a:rPr>
              <a:t>;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>
                <a:solidFill>
                  <a:schemeClr val="accent2"/>
                </a:solidFill>
              </a:rPr>
              <a:t>++)</a:t>
            </a:r>
          </a:p>
          <a:p>
            <a:pPr>
              <a:buNone/>
            </a:pPr>
            <a:r>
              <a:rPr lang="it-IT" i="1" dirty="0"/>
              <a:t>		</a:t>
            </a:r>
            <a:r>
              <a:rPr lang="it-IT" i="1" dirty="0">
                <a:solidFill>
                  <a:schemeClr val="accent2"/>
                </a:solidFill>
              </a:rPr>
              <a:t>t[i] = s[i];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Tecniche di base sugli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Vogliamo adesso descrivere alcune tecniche di base per la manipolazione di </a:t>
            </a:r>
            <a:r>
              <a:rPr lang="it-IT" dirty="0" err="1"/>
              <a:t>array</a:t>
            </a:r>
            <a:r>
              <a:rPr lang="it-IT" dirty="0"/>
              <a:t> tra cui:</a:t>
            </a:r>
          </a:p>
          <a:p>
            <a:pPr lvl="1"/>
            <a:r>
              <a:rPr lang="it-IT" dirty="0"/>
              <a:t>l’individuazione del valore massimo o minimo in una sequenza</a:t>
            </a:r>
          </a:p>
          <a:p>
            <a:pPr lvl="1"/>
            <a:r>
              <a:rPr lang="it-IT" dirty="0"/>
              <a:t>la ricerca di uno specifico elemento in una data sequenza</a:t>
            </a:r>
          </a:p>
          <a:p>
            <a:pPr lvl="1"/>
            <a:r>
              <a:rPr lang="it-IT" dirty="0"/>
              <a:t>il confronto di due sequenze di elementi</a:t>
            </a:r>
          </a:p>
          <a:p>
            <a:r>
              <a:rPr lang="it-IT" dirty="0"/>
              <a:t>Ci concentreremo su sequenze di interi ma quanto diremo vale più in generale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SequenzaDiInteri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Definiamo una classe di nome </a:t>
            </a:r>
            <a:r>
              <a:rPr lang="it-IT" i="1" dirty="0">
                <a:solidFill>
                  <a:schemeClr val="accent2"/>
                </a:solidFill>
              </a:rPr>
              <a:t>SequenzaDiInteri</a:t>
            </a:r>
            <a:r>
              <a:rPr lang="it-IT" dirty="0"/>
              <a:t>, in base alle seguenti specifiche:</a:t>
            </a:r>
          </a:p>
          <a:p>
            <a:pPr lvl="1"/>
            <a:r>
              <a:rPr lang="it-IT" dirty="0"/>
              <a:t>un oggetto di tipo </a:t>
            </a:r>
            <a:r>
              <a:rPr lang="it-IT" i="1" dirty="0">
                <a:solidFill>
                  <a:schemeClr val="accent2"/>
                </a:solidFill>
              </a:rPr>
              <a:t>SequenzaDiInteri</a:t>
            </a:r>
            <a:r>
              <a:rPr lang="it-IT" dirty="0"/>
              <a:t> rappresenta una qualsiasi sequenza finita di numeri interi;</a:t>
            </a:r>
          </a:p>
          <a:p>
            <a:pPr lvl="1"/>
            <a:r>
              <a:rPr lang="it-IT" dirty="0"/>
              <a:t>un oggetto di tipo </a:t>
            </a:r>
            <a:r>
              <a:rPr lang="it-IT" i="1" dirty="0">
                <a:solidFill>
                  <a:schemeClr val="accent2"/>
                </a:solidFill>
              </a:rPr>
              <a:t>SequenzaDiInteri</a:t>
            </a:r>
            <a:r>
              <a:rPr lang="it-IT" dirty="0"/>
              <a:t> viene creato attraverso un costruttore che riceve come parametro l’intera sequenza che l’oggetto deve rappresentare, espressa sotto forma di array di interi;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SequenzaDiInteri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definisce i seguenti metodi di istanza: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massimo()</a:t>
            </a:r>
            <a:r>
              <a:rPr lang="it-IT" dirty="0"/>
              <a:t>: restituisce il valore più grande tra quelli presenti nella sequenza rappresentata dall’oggetto ricevente;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i="1" dirty="0">
                <a:solidFill>
                  <a:schemeClr val="accent2"/>
                </a:solidFill>
              </a:rPr>
              <a:t> contiene(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k)</a:t>
            </a:r>
            <a:r>
              <a:rPr lang="it-IT" dirty="0"/>
              <a:t>: restituisce il valore </a:t>
            </a:r>
            <a:r>
              <a:rPr lang="it-IT" i="1" dirty="0">
                <a:solidFill>
                  <a:schemeClr val="accent2"/>
                </a:solidFill>
              </a:rPr>
              <a:t>true</a:t>
            </a:r>
            <a:r>
              <a:rPr lang="it-IT" dirty="0"/>
              <a:t> se </a:t>
            </a:r>
            <a:r>
              <a:rPr lang="it-IT" i="1" dirty="0">
                <a:solidFill>
                  <a:schemeClr val="accent2"/>
                </a:solidFill>
              </a:rPr>
              <a:t>k</a:t>
            </a:r>
            <a:r>
              <a:rPr lang="it-IT" dirty="0"/>
              <a:t> è un valore della sequenza e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  <a:r>
              <a:rPr lang="it-IT" dirty="0"/>
              <a:t> in caso contrario;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boolean equals(SequenzaDiInteri altraSeq)</a:t>
            </a:r>
            <a:r>
              <a:rPr lang="it-IT" dirty="0"/>
              <a:t>: restituisce il valore </a:t>
            </a:r>
            <a:r>
              <a:rPr lang="it-IT" i="1" dirty="0">
                <a:solidFill>
                  <a:schemeClr val="accent2"/>
                </a:solidFill>
              </a:rPr>
              <a:t>true</a:t>
            </a:r>
            <a:r>
              <a:rPr lang="it-IT" dirty="0"/>
              <a:t> se la sequenza rappresentata dall’oggetto ricevente è identica a quella rappresentata dall’oggetto </a:t>
            </a:r>
            <a:r>
              <a:rPr lang="it-IT" i="1" dirty="0">
                <a:solidFill>
                  <a:schemeClr val="accent2"/>
                </a:solidFill>
              </a:rPr>
              <a:t>altraSeq</a:t>
            </a:r>
            <a:r>
              <a:rPr lang="it-IT" dirty="0"/>
              <a:t>, e restituisce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  <a:r>
              <a:rPr lang="it-IT" dirty="0"/>
              <a:t> in caso contrario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SequenzaDiInteri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Quali sono gli attributi della classe </a:t>
            </a:r>
            <a:r>
              <a:rPr lang="it-IT" i="1" dirty="0" err="1">
                <a:solidFill>
                  <a:schemeClr val="accent2"/>
                </a:solidFill>
              </a:rPr>
              <a:t>SequenzaDiInteri</a:t>
            </a:r>
            <a:r>
              <a:rPr lang="it-IT" dirty="0"/>
              <a:t>?</a:t>
            </a:r>
          </a:p>
          <a:p>
            <a:r>
              <a:rPr lang="it-IT" dirty="0"/>
              <a:t>Per memorizzare una sequenza di interi definiamo una variabile di istanza il cui tipo è un array di interi</a:t>
            </a:r>
          </a:p>
          <a:p>
            <a:r>
              <a:rPr lang="it-IT" dirty="0"/>
              <a:t>Chiameremo questa variabile </a:t>
            </a:r>
            <a:r>
              <a:rPr lang="it-IT" i="1" dirty="0" err="1">
                <a:solidFill>
                  <a:schemeClr val="accent2"/>
                </a:solidFill>
              </a:rPr>
              <a:t>seq</a:t>
            </a:r>
            <a:endParaRPr lang="it-IT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SequenzaDiInteri</a:t>
            </a:r>
            <a:r>
              <a:rPr lang="it-IT" dirty="0"/>
              <a:t>: scheletro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class SequenzaDiInteri{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private int[] seq; // la sequenza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rappres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dall’oggetto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/* costruttore: per creare un oggetto che rappresenta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la sequenza a di interi passata come parametro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public SequenzaDiInteri(int[] a){...}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/* restituisce il massimo valore nella sequenza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public int massimo(){...}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/* restituisce true se la sequenza contiene k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public boolean contiene(int k){...}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/* restituisce true se la sequenza ricevente equivale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a quella rappresentata da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altraSeq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public boolean equals(SequenzaDiInteri altraSeq){...}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costruttore deve inizializzare il valore della variabile di istanza </a:t>
            </a:r>
            <a:r>
              <a:rPr lang="it-IT" i="1" dirty="0">
                <a:solidFill>
                  <a:schemeClr val="accent2"/>
                </a:solidFill>
              </a:rPr>
              <a:t>seq</a:t>
            </a:r>
            <a:r>
              <a:rPr lang="it-IT" dirty="0"/>
              <a:t>, in modo che essa memorizzi il riferimento ad un </a:t>
            </a:r>
            <a:r>
              <a:rPr lang="it-IT" dirty="0" err="1"/>
              <a:t>array</a:t>
            </a:r>
            <a:r>
              <a:rPr lang="it-IT" dirty="0"/>
              <a:t> di interi equivalente a quello passato come parametro</a:t>
            </a:r>
          </a:p>
          <a:p>
            <a:r>
              <a:rPr lang="it-IT" dirty="0"/>
              <a:t>Una prima implementazione: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public SequenzaDiInteri(int[] a){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this.seq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= a;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noti che nel caso precedente si copia in </a:t>
            </a:r>
            <a:r>
              <a:rPr lang="it-IT" i="1" dirty="0" err="1">
                <a:solidFill>
                  <a:schemeClr val="accent2"/>
                </a:solidFill>
              </a:rPr>
              <a:t>seq</a:t>
            </a:r>
            <a:r>
              <a:rPr lang="it-IT" dirty="0"/>
              <a:t> il riferimento all’</a:t>
            </a:r>
            <a:r>
              <a:rPr lang="it-IT" dirty="0" err="1"/>
              <a:t>array</a:t>
            </a:r>
            <a:r>
              <a:rPr lang="it-IT" dirty="0"/>
              <a:t> memorizzato in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3544" y="2996952"/>
            <a:ext cx="5776913" cy="304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Uno svantaggio di tale soluzione è che l’</a:t>
            </a:r>
            <a:r>
              <a:rPr lang="it-IT" dirty="0" err="1"/>
              <a:t>array</a:t>
            </a:r>
            <a:r>
              <a:rPr lang="it-IT" dirty="0"/>
              <a:t> referenziato da </a:t>
            </a:r>
            <a:r>
              <a:rPr lang="it-IT" i="1" dirty="0" err="1">
                <a:solidFill>
                  <a:schemeClr val="accent2"/>
                </a:solidFill>
              </a:rPr>
              <a:t>seq</a:t>
            </a:r>
            <a:r>
              <a:rPr lang="it-IT" dirty="0"/>
              <a:t> può essere modificato esternamente alla classe </a:t>
            </a:r>
            <a:r>
              <a:rPr lang="it-IT" i="1" dirty="0" err="1">
                <a:solidFill>
                  <a:schemeClr val="accent2"/>
                </a:solidFill>
              </a:rPr>
              <a:t>SequenzaDiInteri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Ciò va contro il principio dell’</a:t>
            </a:r>
            <a:r>
              <a:rPr lang="it-IT" u="sng" dirty="0">
                <a:solidFill>
                  <a:schemeClr val="accent1"/>
                </a:solidFill>
              </a:rPr>
              <a:t>incapsulamento</a:t>
            </a:r>
            <a:r>
              <a:rPr lang="it-IT" dirty="0"/>
              <a:t> in base al quale gli attributi di un oggetto dovrebbero essere privati e non modificabili esternamente alla classe che li definisce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1560" y="3470294"/>
            <a:ext cx="7040880" cy="3127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Una soluzione alternativa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public SequenzaDiInteri(int[] a){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this.seq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= new int[a.length];</a:t>
            </a:r>
          </a:p>
          <a:p>
            <a:pPr>
              <a:buNone/>
            </a:pPr>
            <a:r>
              <a:rPr lang="nn-NO" sz="2400" dirty="0">
                <a:latin typeface="Courier New" pitchFamily="49" charset="0"/>
                <a:cs typeface="Courier New" pitchFamily="49" charset="0"/>
              </a:rPr>
              <a:t>		for (int i = 0; i&lt;a.length; i++)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this.seq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[i] = a[i];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Con questa soluzione viene creato un nuovo </a:t>
            </a:r>
            <a:r>
              <a:rPr lang="it-IT" dirty="0" err="1"/>
              <a:t>array</a:t>
            </a:r>
            <a:r>
              <a:rPr lang="it-IT" dirty="0"/>
              <a:t> in cui vengono copiati gli elementi dell’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r>
              <a:rPr lang="it-IT" dirty="0"/>
              <a:t>L’</a:t>
            </a:r>
            <a:r>
              <a:rPr lang="it-IT" dirty="0" err="1"/>
              <a:t>array</a:t>
            </a:r>
            <a:r>
              <a:rPr lang="it-IT" dirty="0"/>
              <a:t> referenziato da </a:t>
            </a:r>
            <a:r>
              <a:rPr lang="it-IT" i="1" dirty="0" err="1">
                <a:solidFill>
                  <a:schemeClr val="accent2"/>
                </a:solidFill>
              </a:rPr>
              <a:t>seq</a:t>
            </a:r>
            <a:r>
              <a:rPr lang="it-IT" dirty="0"/>
              <a:t> non è visibile esternamente alla classe </a:t>
            </a:r>
            <a:r>
              <a:rPr lang="it-IT" i="1" dirty="0" err="1">
                <a:solidFill>
                  <a:schemeClr val="accent2"/>
                </a:solidFill>
              </a:rPr>
              <a:t>SequenzaDiInteri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metodo massimo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massimo()</a:t>
            </a:r>
            <a:endParaRPr lang="it-IT" dirty="0"/>
          </a:p>
          <a:p>
            <a:r>
              <a:rPr lang="it-IT" dirty="0"/>
              <a:t>Algoritmo:</a:t>
            </a:r>
          </a:p>
          <a:p>
            <a:pPr lvl="1"/>
            <a:r>
              <a:rPr lang="it-IT" dirty="0"/>
              <a:t>manteniamo una variabile </a:t>
            </a:r>
            <a:r>
              <a:rPr lang="it-IT" i="1" dirty="0" err="1">
                <a:solidFill>
                  <a:schemeClr val="accent2"/>
                </a:solidFill>
              </a:rPr>
              <a:t>max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per memorizzare il massimo </a:t>
            </a:r>
          </a:p>
          <a:p>
            <a:pPr lvl="1"/>
            <a:r>
              <a:rPr lang="it-IT" dirty="0"/>
              <a:t>tale variabile viene inizializzata con il primo elemento della sequenza </a:t>
            </a:r>
          </a:p>
          <a:p>
            <a:pPr lvl="1"/>
            <a:r>
              <a:rPr lang="it-IT" dirty="0"/>
              <a:t>scandiamo i restanti elementi dell’</a:t>
            </a:r>
            <a:r>
              <a:rPr lang="it-IT" dirty="0" err="1"/>
              <a:t>array</a:t>
            </a:r>
            <a:endParaRPr lang="it-IT" dirty="0"/>
          </a:p>
          <a:p>
            <a:pPr lvl="1"/>
            <a:r>
              <a:rPr lang="it-IT" dirty="0"/>
              <a:t>se l’elemento corrente è maggiore di </a:t>
            </a:r>
            <a:r>
              <a:rPr lang="it-IT" i="1" dirty="0" err="1">
                <a:solidFill>
                  <a:schemeClr val="accent2"/>
                </a:solidFill>
              </a:rPr>
              <a:t>max</a:t>
            </a:r>
            <a:r>
              <a:rPr lang="it-IT" dirty="0"/>
              <a:t>, quest’ultima viene aggiornata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metodo massimo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int massimo 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// inizializzazione del massimo (passo 0)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max = this.seq[0];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// scansione e confronto con gli altri elementi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(int i = 1; i&lt;this.seq.length; i++)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(this.seq[i]&gt;max)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this.seq[i];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max;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  <a:endParaRPr lang="it-IT" sz="2000" i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metodo contiene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i="1" dirty="0">
                <a:solidFill>
                  <a:schemeClr val="accent2"/>
                </a:solidFill>
              </a:rPr>
              <a:t> contiene(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k)</a:t>
            </a:r>
            <a:endParaRPr lang="it-IT" dirty="0"/>
          </a:p>
          <a:p>
            <a:r>
              <a:rPr lang="it-IT" dirty="0"/>
              <a:t>Algoritmo:</a:t>
            </a:r>
          </a:p>
          <a:p>
            <a:pPr lvl="1"/>
            <a:r>
              <a:rPr lang="it-IT" dirty="0"/>
              <a:t>scandiamo gli elementi della sequenza</a:t>
            </a:r>
          </a:p>
          <a:p>
            <a:pPr lvl="1"/>
            <a:r>
              <a:rPr lang="it-IT" dirty="0"/>
              <a:t>se l’elemento corrente è uguale al valore cercato </a:t>
            </a:r>
            <a:r>
              <a:rPr lang="it-IT" i="1" dirty="0">
                <a:solidFill>
                  <a:schemeClr val="accent2"/>
                </a:solidFill>
              </a:rPr>
              <a:t>k</a:t>
            </a:r>
            <a:r>
              <a:rPr lang="it-IT" dirty="0"/>
              <a:t> la ricerca termina e il metodo restituisce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se la sequenza termina senza avere mai trovato il valore </a:t>
            </a:r>
            <a:r>
              <a:rPr lang="it-IT" i="1" dirty="0">
                <a:solidFill>
                  <a:schemeClr val="accent2"/>
                </a:solidFill>
              </a:rPr>
              <a:t>k</a:t>
            </a:r>
            <a:r>
              <a:rPr lang="it-IT" dirty="0"/>
              <a:t> il metodo restituisce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metodo contiene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boolean contiene(int k){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esiste = false;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i = 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(!esiste &amp;&amp; i&lt;this.seq.length){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(this.seq[i]==k)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esiste = true; // elemento trovato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i++;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2000">
                <a:latin typeface="Courier New" pitchFamily="49" charset="0"/>
                <a:cs typeface="Courier New" pitchFamily="49" charset="0"/>
              </a:rPr>
              <a:t>	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esiste;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  <a:endParaRPr lang="it-IT" sz="2000" i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metodo </a:t>
            </a:r>
            <a:r>
              <a:rPr lang="it-IT" dirty="0" err="1"/>
              <a:t>equals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i="1" dirty="0">
                <a:solidFill>
                  <a:schemeClr val="accent2"/>
                </a:solidFill>
              </a:rPr>
              <a:t>public </a:t>
            </a:r>
            <a:r>
              <a:rPr lang="it-IT" sz="2400" i="1" dirty="0" err="1">
                <a:solidFill>
                  <a:schemeClr val="accent2"/>
                </a:solidFill>
              </a:rPr>
              <a:t>boolean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equals</a:t>
            </a:r>
            <a:r>
              <a:rPr lang="it-IT" sz="2400" i="1" dirty="0">
                <a:solidFill>
                  <a:schemeClr val="accent2"/>
                </a:solidFill>
              </a:rPr>
              <a:t>(</a:t>
            </a:r>
            <a:r>
              <a:rPr lang="it-IT" sz="2400" i="1" dirty="0" err="1">
                <a:solidFill>
                  <a:schemeClr val="accent2"/>
                </a:solidFill>
              </a:rPr>
              <a:t>SequenzaDiInteri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altraSeq</a:t>
            </a:r>
            <a:r>
              <a:rPr lang="it-IT" sz="2400" i="1" dirty="0">
                <a:solidFill>
                  <a:schemeClr val="accent2"/>
                </a:solidFill>
              </a:rPr>
              <a:t>)</a:t>
            </a:r>
            <a:endParaRPr lang="it-IT" sz="2400" dirty="0"/>
          </a:p>
          <a:p>
            <a:r>
              <a:rPr lang="it-IT" dirty="0"/>
              <a:t>Algoritmo:</a:t>
            </a:r>
          </a:p>
          <a:p>
            <a:pPr lvl="1"/>
            <a:r>
              <a:rPr lang="it-IT" dirty="0"/>
              <a:t>verifichiamo innanzi tutto che la sequenza rappresentata da 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dirty="0"/>
              <a:t> e quella rappresentata da </a:t>
            </a:r>
            <a:r>
              <a:rPr lang="it-IT" i="1" dirty="0" err="1">
                <a:solidFill>
                  <a:schemeClr val="accent2"/>
                </a:solidFill>
              </a:rPr>
              <a:t>altraSeq</a:t>
            </a:r>
            <a:r>
              <a:rPr lang="it-IT" dirty="0"/>
              <a:t> abbiano la stessa lunghezza</a:t>
            </a:r>
          </a:p>
          <a:p>
            <a:pPr lvl="1"/>
            <a:r>
              <a:rPr lang="it-IT" dirty="0"/>
              <a:t>verifichiamo poi che gli elementi di pari indice siano uguali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metodo </a:t>
            </a:r>
            <a:r>
              <a:rPr lang="it-IT" dirty="0" err="1"/>
              <a:t>equals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boolean equals(SequenzaDiInteri altraSeq){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uguali;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(this.seq.length != altraSeq.seq.length)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uguali = false;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else{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uguali = true;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i=0;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(uguali &amp;&amp; i&lt;this.seq.length){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(this.seq[i] != altraSeq.seq[i])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	uguali = false;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i++;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uguali;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  <a:endParaRPr lang="it-IT" sz="2000" i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parametro del metodo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Siamo ora in grado di capire il parametro che compare nell’intestazione del metodo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4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24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it-IT" dirty="0"/>
          </a:p>
          <a:p>
            <a:r>
              <a:rPr lang="it-IT" dirty="0"/>
              <a:t>Tale parametro è un </a:t>
            </a:r>
            <a:r>
              <a:rPr lang="it-IT" dirty="0" err="1"/>
              <a:t>array</a:t>
            </a:r>
            <a:r>
              <a:rPr lang="it-IT" dirty="0"/>
              <a:t> di stringhe</a:t>
            </a:r>
          </a:p>
          <a:p>
            <a:pPr lvl="1"/>
            <a:r>
              <a:rPr lang="it-IT" dirty="0"/>
              <a:t>convenzionalmente viene chiamato </a:t>
            </a:r>
            <a:r>
              <a:rPr lang="it-IT" i="1" dirty="0" err="1">
                <a:solidFill>
                  <a:schemeClr val="accent2"/>
                </a:solidFill>
              </a:rPr>
              <a:t>args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Ma a cosa serve tale parametro? Chi passa al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 il paramero attuale al momento della chiamata?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parametro del metodo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 viene eseguito al momento dell’avvio del programma a seguito del comando  </a:t>
            </a:r>
            <a:r>
              <a:rPr lang="it-IT" i="1" dirty="0">
                <a:solidFill>
                  <a:schemeClr val="accent2"/>
                </a:solidFill>
              </a:rPr>
              <a:t>java C</a:t>
            </a:r>
            <a:endParaRPr lang="it-IT" dirty="0"/>
          </a:p>
          <a:p>
            <a:pPr lvl="1"/>
            <a:r>
              <a:rPr lang="it-IT" dirty="0"/>
              <a:t>assumendo che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sia il nome della classe in cui è definito il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it-IT" dirty="0"/>
              <a:t>All’avvio del programma è possibile passare al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 come parametro una sequenza di stringhe che verranno salvate nell’array </a:t>
            </a:r>
            <a:r>
              <a:rPr lang="it-IT" i="1" dirty="0" err="1">
                <a:solidFill>
                  <a:schemeClr val="accent2"/>
                </a:solidFill>
              </a:rPr>
              <a:t>args</a:t>
            </a:r>
            <a:r>
              <a:rPr lang="it-IT" dirty="0"/>
              <a:t> 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parametro del metodo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In particolare, scrivendo</a:t>
            </a:r>
          </a:p>
          <a:p>
            <a:pPr>
              <a:buNone/>
            </a:pPr>
            <a:r>
              <a:rPr lang="it-IT" dirty="0"/>
              <a:t> 	</a:t>
            </a:r>
            <a:r>
              <a:rPr lang="it-IT" i="1" dirty="0">
                <a:solidFill>
                  <a:schemeClr val="accent2"/>
                </a:solidFill>
              </a:rPr>
              <a:t>java C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1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2 ...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k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endParaRPr lang="it-IT" dirty="0"/>
          </a:p>
          <a:p>
            <a:r>
              <a:rPr lang="it-IT" dirty="0"/>
              <a:t>viene invocato il metodo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 della classe </a:t>
            </a:r>
            <a:r>
              <a:rPr lang="it-IT" i="1" dirty="0">
                <a:solidFill>
                  <a:schemeClr val="accent2"/>
                </a:solidFill>
              </a:rPr>
              <a:t>C </a:t>
            </a:r>
            <a:r>
              <a:rPr lang="it-IT" dirty="0"/>
              <a:t>passandogli come parametro un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i="1" dirty="0" err="1">
                <a:solidFill>
                  <a:schemeClr val="accent2"/>
                </a:solidFill>
              </a:rPr>
              <a:t>args</a:t>
            </a:r>
            <a:r>
              <a:rPr lang="it-IT" dirty="0"/>
              <a:t> di dimensione </a:t>
            </a:r>
            <a:r>
              <a:rPr lang="it-IT" i="1" dirty="0">
                <a:solidFill>
                  <a:schemeClr val="accent2"/>
                </a:solidFill>
              </a:rPr>
              <a:t>k</a:t>
            </a:r>
            <a:r>
              <a:rPr lang="it-IT" dirty="0"/>
              <a:t> tale che: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args</a:t>
            </a:r>
            <a:r>
              <a:rPr lang="it-IT" i="1" dirty="0">
                <a:solidFill>
                  <a:schemeClr val="accent2"/>
                </a:solidFill>
              </a:rPr>
              <a:t>[0]</a:t>
            </a:r>
            <a:r>
              <a:rPr lang="it-IT" dirty="0"/>
              <a:t> è pari 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1,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args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[1]</a:t>
            </a:r>
            <a:r>
              <a:rPr lang="it-IT" dirty="0">
                <a:sym typeface="Symbol"/>
              </a:rPr>
              <a:t> è pari a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2,...,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args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[k-1]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dirty="0">
                <a:sym typeface="Symbol"/>
              </a:rPr>
              <a:t>è pari a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k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/>
              <a:t> </a:t>
            </a:r>
          </a:p>
          <a:p>
            <a:r>
              <a:rPr lang="it-IT" dirty="0"/>
              <a:t>Quando non si passa nessuna stringa, </a:t>
            </a:r>
            <a:r>
              <a:rPr lang="it-IT" i="1" dirty="0" err="1">
                <a:solidFill>
                  <a:schemeClr val="accent2"/>
                </a:solidFill>
              </a:rPr>
              <a:t>args</a:t>
            </a:r>
            <a:r>
              <a:rPr lang="it-IT" dirty="0"/>
              <a:t> ha dimensione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</a:p>
          <a:p>
            <a:r>
              <a:rPr lang="it-IT" dirty="0"/>
              <a:t>Le stringhe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1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2 ...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stringa k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vengono chiamate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parametri della linea di comando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Immaginiamo di voler scrivere un programma che effettui la somma di due numeri, passatigli in input al momento della sua esecuzione</a:t>
            </a:r>
          </a:p>
          <a:p>
            <a:r>
              <a:rPr lang="it-IT" dirty="0"/>
              <a:t>Se ad esempio chiamassimo </a:t>
            </a:r>
            <a:r>
              <a:rPr lang="it-IT" i="1" dirty="0">
                <a:solidFill>
                  <a:schemeClr val="accent2"/>
                </a:solidFill>
              </a:rPr>
              <a:t>Somma</a:t>
            </a:r>
            <a:r>
              <a:rPr lang="it-IT" dirty="0"/>
              <a:t> la classe che realizza questo programma, potremmo scrivere:</a:t>
            </a:r>
          </a:p>
          <a:p>
            <a:pPr>
              <a:buNone/>
            </a:pPr>
            <a:r>
              <a:rPr lang="it-IT" dirty="0"/>
              <a:t>	</a:t>
            </a:r>
            <a:r>
              <a:rPr lang="it-IT" i="1" dirty="0">
                <a:solidFill>
                  <a:schemeClr val="accent2"/>
                </a:solidFill>
              </a:rPr>
              <a:t>java Somma 150 200</a:t>
            </a:r>
          </a:p>
          <a:p>
            <a:r>
              <a:rPr lang="it-IT" dirty="0"/>
              <a:t>ricevendo in risposta il messaggio </a:t>
            </a:r>
            <a:r>
              <a:rPr lang="it-IT" i="1" dirty="0">
                <a:solidFill>
                  <a:schemeClr val="accent2"/>
                </a:solidFill>
              </a:rPr>
              <a:t>350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47853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Somma{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args.length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&lt;2)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. errato!");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  else{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Integer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n1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Integer.valueOf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[0]);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Integer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n2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Integer.valueOf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[1]);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(n1.intValue()+n2.intValue());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 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</a:t>
            </a:r>
            <a:r>
              <a:rPr lang="it-IT" dirty="0" err="1"/>
              <a:t>array</a:t>
            </a:r>
            <a:r>
              <a:rPr lang="it-IT" dirty="0"/>
              <a:t> che abbiamo visto finora sono caratterizzati dall’utilizzo di un solo indice per  far riferimento agli elementi dell’</a:t>
            </a:r>
            <a:r>
              <a:rPr lang="it-IT" dirty="0" err="1"/>
              <a:t>array</a:t>
            </a:r>
            <a:endParaRPr lang="it-IT" dirty="0"/>
          </a:p>
          <a:p>
            <a:r>
              <a:rPr lang="it-IT" dirty="0"/>
              <a:t>Questi tipo di array si chiamano anche </a:t>
            </a:r>
            <a:r>
              <a:rPr lang="it-IT" u="sng" dirty="0">
                <a:solidFill>
                  <a:schemeClr val="accent1"/>
                </a:solidFill>
              </a:rPr>
              <a:t>array unidimensionali</a:t>
            </a:r>
          </a:p>
          <a:p>
            <a:r>
              <a:rPr lang="it-IT" dirty="0"/>
              <a:t>Visto che il tipo degli elementi di un </a:t>
            </a:r>
            <a:r>
              <a:rPr lang="it-IT" dirty="0" err="1"/>
              <a:t>array</a:t>
            </a:r>
            <a:r>
              <a:rPr lang="it-IT" dirty="0"/>
              <a:t> può essere qualunque, esso può essere a sua volta un tipo </a:t>
            </a:r>
            <a:r>
              <a:rPr lang="it-IT" dirty="0" err="1"/>
              <a:t>array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Possiamo ad esempio definire un </a:t>
            </a:r>
            <a:r>
              <a:rPr lang="it-IT" dirty="0" err="1"/>
              <a:t>array</a:t>
            </a:r>
            <a:r>
              <a:rPr lang="it-IT" dirty="0"/>
              <a:t> i cui elementi sono </a:t>
            </a:r>
            <a:r>
              <a:rPr lang="it-IT" dirty="0" err="1"/>
              <a:t>array</a:t>
            </a:r>
            <a:r>
              <a:rPr lang="it-IT" dirty="0"/>
              <a:t> di interi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708920"/>
            <a:ext cx="5083969" cy="3070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 </a:t>
            </a:r>
            <a:r>
              <a:rPr lang="it-IT" dirty="0" err="1"/>
              <a:t>array</a:t>
            </a:r>
            <a:r>
              <a:rPr lang="it-IT" dirty="0"/>
              <a:t> i cui elementi sono a loro volta degli </a:t>
            </a:r>
            <a:r>
              <a:rPr lang="it-IT" dirty="0" err="1"/>
              <a:t>array</a:t>
            </a:r>
            <a:r>
              <a:rPr lang="it-IT" dirty="0"/>
              <a:t> si chiama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di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</a:t>
            </a:r>
            <a:r>
              <a:rPr lang="it-IT" dirty="0"/>
              <a:t>o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bidimensionale</a:t>
            </a:r>
          </a:p>
          <a:p>
            <a:pPr lvl="1"/>
            <a:r>
              <a:rPr lang="it-IT" dirty="0"/>
              <a:t>i suoi elementi possono infatti essere acceduti tramite due indici</a:t>
            </a:r>
          </a:p>
          <a:p>
            <a:r>
              <a:rPr lang="it-IT" dirty="0"/>
              <a:t>E possibile anche definire </a:t>
            </a:r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r>
              <a:rPr lang="it-IT" dirty="0"/>
              <a:t>, oppure </a:t>
            </a:r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r>
              <a:rPr lang="it-IT" dirty="0"/>
              <a:t> di </a:t>
            </a:r>
            <a:r>
              <a:rPr lang="it-IT" dirty="0" err="1"/>
              <a:t>array</a:t>
            </a:r>
            <a:r>
              <a:rPr lang="it-IT" dirty="0"/>
              <a:t>, ecc.</a:t>
            </a:r>
          </a:p>
          <a:p>
            <a:pPr lvl="1"/>
            <a:r>
              <a:rPr lang="it-IT" dirty="0"/>
              <a:t>raramente si ha bisogno di </a:t>
            </a:r>
            <a:r>
              <a:rPr lang="it-IT" dirty="0" err="1"/>
              <a:t>array</a:t>
            </a:r>
            <a:r>
              <a:rPr lang="it-IT" dirty="0"/>
              <a:t> con più di due indici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bidimensionali matriciali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array bidimensionali vengono usati prevalentemente per modellare matrici</a:t>
            </a:r>
          </a:p>
          <a:p>
            <a:r>
              <a:rPr lang="it-IT" dirty="0"/>
              <a:t>Il loro potere espressivo è tuttavia superiore a quello di una matrice (vedremo più avanti)</a:t>
            </a:r>
          </a:p>
          <a:p>
            <a:r>
              <a:rPr lang="it-IT" dirty="0"/>
              <a:t>Per ora ci concentriamo su </a:t>
            </a:r>
            <a:r>
              <a:rPr lang="it-IT" dirty="0" err="1"/>
              <a:t>array</a:t>
            </a:r>
            <a:r>
              <a:rPr lang="it-IT" dirty="0"/>
              <a:t> bidimensionali matriciali, cioè “tabelle” con </a:t>
            </a:r>
            <a:r>
              <a:rPr lang="it-IT" i="1" dirty="0">
                <a:solidFill>
                  <a:schemeClr val="accent2"/>
                </a:solidFill>
              </a:rPr>
              <a:t>m</a:t>
            </a:r>
            <a:r>
              <a:rPr lang="it-IT" dirty="0"/>
              <a:t> righe e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colonne </a:t>
            </a:r>
          </a:p>
          <a:p>
            <a:r>
              <a:rPr lang="it-IT" dirty="0"/>
              <a:t>Un </a:t>
            </a:r>
            <a:r>
              <a:rPr lang="it-IT" dirty="0" err="1"/>
              <a:t>array</a:t>
            </a:r>
            <a:r>
              <a:rPr lang="it-IT" dirty="0"/>
              <a:t> bidimensionale matriciale di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  <a:r>
              <a:rPr lang="it-IT" dirty="0"/>
              <a:t> con </a:t>
            </a:r>
            <a:r>
              <a:rPr lang="it-IT" i="1" dirty="0">
                <a:solidFill>
                  <a:schemeClr val="accent2"/>
                </a:solidFill>
              </a:rPr>
              <a:t>m</a:t>
            </a:r>
            <a:r>
              <a:rPr lang="it-IT" dirty="0"/>
              <a:t> righe ed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colonne può essere creato con la seguente istruzione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T[m][n]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bidimensionali matriciali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tipo dell’</a:t>
            </a:r>
            <a:r>
              <a:rPr lang="it-IT" dirty="0" err="1"/>
              <a:t>array</a:t>
            </a:r>
            <a:r>
              <a:rPr lang="it-IT" dirty="0"/>
              <a:t> creato è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di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di tipo T </a:t>
            </a:r>
            <a:r>
              <a:rPr lang="it-IT" dirty="0"/>
              <a:t>oppure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bidimensionale di tipo T</a:t>
            </a:r>
          </a:p>
          <a:p>
            <a:r>
              <a:rPr lang="it-IT" dirty="0"/>
              <a:t>Tale tipo di dato si indica con </a:t>
            </a:r>
            <a:r>
              <a:rPr lang="it-IT" i="1" dirty="0">
                <a:solidFill>
                  <a:schemeClr val="accent2"/>
                </a:solidFill>
              </a:rPr>
              <a:t>T[][]</a:t>
            </a:r>
          </a:p>
          <a:p>
            <a:pPr lvl="1"/>
            <a:r>
              <a:rPr lang="it-IT" dirty="0"/>
              <a:t>possiamo quindi definire una variabile di questo tipo per memorizzare il riferimento ad una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dirty="0" err="1"/>
              <a:t>bididmensionale</a:t>
            </a:r>
            <a:r>
              <a:rPr lang="it-IT" dirty="0"/>
              <a:t> di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</a:p>
          <a:p>
            <a:r>
              <a:rPr lang="it-IT" dirty="0"/>
              <a:t>Gli elementi dell’</a:t>
            </a:r>
            <a:r>
              <a:rPr lang="it-IT" dirty="0" err="1"/>
              <a:t>array</a:t>
            </a:r>
            <a:r>
              <a:rPr lang="it-IT" dirty="0"/>
              <a:t> vengono inizializzati con il valore di default del tipo </a:t>
            </a:r>
            <a:r>
              <a:rPr lang="it-IT" i="1" dirty="0">
                <a:solidFill>
                  <a:schemeClr val="accent2"/>
                </a:solidFill>
              </a:rPr>
              <a:t>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Array</a:t>
            </a:r>
            <a:r>
              <a:rPr lang="it-IT" dirty="0"/>
              <a:t> bidimensionali matriciali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[][] </a:t>
            </a:r>
            <a:r>
              <a:rPr lang="it-IT" i="1" dirty="0" err="1">
                <a:solidFill>
                  <a:schemeClr val="accent2"/>
                </a:solidFill>
              </a:rPr>
              <a:t>a=new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[m][n];</a:t>
            </a:r>
            <a:endParaRPr lang="it-IT" i="1" dirty="0"/>
          </a:p>
          <a:p>
            <a:r>
              <a:rPr lang="it-IT" dirty="0"/>
              <a:t>Ad esempio, l’istruzione precedente crea un </a:t>
            </a:r>
            <a:r>
              <a:rPr lang="it-IT" dirty="0" err="1"/>
              <a:t>array</a:t>
            </a:r>
            <a:r>
              <a:rPr lang="it-IT" dirty="0"/>
              <a:t> bidimensionale di interi con </a:t>
            </a:r>
            <a:r>
              <a:rPr lang="it-IT" i="1" dirty="0">
                <a:solidFill>
                  <a:schemeClr val="accent2"/>
                </a:solidFill>
              </a:rPr>
              <a:t>m </a:t>
            </a:r>
            <a:r>
              <a:rPr lang="it-IT" dirty="0"/>
              <a:t>righe e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colonne e ne memorizza il riferimento nella variabile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r>
              <a:rPr lang="it-IT" dirty="0"/>
              <a:t>Gli elementi creati saranno inizializzati con il valore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 </a:t>
            </a:r>
          </a:p>
          <a:p>
            <a:r>
              <a:rPr lang="it-IT" dirty="0"/>
              <a:t>La situazione è mostrata nella prossima slide</a:t>
            </a:r>
          </a:p>
          <a:p>
            <a:pPr lvl="1"/>
            <a:r>
              <a:rPr lang="it-IT" dirty="0"/>
              <a:t>nel seguito rappresenteremo gli </a:t>
            </a:r>
            <a:r>
              <a:rPr lang="it-IT" dirty="0" err="1"/>
              <a:t>array</a:t>
            </a:r>
            <a:r>
              <a:rPr lang="it-IT" dirty="0"/>
              <a:t> bidimensionali come se fossero matrici</a:t>
            </a:r>
          </a:p>
          <a:p>
            <a:pPr>
              <a:buNone/>
            </a:pPr>
            <a:endParaRPr lang="it-IT" dirty="0">
              <a:solidFill>
                <a:schemeClr val="accent2"/>
              </a:solidFill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dirty="0" err="1"/>
              <a:t>bidim</a:t>
            </a:r>
            <a:r>
              <a:rPr lang="it-IT" dirty="0"/>
              <a:t>.: </a:t>
            </a:r>
            <a:r>
              <a:rPr lang="it-IT" dirty="0" err="1"/>
              <a:t>rappresent</a:t>
            </a:r>
            <a:r>
              <a:rPr lang="it-IT" dirty="0"/>
              <a:t>. grafica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9740" y="1674495"/>
            <a:ext cx="5684520" cy="3509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Accesso agli elementi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Per accedere agli elementi di un </a:t>
            </a:r>
            <a:r>
              <a:rPr lang="it-IT" dirty="0" err="1"/>
              <a:t>array</a:t>
            </a:r>
            <a:r>
              <a:rPr lang="it-IT" dirty="0"/>
              <a:t> bidimensionale sono necessari due indici detti rispettivamente </a:t>
            </a:r>
            <a:r>
              <a:rPr lang="it-IT" u="sng" dirty="0">
                <a:solidFill>
                  <a:schemeClr val="accent1"/>
                </a:solidFill>
              </a:rPr>
              <a:t>indice di riga </a:t>
            </a:r>
            <a:r>
              <a:rPr lang="it-IT" dirty="0"/>
              <a:t>e </a:t>
            </a:r>
            <a:r>
              <a:rPr lang="it-IT" u="sng" dirty="0">
                <a:solidFill>
                  <a:schemeClr val="accent1"/>
                </a:solidFill>
              </a:rPr>
              <a:t>indice di colonna</a:t>
            </a:r>
          </a:p>
          <a:p>
            <a:r>
              <a:rPr lang="it-IT" dirty="0"/>
              <a:t>Ad esempio con </a:t>
            </a:r>
            <a:r>
              <a:rPr lang="it-IT" i="1" dirty="0">
                <a:solidFill>
                  <a:schemeClr val="accent2"/>
                </a:solidFill>
              </a:rPr>
              <a:t>a[i][j]</a:t>
            </a:r>
            <a:r>
              <a:rPr lang="it-IT" dirty="0"/>
              <a:t> si denota l’elemento di riga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e colonna </a:t>
            </a:r>
            <a:r>
              <a:rPr lang="it-IT" i="1" dirty="0">
                <a:solidFill>
                  <a:schemeClr val="accent2"/>
                </a:solidFill>
              </a:rPr>
              <a:t>j </a:t>
            </a:r>
            <a:r>
              <a:rPr lang="it-IT" dirty="0"/>
              <a:t>dell’</a:t>
            </a:r>
            <a:r>
              <a:rPr lang="it-IT" dirty="0" err="1"/>
              <a:t>array</a:t>
            </a:r>
            <a:r>
              <a:rPr lang="it-IT" dirty="0"/>
              <a:t> bidimensionale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r>
              <a:rPr lang="it-IT" dirty="0"/>
              <a:t>Più precisamente: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a[i] </a:t>
            </a:r>
            <a:r>
              <a:rPr lang="it-IT" dirty="0"/>
              <a:t>denota l’</a:t>
            </a:r>
            <a:r>
              <a:rPr lang="it-IT" dirty="0" err="1"/>
              <a:t>array</a:t>
            </a:r>
            <a:r>
              <a:rPr lang="it-IT" dirty="0"/>
              <a:t> monodimensionale corrispondente alla riga i-esima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a[i][j] </a:t>
            </a:r>
            <a:r>
              <a:rPr lang="it-IT" dirty="0"/>
              <a:t>denota il j-esimo elemento dell’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a[i]</a:t>
            </a: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int[][] a = new int[3][2];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a[0][0] = 10;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a[1][1] = 71;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a[2][0] = -3;</a:t>
            </a:r>
          </a:p>
          <a:p>
            <a:pPr>
              <a:buNone/>
            </a:pPr>
            <a:endParaRPr lang="it-IT" sz="2000" i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it-IT" sz="2000" i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it-IT" sz="2000" i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String[][] s = new String[2][2];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s[1][1] = "ciao";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1340768"/>
            <a:ext cx="3573780" cy="1840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4797152"/>
            <a:ext cx="603504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Connettore 1 8"/>
          <p:cNvCxnSpPr/>
          <p:nvPr/>
        </p:nvCxnSpPr>
        <p:spPr>
          <a:xfrm>
            <a:off x="179512" y="3717032"/>
            <a:ext cx="85689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Accesso agli elementi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Nota bene: </a:t>
            </a:r>
            <a:r>
              <a:rPr lang="it-IT" i="1" dirty="0">
                <a:solidFill>
                  <a:schemeClr val="accent2"/>
                </a:solidFill>
              </a:rPr>
              <a:t>a[i]</a:t>
            </a:r>
            <a:r>
              <a:rPr lang="it-IT" dirty="0"/>
              <a:t> è a tutti gli effetti un riferimento ad un </a:t>
            </a:r>
            <a:r>
              <a:rPr lang="it-IT" dirty="0" err="1"/>
              <a:t>array</a:t>
            </a:r>
            <a:r>
              <a:rPr lang="it-IT" dirty="0"/>
              <a:t> monodimensionale </a:t>
            </a:r>
          </a:p>
          <a:p>
            <a:r>
              <a:rPr lang="it-IT" dirty="0"/>
              <a:t>è quindi possibile, ad esempio, scrivere </a:t>
            </a:r>
            <a:r>
              <a:rPr lang="it-IT" i="1" dirty="0">
                <a:solidFill>
                  <a:schemeClr val="accent2"/>
                </a:solidFill>
              </a:rPr>
              <a:t>a[i].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dirty="0"/>
              <a:t> per conoscere la sua dimensione</a:t>
            </a:r>
          </a:p>
          <a:p>
            <a:r>
              <a:rPr lang="it-IT" dirty="0"/>
              <a:t>oppure passare </a:t>
            </a:r>
            <a:r>
              <a:rPr lang="it-IT" i="1" dirty="0">
                <a:solidFill>
                  <a:schemeClr val="accent2"/>
                </a:solidFill>
              </a:rPr>
              <a:t>a[i]</a:t>
            </a:r>
            <a:r>
              <a:rPr lang="it-IT" dirty="0"/>
              <a:t> ad un metodo che richiede come parametro un </a:t>
            </a:r>
            <a:r>
              <a:rPr lang="it-IT" dirty="0" err="1"/>
              <a:t>array</a:t>
            </a:r>
            <a:r>
              <a:rPr lang="it-IT" dirty="0"/>
              <a:t> monodimensionale dello stesso tipo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Letterali </a:t>
            </a:r>
            <a:r>
              <a:rPr lang="it-IT" dirty="0" err="1"/>
              <a:t>array</a:t>
            </a:r>
            <a:r>
              <a:rPr lang="it-IT" dirty="0"/>
              <a:t> bidimensionale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Anche gli </a:t>
            </a:r>
            <a:r>
              <a:rPr lang="it-IT" dirty="0" err="1"/>
              <a:t>array</a:t>
            </a:r>
            <a:r>
              <a:rPr lang="it-IT" dirty="0"/>
              <a:t> bidimensionali possono essere creati attraverso letterali </a:t>
            </a:r>
            <a:r>
              <a:rPr lang="it-IT" dirty="0" err="1"/>
              <a:t>array</a:t>
            </a:r>
            <a:endParaRPr lang="it-IT" dirty="0"/>
          </a:p>
          <a:p>
            <a:r>
              <a:rPr lang="it-IT" dirty="0"/>
              <a:t>Esempio: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[][] </a:t>
            </a:r>
            <a:r>
              <a:rPr lang="it-IT" i="1" dirty="0" err="1">
                <a:solidFill>
                  <a:schemeClr val="accent2"/>
                </a:solidFill>
              </a:rPr>
              <a:t>a=</a:t>
            </a:r>
            <a:r>
              <a:rPr lang="it-IT" dirty="0">
                <a:solidFill>
                  <a:schemeClr val="accent2"/>
                </a:solidFill>
              </a:rPr>
              <a:t>{{</a:t>
            </a:r>
            <a:r>
              <a:rPr lang="it-IT" i="1" dirty="0">
                <a:solidFill>
                  <a:schemeClr val="accent2"/>
                </a:solidFill>
              </a:rPr>
              <a:t>10, 0</a:t>
            </a:r>
            <a:r>
              <a:rPr lang="it-IT" dirty="0">
                <a:solidFill>
                  <a:schemeClr val="accent2"/>
                </a:solidFill>
              </a:rPr>
              <a:t>}, {</a:t>
            </a:r>
            <a:r>
              <a:rPr lang="it-IT" i="1" dirty="0" err="1">
                <a:solidFill>
                  <a:schemeClr val="accent2"/>
                </a:solidFill>
              </a:rPr>
              <a:t>0</a:t>
            </a:r>
            <a:r>
              <a:rPr lang="it-IT" i="1" dirty="0">
                <a:solidFill>
                  <a:schemeClr val="accent2"/>
                </a:solidFill>
              </a:rPr>
              <a:t>, 71</a:t>
            </a:r>
            <a:r>
              <a:rPr lang="it-IT" dirty="0">
                <a:solidFill>
                  <a:schemeClr val="accent2"/>
                </a:solidFill>
              </a:rPr>
              <a:t>}, {</a:t>
            </a:r>
            <a:r>
              <a:rPr lang="it-IT" i="1" dirty="0">
                <a:solidFill>
                  <a:schemeClr val="accent2"/>
                </a:solidFill>
              </a:rPr>
              <a:t>-3, 0</a:t>
            </a:r>
            <a:r>
              <a:rPr lang="it-IT" dirty="0">
                <a:solidFill>
                  <a:schemeClr val="accent2"/>
                </a:solidFill>
              </a:rPr>
              <a:t>}};</a:t>
            </a:r>
          </a:p>
          <a:p>
            <a:r>
              <a:rPr lang="it-IT" dirty="0">
                <a:solidFill>
                  <a:schemeClr val="accent2"/>
                </a:solidFill>
              </a:rPr>
              <a:t>{{</a:t>
            </a:r>
            <a:r>
              <a:rPr lang="it-IT" i="1" dirty="0">
                <a:solidFill>
                  <a:schemeClr val="accent2"/>
                </a:solidFill>
              </a:rPr>
              <a:t>10, 0</a:t>
            </a:r>
            <a:r>
              <a:rPr lang="it-IT" dirty="0">
                <a:solidFill>
                  <a:schemeClr val="accent2"/>
                </a:solidFill>
              </a:rPr>
              <a:t>}, {</a:t>
            </a:r>
            <a:r>
              <a:rPr lang="it-IT" i="1" dirty="0" err="1">
                <a:solidFill>
                  <a:schemeClr val="accent2"/>
                </a:solidFill>
              </a:rPr>
              <a:t>0</a:t>
            </a:r>
            <a:r>
              <a:rPr lang="it-IT" i="1" dirty="0">
                <a:solidFill>
                  <a:schemeClr val="accent2"/>
                </a:solidFill>
              </a:rPr>
              <a:t>, 71</a:t>
            </a:r>
            <a:r>
              <a:rPr lang="it-IT" dirty="0">
                <a:solidFill>
                  <a:schemeClr val="accent2"/>
                </a:solidFill>
              </a:rPr>
              <a:t>}, {</a:t>
            </a:r>
            <a:r>
              <a:rPr lang="it-IT" i="1" dirty="0">
                <a:solidFill>
                  <a:schemeClr val="accent2"/>
                </a:solidFill>
              </a:rPr>
              <a:t>-3, 0</a:t>
            </a:r>
            <a:r>
              <a:rPr lang="it-IT" dirty="0">
                <a:solidFill>
                  <a:schemeClr val="accent2"/>
                </a:solidFill>
              </a:rPr>
              <a:t>}}</a:t>
            </a:r>
            <a:r>
              <a:rPr lang="it-IT" dirty="0"/>
              <a:t> è un </a:t>
            </a:r>
            <a:r>
              <a:rPr lang="it-IT" u="sng" dirty="0">
                <a:solidFill>
                  <a:schemeClr val="accent1"/>
                </a:solidFill>
              </a:rPr>
              <a:t>letterale </a:t>
            </a:r>
            <a:r>
              <a:rPr lang="it-IT" u="sng" dirty="0" err="1">
                <a:solidFill>
                  <a:schemeClr val="accent1"/>
                </a:solidFill>
              </a:rPr>
              <a:t>array</a:t>
            </a:r>
            <a:r>
              <a:rPr lang="it-IT" u="sng" dirty="0">
                <a:solidFill>
                  <a:schemeClr val="accent1"/>
                </a:solidFill>
              </a:rPr>
              <a:t> bidimensionale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Array</a:t>
            </a:r>
            <a:r>
              <a:rPr lang="it-IT" dirty="0"/>
              <a:t> bidimensionali non matriciali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Abbiamo detto che gli </a:t>
            </a:r>
            <a:r>
              <a:rPr lang="it-IT" dirty="0" err="1"/>
              <a:t>array</a:t>
            </a:r>
            <a:r>
              <a:rPr lang="it-IT" dirty="0"/>
              <a:t> bidimensionali hanno un potere espressivo maggiore delle matrici</a:t>
            </a:r>
          </a:p>
          <a:p>
            <a:r>
              <a:rPr lang="it-IT" dirty="0"/>
              <a:t>Visto che le righe di un </a:t>
            </a:r>
            <a:r>
              <a:rPr lang="it-IT" dirty="0" err="1"/>
              <a:t>array</a:t>
            </a:r>
            <a:r>
              <a:rPr lang="it-IT" dirty="0"/>
              <a:t> bidimensionale sono a tutti gli effetti </a:t>
            </a:r>
            <a:r>
              <a:rPr lang="it-IT" dirty="0" err="1"/>
              <a:t>array</a:t>
            </a:r>
            <a:r>
              <a:rPr lang="it-IT" dirty="0"/>
              <a:t> monodimensionali, nulla vieta che tali </a:t>
            </a:r>
            <a:r>
              <a:rPr lang="it-IT" dirty="0" err="1"/>
              <a:t>array</a:t>
            </a:r>
            <a:r>
              <a:rPr lang="it-IT" dirty="0"/>
              <a:t> abbiano dimensioni diverse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double[][] a = { {11.2, 0.5, 1.0}, {0.0, 44.5},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     {-3.5, 5.5, 7.0}, {13.5} };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636912"/>
            <a:ext cx="4467225" cy="230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Lo stesso </a:t>
            </a:r>
            <a:r>
              <a:rPr lang="it-IT" dirty="0" err="1"/>
              <a:t>array</a:t>
            </a:r>
            <a:r>
              <a:rPr lang="it-IT" dirty="0"/>
              <a:t> può essere creato come segue:</a:t>
            </a:r>
          </a:p>
          <a:p>
            <a:endParaRPr lang="it-IT" dirty="0"/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double[][] a = new double[4][];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a[0] = new double[3];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a[1] = new double[2];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a[2] = new double[3];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a[3] = new double[1];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a[0][0] = 11.2;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a[0][1] = 0.5;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a[0][2] = 1.0;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a[1][0] = 0.0;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a[1][1] = 44.5;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a[2][0] = -3.5;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a[2][1] = 5.5;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a[2][2] = 7.0;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a[3][0] = 13.5;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5436096" y="2924944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Viene specificata solo una dimensione (numero di righe)</a:t>
            </a:r>
          </a:p>
        </p:txBody>
      </p:sp>
      <p:sp>
        <p:nvSpPr>
          <p:cNvPr id="7" name="Rettangolo 6"/>
          <p:cNvSpPr/>
          <p:nvPr/>
        </p:nvSpPr>
        <p:spPr>
          <a:xfrm>
            <a:off x="2771800" y="1970552"/>
            <a:ext cx="2160240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1 8"/>
          <p:cNvCxnSpPr>
            <a:stCxn id="7" idx="3"/>
            <a:endCxn id="5" idx="0"/>
          </p:cNvCxnSpPr>
          <p:nvPr/>
        </p:nvCxnSpPr>
        <p:spPr>
          <a:xfrm>
            <a:off x="4932040" y="2150572"/>
            <a:ext cx="2124236" cy="7743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/>
          <p:cNvSpPr/>
          <p:nvPr/>
        </p:nvSpPr>
        <p:spPr>
          <a:xfrm>
            <a:off x="827584" y="2348880"/>
            <a:ext cx="2808312" cy="10081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/>
          <p:cNvSpPr txBox="1"/>
          <p:nvPr/>
        </p:nvSpPr>
        <p:spPr>
          <a:xfrm>
            <a:off x="5292080" y="4437112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Creazione esplicita delle singole righe</a:t>
            </a:r>
          </a:p>
        </p:txBody>
      </p:sp>
      <p:cxnSp>
        <p:nvCxnSpPr>
          <p:cNvPr id="14" name="Connettore 1 13"/>
          <p:cNvCxnSpPr>
            <a:stCxn id="10" idx="3"/>
            <a:endCxn id="12" idx="0"/>
          </p:cNvCxnSpPr>
          <p:nvPr/>
        </p:nvCxnSpPr>
        <p:spPr>
          <a:xfrm>
            <a:off x="3635896" y="2852936"/>
            <a:ext cx="3204356" cy="1584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Visitare gli </a:t>
            </a:r>
            <a:r>
              <a:rPr lang="it-IT" dirty="0" err="1"/>
              <a:t>elem</a:t>
            </a:r>
            <a:r>
              <a:rPr lang="it-IT" dirty="0"/>
              <a:t>. di un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dirty="0" err="1"/>
              <a:t>bidim</a:t>
            </a:r>
            <a:r>
              <a:rPr lang="it-IT" dirty="0"/>
              <a:t>.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elementi di un </a:t>
            </a:r>
            <a:r>
              <a:rPr lang="it-IT" dirty="0" err="1"/>
              <a:t>array</a:t>
            </a:r>
            <a:r>
              <a:rPr lang="it-IT" dirty="0"/>
              <a:t> monodimensionale vengono tipicamente scanditi uno dopo l’altro tramite un ciclo</a:t>
            </a:r>
          </a:p>
          <a:p>
            <a:r>
              <a:rPr lang="it-IT" dirty="0"/>
              <a:t>Come possiamo scandire gli elementi di un </a:t>
            </a:r>
            <a:r>
              <a:rPr lang="it-IT" dirty="0" err="1"/>
              <a:t>array</a:t>
            </a:r>
            <a:r>
              <a:rPr lang="it-IT" dirty="0"/>
              <a:t> bidimensionale?</a:t>
            </a:r>
          </a:p>
          <a:p>
            <a:r>
              <a:rPr lang="it-IT" dirty="0"/>
              <a:t>Tipicamente essi vengono scanditi per righe (dalla prima all’ultima) e all’interno di ogni riga per colonne (dalla prima all’ultima)</a:t>
            </a:r>
          </a:p>
          <a:p>
            <a:pPr lvl="1"/>
            <a:r>
              <a:rPr lang="it-IT" dirty="0"/>
              <a:t>ciò può essere fatto con due cicli annidati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Visitare gli </a:t>
            </a:r>
            <a:r>
              <a:rPr lang="it-IT" dirty="0" err="1"/>
              <a:t>elem</a:t>
            </a:r>
            <a:r>
              <a:rPr lang="it-IT" dirty="0"/>
              <a:t>. di un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dirty="0" err="1"/>
              <a:t>bidim</a:t>
            </a:r>
            <a:r>
              <a:rPr lang="it-IT" dirty="0"/>
              <a:t>.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public static void stampaElementi(double[][] a){</a:t>
            </a:r>
          </a:p>
          <a:p>
            <a:pPr>
              <a:buNone/>
            </a:pPr>
            <a:r>
              <a:rPr lang="nn-NO" sz="1600" dirty="0">
                <a:latin typeface="Courier New" pitchFamily="49" charset="0"/>
                <a:cs typeface="Courier New" pitchFamily="49" charset="0"/>
              </a:rPr>
              <a:t>    for (int i = 0; i&lt;a.length; i++)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(int j = 0; j&lt;a[i].length; j++){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Elem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in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posiz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"+"("+i+","+j+"): ");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(a[i][j]);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827584" y="4077072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Scandisce le righe dell’array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1043608" y="3599728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Scandisce le colonne dell’array</a:t>
            </a:r>
          </a:p>
        </p:txBody>
      </p:sp>
      <p:sp>
        <p:nvSpPr>
          <p:cNvPr id="6" name="Rettangolo 5"/>
          <p:cNvSpPr/>
          <p:nvPr/>
        </p:nvSpPr>
        <p:spPr>
          <a:xfrm>
            <a:off x="827584" y="1628800"/>
            <a:ext cx="4392488" cy="288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4 7"/>
          <p:cNvCxnSpPr>
            <a:stCxn id="6" idx="1"/>
            <a:endCxn id="4" idx="1"/>
          </p:cNvCxnSpPr>
          <p:nvPr/>
        </p:nvCxnSpPr>
        <p:spPr>
          <a:xfrm rot="10800000" flipV="1">
            <a:off x="827584" y="1772816"/>
            <a:ext cx="12700" cy="248892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/>
          <p:cNvSpPr/>
          <p:nvPr/>
        </p:nvSpPr>
        <p:spPr>
          <a:xfrm>
            <a:off x="1187624" y="1953328"/>
            <a:ext cx="4392488" cy="2880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4 10"/>
          <p:cNvCxnSpPr>
            <a:stCxn id="10" idx="1"/>
            <a:endCxn id="5" idx="1"/>
          </p:cNvCxnSpPr>
          <p:nvPr/>
        </p:nvCxnSpPr>
        <p:spPr>
          <a:xfrm rot="10800000" flipV="1">
            <a:off x="1043608" y="2097344"/>
            <a:ext cx="144016" cy="1687050"/>
          </a:xfrm>
          <a:prstGeom prst="bentConnector3">
            <a:avLst>
              <a:gd name="adj1" fmla="val 289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Visitare gli </a:t>
            </a:r>
            <a:r>
              <a:rPr lang="it-IT" dirty="0" err="1"/>
              <a:t>elem</a:t>
            </a:r>
            <a:r>
              <a:rPr lang="it-IT" dirty="0"/>
              <a:t>. di un </a:t>
            </a:r>
            <a:r>
              <a:rPr lang="it-IT" dirty="0" err="1"/>
              <a:t>array</a:t>
            </a:r>
            <a:r>
              <a:rPr lang="it-IT" dirty="0"/>
              <a:t> </a:t>
            </a:r>
            <a:r>
              <a:rPr lang="it-IT" dirty="0" err="1"/>
              <a:t>bidim</a:t>
            </a:r>
            <a:r>
              <a:rPr lang="it-IT" dirty="0"/>
              <a:t>.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Nota</a:t>
            </a:r>
            <a:r>
              <a:rPr lang="it-IT" dirty="0"/>
              <a:t>: </a:t>
            </a:r>
            <a:r>
              <a:rPr lang="it-IT" i="1" dirty="0" err="1">
                <a:solidFill>
                  <a:schemeClr val="accent2"/>
                </a:solidFill>
              </a:rPr>
              <a:t>a.length</a:t>
            </a:r>
            <a:r>
              <a:rPr lang="it-IT" dirty="0"/>
              <a:t> denota la lunghezza dell’</a:t>
            </a:r>
            <a:r>
              <a:rPr lang="it-IT" dirty="0" err="1"/>
              <a:t>array</a:t>
            </a:r>
            <a:r>
              <a:rPr lang="it-IT" dirty="0"/>
              <a:t> referenziato da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, quindi il numero di righe</a:t>
            </a:r>
          </a:p>
          <a:p>
            <a:r>
              <a:rPr lang="it-IT" i="1" dirty="0">
                <a:solidFill>
                  <a:schemeClr val="accent2"/>
                </a:solidFill>
              </a:rPr>
              <a:t>a[i].</a:t>
            </a:r>
            <a:r>
              <a:rPr lang="it-IT" i="1" dirty="0" err="1">
                <a:solidFill>
                  <a:schemeClr val="accent2"/>
                </a:solidFill>
              </a:rPr>
              <a:t>length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denota la lunghezza dell’</a:t>
            </a:r>
            <a:r>
              <a:rPr lang="it-IT" dirty="0" err="1"/>
              <a:t>array</a:t>
            </a:r>
            <a:r>
              <a:rPr lang="it-IT" dirty="0"/>
              <a:t> referenziato da </a:t>
            </a:r>
            <a:r>
              <a:rPr lang="it-IT" i="1" dirty="0">
                <a:solidFill>
                  <a:schemeClr val="accent2"/>
                </a:solidFill>
              </a:rPr>
              <a:t>a[i]</a:t>
            </a:r>
            <a:r>
              <a:rPr lang="it-IT" dirty="0"/>
              <a:t>, quindi il numero di elementi sulla riga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-esima</a:t>
            </a:r>
          </a:p>
          <a:p>
            <a:r>
              <a:rPr lang="it-IT" dirty="0"/>
              <a:t>Il codice precedente funziona sia con </a:t>
            </a:r>
            <a:r>
              <a:rPr lang="it-IT" dirty="0" err="1"/>
              <a:t>array</a:t>
            </a:r>
            <a:r>
              <a:rPr lang="it-IT" dirty="0"/>
              <a:t> matriciali che con </a:t>
            </a:r>
            <a:r>
              <a:rPr lang="it-IT" dirty="0" err="1"/>
              <a:t>array</a:t>
            </a:r>
            <a:r>
              <a:rPr lang="it-IT" dirty="0"/>
              <a:t> non matriciali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Es. di uso di </a:t>
            </a:r>
            <a:r>
              <a:rPr lang="it-IT" dirty="0" err="1"/>
              <a:t>array</a:t>
            </a:r>
            <a:r>
              <a:rPr lang="it-IT" dirty="0"/>
              <a:t> bidimensionali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Vediamo ora alcuni esempi d’uso di </a:t>
            </a:r>
            <a:r>
              <a:rPr lang="it-IT" dirty="0" err="1"/>
              <a:t>array</a:t>
            </a:r>
            <a:r>
              <a:rPr lang="it-IT" dirty="0"/>
              <a:t> bidimensionali</a:t>
            </a:r>
          </a:p>
          <a:p>
            <a:r>
              <a:rPr lang="it-IT" dirty="0"/>
              <a:t>Realizziamo un programma che:</a:t>
            </a:r>
          </a:p>
          <a:p>
            <a:pPr lvl="1"/>
            <a:r>
              <a:rPr lang="it-IT" dirty="0"/>
              <a:t>fa inserire all’utente una matrice di numeri interi; l’utente deve scegliere sia le dimensioni (righe  colonne) che i singoli elementi della matrice;</a:t>
            </a:r>
          </a:p>
          <a:p>
            <a:pPr lvl="1"/>
            <a:r>
              <a:rPr lang="it-IT" dirty="0"/>
              <a:t>per ogni riga della matrice inserita, visualizza all’utente la somma degli elementi di tale riga.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SommaRigheMatrice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 la matrice inserita dall’utente fosse: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il programma dovrebbe stampare: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Somma elementi di riga 0 = 15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Somma elementi di riga 1 = 12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Somma elementi di riga 2 = 3</a:t>
            </a:r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795115"/>
              </p:ext>
            </p:extLst>
          </p:nvPr>
        </p:nvGraphicFramePr>
        <p:xfrm>
          <a:off x="3203848" y="2060848"/>
          <a:ext cx="2119734" cy="1626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927000" imgH="711000" progId="Equation.3">
                  <p:embed/>
                </p:oleObj>
              </mc:Choice>
              <mc:Fallback>
                <p:oleObj name="Equazione" r:id="rId2" imgW="927000" imgH="711000" progId="Equation.3">
                  <p:embed/>
                  <p:pic>
                    <p:nvPicPr>
                      <p:cNvPr id="4" name="Ogget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060848"/>
                        <a:ext cx="2119734" cy="16260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SommaRigheMatrice</a:t>
            </a:r>
            <a:r>
              <a:rPr lang="it-IT" dirty="0"/>
              <a:t>: codice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SommaRigheMatrice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out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crea una matrice di dimensioni specificate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m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("Numero di righe della matrice?");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n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("Numero di colonne della matrice?");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[][] matrice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[m][n];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fa inserire all'utente gli elementi della matrice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matrice.length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j = 0; j&lt;matrice[i].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matrice[i][j]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("Elemento ("+i+","+j+")?");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SommaRigheMatrice</a:t>
            </a:r>
            <a:r>
              <a:rPr lang="it-IT" dirty="0"/>
              <a:t>: codice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5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SommaRigheMatrice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  // visualizza le somme degli elementi di ogni riga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5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500" dirty="0">
                <a:latin typeface="Courier New" pitchFamily="49" charset="0"/>
                <a:cs typeface="Courier New" pitchFamily="49" charset="0"/>
              </a:rPr>
              <a:t> somma;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matrice.length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 i++){</a:t>
            </a:r>
          </a:p>
          <a:p>
            <a:pPr>
              <a:buNone/>
            </a:pP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5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calcola la somma sulla riga i</a:t>
            </a:r>
          </a:p>
          <a:p>
            <a:pPr>
              <a:buNone/>
            </a:pP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somma = 0;</a:t>
            </a:r>
          </a:p>
          <a:p>
            <a:pPr>
              <a:buNone/>
            </a:pP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j = 0; j&lt;matrice[i].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>
              <a:buNone/>
            </a:pP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 somma += matrice[i][j];</a:t>
            </a:r>
          </a:p>
          <a:p>
            <a:pPr>
              <a:buNone/>
            </a:pP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5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// visualizza la somma sulla riga i</a:t>
            </a:r>
          </a:p>
          <a:p>
            <a:pPr>
              <a:buNone/>
            </a:pP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5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5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("Somma riga " + i + " = " + somma);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5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2: la classe Matrice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Vogliamo definire una classe di nome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i cui oggetti rappresentano matrici di numeri reali</a:t>
            </a:r>
          </a:p>
          <a:p>
            <a:r>
              <a:rPr lang="it-IT" dirty="0"/>
              <a:t>La classe deve metterci a disposizione metodi per effettuare operazioni tipiche tra matrici, quali la somma e il prodotto righe per colonne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2: la classe Matrice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La classe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avrà i seguenti metodi e costruttori: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Matrice(double[][] matrice)</a:t>
            </a:r>
            <a:r>
              <a:rPr lang="it-IT" dirty="0"/>
              <a:t>: costruttore per creare un oggetto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; l’array bidimensionale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specifica quale sia la matrice che l’oggetto creato dovrà rappresentare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Matrice somma(Matrice altra)</a:t>
            </a:r>
            <a:r>
              <a:rPr lang="it-IT" dirty="0"/>
              <a:t>: restituisce un nuovo oggetto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la cui matrice rappresentata è pari alla somma delle matrici rappresentate dall’oggetto ricevente (</a:t>
            </a:r>
            <a:r>
              <a:rPr lang="it-IT" i="1" dirty="0">
                <a:solidFill>
                  <a:schemeClr val="accent2"/>
                </a:solidFill>
              </a:rPr>
              <a:t>this</a:t>
            </a:r>
            <a:r>
              <a:rPr lang="it-IT" dirty="0"/>
              <a:t>) e dall’oggetto </a:t>
            </a:r>
            <a:r>
              <a:rPr lang="it-IT" i="1" dirty="0">
                <a:solidFill>
                  <a:schemeClr val="accent2"/>
                </a:solidFill>
              </a:rPr>
              <a:t>altra</a:t>
            </a:r>
            <a:r>
              <a:rPr lang="it-IT" dirty="0"/>
              <a:t> </a:t>
            </a:r>
          </a:p>
          <a:p>
            <a:pPr lvl="2"/>
            <a:r>
              <a:rPr lang="it-IT" dirty="0"/>
              <a:t>si assume che le due matrici abbiano lo stesso numero di righe e lo stesso numero di colonne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2: la classe Matrice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La classe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avrà i seguenti metodi e costruttori: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Matrice prodotto(Matrice altra)</a:t>
            </a:r>
            <a:r>
              <a:rPr lang="it-IT" dirty="0"/>
              <a:t>: restituisce un nuovo oggetto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la cui matrice rappresentata è il prodotto righe per colonne tra la matrice rappresentata dall’oggetto ricevente (</a:t>
            </a:r>
            <a:r>
              <a:rPr lang="it-IT" i="1" dirty="0">
                <a:solidFill>
                  <a:schemeClr val="accent2"/>
                </a:solidFill>
              </a:rPr>
              <a:t>this</a:t>
            </a:r>
            <a:r>
              <a:rPr lang="it-IT" dirty="0"/>
              <a:t>) e quella rappresentata dall’oggetto </a:t>
            </a:r>
            <a:r>
              <a:rPr lang="it-IT" i="1" dirty="0">
                <a:solidFill>
                  <a:schemeClr val="accent2"/>
                </a:solidFill>
              </a:rPr>
              <a:t>altra</a:t>
            </a:r>
            <a:r>
              <a:rPr lang="it-IT" dirty="0"/>
              <a:t> </a:t>
            </a:r>
          </a:p>
          <a:p>
            <a:pPr lvl="2"/>
            <a:r>
              <a:rPr lang="it-IT" dirty="0"/>
              <a:t>Si assume che il numero di colonne della matrice dell’oggetto ricevente sia uguale al numero di righe della matrice dell’oggetto </a:t>
            </a:r>
            <a:r>
              <a:rPr lang="it-IT" i="1" dirty="0">
                <a:solidFill>
                  <a:schemeClr val="accent2"/>
                </a:solidFill>
              </a:rPr>
              <a:t>altra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toString()</a:t>
            </a:r>
            <a:r>
              <a:rPr lang="it-IT" dirty="0"/>
              <a:t>: restituisce una descrizione della matrice rappresentata dall’oggetto ricevente (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dirty="0"/>
              <a:t>)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Matrice: scheletro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class Matrice{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memorizza la matrice rappresentata dall’oggetto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private double[][] mat;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costruttore: crea un oggetto che rappresenta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la matrice passata come parametro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Matrice(double[][] matrice){...}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la somma tra la matrice ricevente 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 e quella passata come parametro (altra)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PRE: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e altra hanno le stesse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dimensioni*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Matrice somma(Matrice altra){...}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il prodotto tra la matrice ricevente 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 e quella passata come parametro (altra)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PRE: il numero di colonne di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coincide con il numero di righe di altra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Matrice prodotto(Matrice altra){...}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una stringa che descrive la matrice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String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(){...}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Il costruttore deve creare una copia della matrice passata come parametro e memorizzarne il riferimento nella variabile di istanza </a:t>
            </a:r>
            <a:r>
              <a:rPr lang="it-IT" i="1" dirty="0" err="1">
                <a:solidFill>
                  <a:schemeClr val="accent2"/>
                </a:solidFill>
              </a:rPr>
              <a:t>mat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Come già detto nel caso della classe </a:t>
            </a:r>
            <a:r>
              <a:rPr lang="it-IT" i="1" dirty="0" err="1">
                <a:solidFill>
                  <a:schemeClr val="accent2"/>
                </a:solidFill>
              </a:rPr>
              <a:t>SequenzaDiInteri</a:t>
            </a:r>
            <a:r>
              <a:rPr lang="it-IT" dirty="0"/>
              <a:t> è preferibile creare un nuovo oggetto copia di quello passato come parametro piuttosto che limitarsi a copiare il riferimento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Matrice(double[][] matrice){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 = matrice.length;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n = matrice[0].length;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this.mat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new double[m][n];</a:t>
            </a:r>
          </a:p>
          <a:p>
            <a:pPr>
              <a:buNone/>
            </a:pPr>
            <a:r>
              <a:rPr lang="nn-NO" sz="2000" dirty="0">
                <a:latin typeface="Courier New" pitchFamily="49" charset="0"/>
                <a:cs typeface="Courier New" pitchFamily="49" charset="0"/>
              </a:rPr>
              <a:t>	for (int i = 0; i&lt;m; i++)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(int j = 0; j&lt;n; j++)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this.mat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[i][j] = matrice[i][j];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somma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Creiamo prima un </a:t>
            </a:r>
            <a:r>
              <a:rPr lang="it-IT" dirty="0" err="1"/>
              <a:t>array</a:t>
            </a:r>
            <a:r>
              <a:rPr lang="it-IT" dirty="0"/>
              <a:t> bidimensionale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delle stesse dimensioni di </a:t>
            </a:r>
            <a:r>
              <a:rPr lang="it-IT" i="1" dirty="0" err="1">
                <a:solidFill>
                  <a:schemeClr val="accent2"/>
                </a:solidFill>
              </a:rPr>
              <a:t>this.mat</a:t>
            </a:r>
            <a:r>
              <a:rPr lang="it-IT" dirty="0"/>
              <a:t> e </a:t>
            </a:r>
            <a:r>
              <a:rPr lang="it-IT" i="1" dirty="0" err="1">
                <a:solidFill>
                  <a:schemeClr val="accent2"/>
                </a:solidFill>
              </a:rPr>
              <a:t>altra.mat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Ogni elemento </a:t>
            </a:r>
            <a:r>
              <a:rPr lang="it-IT" i="1" dirty="0">
                <a:solidFill>
                  <a:schemeClr val="accent2"/>
                </a:solidFill>
              </a:rPr>
              <a:t>matrice[i][j]</a:t>
            </a:r>
            <a:r>
              <a:rPr lang="it-IT" dirty="0"/>
              <a:t> viene posto uguale a </a:t>
            </a:r>
            <a:r>
              <a:rPr lang="it-IT" i="1" dirty="0" err="1">
                <a:solidFill>
                  <a:schemeClr val="accent2"/>
                </a:solidFill>
              </a:rPr>
              <a:t>this.mat</a:t>
            </a:r>
            <a:r>
              <a:rPr lang="it-IT" i="1" dirty="0">
                <a:solidFill>
                  <a:schemeClr val="accent2"/>
                </a:solidFill>
              </a:rPr>
              <a:t>[i][j] + </a:t>
            </a:r>
            <a:r>
              <a:rPr lang="it-IT" i="1" dirty="0" err="1">
                <a:solidFill>
                  <a:schemeClr val="accent2"/>
                </a:solidFill>
              </a:rPr>
              <a:t>altra.mat</a:t>
            </a:r>
            <a:r>
              <a:rPr lang="it-IT" i="1" dirty="0">
                <a:solidFill>
                  <a:schemeClr val="accent2"/>
                </a:solidFill>
              </a:rPr>
              <a:t>[i][j]</a:t>
            </a:r>
          </a:p>
          <a:p>
            <a:r>
              <a:rPr lang="it-IT" dirty="0"/>
              <a:t>Infine viene creato un oggetto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usando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come parametro del costruttore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somma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public Matrice somma(Matrice altra){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m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this.mat.length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n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this.mat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[0].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length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[][] matrice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[m][n];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i = 0; i&lt;m; i++)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j = 0; j&lt;n; j++)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		matrice[i][j]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this.mat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[i][j]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+altra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mat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[i][j];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Matrice somma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Matrice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matrice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); // risultato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somma;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prodotto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L’approccio è simile a quello del metodo precedente</a:t>
            </a:r>
          </a:p>
          <a:p>
            <a:r>
              <a:rPr lang="it-IT" dirty="0"/>
              <a:t>Il risultato viene prima memorizzato in un </a:t>
            </a:r>
            <a:r>
              <a:rPr lang="it-IT" dirty="0" err="1"/>
              <a:t>array</a:t>
            </a:r>
            <a:r>
              <a:rPr lang="it-IT" dirty="0"/>
              <a:t> bidimensionale </a:t>
            </a:r>
            <a:r>
              <a:rPr lang="it-IT" i="1" dirty="0">
                <a:solidFill>
                  <a:schemeClr val="accent2"/>
                </a:solidFill>
              </a:rPr>
              <a:t>matrice</a:t>
            </a:r>
            <a:r>
              <a:rPr lang="it-IT" dirty="0"/>
              <a:t> di opportune dimensioni</a:t>
            </a:r>
          </a:p>
          <a:p>
            <a:r>
              <a:rPr lang="it-IT" dirty="0"/>
              <a:t>La differenza sta nel fatto che per calcolare ciascun elemento della matrice risultato è necessario effettuare una sommatoria di prodotti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prodotto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Ricordiamo come si effettua il prodotto tra due matrici </a:t>
            </a:r>
            <a:r>
              <a:rPr lang="it-IT" i="1" dirty="0"/>
              <a:t>A</a:t>
            </a:r>
            <a:r>
              <a:rPr lang="it-IT" dirty="0"/>
              <a:t> (di dimensione </a:t>
            </a:r>
            <a:r>
              <a:rPr lang="it-IT" i="1" dirty="0"/>
              <a:t>m</a:t>
            </a:r>
            <a:r>
              <a:rPr lang="it-IT" dirty="0"/>
              <a:t> </a:t>
            </a:r>
            <a:r>
              <a:rPr lang="it-IT" dirty="0">
                <a:sym typeface="Symbol"/>
              </a:rPr>
              <a:t></a:t>
            </a:r>
            <a:r>
              <a:rPr lang="it-IT" dirty="0"/>
              <a:t> </a:t>
            </a:r>
            <a:r>
              <a:rPr lang="it-IT" i="1" dirty="0"/>
              <a:t>n</a:t>
            </a:r>
            <a:r>
              <a:rPr lang="it-IT" dirty="0"/>
              <a:t>) e </a:t>
            </a:r>
            <a:r>
              <a:rPr lang="it-IT" i="1" dirty="0"/>
              <a:t>B</a:t>
            </a:r>
            <a:r>
              <a:rPr lang="it-IT" dirty="0"/>
              <a:t> (di dimensione </a:t>
            </a:r>
            <a:r>
              <a:rPr lang="it-IT" i="1" dirty="0"/>
              <a:t>n</a:t>
            </a:r>
            <a:r>
              <a:rPr lang="it-IT" dirty="0"/>
              <a:t> </a:t>
            </a:r>
            <a:r>
              <a:rPr lang="it-IT" dirty="0">
                <a:sym typeface="Symbol"/>
              </a:rPr>
              <a:t></a:t>
            </a:r>
            <a:r>
              <a:rPr lang="it-IT" dirty="0"/>
              <a:t> </a:t>
            </a:r>
            <a:r>
              <a:rPr lang="it-IT" i="1" dirty="0"/>
              <a:t>p</a:t>
            </a:r>
            <a:r>
              <a:rPr lang="it-IT" dirty="0"/>
              <a:t>)</a:t>
            </a:r>
          </a:p>
          <a:p>
            <a:r>
              <a:rPr lang="it-IT" dirty="0"/>
              <a:t>Il risultato è una matrice </a:t>
            </a:r>
            <a:r>
              <a:rPr lang="it-IT" i="1" dirty="0"/>
              <a:t>C</a:t>
            </a:r>
            <a:r>
              <a:rPr lang="it-IT" dirty="0"/>
              <a:t> di dimensione </a:t>
            </a:r>
            <a:r>
              <a:rPr lang="it-IT" i="1" dirty="0"/>
              <a:t>m</a:t>
            </a:r>
            <a:r>
              <a:rPr lang="it-IT" dirty="0"/>
              <a:t> </a:t>
            </a:r>
            <a:r>
              <a:rPr lang="it-IT" dirty="0">
                <a:sym typeface="Symbol"/>
              </a:rPr>
              <a:t> </a:t>
            </a:r>
            <a:r>
              <a:rPr lang="it-IT" i="1" dirty="0">
                <a:sym typeface="Symbol"/>
              </a:rPr>
              <a:t>p</a:t>
            </a:r>
          </a:p>
          <a:p>
            <a:r>
              <a:rPr lang="it-IT" dirty="0">
                <a:sym typeface="Symbol"/>
              </a:rPr>
              <a:t>L’elemento </a:t>
            </a:r>
            <a:r>
              <a:rPr lang="it-IT" i="1" dirty="0" err="1">
                <a:sym typeface="Symbol"/>
              </a:rPr>
              <a:t>C</a:t>
            </a:r>
            <a:r>
              <a:rPr lang="it-IT" i="1" baseline="-25000" dirty="0" err="1">
                <a:sym typeface="Symbol"/>
              </a:rPr>
              <a:t>ij</a:t>
            </a:r>
            <a:r>
              <a:rPr lang="it-IT" dirty="0">
                <a:sym typeface="Symbol"/>
              </a:rPr>
              <a:t> di </a:t>
            </a:r>
            <a:r>
              <a:rPr lang="it-IT" i="1" dirty="0">
                <a:sym typeface="Symbol"/>
              </a:rPr>
              <a:t>C</a:t>
            </a:r>
            <a:r>
              <a:rPr lang="it-IT" dirty="0">
                <a:sym typeface="Symbol"/>
              </a:rPr>
              <a:t> è dato da:</a:t>
            </a:r>
          </a:p>
          <a:p>
            <a:pPr>
              <a:buNone/>
            </a:pPr>
            <a:endParaRPr lang="it-IT" i="1" dirty="0"/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/>
        </p:nvGraphicFramePr>
        <p:xfrm>
          <a:off x="3415636" y="4077072"/>
          <a:ext cx="2312728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990360" imgH="431640" progId="Equation.3">
                  <p:embed/>
                </p:oleObj>
              </mc:Choice>
              <mc:Fallback>
                <p:oleObj name="Equazione" r:id="rId2" imgW="990360" imgH="431640" progId="Equation.3">
                  <p:embed/>
                  <p:pic>
                    <p:nvPicPr>
                      <p:cNvPr id="4" name="Ogget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5636" y="4077072"/>
                        <a:ext cx="2312728" cy="100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/>
              <a:t>metodo prodotto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public Matrice prodotto(Matrice altra){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 = this.mat.length; // righe di this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n = this.mat[0].length; // colonne di this </a:t>
            </a:r>
            <a:r>
              <a:rPr lang="it-IT" sz="1600">
                <a:latin typeface="Courier New" pitchFamily="49" charset="0"/>
                <a:cs typeface="Courier New" pitchFamily="49" charset="0"/>
              </a:rPr>
              <a:t>(righe 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di altra)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p = altra.mat[0].length; // colonne di altra</a:t>
            </a:r>
          </a:p>
          <a:p>
            <a:pPr>
              <a:buNone/>
            </a:pPr>
            <a:r>
              <a:rPr lang="fr-FR" sz="1600" dirty="0">
                <a:latin typeface="Courier New" pitchFamily="49" charset="0"/>
                <a:cs typeface="Courier New" pitchFamily="49" charset="0"/>
              </a:rPr>
              <a:t>  double[][] matrice = new double[m][p];</a:t>
            </a:r>
          </a:p>
          <a:p>
            <a:pPr>
              <a:buNone/>
            </a:pPr>
            <a:r>
              <a:rPr lang="nn-NO" sz="1600" dirty="0">
                <a:latin typeface="Courier New" pitchFamily="49" charset="0"/>
                <a:cs typeface="Courier New" pitchFamily="49" charset="0"/>
              </a:rPr>
              <a:t>  for (int i = 0; i&lt;m; i++){</a:t>
            </a:r>
          </a:p>
          <a:p>
            <a:pPr>
              <a:buNone/>
            </a:pPr>
            <a:r>
              <a:rPr lang="nb-NO" sz="1600" dirty="0">
                <a:latin typeface="Courier New" pitchFamily="49" charset="0"/>
                <a:cs typeface="Courier New" pitchFamily="49" charset="0"/>
              </a:rPr>
              <a:t>    for (int j = 0; j&lt;p; j++){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somma = 0;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(int k = 0; k&lt;n; k++)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somma += this.mat[i][k]*altra.mat[k][j];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matrice[i][j]=somma;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Matrice prodotto = new Matrice(matrice); // risultato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prodotto;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ttangolo 3"/>
          <p:cNvSpPr/>
          <p:nvPr/>
        </p:nvSpPr>
        <p:spPr>
          <a:xfrm>
            <a:off x="1115616" y="3732876"/>
            <a:ext cx="5472608" cy="865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/>
          <p:cNvSpPr txBox="1"/>
          <p:nvPr/>
        </p:nvSpPr>
        <p:spPr>
          <a:xfrm>
            <a:off x="5615608" y="3068960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calcola l’elemento in posizione (</a:t>
            </a:r>
            <a:r>
              <a:rPr lang="it-IT" dirty="0" err="1">
                <a:solidFill>
                  <a:schemeClr val="accent1"/>
                </a:solidFill>
              </a:rPr>
              <a:t>i,j</a:t>
            </a:r>
            <a:r>
              <a:rPr lang="it-IT" dirty="0">
                <a:solidFill>
                  <a:schemeClr val="accent1"/>
                </a:solidFill>
              </a:rPr>
              <a:t>) nella matrice prodotto</a:t>
            </a:r>
          </a:p>
        </p:txBody>
      </p:sp>
      <p:cxnSp>
        <p:nvCxnSpPr>
          <p:cNvPr id="7" name="Connettore 4 6"/>
          <p:cNvCxnSpPr>
            <a:stCxn id="5" idx="2"/>
            <a:endCxn id="4" idx="3"/>
          </p:cNvCxnSpPr>
          <p:nvPr/>
        </p:nvCxnSpPr>
        <p:spPr>
          <a:xfrm rot="5400000">
            <a:off x="6758762" y="3544753"/>
            <a:ext cx="450504" cy="7915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Fondamenti">
  <a:themeElements>
    <a:clrScheme name="Personalizzato 2">
      <a:dk1>
        <a:sysClr val="windowText" lastClr="000000"/>
      </a:dk1>
      <a:lt1>
        <a:sysClr val="window" lastClr="FFFFFF"/>
      </a:lt1>
      <a:dk2>
        <a:srgbClr val="990000"/>
      </a:dk2>
      <a:lt2>
        <a:srgbClr val="EEECE1"/>
      </a:lt2>
      <a:accent1>
        <a:srgbClr val="0000FF"/>
      </a:accent1>
      <a:accent2>
        <a:srgbClr val="0066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65CA2515402D41A280901C776553D9" ma:contentTypeVersion="11" ma:contentTypeDescription="Creare un nuovo documento." ma:contentTypeScope="" ma:versionID="42a50dcfe7cdc16628150e4ed664f597">
  <xsd:schema xmlns:xsd="http://www.w3.org/2001/XMLSchema" xmlns:xs="http://www.w3.org/2001/XMLSchema" xmlns:p="http://schemas.microsoft.com/office/2006/metadata/properties" xmlns:ns2="b59b3c25-9a25-49d1-a0d3-94991f66772c" xmlns:ns3="276b7aae-0fa0-446d-a82e-a7696b2dbbea" targetNamespace="http://schemas.microsoft.com/office/2006/metadata/properties" ma:root="true" ma:fieldsID="5c83b0c1b3186f8798f8242386c1ecd8" ns2:_="" ns3:_="">
    <xsd:import namespace="b59b3c25-9a25-49d1-a0d3-94991f66772c"/>
    <xsd:import namespace="276b7aae-0fa0-446d-a82e-a7696b2db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b3c25-9a25-49d1-a0d3-94991f667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9d414cec-426e-4329-9a45-dc9697900c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b7aae-0fa0-446d-a82e-a7696b2dbb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d34081-00a8-48ef-94a0-c9629acd59b6}" ma:internalName="TaxCatchAll" ma:showField="CatchAllData" ma:web="276b7aae-0fa0-446d-a82e-a7696b2dbb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b3c25-9a25-49d1-a0d3-94991f66772c">
      <Terms xmlns="http://schemas.microsoft.com/office/infopath/2007/PartnerControls"/>
    </lcf76f155ced4ddcb4097134ff3c332f>
    <TaxCatchAll xmlns="276b7aae-0fa0-446d-a82e-a7696b2dbbea" xsi:nil="true"/>
  </documentManagement>
</p:properties>
</file>

<file path=customXml/itemProps1.xml><?xml version="1.0" encoding="utf-8"?>
<ds:datastoreItem xmlns:ds="http://schemas.openxmlformats.org/officeDocument/2006/customXml" ds:itemID="{E9137400-C55E-46BF-8812-8AE2F1C4C300}"/>
</file>

<file path=customXml/itemProps2.xml><?xml version="1.0" encoding="utf-8"?>
<ds:datastoreItem xmlns:ds="http://schemas.openxmlformats.org/officeDocument/2006/customXml" ds:itemID="{EE16263E-6C82-4590-8BA7-2EF2F6CE43E1}"/>
</file>

<file path=customXml/itemProps3.xml><?xml version="1.0" encoding="utf-8"?>
<ds:datastoreItem xmlns:ds="http://schemas.openxmlformats.org/officeDocument/2006/customXml" ds:itemID="{E8C76462-5F01-480E-97A1-85420198674D}"/>
</file>

<file path=docProps/app.xml><?xml version="1.0" encoding="utf-8"?>
<Properties xmlns="http://schemas.openxmlformats.org/officeDocument/2006/extended-properties" xmlns:vt="http://schemas.openxmlformats.org/officeDocument/2006/docPropsVTypes">
  <Template>Fondamenti</Template>
  <TotalTime>2152</TotalTime>
  <Words>5876</Words>
  <Application>Microsoft Office PowerPoint</Application>
  <PresentationFormat>Presentazione su schermo (4:3)</PresentationFormat>
  <Paragraphs>640</Paragraphs>
  <Slides>85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85</vt:i4>
      </vt:variant>
    </vt:vector>
  </HeadingPairs>
  <TitlesOfParts>
    <vt:vector size="92" baseType="lpstr">
      <vt:lpstr>Arial</vt:lpstr>
      <vt:lpstr>Calibri</vt:lpstr>
      <vt:lpstr>Courier New</vt:lpstr>
      <vt:lpstr>Symbol</vt:lpstr>
      <vt:lpstr>Wingdings</vt:lpstr>
      <vt:lpstr>Fondamenti</vt:lpstr>
      <vt:lpstr>Equazione</vt:lpstr>
      <vt:lpstr>Array</vt:lpstr>
      <vt:lpstr>Limite delle variabili</vt:lpstr>
      <vt:lpstr>Limite delle variabili</vt:lpstr>
      <vt:lpstr>Soluzione 1</vt:lpstr>
      <vt:lpstr>Soluzione 1</vt:lpstr>
      <vt:lpstr>Limiti della soluzione vista</vt:lpstr>
      <vt:lpstr>Variante con lunghezza non fissata</vt:lpstr>
      <vt:lpstr>Gli array</vt:lpstr>
      <vt:lpstr>Array in Java</vt:lpstr>
      <vt:lpstr>Array in Java</vt:lpstr>
      <vt:lpstr>Array in Java</vt:lpstr>
      <vt:lpstr>Array in Java</vt:lpstr>
      <vt:lpstr>Accesso agli elementi di un array</vt:lpstr>
      <vt:lpstr>Accesso agli elementi di un array</vt:lpstr>
      <vt:lpstr>Schema di un array</vt:lpstr>
      <vt:lpstr>Array di tipi primitivi</vt:lpstr>
      <vt:lpstr>Riconsideriamo il nostro problema</vt:lpstr>
      <vt:lpstr>Soluzione 2</vt:lpstr>
      <vt:lpstr>Soluzione 2</vt:lpstr>
      <vt:lpstr>Soluzione 2: commenti</vt:lpstr>
      <vt:lpstr>Soluzione 3</vt:lpstr>
      <vt:lpstr>Soluzione 3</vt:lpstr>
      <vt:lpstr>L’attributo length</vt:lpstr>
      <vt:lpstr>L’attributo length: esempio</vt:lpstr>
      <vt:lpstr>Ancora sugli indici</vt:lpstr>
      <vt:lpstr>Inizializzazione di Array</vt:lpstr>
      <vt:lpstr>Inizializzazione di Array</vt:lpstr>
      <vt:lpstr>Letterali array</vt:lpstr>
      <vt:lpstr>Copia di array</vt:lpstr>
      <vt:lpstr>Copia di array</vt:lpstr>
      <vt:lpstr>Copia di array</vt:lpstr>
      <vt:lpstr>Copia di array</vt:lpstr>
      <vt:lpstr>Tecniche di base sugli array</vt:lpstr>
      <vt:lpstr>La classe SequenzaDiInteri</vt:lpstr>
      <vt:lpstr>La classe SequenzaDiInteri</vt:lpstr>
      <vt:lpstr>La classe SequenzaDiInteri</vt:lpstr>
      <vt:lpstr>SequenzaDiInteri: scheletro</vt:lpstr>
      <vt:lpstr>Costruttore</vt:lpstr>
      <vt:lpstr>Costruttore</vt:lpstr>
      <vt:lpstr>Costruttore</vt:lpstr>
      <vt:lpstr>Costruttore</vt:lpstr>
      <vt:lpstr>Costruttore</vt:lpstr>
      <vt:lpstr>Il metodo massimo</vt:lpstr>
      <vt:lpstr>Il metodo massimo</vt:lpstr>
      <vt:lpstr>Il metodo contiene</vt:lpstr>
      <vt:lpstr>Il metodo contiene</vt:lpstr>
      <vt:lpstr>Il metodo equals</vt:lpstr>
      <vt:lpstr>Il metodo equals</vt:lpstr>
      <vt:lpstr>Il parametro del metodo main</vt:lpstr>
      <vt:lpstr>Il parametro del metodo main</vt:lpstr>
      <vt:lpstr>Il parametro del metodo main</vt:lpstr>
      <vt:lpstr>Esempio</vt:lpstr>
      <vt:lpstr>Esempio</vt:lpstr>
      <vt:lpstr>Array di array</vt:lpstr>
      <vt:lpstr>Array di array</vt:lpstr>
      <vt:lpstr>Array di array</vt:lpstr>
      <vt:lpstr>Array bidimensionali matriciali</vt:lpstr>
      <vt:lpstr>Array bidimensionali matriciali</vt:lpstr>
      <vt:lpstr>Array bidimensionali matriciali</vt:lpstr>
      <vt:lpstr>Array bidim.: rappresent. grafica</vt:lpstr>
      <vt:lpstr>Accesso agli elementi</vt:lpstr>
      <vt:lpstr>Esempio</vt:lpstr>
      <vt:lpstr>Accesso agli elementi</vt:lpstr>
      <vt:lpstr>Letterali array bidimensionale</vt:lpstr>
      <vt:lpstr>Array bidimensionali non matriciali</vt:lpstr>
      <vt:lpstr>Esempio</vt:lpstr>
      <vt:lpstr>Esempio</vt:lpstr>
      <vt:lpstr>Visitare gli elem. di un array bidim.</vt:lpstr>
      <vt:lpstr>Visitare gli elem. di un array bidim.</vt:lpstr>
      <vt:lpstr>Visitare gli elem. di un array bidim.</vt:lpstr>
      <vt:lpstr>Es. di uso di array bidimensionali</vt:lpstr>
      <vt:lpstr>SommaRigheMatrice: esempio</vt:lpstr>
      <vt:lpstr>SommaRigheMatrice: codice</vt:lpstr>
      <vt:lpstr>SommaRigheMatrice: codice</vt:lpstr>
      <vt:lpstr>Esempio 2: la classe Matrice</vt:lpstr>
      <vt:lpstr>Esempio 2: la classe Matrice</vt:lpstr>
      <vt:lpstr>Esempio 2: la classe Matrice</vt:lpstr>
      <vt:lpstr>La classe Matrice: scheletro</vt:lpstr>
      <vt:lpstr>Costruttore</vt:lpstr>
      <vt:lpstr>Costruttore</vt:lpstr>
      <vt:lpstr>Il metodo somma</vt:lpstr>
      <vt:lpstr>Il metodo somma</vt:lpstr>
      <vt:lpstr>Il metodo prodotto</vt:lpstr>
      <vt:lpstr>Il metodo prodotto</vt:lpstr>
      <vt:lpstr>Il metodo prodotto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del Calcolatore </dc:title>
  <dc:creator>digiacomo</dc:creator>
  <cp:lastModifiedBy>cristian agliani</cp:lastModifiedBy>
  <cp:revision>262</cp:revision>
  <dcterms:created xsi:type="dcterms:W3CDTF">2014-02-06T21:49:44Z</dcterms:created>
  <dcterms:modified xsi:type="dcterms:W3CDTF">2026-01-16T14:06:06Z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0x0101000D65CA2515402D41A280901C776553D9</vt:lpwstr>
  </property>
</Properties>
</file>